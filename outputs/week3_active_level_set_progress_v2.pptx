
<file path=[Content_Types].xml><?xml version="1.0" encoding="utf-8"?>
<Types xmlns="http://schemas.openxmlformats.org/package/2006/content-types">
  <Default Extension="fntdata" ContentType="application/x-fontdata"/>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charts/chart1.xml" ContentType="application/vnd.openxmlformats-officedocument.drawingml.chart+xml"/>
  <Override PartName="/ppt/notesSlides/notesSlide9.xml" ContentType="application/vnd.openxmlformats-officedocument.presentationml.notesSlide+xml"/>
  <Override PartName="/ppt/charts/chart2.xml" ContentType="application/vnd.openxmlformats-officedocument.drawingml.chart+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charts/chart3.xml" ContentType="application/vnd.openxmlformats-officedocument.drawingml.chart+xml"/>
  <Override PartName="/ppt/notesSlides/notesSlide13.xml" ContentType="application/vnd.openxmlformats-officedocument.presentationml.notesSlide+xml"/>
  <Override PartName="/ppt/charts/chart4.xml" ContentType="application/vnd.openxmlformats-officedocument.drawingml.chart+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charts/chart5.xml" ContentType="application/vnd.openxmlformats-officedocument.drawingml.chart+xml"/>
  <Override PartName="/ppt/notesSlides/notesSlide16.xml" ContentType="application/vnd.openxmlformats-officedocument.presentationml.notesSlide+xml"/>
  <Override PartName="/ppt/charts/chart6.xml" ContentType="application/vnd.openxmlformats-officedocument.drawingml.chart+xml"/>
  <Override PartName="/ppt/notesSlides/notesSlide17.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p:sldMasterIdLst>
    <p:sldMasterId id="2147483648" r:id="rId1"/>
  </p:sldMasterIdLst>
  <p:notesMasterIdLst>
    <p:notesMasterId r:id="rId20"/>
  </p:notesMasterIdLst>
  <p:sldIdLst>
    <p:sldId id="258" r:id="rId2"/>
    <p:sldId id="259" r:id="rId3"/>
    <p:sldId id="260" r:id="rId4"/>
    <p:sldId id="261" r:id="rId5"/>
    <p:sldId id="262" r:id="rId6"/>
    <p:sldId id="263" r:id="rId7"/>
    <p:sldId id="264" r:id="rId8"/>
    <p:sldId id="265" r:id="rId9"/>
    <p:sldId id="266" r:id="rId10"/>
    <p:sldId id="267" r:id="rId11"/>
    <p:sldId id="268" r:id="rId12"/>
    <p:sldId id="269" r:id="rId13"/>
    <p:sldId id="270" r:id="rId14"/>
    <p:sldId id="271" r:id="rId15"/>
    <p:sldId id="272" r:id="rId16"/>
    <p:sldId id="273" r:id="rId17"/>
    <p:sldId id="274" r:id="rId18"/>
    <p:sldId id="275" r:id="rId19"/>
  </p:sldIdLst>
  <p:sldSz cx="12192000" cy="6858000"/>
  <p:notesSz cx="6858000" cy="9144000"/>
  <p:embeddedFontLst>
    <p:embeddedFont>
      <p:font typeface="Play" panose="020B0604020202020204" charset="0"/>
      <p:regular r:id="rId21"/>
      <p:bold r:id="rId22"/>
    </p:embeddedFont>
  </p:embeddedFontLst>
  <p:defaultTextStyle>
    <a:defPPr>
      <a:defRPr lang="en-US"/>
    </a:defPPr>
    <a:lvl1pPr marL="0" indent="0" algn="l" defTabSz="914400">
      <a:defRPr sz="1800" kern="1200">
        <a:solidFill>
          <a:schemeClr val="tx1"/>
        </a:solidFill>
        <a:latin typeface="+mn-lt"/>
        <a:ea typeface="+mn-ea"/>
        <a:cs typeface="+mn-cs"/>
      </a:defRPr>
    </a:lvl1pPr>
    <a:lvl2pPr marL="457200" indent="0" algn="l" defTabSz="914400">
      <a:defRPr sz="1800" kern="1200">
        <a:solidFill>
          <a:schemeClr val="tx1"/>
        </a:solidFill>
        <a:latin typeface="+mn-lt"/>
        <a:ea typeface="+mn-ea"/>
        <a:cs typeface="+mn-cs"/>
      </a:defRPr>
    </a:lvl2pPr>
    <a:lvl3pPr marL="914400" indent="0" algn="l" defTabSz="914400">
      <a:defRPr sz="1800" kern="1200">
        <a:solidFill>
          <a:schemeClr val="tx1"/>
        </a:solidFill>
        <a:latin typeface="+mn-lt"/>
        <a:ea typeface="+mn-ea"/>
        <a:cs typeface="+mn-cs"/>
      </a:defRPr>
    </a:lvl3pPr>
    <a:lvl4pPr marL="1371600" indent="0" algn="l" defTabSz="914400">
      <a:defRPr sz="1800" kern="1200">
        <a:solidFill>
          <a:schemeClr val="tx1"/>
        </a:solidFill>
        <a:latin typeface="+mn-lt"/>
        <a:ea typeface="+mn-ea"/>
        <a:cs typeface="+mn-cs"/>
      </a:defRPr>
    </a:lvl4pPr>
    <a:lvl5pPr marL="1828800" indent="0" algn="l" defTabSz="914400">
      <a:defRPr sz="1800" kern="1200">
        <a:solidFill>
          <a:schemeClr val="tx1"/>
        </a:solidFill>
        <a:latin typeface="+mn-lt"/>
        <a:ea typeface="+mn-ea"/>
        <a:cs typeface="+mn-cs"/>
      </a:defRPr>
    </a:lvl5pPr>
    <a:lvl6pPr marL="2286000" indent="0" algn="l" defTabSz="914400">
      <a:defRPr sz="1800" kern="1200">
        <a:solidFill>
          <a:schemeClr val="tx1"/>
        </a:solidFill>
        <a:latin typeface="+mn-lt"/>
        <a:ea typeface="+mn-ea"/>
        <a:cs typeface="+mn-cs"/>
      </a:defRPr>
    </a:lvl6pPr>
    <a:lvl7pPr marL="2743200" indent="0" algn="l" defTabSz="914400">
      <a:defRPr sz="1800" kern="1200">
        <a:solidFill>
          <a:schemeClr val="tx1"/>
        </a:solidFill>
        <a:latin typeface="+mn-lt"/>
        <a:ea typeface="+mn-ea"/>
        <a:cs typeface="+mn-cs"/>
      </a:defRPr>
    </a:lvl7pPr>
    <a:lvl8pPr marL="3200400" indent="0" algn="l" defTabSz="914400">
      <a:defRPr sz="1800" kern="1200">
        <a:solidFill>
          <a:schemeClr val="tx1"/>
        </a:solidFill>
        <a:latin typeface="+mn-lt"/>
        <a:ea typeface="+mn-ea"/>
        <a:cs typeface="+mn-cs"/>
      </a:defRPr>
    </a:lvl8pPr>
    <a:lvl9pPr marL="3657600" indent="0" algn="l" defTabSz="914400">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86797" autoAdjust="0"/>
  </p:normalViewPr>
  <p:slideViewPr>
    <p:cSldViewPr snapToGrid="0">
      <p:cViewPr varScale="1">
        <p:scale>
          <a:sx n="71" d="100"/>
          <a:sy n="71" d="100"/>
        </p:scale>
        <p:origin x="1109" y="6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tableStyles" Target="tableStyles.xml"/><Relationship Id="rId3" Type="http://schemas.openxmlformats.org/officeDocument/2006/relationships/slide" Target="slides/slide2.xml"/><Relationship Id="rId21" Type="http://schemas.openxmlformats.org/officeDocument/2006/relationships/font" Target="fonts/font1.fntdata"/><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theme" Target="theme/theme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notesMaster" Target="notesMasters/notesMaster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viewProps" Target="view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presProps" Target="presProps.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font" Target="fonts/font2.fntdata"/></Relationships>
</file>

<file path=ppt/charts/chart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1"/>
  <c:lang val="en-US"/>
  <c:roundedCorners val="1"/>
  <c:style val="2"/>
  <c:chart>
    <c:title>
      <c:tx>
        <c:rich>
          <a:bodyPr/>
          <a:lstStyle/>
          <a:p>
            <a:r>
              <a:rPr lang="en-US" sz="1125" b="1">
                <a:solidFill>
                  <a:srgbClr val="1F2A44"/>
                </a:solidFill>
              </a:rPr>
              <a:t>Lookahead BUR final error</a:t>
            </a:r>
          </a:p>
        </c:rich>
      </c:tx>
      <c:overlay val="0"/>
    </c:title>
    <c:autoTitleDeleted val="0"/>
    <c:plotArea>
      <c:layout/>
      <c:barChart>
        <c:barDir val="col"/>
        <c:grouping val="clustered"/>
        <c:varyColors val="0"/>
        <c:ser>
          <c:idx val="0"/>
          <c:order val="0"/>
          <c:tx>
            <c:v>Lookahead</c:v>
          </c:tx>
          <c:spPr>
            <a:solidFill>
              <a:srgbClr val="2F80C0"/>
            </a:solidFill>
          </c:spPr>
          <c:invertIfNegative val="1"/>
          <c:dLbls>
            <c:spPr>
              <a:noFill/>
              <a:ln>
                <a:noFill/>
              </a:ln>
              <a:effectLst/>
            </c:spPr>
            <c:showLegendKey val="1"/>
            <c:showVal val="1"/>
            <c:showCatName val="1"/>
            <c:showSerName val="1"/>
            <c:showPercent val="1"/>
            <c:showBubbleSize val="1"/>
            <c:showLeaderLines val="0"/>
            <c:extLst>
              <c:ext xmlns:c15="http://schemas.microsoft.com/office/drawing/2012/chart" uri="{CE6537A1-D6FC-4f65-9D91-7224C49458BB}">
                <c15:showLeaderLines val="0"/>
              </c:ext>
            </c:extLst>
          </c:dLbls>
          <c:cat>
            <c:strLit>
              <c:ptCount val="6"/>
              <c:pt idx="0">
                <c:v>B global</c:v>
              </c:pt>
              <c:pt idx="1">
                <c:v>B q20</c:v>
              </c:pt>
              <c:pt idx="2">
                <c:v>B q30</c:v>
              </c:pt>
              <c:pt idx="3">
                <c:v>A global</c:v>
              </c:pt>
              <c:pt idx="4">
                <c:v>A q20</c:v>
              </c:pt>
              <c:pt idx="5">
                <c:v>A q30</c:v>
              </c:pt>
            </c:strLit>
          </c:cat>
          <c:val>
            <c:numLit>
              <c:formatCode>0%</c:formatCode>
              <c:ptCount val="6"/>
              <c:pt idx="0">
                <c:v>5.5899999999999998E-2</c:v>
              </c:pt>
              <c:pt idx="1">
                <c:v>0.23549999999999999</c:v>
              </c:pt>
              <c:pt idx="2">
                <c:v>0.17530000000000001</c:v>
              </c:pt>
              <c:pt idx="3">
                <c:v>0.22900000000000001</c:v>
              </c:pt>
              <c:pt idx="4">
                <c:v>0.44419999999999998</c:v>
              </c:pt>
              <c:pt idx="5">
                <c:v>0.40799999999999997</c:v>
              </c:pt>
            </c:numLit>
          </c:val>
          <c:extLst>
            <c:ext xmlns:c14="http://schemas.microsoft.com/office/drawing/2007/8/2/chart" uri="{6F2FDCE9-48DA-4B69-8628-5D25D57E5C99}">
              <c14:invertSolidFillFmt>
                <c14:spPr xmlns:c14="http://schemas.microsoft.com/office/drawing/2007/8/2/chart">
                  <a:solidFill>
                    <a:srgbClr val="FFFFFF"/>
                  </a:solidFill>
                </c14:spPr>
              </c14:invertSolidFillFmt>
            </c:ext>
            <c:ext xmlns:c16="http://schemas.microsoft.com/office/drawing/2014/chart" uri="{C3380CC4-5D6E-409C-BE32-E72D297353CC}">
              <c16:uniqueId val="{00000000-19DE-40B6-83EF-AB2B85AC65A6}"/>
            </c:ext>
          </c:extLst>
        </c:ser>
        <c:dLbls>
          <c:showLegendKey val="0"/>
          <c:showVal val="0"/>
          <c:showCatName val="0"/>
          <c:showSerName val="0"/>
          <c:showPercent val="0"/>
          <c:showBubbleSize val="0"/>
        </c:dLbls>
        <c:gapWidth val="70"/>
        <c:axId val="48650112"/>
        <c:axId val="48672768"/>
      </c:barChart>
      <c:catAx>
        <c:axId val="48650112"/>
        <c:scaling>
          <c:orientation val="minMax"/>
        </c:scaling>
        <c:delete val="0"/>
        <c:axPos val="b"/>
        <c:numFmt formatCode="General" sourceLinked="1"/>
        <c:majorTickMark val="none"/>
        <c:minorTickMark val="none"/>
        <c:tickLblPos val="low"/>
        <c:spPr>
          <a:ln w="9525">
            <a:solidFill>
              <a:srgbClr val="D4D4D4"/>
            </a:solidFill>
            <a:prstDash val="solid"/>
          </a:ln>
        </c:spPr>
        <c:txPr>
          <a:bodyPr anchorCtr="1"/>
          <a:lstStyle/>
          <a:p>
            <a:pPr>
              <a:defRPr sz="900">
                <a:solidFill>
                  <a:srgbClr val="1F2A44"/>
                </a:solidFill>
              </a:defRPr>
            </a:pPr>
            <a:endParaRPr lang="en-US"/>
          </a:p>
        </c:txPr>
        <c:crossAx val="48672768"/>
        <c:crosses val="autoZero"/>
        <c:auto val="1"/>
        <c:lblAlgn val="ctr"/>
        <c:lblOffset val="100"/>
        <c:noMultiLvlLbl val="0"/>
      </c:catAx>
      <c:valAx>
        <c:axId val="48672768"/>
        <c:scaling>
          <c:orientation val="minMax"/>
          <c:max val="0.5"/>
          <c:min val="0"/>
        </c:scaling>
        <c:delete val="0"/>
        <c:axPos val="l"/>
        <c:majorGridlines>
          <c:spPr>
            <a:ln w="9525">
              <a:solidFill>
                <a:srgbClr val="E5E7EB"/>
              </a:solidFill>
              <a:prstDash val="solid"/>
            </a:ln>
          </c:spPr>
        </c:majorGridlines>
        <c:numFmt formatCode="0%" sourceLinked="1"/>
        <c:majorTickMark val="none"/>
        <c:minorTickMark val="none"/>
        <c:tickLblPos val="nextTo"/>
        <c:spPr>
          <a:ln w="9525">
            <a:solidFill>
              <a:srgbClr val="D4D4D4"/>
            </a:solidFill>
            <a:prstDash val="solid"/>
          </a:ln>
        </c:spPr>
        <c:txPr>
          <a:bodyPr anchorCtr="1"/>
          <a:lstStyle/>
          <a:p>
            <a:pPr>
              <a:defRPr sz="900">
                <a:solidFill>
                  <a:srgbClr val="4B5563"/>
                </a:solidFill>
              </a:defRPr>
            </a:pPr>
            <a:endParaRPr lang="en-US"/>
          </a:p>
        </c:txPr>
        <c:crossAx val="48650112"/>
        <c:crosses val="autoZero"/>
        <c:crossBetween val="between"/>
        <c:majorUnit val="0.1"/>
      </c:valAx>
      <c:spPr>
        <a:solidFill>
          <a:srgbClr val="FFFFFF"/>
        </a:solidFill>
      </c:spPr>
    </c:plotArea>
    <c:plotVisOnly val="1"/>
    <c:dispBlanksAs val="zero"/>
    <c:showDLblsOverMax val="1"/>
  </c:chart>
  <c:spPr>
    <a:solidFill>
      <a:srgbClr val="FFFFFF"/>
    </a:solidFill>
  </c:spPr>
</c:chartSpace>
</file>

<file path=ppt/charts/chart2.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1"/>
  <c:lang val="en-US"/>
  <c:roundedCorners val="1"/>
  <c:style val="2"/>
  <c:chart>
    <c:title>
      <c:tx>
        <c:rich>
          <a:bodyPr/>
          <a:lstStyle/>
          <a:p>
            <a:r>
              <a:rPr lang="en-US" sz="1125" b="1">
                <a:solidFill>
                  <a:srgbClr val="1F2A44"/>
                </a:solidFill>
              </a:rPr>
              <a:t>Geometric BC final error</a:t>
            </a:r>
          </a:p>
        </c:rich>
      </c:tx>
      <c:overlay val="0"/>
    </c:title>
    <c:autoTitleDeleted val="0"/>
    <c:plotArea>
      <c:layout/>
      <c:barChart>
        <c:barDir val="col"/>
        <c:grouping val="clustered"/>
        <c:varyColors val="0"/>
        <c:ser>
          <c:idx val="0"/>
          <c:order val="0"/>
          <c:tx>
            <c:v>GBC</c:v>
          </c:tx>
          <c:spPr>
            <a:solidFill>
              <a:srgbClr val="B7791F"/>
            </a:solidFill>
          </c:spPr>
          <c:invertIfNegative val="1"/>
          <c:dLbls>
            <c:spPr>
              <a:noFill/>
              <a:ln>
                <a:noFill/>
              </a:ln>
              <a:effectLst/>
            </c:spPr>
            <c:showLegendKey val="1"/>
            <c:showVal val="1"/>
            <c:showCatName val="1"/>
            <c:showSerName val="1"/>
            <c:showPercent val="1"/>
            <c:showBubbleSize val="1"/>
            <c:showLeaderLines val="0"/>
            <c:extLst>
              <c:ext xmlns:c15="http://schemas.microsoft.com/office/drawing/2012/chart" uri="{CE6537A1-D6FC-4f65-9D91-7224C49458BB}">
                <c15:showLeaderLines val="0"/>
              </c:ext>
            </c:extLst>
          </c:dLbls>
          <c:cat>
            <c:strLit>
              <c:ptCount val="6"/>
              <c:pt idx="0">
                <c:v>B global</c:v>
              </c:pt>
              <c:pt idx="1">
                <c:v>B q20</c:v>
              </c:pt>
              <c:pt idx="2">
                <c:v>B q30</c:v>
              </c:pt>
              <c:pt idx="3">
                <c:v>A global</c:v>
              </c:pt>
              <c:pt idx="4">
                <c:v>A q20</c:v>
              </c:pt>
              <c:pt idx="5">
                <c:v>A q30</c:v>
              </c:pt>
            </c:strLit>
          </c:cat>
          <c:val>
            <c:numLit>
              <c:formatCode>0%</c:formatCode>
              <c:ptCount val="6"/>
              <c:pt idx="0">
                <c:v>7.17E-2</c:v>
              </c:pt>
              <c:pt idx="1">
                <c:v>0.27179999999999999</c:v>
              </c:pt>
              <c:pt idx="2">
                <c:v>0.21</c:v>
              </c:pt>
              <c:pt idx="3">
                <c:v>0.20039999999999999</c:v>
              </c:pt>
              <c:pt idx="4">
                <c:v>0.42199999999999999</c:v>
              </c:pt>
              <c:pt idx="5">
                <c:v>0.38469999999999999</c:v>
              </c:pt>
            </c:numLit>
          </c:val>
          <c:extLst>
            <c:ext xmlns:c14="http://schemas.microsoft.com/office/drawing/2007/8/2/chart" uri="{6F2FDCE9-48DA-4B69-8628-5D25D57E5C99}">
              <c14:invertSolidFillFmt>
                <c14:spPr xmlns:c14="http://schemas.microsoft.com/office/drawing/2007/8/2/chart">
                  <a:solidFill>
                    <a:srgbClr val="FFFFFF"/>
                  </a:solidFill>
                </c14:spPr>
              </c14:invertSolidFillFmt>
            </c:ext>
            <c:ext xmlns:c16="http://schemas.microsoft.com/office/drawing/2014/chart" uri="{C3380CC4-5D6E-409C-BE32-E72D297353CC}">
              <c16:uniqueId val="{00000000-8C3D-4A93-8F71-9B6861C3D548}"/>
            </c:ext>
          </c:extLst>
        </c:ser>
        <c:dLbls>
          <c:showLegendKey val="0"/>
          <c:showVal val="0"/>
          <c:showCatName val="0"/>
          <c:showSerName val="0"/>
          <c:showPercent val="0"/>
          <c:showBubbleSize val="0"/>
        </c:dLbls>
        <c:gapWidth val="70"/>
        <c:axId val="48650112"/>
        <c:axId val="48672768"/>
      </c:barChart>
      <c:catAx>
        <c:axId val="48650112"/>
        <c:scaling>
          <c:orientation val="minMax"/>
        </c:scaling>
        <c:delete val="0"/>
        <c:axPos val="b"/>
        <c:numFmt formatCode="General" sourceLinked="1"/>
        <c:majorTickMark val="none"/>
        <c:minorTickMark val="none"/>
        <c:tickLblPos val="low"/>
        <c:spPr>
          <a:ln w="9525">
            <a:solidFill>
              <a:srgbClr val="D4D4D4"/>
            </a:solidFill>
            <a:prstDash val="solid"/>
          </a:ln>
        </c:spPr>
        <c:txPr>
          <a:bodyPr anchorCtr="1"/>
          <a:lstStyle/>
          <a:p>
            <a:pPr>
              <a:defRPr sz="900">
                <a:solidFill>
                  <a:srgbClr val="1F2A44"/>
                </a:solidFill>
              </a:defRPr>
            </a:pPr>
            <a:endParaRPr lang="en-US"/>
          </a:p>
        </c:txPr>
        <c:crossAx val="48672768"/>
        <c:crosses val="autoZero"/>
        <c:auto val="1"/>
        <c:lblAlgn val="ctr"/>
        <c:lblOffset val="100"/>
        <c:noMultiLvlLbl val="0"/>
      </c:catAx>
      <c:valAx>
        <c:axId val="48672768"/>
        <c:scaling>
          <c:orientation val="minMax"/>
          <c:max val="0.5"/>
          <c:min val="0"/>
        </c:scaling>
        <c:delete val="0"/>
        <c:axPos val="l"/>
        <c:majorGridlines>
          <c:spPr>
            <a:ln w="9525">
              <a:solidFill>
                <a:srgbClr val="E5E7EB"/>
              </a:solidFill>
              <a:prstDash val="solid"/>
            </a:ln>
          </c:spPr>
        </c:majorGridlines>
        <c:numFmt formatCode="0%" sourceLinked="1"/>
        <c:majorTickMark val="none"/>
        <c:minorTickMark val="none"/>
        <c:tickLblPos val="nextTo"/>
        <c:spPr>
          <a:ln w="9525">
            <a:solidFill>
              <a:srgbClr val="D4D4D4"/>
            </a:solidFill>
            <a:prstDash val="solid"/>
          </a:ln>
        </c:spPr>
        <c:txPr>
          <a:bodyPr anchorCtr="1"/>
          <a:lstStyle/>
          <a:p>
            <a:pPr>
              <a:defRPr sz="900">
                <a:solidFill>
                  <a:srgbClr val="4B5563"/>
                </a:solidFill>
              </a:defRPr>
            </a:pPr>
            <a:endParaRPr lang="en-US"/>
          </a:p>
        </c:txPr>
        <c:crossAx val="48650112"/>
        <c:crosses val="autoZero"/>
        <c:crossBetween val="between"/>
        <c:majorUnit val="0.1"/>
      </c:valAx>
      <c:spPr>
        <a:solidFill>
          <a:srgbClr val="FFFFFF"/>
        </a:solidFill>
      </c:spPr>
    </c:plotArea>
    <c:plotVisOnly val="1"/>
    <c:dispBlanksAs val="zero"/>
    <c:showDLblsOverMax val="1"/>
  </c:chart>
  <c:spPr>
    <a:solidFill>
      <a:srgbClr val="FFFFFF"/>
    </a:solidFill>
  </c:spPr>
</c:chartSpace>
</file>

<file path=ppt/charts/chart3.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1"/>
  <c:lang val="en-US"/>
  <c:roundedCorners val="1"/>
  <c:style val="2"/>
  <c:chart>
    <c:title>
      <c:tx>
        <c:rich>
          <a:bodyPr/>
          <a:lstStyle/>
          <a:p>
            <a:r>
              <a:rPr lang="en-US" sz="1125" b="1">
                <a:solidFill>
                  <a:srgbClr val="1F2A44"/>
                </a:solidFill>
              </a:rPr>
              <a:t>Fixed GPC best results</a:t>
            </a:r>
          </a:p>
        </c:rich>
      </c:tx>
      <c:overlay val="0"/>
    </c:title>
    <c:autoTitleDeleted val="0"/>
    <c:plotArea>
      <c:layout/>
      <c:barChart>
        <c:barDir val="col"/>
        <c:grouping val="clustered"/>
        <c:varyColors val="0"/>
        <c:ser>
          <c:idx val="0"/>
          <c:order val="0"/>
          <c:tx>
            <c:v>Fixed GPC</c:v>
          </c:tx>
          <c:spPr>
            <a:solidFill>
              <a:srgbClr val="0F8B61"/>
            </a:solidFill>
          </c:spPr>
          <c:invertIfNegative val="1"/>
          <c:dLbls>
            <c:spPr>
              <a:noFill/>
              <a:ln>
                <a:noFill/>
              </a:ln>
              <a:effectLst/>
            </c:spPr>
            <c:showLegendKey val="1"/>
            <c:showVal val="1"/>
            <c:showCatName val="1"/>
            <c:showSerName val="1"/>
            <c:showPercent val="1"/>
            <c:showBubbleSize val="1"/>
            <c:showLeaderLines val="0"/>
            <c:extLst>
              <c:ext xmlns:c15="http://schemas.microsoft.com/office/drawing/2012/chart" uri="{CE6537A1-D6FC-4f65-9D91-7224C49458BB}">
                <c15:showLeaderLines val="0"/>
              </c:ext>
            </c:extLst>
          </c:dLbls>
          <c:cat>
            <c:strLit>
              <c:ptCount val="6"/>
              <c:pt idx="0">
                <c:v>B global</c:v>
              </c:pt>
              <c:pt idx="1">
                <c:v>B q20</c:v>
              </c:pt>
              <c:pt idx="2">
                <c:v>B q30</c:v>
              </c:pt>
              <c:pt idx="3">
                <c:v>A global</c:v>
              </c:pt>
              <c:pt idx="4">
                <c:v>A q20</c:v>
              </c:pt>
              <c:pt idx="5">
                <c:v>A q30</c:v>
              </c:pt>
            </c:strLit>
          </c:cat>
          <c:val>
            <c:numLit>
              <c:formatCode>0%</c:formatCode>
              <c:ptCount val="6"/>
              <c:pt idx="0">
                <c:v>8.0399999999999999E-2</c:v>
              </c:pt>
              <c:pt idx="1">
                <c:v>0.26100000000000001</c:v>
              </c:pt>
              <c:pt idx="2">
                <c:v>0.1978</c:v>
              </c:pt>
              <c:pt idx="3">
                <c:v>0.1759</c:v>
              </c:pt>
              <c:pt idx="4">
                <c:v>0.41749999999999998</c:v>
              </c:pt>
              <c:pt idx="5">
                <c:v>0.37969999999999998</c:v>
              </c:pt>
            </c:numLit>
          </c:val>
          <c:extLst>
            <c:ext xmlns:c14="http://schemas.microsoft.com/office/drawing/2007/8/2/chart" uri="{6F2FDCE9-48DA-4B69-8628-5D25D57E5C99}">
              <c14:invertSolidFillFmt>
                <c14:spPr xmlns:c14="http://schemas.microsoft.com/office/drawing/2007/8/2/chart">
                  <a:solidFill>
                    <a:srgbClr val="FFFFFF"/>
                  </a:solidFill>
                </c14:spPr>
              </c14:invertSolidFillFmt>
            </c:ext>
            <c:ext xmlns:c16="http://schemas.microsoft.com/office/drawing/2014/chart" uri="{C3380CC4-5D6E-409C-BE32-E72D297353CC}">
              <c16:uniqueId val="{00000000-0CC3-4B3A-9D38-689E853EAD53}"/>
            </c:ext>
          </c:extLst>
        </c:ser>
        <c:dLbls>
          <c:showLegendKey val="0"/>
          <c:showVal val="0"/>
          <c:showCatName val="0"/>
          <c:showSerName val="0"/>
          <c:showPercent val="0"/>
          <c:showBubbleSize val="0"/>
        </c:dLbls>
        <c:gapWidth val="70"/>
        <c:axId val="48650112"/>
        <c:axId val="48672768"/>
      </c:barChart>
      <c:catAx>
        <c:axId val="48650112"/>
        <c:scaling>
          <c:orientation val="minMax"/>
        </c:scaling>
        <c:delete val="0"/>
        <c:axPos val="b"/>
        <c:numFmt formatCode="General" sourceLinked="1"/>
        <c:majorTickMark val="none"/>
        <c:minorTickMark val="none"/>
        <c:tickLblPos val="low"/>
        <c:spPr>
          <a:ln w="9525">
            <a:solidFill>
              <a:srgbClr val="D4D4D4"/>
            </a:solidFill>
            <a:prstDash val="solid"/>
          </a:ln>
        </c:spPr>
        <c:txPr>
          <a:bodyPr anchorCtr="1"/>
          <a:lstStyle/>
          <a:p>
            <a:pPr>
              <a:defRPr sz="900">
                <a:solidFill>
                  <a:srgbClr val="1F2A44"/>
                </a:solidFill>
              </a:defRPr>
            </a:pPr>
            <a:endParaRPr lang="en-US"/>
          </a:p>
        </c:txPr>
        <c:crossAx val="48672768"/>
        <c:crosses val="autoZero"/>
        <c:auto val="1"/>
        <c:lblAlgn val="ctr"/>
        <c:lblOffset val="100"/>
        <c:noMultiLvlLbl val="0"/>
      </c:catAx>
      <c:valAx>
        <c:axId val="48672768"/>
        <c:scaling>
          <c:orientation val="minMax"/>
          <c:max val="0.5"/>
          <c:min val="0"/>
        </c:scaling>
        <c:delete val="0"/>
        <c:axPos val="l"/>
        <c:majorGridlines>
          <c:spPr>
            <a:ln w="9525">
              <a:solidFill>
                <a:srgbClr val="E5E7EB"/>
              </a:solidFill>
              <a:prstDash val="solid"/>
            </a:ln>
          </c:spPr>
        </c:majorGridlines>
        <c:numFmt formatCode="0%" sourceLinked="1"/>
        <c:majorTickMark val="none"/>
        <c:minorTickMark val="none"/>
        <c:tickLblPos val="nextTo"/>
        <c:spPr>
          <a:ln w="9525">
            <a:solidFill>
              <a:srgbClr val="D4D4D4"/>
            </a:solidFill>
            <a:prstDash val="solid"/>
          </a:ln>
        </c:spPr>
        <c:txPr>
          <a:bodyPr anchorCtr="1"/>
          <a:lstStyle/>
          <a:p>
            <a:pPr>
              <a:defRPr sz="900">
                <a:solidFill>
                  <a:srgbClr val="4B5563"/>
                </a:solidFill>
              </a:defRPr>
            </a:pPr>
            <a:endParaRPr lang="en-US"/>
          </a:p>
        </c:txPr>
        <c:crossAx val="48650112"/>
        <c:crosses val="autoZero"/>
        <c:crossBetween val="between"/>
        <c:majorUnit val="0.1"/>
      </c:valAx>
      <c:spPr>
        <a:solidFill>
          <a:srgbClr val="FFFFFF"/>
        </a:solidFill>
      </c:spPr>
    </c:plotArea>
    <c:plotVisOnly val="1"/>
    <c:dispBlanksAs val="zero"/>
    <c:showDLblsOverMax val="1"/>
  </c:chart>
  <c:spPr>
    <a:solidFill>
      <a:srgbClr val="FFFFFF"/>
    </a:solidFill>
  </c:spPr>
</c:chartSpace>
</file>

<file path=ppt/charts/chart4.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1"/>
  <c:lang val="en-US"/>
  <c:roundedCorners val="1"/>
  <c:style val="2"/>
  <c:chart>
    <c:title>
      <c:tx>
        <c:rich>
          <a:bodyPr/>
          <a:lstStyle/>
          <a:p>
            <a:r>
              <a:rPr lang="en-US" sz="1125" b="1">
                <a:solidFill>
                  <a:srgbClr val="1F2A44"/>
                </a:solidFill>
              </a:rPr>
              <a:t>Fixed vs optimized GPC</a:t>
            </a:r>
          </a:p>
        </c:rich>
      </c:tx>
      <c:overlay val="0"/>
    </c:title>
    <c:autoTitleDeleted val="0"/>
    <c:plotArea>
      <c:layout/>
      <c:barChart>
        <c:barDir val="col"/>
        <c:grouping val="clustered"/>
        <c:varyColors val="0"/>
        <c:ser>
          <c:idx val="0"/>
          <c:order val="0"/>
          <c:tx>
            <c:v>Fixed</c:v>
          </c:tx>
          <c:spPr>
            <a:solidFill>
              <a:srgbClr val="6B7280"/>
            </a:solidFill>
          </c:spPr>
          <c:invertIfNegative val="1"/>
          <c:dLbls>
            <c:spPr>
              <a:noFill/>
              <a:ln>
                <a:noFill/>
              </a:ln>
              <a:effectLst/>
            </c:spPr>
            <c:showLegendKey val="1"/>
            <c:showVal val="1"/>
            <c:showCatName val="1"/>
            <c:showSerName val="1"/>
            <c:showPercent val="1"/>
            <c:showBubbleSize val="1"/>
            <c:showLeaderLines val="0"/>
            <c:extLst>
              <c:ext xmlns:c15="http://schemas.microsoft.com/office/drawing/2012/chart" uri="{CE6537A1-D6FC-4f65-9D91-7224C49458BB}">
                <c15:showLeaderLines val="0"/>
              </c:ext>
            </c:extLst>
          </c:dLbls>
          <c:cat>
            <c:strLit>
              <c:ptCount val="6"/>
              <c:pt idx="0">
                <c:v>B global</c:v>
              </c:pt>
              <c:pt idx="1">
                <c:v>B q20</c:v>
              </c:pt>
              <c:pt idx="2">
                <c:v>B q30</c:v>
              </c:pt>
              <c:pt idx="3">
                <c:v>A global</c:v>
              </c:pt>
              <c:pt idx="4">
                <c:v>A q20</c:v>
              </c:pt>
              <c:pt idx="5">
                <c:v>A q30</c:v>
              </c:pt>
            </c:strLit>
          </c:cat>
          <c:val>
            <c:numLit>
              <c:formatCode>0%</c:formatCode>
              <c:ptCount val="6"/>
              <c:pt idx="0">
                <c:v>8.0399999999999999E-2</c:v>
              </c:pt>
              <c:pt idx="1">
                <c:v>0.26100000000000001</c:v>
              </c:pt>
              <c:pt idx="2">
                <c:v>0.1978</c:v>
              </c:pt>
              <c:pt idx="3">
                <c:v>0.1759</c:v>
              </c:pt>
              <c:pt idx="4">
                <c:v>0.41749999999999998</c:v>
              </c:pt>
              <c:pt idx="5">
                <c:v>0.37969999999999998</c:v>
              </c:pt>
            </c:numLit>
          </c:val>
          <c:extLst>
            <c:ext xmlns:c14="http://schemas.microsoft.com/office/drawing/2007/8/2/chart" uri="{6F2FDCE9-48DA-4B69-8628-5D25D57E5C99}">
              <c14:invertSolidFillFmt>
                <c14:spPr xmlns:c14="http://schemas.microsoft.com/office/drawing/2007/8/2/chart">
                  <a:solidFill>
                    <a:srgbClr val="FFFFFF"/>
                  </a:solidFill>
                </c14:spPr>
              </c14:invertSolidFillFmt>
            </c:ext>
            <c:ext xmlns:c16="http://schemas.microsoft.com/office/drawing/2014/chart" uri="{C3380CC4-5D6E-409C-BE32-E72D297353CC}">
              <c16:uniqueId val="{00000000-930F-4A81-A118-A07023827A72}"/>
            </c:ext>
          </c:extLst>
        </c:ser>
        <c:ser>
          <c:idx val="1"/>
          <c:order val="1"/>
          <c:tx>
            <c:v>Opt. ARD</c:v>
          </c:tx>
          <c:spPr>
            <a:solidFill>
              <a:srgbClr val="B7791F"/>
            </a:solidFill>
          </c:spPr>
          <c:invertIfNegative val="1"/>
          <c:dLbls>
            <c:spPr>
              <a:noFill/>
              <a:ln>
                <a:noFill/>
              </a:ln>
              <a:effectLst/>
            </c:spPr>
            <c:showLegendKey val="1"/>
            <c:showVal val="1"/>
            <c:showCatName val="1"/>
            <c:showSerName val="1"/>
            <c:showPercent val="1"/>
            <c:showBubbleSize val="1"/>
            <c:showLeaderLines val="0"/>
            <c:extLst>
              <c:ext xmlns:c15="http://schemas.microsoft.com/office/drawing/2012/chart" uri="{CE6537A1-D6FC-4f65-9D91-7224C49458BB}">
                <c15:showLeaderLines val="0"/>
              </c:ext>
            </c:extLst>
          </c:dLbls>
          <c:cat>
            <c:strLit>
              <c:ptCount val="6"/>
              <c:pt idx="0">
                <c:v>B global</c:v>
              </c:pt>
              <c:pt idx="1">
                <c:v>B q20</c:v>
              </c:pt>
              <c:pt idx="2">
                <c:v>B q30</c:v>
              </c:pt>
              <c:pt idx="3">
                <c:v>A global</c:v>
              </c:pt>
              <c:pt idx="4">
                <c:v>A q20</c:v>
              </c:pt>
              <c:pt idx="5">
                <c:v>A q30</c:v>
              </c:pt>
            </c:strLit>
          </c:cat>
          <c:val>
            <c:numLit>
              <c:formatCode>0%</c:formatCode>
              <c:ptCount val="6"/>
              <c:pt idx="0">
                <c:v>3.5200000000000002E-2</c:v>
              </c:pt>
              <c:pt idx="1">
                <c:v>0.1638</c:v>
              </c:pt>
              <c:pt idx="2">
                <c:v>0.1143</c:v>
              </c:pt>
              <c:pt idx="3">
                <c:v>0.24829999999999999</c:v>
              </c:pt>
              <c:pt idx="4">
                <c:v>0.44790000000000002</c:v>
              </c:pt>
              <c:pt idx="5">
                <c:v>0.42059999999999997</c:v>
              </c:pt>
            </c:numLit>
          </c:val>
          <c:extLst>
            <c:ext xmlns:c14="http://schemas.microsoft.com/office/drawing/2007/8/2/chart" uri="{6F2FDCE9-48DA-4B69-8628-5D25D57E5C99}">
              <c14:invertSolidFillFmt>
                <c14:spPr xmlns:c14="http://schemas.microsoft.com/office/drawing/2007/8/2/chart">
                  <a:solidFill>
                    <a:srgbClr val="FFFFFF"/>
                  </a:solidFill>
                </c14:spPr>
              </c14:invertSolidFillFmt>
            </c:ext>
            <c:ext xmlns:c16="http://schemas.microsoft.com/office/drawing/2014/chart" uri="{C3380CC4-5D6E-409C-BE32-E72D297353CC}">
              <c16:uniqueId val="{00000001-930F-4A81-A118-A07023827A72}"/>
            </c:ext>
          </c:extLst>
        </c:ser>
        <c:dLbls>
          <c:showLegendKey val="0"/>
          <c:showVal val="0"/>
          <c:showCatName val="0"/>
          <c:showSerName val="0"/>
          <c:showPercent val="0"/>
          <c:showBubbleSize val="0"/>
        </c:dLbls>
        <c:gapWidth val="70"/>
        <c:axId val="48650112"/>
        <c:axId val="48672768"/>
      </c:barChart>
      <c:catAx>
        <c:axId val="48650112"/>
        <c:scaling>
          <c:orientation val="minMax"/>
        </c:scaling>
        <c:delete val="0"/>
        <c:axPos val="b"/>
        <c:numFmt formatCode="General" sourceLinked="1"/>
        <c:majorTickMark val="none"/>
        <c:minorTickMark val="none"/>
        <c:tickLblPos val="low"/>
        <c:spPr>
          <a:ln w="9525">
            <a:solidFill>
              <a:srgbClr val="D4D4D4"/>
            </a:solidFill>
            <a:prstDash val="solid"/>
          </a:ln>
        </c:spPr>
        <c:txPr>
          <a:bodyPr anchorCtr="1"/>
          <a:lstStyle/>
          <a:p>
            <a:pPr>
              <a:defRPr sz="900">
                <a:solidFill>
                  <a:srgbClr val="1F2A44"/>
                </a:solidFill>
              </a:defRPr>
            </a:pPr>
            <a:endParaRPr lang="en-US"/>
          </a:p>
        </c:txPr>
        <c:crossAx val="48672768"/>
        <c:crosses val="autoZero"/>
        <c:auto val="1"/>
        <c:lblAlgn val="ctr"/>
        <c:lblOffset val="100"/>
        <c:noMultiLvlLbl val="0"/>
      </c:catAx>
      <c:valAx>
        <c:axId val="48672768"/>
        <c:scaling>
          <c:orientation val="minMax"/>
          <c:max val="0.5"/>
          <c:min val="0"/>
        </c:scaling>
        <c:delete val="0"/>
        <c:axPos val="l"/>
        <c:majorGridlines>
          <c:spPr>
            <a:ln w="9525">
              <a:solidFill>
                <a:srgbClr val="E5E7EB"/>
              </a:solidFill>
              <a:prstDash val="solid"/>
            </a:ln>
          </c:spPr>
        </c:majorGridlines>
        <c:numFmt formatCode="0%" sourceLinked="1"/>
        <c:majorTickMark val="none"/>
        <c:minorTickMark val="none"/>
        <c:tickLblPos val="nextTo"/>
        <c:spPr>
          <a:ln w="9525">
            <a:solidFill>
              <a:srgbClr val="D4D4D4"/>
            </a:solidFill>
            <a:prstDash val="solid"/>
          </a:ln>
        </c:spPr>
        <c:txPr>
          <a:bodyPr anchorCtr="1"/>
          <a:lstStyle/>
          <a:p>
            <a:pPr>
              <a:defRPr sz="900">
                <a:solidFill>
                  <a:srgbClr val="4B5563"/>
                </a:solidFill>
              </a:defRPr>
            </a:pPr>
            <a:endParaRPr lang="en-US"/>
          </a:p>
        </c:txPr>
        <c:crossAx val="48650112"/>
        <c:crosses val="autoZero"/>
        <c:crossBetween val="between"/>
        <c:majorUnit val="0.1"/>
      </c:valAx>
      <c:spPr>
        <a:solidFill>
          <a:srgbClr val="FFFFFF"/>
        </a:solidFill>
      </c:spPr>
    </c:plotArea>
    <c:legend>
      <c:legendPos val="b"/>
      <c:overlay val="0"/>
      <c:txPr>
        <a:bodyPr anchorCtr="1"/>
        <a:lstStyle/>
        <a:p>
          <a:pPr>
            <a:defRPr sz="900">
              <a:solidFill>
                <a:srgbClr val="4B5563"/>
              </a:solidFill>
            </a:defRPr>
          </a:pPr>
          <a:endParaRPr lang="en-US"/>
        </a:p>
      </c:txPr>
    </c:legend>
    <c:plotVisOnly val="1"/>
    <c:dispBlanksAs val="zero"/>
    <c:showDLblsOverMax val="1"/>
  </c:chart>
  <c:spPr>
    <a:solidFill>
      <a:srgbClr val="FFFFFF"/>
    </a:solidFill>
  </c:spPr>
</c:chartSpace>
</file>

<file path=ppt/charts/chart5.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1"/>
  <c:lang val="en-US"/>
  <c:roundedCorners val="1"/>
  <c:style val="2"/>
  <c:chart>
    <c:title>
      <c:tx>
        <c:rich>
          <a:bodyPr/>
          <a:lstStyle/>
          <a:p>
            <a:r>
              <a:rPr lang="en-US" sz="1125" b="1">
                <a:solidFill>
                  <a:srgbClr val="1F2A44"/>
                </a:solidFill>
              </a:rPr>
              <a:t>Hartmann4 best comparable errors</a:t>
            </a:r>
          </a:p>
        </c:rich>
      </c:tx>
      <c:overlay val="0"/>
    </c:title>
    <c:autoTitleDeleted val="0"/>
    <c:plotArea>
      <c:layout/>
      <c:barChart>
        <c:barDir val="col"/>
        <c:grouping val="clustered"/>
        <c:varyColors val="0"/>
        <c:ser>
          <c:idx val="0"/>
          <c:order val="0"/>
          <c:tx>
            <c:v>Best</c:v>
          </c:tx>
          <c:spPr>
            <a:solidFill>
              <a:srgbClr val="2F80C0"/>
            </a:solidFill>
          </c:spPr>
          <c:invertIfNegative val="1"/>
          <c:dLbls>
            <c:spPr>
              <a:noFill/>
              <a:ln>
                <a:noFill/>
              </a:ln>
              <a:effectLst/>
            </c:spPr>
            <c:showLegendKey val="1"/>
            <c:showVal val="1"/>
            <c:showCatName val="1"/>
            <c:showSerName val="1"/>
            <c:showPercent val="1"/>
            <c:showBubbleSize val="1"/>
            <c:showLeaderLines val="0"/>
            <c:extLst>
              <c:ext xmlns:c15="http://schemas.microsoft.com/office/drawing/2012/chart" uri="{CE6537A1-D6FC-4f65-9D91-7224C49458BB}">
                <c15:showLeaderLines val="0"/>
              </c:ext>
            </c:extLst>
          </c:dLbls>
          <c:cat>
            <c:strLit>
              <c:ptCount val="3"/>
              <c:pt idx="0">
                <c:v>Global</c:v>
              </c:pt>
              <c:pt idx="1">
                <c:v>q20</c:v>
              </c:pt>
              <c:pt idx="2">
                <c:v>q30</c:v>
              </c:pt>
            </c:strLit>
          </c:cat>
          <c:val>
            <c:numLit>
              <c:formatCode>0%</c:formatCode>
              <c:ptCount val="3"/>
              <c:pt idx="0">
                <c:v>0.1236</c:v>
              </c:pt>
              <c:pt idx="1">
                <c:v>0.38040000000000002</c:v>
              </c:pt>
              <c:pt idx="2">
                <c:v>0.32550000000000001</c:v>
              </c:pt>
            </c:numLit>
          </c:val>
          <c:extLst>
            <c:ext xmlns:c14="http://schemas.microsoft.com/office/drawing/2007/8/2/chart" uri="{6F2FDCE9-48DA-4B69-8628-5D25D57E5C99}">
              <c14:invertSolidFillFmt>
                <c14:spPr xmlns:c14="http://schemas.microsoft.com/office/drawing/2007/8/2/chart">
                  <a:solidFill>
                    <a:srgbClr val="FFFFFF"/>
                  </a:solidFill>
                </c14:spPr>
              </c14:invertSolidFillFmt>
            </c:ext>
            <c:ext xmlns:c16="http://schemas.microsoft.com/office/drawing/2014/chart" uri="{C3380CC4-5D6E-409C-BE32-E72D297353CC}">
              <c16:uniqueId val="{00000000-012C-43CE-B3A8-B3A9DB4C18B9}"/>
            </c:ext>
          </c:extLst>
        </c:ser>
        <c:dLbls>
          <c:showLegendKey val="0"/>
          <c:showVal val="0"/>
          <c:showCatName val="0"/>
          <c:showSerName val="0"/>
          <c:showPercent val="0"/>
          <c:showBubbleSize val="0"/>
        </c:dLbls>
        <c:gapWidth val="70"/>
        <c:axId val="48650112"/>
        <c:axId val="48672768"/>
      </c:barChart>
      <c:catAx>
        <c:axId val="48650112"/>
        <c:scaling>
          <c:orientation val="minMax"/>
        </c:scaling>
        <c:delete val="0"/>
        <c:axPos val="b"/>
        <c:numFmt formatCode="General" sourceLinked="1"/>
        <c:majorTickMark val="none"/>
        <c:minorTickMark val="none"/>
        <c:tickLblPos val="low"/>
        <c:spPr>
          <a:ln w="9525">
            <a:solidFill>
              <a:srgbClr val="D4D4D4"/>
            </a:solidFill>
            <a:prstDash val="solid"/>
          </a:ln>
        </c:spPr>
        <c:txPr>
          <a:bodyPr anchorCtr="1"/>
          <a:lstStyle/>
          <a:p>
            <a:pPr>
              <a:defRPr sz="900">
                <a:solidFill>
                  <a:srgbClr val="1F2A44"/>
                </a:solidFill>
              </a:defRPr>
            </a:pPr>
            <a:endParaRPr lang="en-US"/>
          </a:p>
        </c:txPr>
        <c:crossAx val="48672768"/>
        <c:crosses val="autoZero"/>
        <c:auto val="1"/>
        <c:lblAlgn val="ctr"/>
        <c:lblOffset val="100"/>
        <c:noMultiLvlLbl val="0"/>
      </c:catAx>
      <c:valAx>
        <c:axId val="48672768"/>
        <c:scaling>
          <c:orientation val="minMax"/>
          <c:max val="0.45"/>
          <c:min val="0"/>
        </c:scaling>
        <c:delete val="0"/>
        <c:axPos val="l"/>
        <c:majorGridlines>
          <c:spPr>
            <a:ln w="9525">
              <a:solidFill>
                <a:srgbClr val="E5E7EB"/>
              </a:solidFill>
              <a:prstDash val="solid"/>
            </a:ln>
          </c:spPr>
        </c:majorGridlines>
        <c:numFmt formatCode="0%" sourceLinked="1"/>
        <c:majorTickMark val="none"/>
        <c:minorTickMark val="none"/>
        <c:tickLblPos val="nextTo"/>
        <c:spPr>
          <a:ln w="9525">
            <a:solidFill>
              <a:srgbClr val="D4D4D4"/>
            </a:solidFill>
            <a:prstDash val="solid"/>
          </a:ln>
        </c:spPr>
        <c:txPr>
          <a:bodyPr anchorCtr="1"/>
          <a:lstStyle/>
          <a:p>
            <a:pPr>
              <a:defRPr sz="900">
                <a:solidFill>
                  <a:srgbClr val="4B5563"/>
                </a:solidFill>
              </a:defRPr>
            </a:pPr>
            <a:endParaRPr lang="en-US"/>
          </a:p>
        </c:txPr>
        <c:crossAx val="48650112"/>
        <c:crosses val="autoZero"/>
        <c:crossBetween val="between"/>
        <c:majorUnit val="0.1"/>
      </c:valAx>
      <c:spPr>
        <a:solidFill>
          <a:srgbClr val="FFFFFF"/>
        </a:solidFill>
      </c:spPr>
    </c:plotArea>
    <c:plotVisOnly val="1"/>
    <c:dispBlanksAs val="zero"/>
    <c:showDLblsOverMax val="1"/>
  </c:chart>
  <c:spPr>
    <a:solidFill>
      <a:srgbClr val="FFFFFF"/>
    </a:solidFill>
  </c:spPr>
</c:chartSpace>
</file>

<file path=ppt/charts/chart6.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1"/>
  <c:lang val="en-US"/>
  <c:roundedCorners val="1"/>
  <c:style val="2"/>
  <c:chart>
    <c:title>
      <c:tx>
        <c:rich>
          <a:bodyPr/>
          <a:lstStyle/>
          <a:p>
            <a:r>
              <a:rPr lang="en-US" sz="1125" b="1">
                <a:solidFill>
                  <a:srgbClr val="1F2A44"/>
                </a:solidFill>
              </a:rPr>
              <a:t>Hartmann4 GPC-SUR validation</a:t>
            </a:r>
          </a:p>
        </c:rich>
      </c:tx>
      <c:overlay val="0"/>
    </c:title>
    <c:autoTitleDeleted val="0"/>
    <c:plotArea>
      <c:layout/>
      <c:barChart>
        <c:barDir val="col"/>
        <c:grouping val="clustered"/>
        <c:varyColors val="0"/>
        <c:ser>
          <c:idx val="0"/>
          <c:order val="0"/>
          <c:tx>
            <c:v>Repulsion</c:v>
          </c:tx>
          <c:spPr>
            <a:solidFill>
              <a:srgbClr val="6B7280"/>
            </a:solidFill>
          </c:spPr>
          <c:invertIfNegative val="1"/>
          <c:dLbls>
            <c:spPr>
              <a:noFill/>
              <a:ln>
                <a:noFill/>
              </a:ln>
              <a:effectLst/>
            </c:spPr>
            <c:showLegendKey val="1"/>
            <c:showVal val="1"/>
            <c:showCatName val="1"/>
            <c:showSerName val="1"/>
            <c:showPercent val="1"/>
            <c:showBubbleSize val="1"/>
            <c:showLeaderLines val="0"/>
            <c:extLst>
              <c:ext xmlns:c15="http://schemas.microsoft.com/office/drawing/2012/chart" uri="{CE6537A1-D6FC-4f65-9D91-7224C49458BB}">
                <c15:showLeaderLines val="0"/>
              </c:ext>
            </c:extLst>
          </c:dLbls>
          <c:cat>
            <c:strLit>
              <c:ptCount val="3"/>
              <c:pt idx="0">
                <c:v>Global</c:v>
              </c:pt>
              <c:pt idx="1">
                <c:v>q20</c:v>
              </c:pt>
              <c:pt idx="2">
                <c:v>q30</c:v>
              </c:pt>
            </c:strLit>
          </c:cat>
          <c:val>
            <c:numLit>
              <c:formatCode>0%</c:formatCode>
              <c:ptCount val="3"/>
              <c:pt idx="0">
                <c:v>0.1236</c:v>
              </c:pt>
              <c:pt idx="1">
                <c:v>0.38469999999999999</c:v>
              </c:pt>
              <c:pt idx="2">
                <c:v>0.32629999999999998</c:v>
              </c:pt>
            </c:numLit>
          </c:val>
          <c:extLst>
            <c:ext xmlns:c14="http://schemas.microsoft.com/office/drawing/2007/8/2/chart" uri="{6F2FDCE9-48DA-4B69-8628-5D25D57E5C99}">
              <c14:invertSolidFillFmt>
                <c14:spPr xmlns:c14="http://schemas.microsoft.com/office/drawing/2007/8/2/chart">
                  <a:solidFill>
                    <a:srgbClr val="FFFFFF"/>
                  </a:solidFill>
                </c14:spPr>
              </c14:invertSolidFillFmt>
            </c:ext>
            <c:ext xmlns:c16="http://schemas.microsoft.com/office/drawing/2014/chart" uri="{C3380CC4-5D6E-409C-BE32-E72D297353CC}">
              <c16:uniqueId val="{00000000-C6B7-4BE6-8FE5-849F6A85BFC1}"/>
            </c:ext>
          </c:extLst>
        </c:ser>
        <c:ser>
          <c:idx val="1"/>
          <c:order val="1"/>
          <c:tx>
            <c:v>SUR k15</c:v>
          </c:tx>
          <c:spPr>
            <a:solidFill>
              <a:srgbClr val="2F80C0"/>
            </a:solidFill>
          </c:spPr>
          <c:invertIfNegative val="1"/>
          <c:dLbls>
            <c:spPr>
              <a:noFill/>
              <a:ln>
                <a:noFill/>
              </a:ln>
              <a:effectLst/>
            </c:spPr>
            <c:showLegendKey val="1"/>
            <c:showVal val="1"/>
            <c:showCatName val="1"/>
            <c:showSerName val="1"/>
            <c:showPercent val="1"/>
            <c:showBubbleSize val="1"/>
            <c:showLeaderLines val="0"/>
            <c:extLst>
              <c:ext xmlns:c15="http://schemas.microsoft.com/office/drawing/2012/chart" uri="{CE6537A1-D6FC-4f65-9D91-7224C49458BB}">
                <c15:showLeaderLines val="0"/>
              </c:ext>
            </c:extLst>
          </c:dLbls>
          <c:cat>
            <c:strLit>
              <c:ptCount val="3"/>
              <c:pt idx="0">
                <c:v>Global</c:v>
              </c:pt>
              <c:pt idx="1">
                <c:v>q20</c:v>
              </c:pt>
              <c:pt idx="2">
                <c:v>q30</c:v>
              </c:pt>
            </c:strLit>
          </c:cat>
          <c:val>
            <c:numLit>
              <c:formatCode>0%</c:formatCode>
              <c:ptCount val="3"/>
              <c:pt idx="0">
                <c:v>0.11600000000000001</c:v>
              </c:pt>
              <c:pt idx="1">
                <c:v>0.37530000000000002</c:v>
              </c:pt>
              <c:pt idx="2">
                <c:v>0.31590000000000001</c:v>
              </c:pt>
            </c:numLit>
          </c:val>
          <c:extLst>
            <c:ext xmlns:c14="http://schemas.microsoft.com/office/drawing/2007/8/2/chart" uri="{6F2FDCE9-48DA-4B69-8628-5D25D57E5C99}">
              <c14:invertSolidFillFmt>
                <c14:spPr xmlns:c14="http://schemas.microsoft.com/office/drawing/2007/8/2/chart">
                  <a:solidFill>
                    <a:srgbClr val="FFFFFF"/>
                  </a:solidFill>
                </c14:spPr>
              </c14:invertSolidFillFmt>
            </c:ext>
            <c:ext xmlns:c16="http://schemas.microsoft.com/office/drawing/2014/chart" uri="{C3380CC4-5D6E-409C-BE32-E72D297353CC}">
              <c16:uniqueId val="{00000001-C6B7-4BE6-8FE5-849F6A85BFC1}"/>
            </c:ext>
          </c:extLst>
        </c:ser>
        <c:ser>
          <c:idx val="2"/>
          <c:order val="2"/>
          <c:tx>
            <c:v>SUR k25</c:v>
          </c:tx>
          <c:spPr>
            <a:solidFill>
              <a:srgbClr val="0F8B61"/>
            </a:solidFill>
          </c:spPr>
          <c:invertIfNegative val="1"/>
          <c:dLbls>
            <c:spPr>
              <a:noFill/>
              <a:ln>
                <a:noFill/>
              </a:ln>
              <a:effectLst/>
            </c:spPr>
            <c:showLegendKey val="1"/>
            <c:showVal val="1"/>
            <c:showCatName val="1"/>
            <c:showSerName val="1"/>
            <c:showPercent val="1"/>
            <c:showBubbleSize val="1"/>
            <c:showLeaderLines val="0"/>
            <c:extLst>
              <c:ext xmlns:c15="http://schemas.microsoft.com/office/drawing/2012/chart" uri="{CE6537A1-D6FC-4f65-9D91-7224C49458BB}">
                <c15:showLeaderLines val="0"/>
              </c:ext>
            </c:extLst>
          </c:dLbls>
          <c:cat>
            <c:strLit>
              <c:ptCount val="3"/>
              <c:pt idx="0">
                <c:v>Global</c:v>
              </c:pt>
              <c:pt idx="1">
                <c:v>q20</c:v>
              </c:pt>
              <c:pt idx="2">
                <c:v>q30</c:v>
              </c:pt>
            </c:strLit>
          </c:cat>
          <c:val>
            <c:numLit>
              <c:formatCode>0%</c:formatCode>
              <c:ptCount val="3"/>
              <c:pt idx="0">
                <c:v>0.121</c:v>
              </c:pt>
              <c:pt idx="1">
                <c:v>0.373</c:v>
              </c:pt>
              <c:pt idx="2">
                <c:v>0.3155</c:v>
              </c:pt>
            </c:numLit>
          </c:val>
          <c:extLst>
            <c:ext xmlns:c14="http://schemas.microsoft.com/office/drawing/2007/8/2/chart" uri="{6F2FDCE9-48DA-4B69-8628-5D25D57E5C99}">
              <c14:invertSolidFillFmt>
                <c14:spPr xmlns:c14="http://schemas.microsoft.com/office/drawing/2007/8/2/chart">
                  <a:solidFill>
                    <a:srgbClr val="FFFFFF"/>
                  </a:solidFill>
                </c14:spPr>
              </c14:invertSolidFillFmt>
            </c:ext>
            <c:ext xmlns:c16="http://schemas.microsoft.com/office/drawing/2014/chart" uri="{C3380CC4-5D6E-409C-BE32-E72D297353CC}">
              <c16:uniqueId val="{00000002-C6B7-4BE6-8FE5-849F6A85BFC1}"/>
            </c:ext>
          </c:extLst>
        </c:ser>
        <c:dLbls>
          <c:showLegendKey val="0"/>
          <c:showVal val="0"/>
          <c:showCatName val="0"/>
          <c:showSerName val="0"/>
          <c:showPercent val="0"/>
          <c:showBubbleSize val="0"/>
        </c:dLbls>
        <c:gapWidth val="70"/>
        <c:axId val="48650112"/>
        <c:axId val="48672768"/>
      </c:barChart>
      <c:catAx>
        <c:axId val="48650112"/>
        <c:scaling>
          <c:orientation val="minMax"/>
        </c:scaling>
        <c:delete val="0"/>
        <c:axPos val="b"/>
        <c:numFmt formatCode="General" sourceLinked="1"/>
        <c:majorTickMark val="none"/>
        <c:minorTickMark val="none"/>
        <c:tickLblPos val="low"/>
        <c:spPr>
          <a:ln w="9525">
            <a:solidFill>
              <a:srgbClr val="D4D4D4"/>
            </a:solidFill>
            <a:prstDash val="solid"/>
          </a:ln>
        </c:spPr>
        <c:txPr>
          <a:bodyPr anchorCtr="1"/>
          <a:lstStyle/>
          <a:p>
            <a:pPr>
              <a:defRPr sz="900">
                <a:solidFill>
                  <a:srgbClr val="1F2A44"/>
                </a:solidFill>
              </a:defRPr>
            </a:pPr>
            <a:endParaRPr lang="en-US"/>
          </a:p>
        </c:txPr>
        <c:crossAx val="48672768"/>
        <c:crosses val="autoZero"/>
        <c:auto val="1"/>
        <c:lblAlgn val="ctr"/>
        <c:lblOffset val="100"/>
        <c:noMultiLvlLbl val="0"/>
      </c:catAx>
      <c:valAx>
        <c:axId val="48672768"/>
        <c:scaling>
          <c:orientation val="minMax"/>
          <c:max val="0.45"/>
          <c:min val="0"/>
        </c:scaling>
        <c:delete val="0"/>
        <c:axPos val="l"/>
        <c:majorGridlines>
          <c:spPr>
            <a:ln w="9525">
              <a:solidFill>
                <a:srgbClr val="E5E7EB"/>
              </a:solidFill>
              <a:prstDash val="solid"/>
            </a:ln>
          </c:spPr>
        </c:majorGridlines>
        <c:numFmt formatCode="0%" sourceLinked="1"/>
        <c:majorTickMark val="none"/>
        <c:minorTickMark val="none"/>
        <c:tickLblPos val="nextTo"/>
        <c:spPr>
          <a:ln w="9525">
            <a:solidFill>
              <a:srgbClr val="D4D4D4"/>
            </a:solidFill>
            <a:prstDash val="solid"/>
          </a:ln>
        </c:spPr>
        <c:txPr>
          <a:bodyPr anchorCtr="1"/>
          <a:lstStyle/>
          <a:p>
            <a:pPr>
              <a:defRPr sz="900">
                <a:solidFill>
                  <a:srgbClr val="4B5563"/>
                </a:solidFill>
              </a:defRPr>
            </a:pPr>
            <a:endParaRPr lang="en-US"/>
          </a:p>
        </c:txPr>
        <c:crossAx val="48650112"/>
        <c:crosses val="autoZero"/>
        <c:crossBetween val="between"/>
        <c:majorUnit val="0.1"/>
      </c:valAx>
      <c:spPr>
        <a:solidFill>
          <a:srgbClr val="FFFFFF"/>
        </a:solidFill>
      </c:spPr>
    </c:plotArea>
    <c:legend>
      <c:legendPos val="b"/>
      <c:overlay val="0"/>
      <c:txPr>
        <a:bodyPr anchorCtr="1"/>
        <a:lstStyle/>
        <a:p>
          <a:pPr>
            <a:defRPr sz="900">
              <a:solidFill>
                <a:srgbClr val="4B5563"/>
              </a:solidFill>
            </a:defRPr>
          </a:pPr>
          <a:endParaRPr lang="en-US"/>
        </a:p>
      </c:txPr>
    </c:legend>
    <c:plotVisOnly val="1"/>
    <c:dispBlanksAs val="zero"/>
    <c:showDLblsOverMax val="1"/>
  </c:chart>
  <c:spPr>
    <a:solidFill>
      <a:srgbClr val="FFFFFF"/>
    </a:solidFill>
  </c:spPr>
</c:chartSpace>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p:cNvSpPr>
            <a:spLocks noGrp="1"/>
          </p:cNvSpPr>
          <p:nvPr>
            <p:ph type="hdr" sz="quarter"/>
          </p:nvPr>
        </p:nvSpPr>
        <p:spPr>
          <a:prstGeom prst="rect">
            <a:avLst/>
          </a:prstGeom>
        </p:spPr>
        <p:txBody>
          <a:bodyPr/>
          <a:lstStyle/>
          <a:p>
            <a:endParaRPr/>
          </a:p>
        </p:txBody>
      </p:sp>
      <p:sp>
        <p:nvSpPr>
          <p:cNvPr id="3" name="Date Placeholder"/>
          <p:cNvSpPr>
            <a:spLocks noGrp="1"/>
          </p:cNvSpPr>
          <p:nvPr>
            <p:ph type="dt" sz="quarter" idx="1"/>
          </p:nvPr>
        </p:nvSpPr>
        <p:spPr>
          <a:prstGeom prst="rect">
            <a:avLst/>
          </a:prstGeom>
        </p:spPr>
        <p:txBody>
          <a:bodyPr/>
          <a:lstStyle/>
          <a:p>
            <a:endParaRPr/>
          </a:p>
        </p:txBody>
      </p:sp>
      <p:sp>
        <p:nvSpPr>
          <p:cNvPr id="4" name="Slide Image Placeholder"/>
          <p:cNvSpPr>
            <a:spLocks noGrp="1" noRot="1" noChangeAspect="1"/>
          </p:cNvSpPr>
          <p:nvPr>
            <p:ph type="sldImg" idx="2"/>
          </p:nvPr>
        </p:nvSpPr>
        <p:spPr>
          <a:prstGeom prst="rect">
            <a:avLst/>
          </a:prstGeom>
        </p:spPr>
        <p:txBody>
          <a:bodyPr/>
          <a:lstStyle/>
          <a:p>
            <a:endParaRPr/>
          </a:p>
        </p:txBody>
      </p:sp>
      <p:sp>
        <p:nvSpPr>
          <p:cNvPr id="5" name="Notes Placeholder"/>
          <p:cNvSpPr>
            <a:spLocks noGrp="1"/>
          </p:cNvSpPr>
          <p:nvPr>
            <p:ph type="body" sz="quarter" idx="3"/>
          </p:nvPr>
        </p:nvSpPr>
        <p:spPr>
          <a:prstGeom prst="rect">
            <a:avLst/>
          </a:prstGeom>
        </p:spPr>
        <p:txBody>
          <a:bodyPr/>
          <a:lstStyle/>
          <a:p>
            <a:endParaRPr/>
          </a:p>
        </p:txBody>
      </p:sp>
      <p:sp>
        <p:nvSpPr>
          <p:cNvPr id="6" name="Footer Placeholder"/>
          <p:cNvSpPr>
            <a:spLocks noGrp="1"/>
          </p:cNvSpPr>
          <p:nvPr>
            <p:ph type="ftr" sz="quarter" idx="4"/>
          </p:nvPr>
        </p:nvSpPr>
        <p:spPr>
          <a:prstGeom prst="rect">
            <a:avLst/>
          </a:prstGeom>
        </p:spPr>
        <p:txBody>
          <a:bodyPr/>
          <a:lstStyle/>
          <a:p>
            <a:endParaRPr/>
          </a:p>
        </p:txBody>
      </p:sp>
      <p:sp>
        <p:nvSpPr>
          <p:cNvPr id="7" name="Slide Number Placeholder"/>
          <p:cNvSpPr>
            <a:spLocks noGrp="1"/>
          </p:cNvSpPr>
          <p:nvPr>
            <p:ph type="sldNum" sz="quarter" idx="5"/>
          </p:nvPr>
        </p:nvSpPr>
        <p:spPr>
          <a:prstGeom prst="rect">
            <a:avLst/>
          </a:prstGeom>
        </p:spPr>
        <p:txBody>
          <a:bodyPr/>
          <a:lstStyle/>
          <a:p>
            <a:endParaRPr/>
          </a:p>
        </p:txBody>
      </p:sp>
    </p:spTree>
  </p:cSld>
  <p:clrMap bg1="lt1" tx1="dk1" bg2="dk2" tx2="lt2" accent1="accent1" accent2="accent2" accent3="accent3" accent4="accent4" accent5="accent5" accent6="accent6" hlink="hlink" folHlink="folHlink"/>
  <p:notesStyle>
    <a:lvl1pPr marL="0" algn="l" defTabSz="914400" rtl="0" eaLnBrk="1" latinLnBrk="0" hangingPunct="1">
      <a:defRPr sz="1200" kern="1200"/>
    </a:lvl1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indent="0" algn="l">
              <a:spcBef>
                <a:spcPts val="0"/>
              </a:spcBef>
              <a:spcAft>
                <a:spcPts val="0"/>
              </a:spcAft>
              <a:buNone/>
            </a:pPr>
            <a:r>
              <a:rPr lang="en-US" dirty="0"/>
              <a:t>This slide is meant to reframe Week 3 as more than a single 4D Ackley experiment. The original thesis question stayed the same: we want to identify a threshold boundary with as few evaluations as possible. What changed is the breadth of the stress test. I now compare methods across Branin, Ackley4, and Hartmann4; across GP regression and GP classifier surrogates; and across both global classification error and boundary-focused q20/q30 error. The main point is that performance is benchmark-dependent. Branin is useful and interpretable, Ackley4 is a hard 4D stress test, and Hartmann4 gives a second 4D check so that we do not overfit the story to Ackley alone.</a:t>
            </a:r>
            <a:endParaRPr sz="1200" b="0" i="0" u="none" cap="none" dirty="0">
              <a:solidFill>
                <a:schemeClr val="dk1"/>
              </a:solidFill>
              <a:latin typeface="Arial"/>
              <a:ea typeface="Arial"/>
              <a:cs typeface="Arial"/>
            </a:endParaRP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b="1" dirty="0"/>
              <a:t>Ackley4 was the first named 4D acquisition comparison</a:t>
            </a:r>
          </a:p>
          <a:p>
            <a:r>
              <a:rPr lang="en-US" dirty="0"/>
              <a:t>Here I moved from the 2D Branin benchmark to a named 4D benchmark. This is closer to the final melt-pool setting because the target problem also lives in a multi-dimensional process-parameter space. The methods are intentionally simple baselines first: random gives a lower reference; smallest abs(mu) samples near the current predicted zero-contour; straddle balances closeness to the boundary with model uncertainty; randomized straddle adds stochasticity to avoid a too-deterministic path; and expected feasibility is a contour-focused level-set heuristic. In the GP-regression setup, mu and sigma are not calibrated class probabilities; they are latent boundary-surface quantities used to estimate the zero level set.</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b="1" dirty="0"/>
              <a:t>Ackley4 result: straddle wins globally</a:t>
            </a:r>
          </a:p>
          <a:p>
            <a:r>
              <a:rPr lang="en-US" dirty="0"/>
              <a:t>The main message from this plot is that acquisition choice matters in 4D. Boundary-aware methods clearly outperform random, so the active level-set idea transfers beyond the simple 2D benchmark. However, Ackley4 remains difficult: even the best methods do not reach very low global error within the budget. Straddle performs best by mean global error, while randomized straddle stays close. This means the standard boundary-aware uncertainty heuristics are useful, but the harder geometry of Ackley makes the problem much less forgiving than Branin.</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b="1" dirty="0"/>
              <a:t>Ackley4 diagnostics explain why one plot is not enough</a:t>
            </a:r>
          </a:p>
          <a:p>
            <a:r>
              <a:rPr lang="en-US" dirty="0"/>
              <a:t>These plots are diagnostic, not a complete view of the 4D boundary. A 2D slice can show the true boundary only after fixing the other two coordinates, and a 2D projection can hide what happens in the remaining dimensions. So a visually reasonable slice does not guarantee that the method has learned the full 4D boundary well. This motivated the next evaluation step: instead of relying only on plots or global test error, I added direct near-boundary metrics that evaluate performance in the region that actually matters for level-set estimation.</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indent="0" algn="l">
              <a:spcBef>
                <a:spcPts val="0"/>
              </a:spcBef>
              <a:spcAft>
                <a:spcPts val="0"/>
              </a:spcAft>
              <a:buNone/>
            </a:pPr>
            <a:r>
              <a:rPr lang="en-US" dirty="0"/>
              <a:t>At the final budget, straddle has the best mean global error, with randomized straddle very close behind. Expected feasibility is still much better than random, but does not win globally on Ackley4. Smallest abs(mu) performs worse, which is important because it shows that simply querying closest to the current predicted boundary is not enough. The safe interpretation is: straddle is best on this specific named 4D global-error benchmark, but this is not a universal ranking of all acquisition functions.</a:t>
            </a:r>
            <a:endParaRPr sz="1200" dirty="0">
              <a:solidFill>
                <a:schemeClr val="dk1"/>
              </a:solidFill>
              <a:latin typeface="Arial"/>
              <a:ea typeface="Arial"/>
              <a:cs typeface="Arial"/>
            </a:endParaRP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indent="0" algn="l">
              <a:spcBef>
                <a:spcPts val="0"/>
              </a:spcBef>
              <a:spcAft>
                <a:spcPts val="0"/>
              </a:spcAft>
              <a:buNone/>
            </a:pPr>
            <a:r>
              <a:rPr lang="en-US" dirty="0"/>
              <a:t>This is the key evaluation shift. Global error is useful, but it can be misleading for boundary estimation because many test points are far away from the threshold boundary and are therefore easy to classify. The q20 and q30 metrics focus on the closest 20% and 30% of test points to the true boundary, so they better reflect boundary quality. On Ackley4, straddle wins global error, but randomized straddle is stronger on q10/q20/q30. Also, smallest abs(mu) queries close to the boundary but does not produce the best boundary predictions. So boundary proximity, uncertainty, and coverage all matter together.</a:t>
            </a:r>
            <a:endParaRPr sz="1200" dirty="0">
              <a:solidFill>
                <a:schemeClr val="dk1"/>
              </a:solidFill>
              <a:latin typeface="Arial"/>
              <a:ea typeface="Arial"/>
              <a:cs typeface="Arial"/>
            </a:endParaRP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indent="0" algn="l">
              <a:spcBef>
                <a:spcPts val="0"/>
              </a:spcBef>
              <a:spcAft>
                <a:spcPts val="0"/>
              </a:spcAft>
              <a:buNone/>
            </a:pPr>
            <a:r>
              <a:rPr lang="en-US" dirty="0"/>
              <a:t>After seeing the metric disagreement, I tested new acquisition variants as targeted hypotheses. Diversified straddle asked whether spatial coverage can prevent repeated local sampling. Boundary-gated diversity tried to fix a weakness of naive diversity by applying diversity only among boundary-relevant candidates. Lookahead BUR asked whether the next point should be chosen by its expected reduction in aggregate boundary uncertainty after fantasy labels. Gated geometric boundary contraction tested whether curvature and geometry of the predicted boundary can identify difficult regions. The important design choice is that all of these were compared against the strong simple baselines, not only against random.</a:t>
            </a:r>
            <a:endParaRPr sz="1200" dirty="0">
              <a:solidFill>
                <a:schemeClr val="dk1"/>
              </a:solidFill>
              <a:latin typeface="Arial"/>
              <a:ea typeface="Arial"/>
              <a:cs typeface="Arial"/>
            </a:endParaRP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indent="0" algn="l">
              <a:spcBef>
                <a:spcPts val="0"/>
              </a:spcBef>
              <a:spcAft>
                <a:spcPts val="0"/>
              </a:spcAft>
              <a:buNone/>
            </a:pPr>
            <a:r>
              <a:rPr lang="en-US" dirty="0"/>
              <a:t>Lookahead boundary-uncertainty reduction is conceptually attractive because it tries to choose the point that will reduce future boundary uncertainty, not only the point that is uncertain now. It worked well on Branin, improving global and near-boundary error. But on Ackley4 it failed to transfer and was worse than the strong straddle-family baselines. The lesson is that a more sophisticated objective is not automatically better. Under the current GP-regression surrogate, reducing an aggregate latent uncertainty measure does not always align with reducing near-boundary classification error in a harder 4D landscape.</a:t>
            </a:r>
            <a:endParaRPr sz="1200" dirty="0">
              <a:solidFill>
                <a:schemeClr val="dk1"/>
              </a:solidFill>
              <a:latin typeface="Arial"/>
              <a:ea typeface="Arial"/>
              <a:cs typeface="Arial"/>
            </a:endParaRP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indent="0" algn="l">
              <a:spcBef>
                <a:spcPts val="0"/>
              </a:spcBef>
              <a:spcAft>
                <a:spcPts val="0"/>
              </a:spcAft>
              <a:buNone/>
            </a:pPr>
            <a:r>
              <a:rPr lang="en-US" dirty="0"/>
              <a:t>The geometric boundary-contraction idea tested whether posterior-mean geometry, curvature, uncertainty, and repulsion could guide sampling toward difficult boundary regions. The result was negative but useful: it often reduced the model’s latent uncertainty region, but did not improve error enough on Branin or Ackley4. This is an important warning for the thesis. A method can make the surrogate more confident without making it more correct. Therefore uncertainty-region fraction is a diagnostic, not a final success metric.</a:t>
            </a:r>
            <a:endParaRPr sz="1200" dirty="0">
              <a:solidFill>
                <a:schemeClr val="dk1"/>
              </a:solidFill>
              <a:latin typeface="Arial"/>
              <a:ea typeface="Arial"/>
              <a:cs typeface="Arial"/>
            </a:endParaRP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indent="0" algn="l">
              <a:spcBef>
                <a:spcPts val="0"/>
              </a:spcBef>
              <a:spcAft>
                <a:spcPts val="0"/>
              </a:spcAft>
              <a:buNone/>
            </a:pPr>
            <a:r>
              <a:rPr lang="en-US" dirty="0"/>
              <a:t>The new methods were useful mainly because they clarified what does not generalize robustly. Ackley4 is a good named 4D bridge benchmark, but it is hard. Boundary-focused metrics are necessary, because global error alone can tell the wrong story. Simple methods such as straddle and randomized straddle remain surprisingly difficult to beat. Lookahead and geometry-based methods are interesting but benchmark-sensitive. This led to the next natural question: maybe the limiting factor is not only the acquisition function, but also the surrogate model.</a:t>
            </a:r>
            <a:endParaRPr dirty="0"/>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indent="0" algn="l">
              <a:spcBef>
                <a:spcPts val="0"/>
              </a:spcBef>
              <a:spcAft>
                <a:spcPts val="0"/>
              </a:spcAft>
              <a:buNone/>
            </a:pPr>
            <a:r>
              <a:rPr lang="en-US" sz="1200" dirty="0">
                <a:solidFill>
                  <a:schemeClr val="dk1"/>
                </a:solidFill>
                <a:latin typeface="Arial"/>
                <a:ea typeface="Arial"/>
                <a:cs typeface="Arial"/>
              </a:rPr>
              <a:t>I tested a GP classifier because the final data is binary labelled. GPC means Gaussian Process Classifier; it models p(y=+1|x). GPR means Gaussian Process Regressor; it gives a latent mu and sigma.</a:t>
            </a:r>
          </a:p>
          <a:p>
            <a:pPr marL="0" indent="0" algn="l">
              <a:spcBef>
                <a:spcPts val="0"/>
              </a:spcBef>
              <a:spcAft>
                <a:spcPts val="0"/>
              </a:spcAft>
              <a:buNone/>
            </a:pPr>
            <a:r>
              <a:rPr lang="en-US" sz="1200" dirty="0">
                <a:solidFill>
                  <a:schemeClr val="dk1"/>
                </a:solidFill>
                <a:latin typeface="Arial"/>
                <a:ea typeface="Arial"/>
                <a:cs typeface="Arial"/>
              </a:rPr>
              <a:t>Formula reference: margin uses abs(p-0.5), entropy is -p log p -(1-p)log(1-p), and uncertainty repulsion combines classifier uncertainty with a distance or diversity term so uncertain samples do not cluster.</a:t>
            </a:r>
            <a:r>
              <a:rPr lang="en-US" dirty="0"/>
              <a:t> Since the final physical data is binary-labelled, I tested a Gaussian Process Classifier as a more probability-native surrogate. In GPC, the boundary is p(y=+1|x)=0.5 rather than mu(x)=0. The classifier acquisitions use probability scores: margin samples near p=0.5, entropy is also highest near p=0.5, and uncertainty repulsion adds a distance term to avoid repeatedly sampling clustered uncertain points. The important caveat is that GPC rows and GPR rows are not only different acquisitions; they also use different surrogate models, so the comparison tests both acquisition behavior and model choice.</a:t>
            </a:r>
            <a:endParaRPr lang="en-US" sz="1200" dirty="0">
              <a:solidFill>
                <a:schemeClr val="dk1"/>
              </a:solidFill>
              <a:latin typeface="Arial"/>
              <a:ea typeface="Arial"/>
              <a:cs typeface="Arial"/>
            </a:endParaRP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indent="0" algn="l">
              <a:spcBef>
                <a:spcPts val="0"/>
              </a:spcBef>
              <a:spcAft>
                <a:spcPts val="0"/>
              </a:spcAft>
              <a:buNone/>
            </a:pPr>
            <a:r>
              <a:rPr lang="en-US" dirty="0"/>
              <a:t>The fixed-kernel GP classifier gave cleaner probability-native acquisition rules, but it did not beat the strongest GP-regression references. Within the fixed-GPC family, classifier uncertainty repulsion was the best method on Branin and Ackley, because it combines uncertainty near p=0.5 with spatial repulsion. But overall, switching to a classifier did not solve the boundary-learning problem. This supports Ioan’s point: even though the labels are binary, the thesis target is the geometry of the boundary, and GP regression can still be a flexible and useful latent-boundary model.</a:t>
            </a:r>
            <a:endParaRPr sz="1200" dirty="0">
              <a:solidFill>
                <a:schemeClr val="dk1"/>
              </a:solidFill>
              <a:latin typeface="Arial"/>
              <a:ea typeface="Arial"/>
              <a:cs typeface="Arial"/>
            </a:endParaRP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indent="0" algn="l">
              <a:spcBef>
                <a:spcPts val="0"/>
              </a:spcBef>
              <a:spcAft>
                <a:spcPts val="0"/>
              </a:spcAft>
              <a:buNone/>
            </a:pPr>
            <a:r>
              <a:rPr lang="en-US" dirty="0"/>
              <a:t>This slide shows that kernel optimization matters, but does not solve everything. Optimized GPC, especially with ARD length-scales, strongly improved Branin and even beat earlier regressor references there. But the same improvement did not transfer to Ackley4. On Ackley, the fixed classifier remained better than the optimized variants. So the conclusion is not “GPC is bad” or “GPC is best”; the conclusion is that classifier performance is sensitive to benchmark geometry and hyperparameter behavior. ARD can help on smooth low-dimensional structure, but it is not automatically a robust 4D solution.</a:t>
            </a:r>
            <a:endParaRPr sz="1200" dirty="0">
              <a:solidFill>
                <a:schemeClr val="dk1"/>
              </a:solidFill>
              <a:latin typeface="Arial"/>
              <a:ea typeface="Arial"/>
              <a:cs typeface="Arial"/>
            </a:endParaRP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indent="0" algn="l">
              <a:spcBef>
                <a:spcPts val="0"/>
              </a:spcBef>
              <a:spcAft>
                <a:spcPts val="0"/>
              </a:spcAft>
              <a:buNone/>
            </a:pPr>
            <a:r>
              <a:rPr lang="en-US" dirty="0"/>
              <a:t>This slide connects the empirical work to literature-inspired active learning objectives. IVR means Integrated Variance Reduction: instead of scoring only one candidate locally, it asks how much querying that candidate would reduce posterior variance over a boundary-relevant reference set. SUR means Stepwise Uncertainty Reduction: it uses fantasy outcomes for a candidate and estimates the expected reduction in future uncertainty. GPC-SUR does the same idea in the classifier setting, using p(y=+1|x) and Bernoulli uncertainty p(1-p). The key question is whether reducing integrated uncertainty also reduces q20/q30 boundary error. The answer is: sometimes, but not robustly across all benchmarks.</a:t>
            </a:r>
            <a:endParaRPr sz="1200" dirty="0">
              <a:solidFill>
                <a:schemeClr val="dk1"/>
              </a:solidFill>
              <a:latin typeface="Arial"/>
              <a:ea typeface="Arial"/>
              <a:cs typeface="Arial"/>
            </a:endParaRP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indent="0" algn="l">
              <a:spcBef>
                <a:spcPts val="0"/>
              </a:spcBef>
              <a:spcAft>
                <a:spcPts val="0"/>
              </a:spcAft>
              <a:buNone/>
            </a:pPr>
            <a:r>
              <a:rPr lang="en-US" dirty="0"/>
              <a:t>Hartmann4 was added because Ackley4 might be too specific or too harsh. The Hartmann results changed the story in a useful way: integrated uncertainty-reduction methods looked more helpful there than on Ackley. However, they still did not fully replace the simple baselines. Expected feasibility remained very strong on Hartmann q20/q30, and IVR helped but was not the overall best. The correct interpretation is that Ackley failure is not universal, but benchmark dependence is real. This strengthens the thesis because it shows that acquisition behavior depends on the geometry of the underlying boundary.</a:t>
            </a:r>
            <a:endParaRPr sz="1200" dirty="0">
              <a:solidFill>
                <a:schemeClr val="dk1"/>
              </a:solidFill>
              <a:latin typeface="Arial"/>
              <a:ea typeface="Arial"/>
              <a:cs typeface="Arial"/>
            </a:endParaRP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GPC-SUR validation tested whether the promising seed-0 signal was real or just noise. The result was mixed. On Hartmann4, GPC-SUR k15/k25 generalized and improved the relevant metrics. On Branin, the seed-0 signal did not generalize; on optional Ackley, SUR did not help. Also, GPC-SUR is expensive because it requires fantasy classifier refits for shortlisted candidates. So the safe conclusion is that GPC-SUR is a serious diagnostic and a good literature connection, especially for Hartmann-like behavior, but it is not robust enough to become the default acquisition loop.</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indent="0" algn="l">
              <a:spcBef>
                <a:spcPts val="0"/>
              </a:spcBef>
              <a:spcAft>
                <a:spcPts val="0"/>
              </a:spcAft>
              <a:buNone/>
            </a:pPr>
            <a:r>
              <a:rPr lang="en-US" dirty="0"/>
              <a:t>This slide summarizes the actual contribution of the expanded Week 3 package. It is no longer just one Ackley experiment; it is a controlled benchmark suite over acquisition functions, surrogate choices, and boundary-focused metrics. I tested standard pointwise rules, diversity and gating, lookahead uncertainty reduction, geometry/curvature ideas, fixed and optimized GP classifiers, IVR/SUR objectives, and Hartmann4 validation. The contribution is not finding one magic acquisition function that wins everywhere. The contribution is identifying which acquisition ideas survive transfer, which ones fail, and which methods are reliable enough to take into the real melt-pool data phase.</a:t>
            </a:r>
            <a:endParaRPr sz="1200" b="0" i="0" u="none" cap="none" dirty="0">
              <a:solidFill>
                <a:schemeClr val="dk1"/>
              </a:solidFill>
              <a:latin typeface="Arial"/>
              <a:ea typeface="Arial"/>
              <a:cs typeface="Arial"/>
            </a:endParaRP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DEFAULT">
  <p:cSld name="DEFAULT">
    <p:bg>
      <p:bgPr>
        <a:solidFill>
          <a:schemeClr val="lt1"/>
        </a:solidFill>
        <a:effectLst/>
      </p:bgPr>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
        <p:cNvGrpSpPr/>
        <p:nvPr/>
      </p:nvGrpSpPr>
      <p:grpSpPr>
        <a:xfrm>
          <a:off x="0" y="0"/>
          <a:ext cx="0" cy="0"/>
          <a:chOff x="0" y="0"/>
          <a:chExt cx="0" cy="0"/>
        </a:xfrm>
      </p:grpSpPr>
    </p:spTree>
  </p:cSld>
  <p:clrMap bg1="lt1" tx1="dk1" bg2="dk2" tx2="lt2" accent1="accent1" accent2="accent2" accent3="accent3" accent4="accent4" accent5="accent5" accent6="accent6" hlink="hlink" folHlink="folHlink"/>
  <p:sldLayoutIdLst>
    <p:sldLayoutId id="2147483649" r:id="rId1"/>
  </p:sldLayoutIdLst>
  <p:hf sldNum="0" hdr="0" ftr="0" dt="0"/>
  <p:txStyles>
    <p:titleStyle>
      <a:lvl1pPr algn="l">
        <a:lnSpc>
          <a:spcPct val="100000"/>
        </a:lnSpc>
        <a:spcBef>
          <a:spcPts val="0"/>
        </a:spcBef>
        <a:spcAft>
          <a:spcPts val="0"/>
        </a:spcAft>
        <a:buNone/>
        <a:defRPr sz="1400" b="0" i="0" u="none" cap="none">
          <a:solidFill>
            <a:srgbClr val="000000"/>
          </a:solidFill>
          <a:latin typeface="Arial"/>
          <a:ea typeface="Arial"/>
          <a:cs typeface="Arial"/>
        </a:defRPr>
      </a:lvl1pPr>
      <a:lvl2pPr algn="l">
        <a:lnSpc>
          <a:spcPct val="100000"/>
        </a:lnSpc>
        <a:spcBef>
          <a:spcPts val="0"/>
        </a:spcBef>
        <a:spcAft>
          <a:spcPts val="0"/>
        </a:spcAft>
        <a:buNone/>
        <a:defRPr sz="1400" b="0" i="0" u="none" cap="none">
          <a:solidFill>
            <a:srgbClr val="000000"/>
          </a:solidFill>
          <a:latin typeface="Arial"/>
          <a:ea typeface="Arial"/>
          <a:cs typeface="Arial"/>
        </a:defRPr>
      </a:lvl2pPr>
      <a:lvl3pPr algn="l">
        <a:lnSpc>
          <a:spcPct val="100000"/>
        </a:lnSpc>
        <a:spcBef>
          <a:spcPts val="0"/>
        </a:spcBef>
        <a:spcAft>
          <a:spcPts val="0"/>
        </a:spcAft>
        <a:buNone/>
        <a:defRPr sz="1400" b="0" i="0" u="none" cap="none">
          <a:solidFill>
            <a:srgbClr val="000000"/>
          </a:solidFill>
          <a:latin typeface="Arial"/>
          <a:ea typeface="Arial"/>
          <a:cs typeface="Arial"/>
        </a:defRPr>
      </a:lvl3pPr>
      <a:lvl4pPr algn="l">
        <a:lnSpc>
          <a:spcPct val="100000"/>
        </a:lnSpc>
        <a:spcBef>
          <a:spcPts val="0"/>
        </a:spcBef>
        <a:spcAft>
          <a:spcPts val="0"/>
        </a:spcAft>
        <a:buNone/>
        <a:defRPr sz="1400" b="0" i="0" u="none" cap="none">
          <a:solidFill>
            <a:srgbClr val="000000"/>
          </a:solidFill>
          <a:latin typeface="Arial"/>
          <a:ea typeface="Arial"/>
          <a:cs typeface="Arial"/>
        </a:defRPr>
      </a:lvl4pPr>
      <a:lvl5pPr algn="l">
        <a:lnSpc>
          <a:spcPct val="100000"/>
        </a:lnSpc>
        <a:spcBef>
          <a:spcPts val="0"/>
        </a:spcBef>
        <a:spcAft>
          <a:spcPts val="0"/>
        </a:spcAft>
        <a:buNone/>
        <a:defRPr sz="1400" b="0" i="0" u="none" cap="none">
          <a:solidFill>
            <a:srgbClr val="000000"/>
          </a:solidFill>
          <a:latin typeface="Arial"/>
          <a:ea typeface="Arial"/>
          <a:cs typeface="Arial"/>
        </a:defRPr>
      </a:lvl5pPr>
      <a:lvl6pPr algn="l">
        <a:lnSpc>
          <a:spcPct val="100000"/>
        </a:lnSpc>
        <a:spcBef>
          <a:spcPts val="0"/>
        </a:spcBef>
        <a:spcAft>
          <a:spcPts val="0"/>
        </a:spcAft>
        <a:buNone/>
        <a:defRPr sz="1400" b="0" i="0" u="none" cap="none">
          <a:solidFill>
            <a:srgbClr val="000000"/>
          </a:solidFill>
          <a:latin typeface="Arial"/>
          <a:ea typeface="Arial"/>
          <a:cs typeface="Arial"/>
        </a:defRPr>
      </a:lvl6pPr>
      <a:lvl7pPr algn="l">
        <a:lnSpc>
          <a:spcPct val="100000"/>
        </a:lnSpc>
        <a:spcBef>
          <a:spcPts val="0"/>
        </a:spcBef>
        <a:spcAft>
          <a:spcPts val="0"/>
        </a:spcAft>
        <a:buNone/>
        <a:defRPr sz="1400" b="0" i="0" u="none" cap="none">
          <a:solidFill>
            <a:srgbClr val="000000"/>
          </a:solidFill>
          <a:latin typeface="Arial"/>
          <a:ea typeface="Arial"/>
          <a:cs typeface="Arial"/>
        </a:defRPr>
      </a:lvl7pPr>
      <a:lvl8pPr algn="l">
        <a:lnSpc>
          <a:spcPct val="100000"/>
        </a:lnSpc>
        <a:spcBef>
          <a:spcPts val="0"/>
        </a:spcBef>
        <a:spcAft>
          <a:spcPts val="0"/>
        </a:spcAft>
        <a:buNone/>
        <a:defRPr sz="1400" b="0" i="0" u="none" cap="none">
          <a:solidFill>
            <a:srgbClr val="000000"/>
          </a:solidFill>
          <a:latin typeface="Arial"/>
          <a:ea typeface="Arial"/>
          <a:cs typeface="Arial"/>
        </a:defRPr>
      </a:lvl8pPr>
      <a:lvl9pPr algn="l">
        <a:lnSpc>
          <a:spcPct val="100000"/>
        </a:lnSpc>
        <a:spcBef>
          <a:spcPts val="0"/>
        </a:spcBef>
        <a:spcAft>
          <a:spcPts val="0"/>
        </a:spcAft>
        <a:buNone/>
        <a:defRPr sz="1400" b="0" i="0" u="none" cap="none">
          <a:solidFill>
            <a:srgbClr val="000000"/>
          </a:solidFill>
          <a:latin typeface="Arial"/>
          <a:ea typeface="Arial"/>
          <a:cs typeface="Arial"/>
        </a:defRPr>
      </a:lvl9pPr>
    </p:titleStyle>
    <p:bodyStyle>
      <a:lvl1pPr algn="l">
        <a:lnSpc>
          <a:spcPct val="100000"/>
        </a:lnSpc>
        <a:spcBef>
          <a:spcPts val="0"/>
        </a:spcBef>
        <a:spcAft>
          <a:spcPts val="0"/>
        </a:spcAft>
        <a:buNone/>
        <a:defRPr sz="1400" b="0" i="0" u="none" cap="none">
          <a:solidFill>
            <a:srgbClr val="000000"/>
          </a:solidFill>
          <a:latin typeface="Arial"/>
          <a:ea typeface="Arial"/>
          <a:cs typeface="Arial"/>
        </a:defRPr>
      </a:lvl1pPr>
      <a:lvl2pPr algn="l">
        <a:lnSpc>
          <a:spcPct val="100000"/>
        </a:lnSpc>
        <a:spcBef>
          <a:spcPts val="0"/>
        </a:spcBef>
        <a:spcAft>
          <a:spcPts val="0"/>
        </a:spcAft>
        <a:buNone/>
        <a:defRPr sz="1400" b="0" i="0" u="none" cap="none">
          <a:solidFill>
            <a:srgbClr val="000000"/>
          </a:solidFill>
          <a:latin typeface="Arial"/>
          <a:ea typeface="Arial"/>
          <a:cs typeface="Arial"/>
        </a:defRPr>
      </a:lvl2pPr>
      <a:lvl3pPr algn="l">
        <a:lnSpc>
          <a:spcPct val="100000"/>
        </a:lnSpc>
        <a:spcBef>
          <a:spcPts val="0"/>
        </a:spcBef>
        <a:spcAft>
          <a:spcPts val="0"/>
        </a:spcAft>
        <a:buNone/>
        <a:defRPr sz="1400" b="0" i="0" u="none" cap="none">
          <a:solidFill>
            <a:srgbClr val="000000"/>
          </a:solidFill>
          <a:latin typeface="Arial"/>
          <a:ea typeface="Arial"/>
          <a:cs typeface="Arial"/>
        </a:defRPr>
      </a:lvl3pPr>
      <a:lvl4pPr algn="l">
        <a:lnSpc>
          <a:spcPct val="100000"/>
        </a:lnSpc>
        <a:spcBef>
          <a:spcPts val="0"/>
        </a:spcBef>
        <a:spcAft>
          <a:spcPts val="0"/>
        </a:spcAft>
        <a:buNone/>
        <a:defRPr sz="1400" b="0" i="0" u="none" cap="none">
          <a:solidFill>
            <a:srgbClr val="000000"/>
          </a:solidFill>
          <a:latin typeface="Arial"/>
          <a:ea typeface="Arial"/>
          <a:cs typeface="Arial"/>
        </a:defRPr>
      </a:lvl4pPr>
      <a:lvl5pPr algn="l">
        <a:lnSpc>
          <a:spcPct val="100000"/>
        </a:lnSpc>
        <a:spcBef>
          <a:spcPts val="0"/>
        </a:spcBef>
        <a:spcAft>
          <a:spcPts val="0"/>
        </a:spcAft>
        <a:buNone/>
        <a:defRPr sz="1400" b="0" i="0" u="none" cap="none">
          <a:solidFill>
            <a:srgbClr val="000000"/>
          </a:solidFill>
          <a:latin typeface="Arial"/>
          <a:ea typeface="Arial"/>
          <a:cs typeface="Arial"/>
        </a:defRPr>
      </a:lvl5pPr>
      <a:lvl6pPr algn="l">
        <a:lnSpc>
          <a:spcPct val="100000"/>
        </a:lnSpc>
        <a:spcBef>
          <a:spcPts val="0"/>
        </a:spcBef>
        <a:spcAft>
          <a:spcPts val="0"/>
        </a:spcAft>
        <a:buNone/>
        <a:defRPr sz="1400" b="0" i="0" u="none" cap="none">
          <a:solidFill>
            <a:srgbClr val="000000"/>
          </a:solidFill>
          <a:latin typeface="Arial"/>
          <a:ea typeface="Arial"/>
          <a:cs typeface="Arial"/>
        </a:defRPr>
      </a:lvl6pPr>
      <a:lvl7pPr algn="l">
        <a:lnSpc>
          <a:spcPct val="100000"/>
        </a:lnSpc>
        <a:spcBef>
          <a:spcPts val="0"/>
        </a:spcBef>
        <a:spcAft>
          <a:spcPts val="0"/>
        </a:spcAft>
        <a:buNone/>
        <a:defRPr sz="1400" b="0" i="0" u="none" cap="none">
          <a:solidFill>
            <a:srgbClr val="000000"/>
          </a:solidFill>
          <a:latin typeface="Arial"/>
          <a:ea typeface="Arial"/>
          <a:cs typeface="Arial"/>
        </a:defRPr>
      </a:lvl7pPr>
      <a:lvl8pPr algn="l">
        <a:lnSpc>
          <a:spcPct val="100000"/>
        </a:lnSpc>
        <a:spcBef>
          <a:spcPts val="0"/>
        </a:spcBef>
        <a:spcAft>
          <a:spcPts val="0"/>
        </a:spcAft>
        <a:buNone/>
        <a:defRPr sz="1400" b="0" i="0" u="none" cap="none">
          <a:solidFill>
            <a:srgbClr val="000000"/>
          </a:solidFill>
          <a:latin typeface="Arial"/>
          <a:ea typeface="Arial"/>
          <a:cs typeface="Arial"/>
        </a:defRPr>
      </a:lvl8pPr>
      <a:lvl9pPr algn="l">
        <a:lnSpc>
          <a:spcPct val="100000"/>
        </a:lnSpc>
        <a:spcBef>
          <a:spcPts val="0"/>
        </a:spcBef>
        <a:spcAft>
          <a:spcPts val="0"/>
        </a:spcAft>
        <a:buNone/>
        <a:defRPr sz="1400" b="0" i="0" u="none" cap="none">
          <a:solidFill>
            <a:srgbClr val="000000"/>
          </a:solidFill>
          <a:latin typeface="Arial"/>
          <a:ea typeface="Arial"/>
          <a:cs typeface="Arial"/>
        </a:defRPr>
      </a:lvl9pPr>
    </p:bodyStyle>
    <p:otherStyle>
      <a:lvl1pPr algn="l">
        <a:lnSpc>
          <a:spcPct val="100000"/>
        </a:lnSpc>
        <a:spcBef>
          <a:spcPts val="0"/>
        </a:spcBef>
        <a:spcAft>
          <a:spcPts val="0"/>
        </a:spcAft>
        <a:buNone/>
        <a:defRPr sz="1400" b="0" i="0" u="none" cap="none">
          <a:solidFill>
            <a:srgbClr val="000000"/>
          </a:solidFill>
          <a:latin typeface="Arial"/>
          <a:ea typeface="Arial"/>
          <a:cs typeface="Arial"/>
        </a:defRPr>
      </a:lvl1pPr>
      <a:lvl2pPr algn="l">
        <a:lnSpc>
          <a:spcPct val="100000"/>
        </a:lnSpc>
        <a:spcBef>
          <a:spcPts val="0"/>
        </a:spcBef>
        <a:spcAft>
          <a:spcPts val="0"/>
        </a:spcAft>
        <a:buNone/>
        <a:defRPr sz="1400" b="0" i="0" u="none" cap="none">
          <a:solidFill>
            <a:srgbClr val="000000"/>
          </a:solidFill>
          <a:latin typeface="Arial"/>
          <a:ea typeface="Arial"/>
          <a:cs typeface="Arial"/>
        </a:defRPr>
      </a:lvl2pPr>
      <a:lvl3pPr algn="l">
        <a:lnSpc>
          <a:spcPct val="100000"/>
        </a:lnSpc>
        <a:spcBef>
          <a:spcPts val="0"/>
        </a:spcBef>
        <a:spcAft>
          <a:spcPts val="0"/>
        </a:spcAft>
        <a:buNone/>
        <a:defRPr sz="1400" b="0" i="0" u="none" cap="none">
          <a:solidFill>
            <a:srgbClr val="000000"/>
          </a:solidFill>
          <a:latin typeface="Arial"/>
          <a:ea typeface="Arial"/>
          <a:cs typeface="Arial"/>
        </a:defRPr>
      </a:lvl3pPr>
      <a:lvl4pPr algn="l">
        <a:lnSpc>
          <a:spcPct val="100000"/>
        </a:lnSpc>
        <a:spcBef>
          <a:spcPts val="0"/>
        </a:spcBef>
        <a:spcAft>
          <a:spcPts val="0"/>
        </a:spcAft>
        <a:buNone/>
        <a:defRPr sz="1400" b="0" i="0" u="none" cap="none">
          <a:solidFill>
            <a:srgbClr val="000000"/>
          </a:solidFill>
          <a:latin typeface="Arial"/>
          <a:ea typeface="Arial"/>
          <a:cs typeface="Arial"/>
        </a:defRPr>
      </a:lvl4pPr>
      <a:lvl5pPr algn="l">
        <a:lnSpc>
          <a:spcPct val="100000"/>
        </a:lnSpc>
        <a:spcBef>
          <a:spcPts val="0"/>
        </a:spcBef>
        <a:spcAft>
          <a:spcPts val="0"/>
        </a:spcAft>
        <a:buNone/>
        <a:defRPr sz="1400" b="0" i="0" u="none" cap="none">
          <a:solidFill>
            <a:srgbClr val="000000"/>
          </a:solidFill>
          <a:latin typeface="Arial"/>
          <a:ea typeface="Arial"/>
          <a:cs typeface="Arial"/>
        </a:defRPr>
      </a:lvl5pPr>
      <a:lvl6pPr algn="l">
        <a:lnSpc>
          <a:spcPct val="100000"/>
        </a:lnSpc>
        <a:spcBef>
          <a:spcPts val="0"/>
        </a:spcBef>
        <a:spcAft>
          <a:spcPts val="0"/>
        </a:spcAft>
        <a:buNone/>
        <a:defRPr sz="1400" b="0" i="0" u="none" cap="none">
          <a:solidFill>
            <a:srgbClr val="000000"/>
          </a:solidFill>
          <a:latin typeface="Arial"/>
          <a:ea typeface="Arial"/>
          <a:cs typeface="Arial"/>
        </a:defRPr>
      </a:lvl6pPr>
      <a:lvl7pPr algn="l">
        <a:lnSpc>
          <a:spcPct val="100000"/>
        </a:lnSpc>
        <a:spcBef>
          <a:spcPts val="0"/>
        </a:spcBef>
        <a:spcAft>
          <a:spcPts val="0"/>
        </a:spcAft>
        <a:buNone/>
        <a:defRPr sz="1400" b="0" i="0" u="none" cap="none">
          <a:solidFill>
            <a:srgbClr val="000000"/>
          </a:solidFill>
          <a:latin typeface="Arial"/>
          <a:ea typeface="Arial"/>
          <a:cs typeface="Arial"/>
        </a:defRPr>
      </a:lvl7pPr>
      <a:lvl8pPr algn="l">
        <a:lnSpc>
          <a:spcPct val="100000"/>
        </a:lnSpc>
        <a:spcBef>
          <a:spcPts val="0"/>
        </a:spcBef>
        <a:spcAft>
          <a:spcPts val="0"/>
        </a:spcAft>
        <a:buNone/>
        <a:defRPr sz="1400" b="0" i="0" u="none" cap="none">
          <a:solidFill>
            <a:srgbClr val="000000"/>
          </a:solidFill>
          <a:latin typeface="Arial"/>
          <a:ea typeface="Arial"/>
          <a:cs typeface="Arial"/>
        </a:defRPr>
      </a:lvl8pPr>
      <a:lvl9pPr algn="l">
        <a:lnSpc>
          <a:spcPct val="100000"/>
        </a:lnSpc>
        <a:spcBef>
          <a:spcPts val="0"/>
        </a:spcBef>
        <a:spcAft>
          <a:spcPts val="0"/>
        </a:spcAft>
        <a:buNone/>
        <a:defRPr sz="1400" b="0" i="0" u="none" cap="none">
          <a:solidFill>
            <a:srgbClr val="000000"/>
          </a:solidFill>
          <a:latin typeface="Arial"/>
          <a:ea typeface="Arial"/>
          <a:cs typeface="Arial"/>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3.xml"/><Relationship Id="rId1" Type="http://schemas.openxmlformats.org/officeDocument/2006/relationships/slideLayout" Target="../slideLayouts/slideLayout1.xml"/><Relationship Id="rId4" Type="http://schemas.openxmlformats.org/officeDocument/2006/relationships/image" Target="../media/image2.png"/></Relationships>
</file>

<file path=ppt/slides/_rels/slide4.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4.xml"/><Relationship Id="rId1" Type="http://schemas.openxmlformats.org/officeDocument/2006/relationships/slideLayout" Target="../slideLayouts/slideLayout1.xml"/><Relationship Id="rId4" Type="http://schemas.openxmlformats.org/officeDocument/2006/relationships/image" Target="../media/image3.png"/></Relationships>
</file>

<file path=ppt/slides/_rels/slide5.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5.xml"/><Relationship Id="rId1" Type="http://schemas.openxmlformats.org/officeDocument/2006/relationships/slideLayout" Target="../slideLayouts/slideLayout1.xml"/><Relationship Id="rId4" Type="http://schemas.openxmlformats.org/officeDocument/2006/relationships/image" Target="../media/image4.png"/></Relationships>
</file>

<file path=ppt/slides/_rels/slide6.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6.xml"/><Relationship Id="rId1" Type="http://schemas.openxmlformats.org/officeDocument/2006/relationships/slideLayout" Target="../slideLayouts/slideLayout1.xml"/><Relationship Id="rId4" Type="http://schemas.openxmlformats.org/officeDocument/2006/relationships/image" Target="../media/image5.png"/></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8.xml"/><Relationship Id="rId1" Type="http://schemas.openxmlformats.org/officeDocument/2006/relationships/slideLayout" Target="../slideLayouts/slideLayout1.xml"/><Relationship Id="rId4" Type="http://schemas.openxmlformats.org/officeDocument/2006/relationships/chart" Target="../charts/chart1.xml"/></Relationships>
</file>

<file path=ppt/slides/_rels/slide9.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9.xml"/><Relationship Id="rId1" Type="http://schemas.openxmlformats.org/officeDocument/2006/relationships/slideLayout" Target="../slideLayouts/slideLayout1.xml"/><Relationship Id="rId4" Type="http://schemas.openxmlformats.org/officeDocument/2006/relationships/chart" Target="../charts/chart2.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2.xml"/><Relationship Id="rId1" Type="http://schemas.openxmlformats.org/officeDocument/2006/relationships/slideLayout" Target="../slideLayouts/slideLayout1.xml"/><Relationship Id="rId4" Type="http://schemas.openxmlformats.org/officeDocument/2006/relationships/chart" Target="../charts/chart3.xml"/></Relationships>
</file>

<file path=ppt/slides/_rels/slide13.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3.xml"/><Relationship Id="rId1" Type="http://schemas.openxmlformats.org/officeDocument/2006/relationships/slideLayout" Target="../slideLayouts/slideLayout1.xml"/><Relationship Id="rId4" Type="http://schemas.openxmlformats.org/officeDocument/2006/relationships/chart" Target="../charts/chart4.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1.xml"/></Relationships>
</file>

<file path=ppt/slides/_rels/slide15.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5.xml"/><Relationship Id="rId1" Type="http://schemas.openxmlformats.org/officeDocument/2006/relationships/slideLayout" Target="../slideLayouts/slideLayout1.xml"/><Relationship Id="rId4" Type="http://schemas.openxmlformats.org/officeDocument/2006/relationships/chart" Target="../charts/chart5.xml"/></Relationships>
</file>

<file path=ppt/slides/_rels/slide16.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6.xml"/><Relationship Id="rId1" Type="http://schemas.openxmlformats.org/officeDocument/2006/relationships/slideLayout" Target="../slideLayouts/slideLayout1.xml"/><Relationship Id="rId4" Type="http://schemas.openxmlformats.org/officeDocument/2006/relationships/chart" Target="../charts/chart6.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1.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F6F8FC"/>
        </a:solidFill>
        <a:effectLst/>
      </p:bgPr>
    </p:bg>
    <p:spTree>
      <p:nvGrpSpPr>
        <p:cNvPr id="1" name=""/>
        <p:cNvGrpSpPr/>
        <p:nvPr/>
      </p:nvGrpSpPr>
      <p:grpSpPr>
        <a:xfrm>
          <a:off x="0" y="0"/>
          <a:ext cx="0" cy="0"/>
          <a:chOff x="0" y="0"/>
          <a:chExt cx="0" cy="0"/>
        </a:xfrm>
      </p:grpSpPr>
      <p:sp>
        <p:nvSpPr>
          <p:cNvPr id="12" name="Google Shape;12;p3">
            <a:extLst>
              <a:ext uri="{FF2B5EF4-FFF2-40B4-BE49-F238E27FC236}">
                <a16:creationId xmlns:a16="http://schemas.microsoft.com/office/drawing/2014/main" id="{E6AC6433-5C7C-4BB7-AA39-49443CC49C2A}"/>
              </a:ext>
            </a:extLst>
          </p:cNvPr>
          <p:cNvSpPr>
            <a:spLocks noGrp="1"/>
          </p:cNvSpPr>
          <p:nvPr/>
        </p:nvSpPr>
        <p:spPr>
          <a:xfrm>
            <a:off x="0" y="0"/>
            <a:ext cx="12191695" cy="73152"/>
          </a:xfrm>
          <a:prstGeom prst="rect">
            <a:avLst/>
          </a:prstGeom>
          <a:solidFill>
            <a:srgbClr val="1F2A44"/>
          </a:solidFill>
          <a:ln w="12700" cmpd="sng">
            <a:solidFill>
              <a:srgbClr val="1F2A44"/>
            </a:solidFill>
            <a:prstDash val="solid"/>
            <a:headEnd type="none" w="sm" len="sm"/>
            <a:tailEnd type="none" w="sm" len="sm"/>
          </a:ln>
        </p:spPr>
        <p:txBody>
          <a:bodyPr spcFirstLastPara="1" wrap="square" lIns="91425" tIns="45700" rIns="91425" bIns="45700" anchor="t">
            <a:noAutofit/>
          </a:bodyPr>
          <a:lstStyle/>
          <a:p>
            <a:pPr marL="0" indent="0" algn="l">
              <a:spcBef>
                <a:spcPts val="0"/>
              </a:spcBef>
              <a:spcAft>
                <a:spcPts val="0"/>
              </a:spcAft>
              <a:buNone/>
            </a:pPr>
            <a:endParaRPr/>
          </a:p>
        </p:txBody>
      </p:sp>
      <p:sp>
        <p:nvSpPr>
          <p:cNvPr id="13" name="Google Shape;13;p3">
            <a:extLst>
              <a:ext uri="{FF2B5EF4-FFF2-40B4-BE49-F238E27FC236}">
                <a16:creationId xmlns:a16="http://schemas.microsoft.com/office/drawing/2014/main" id="{011331CC-A18C-4A6E-9E60-AB5782CDC7F0}"/>
              </a:ext>
            </a:extLst>
          </p:cNvPr>
          <p:cNvSpPr>
            <a:spLocks noGrp="1"/>
          </p:cNvSpPr>
          <p:nvPr/>
        </p:nvSpPr>
        <p:spPr>
          <a:xfrm>
            <a:off x="566928" y="502920"/>
            <a:ext cx="10789920" cy="365760"/>
          </a:xfrm>
          <a:prstGeom prst="rect">
            <a:avLst/>
          </a:prstGeom>
          <a:noFill/>
          <a:ln>
            <a:noFill/>
          </a:ln>
        </p:spPr>
        <p:txBody>
          <a:bodyPr spcFirstLastPara="1" wrap="square" lIns="0" tIns="0" rIns="0" bIns="0" anchor="ctr">
            <a:noAutofit/>
          </a:bodyPr>
          <a:lstStyle/>
          <a:p>
            <a:r>
              <a:rPr lang="en-US" sz="2400" b="1" dirty="0">
                <a:solidFill>
                  <a:srgbClr val="2B6CB0"/>
                </a:solidFill>
                <a:ea typeface="Arial"/>
                <a:cs typeface="Arial"/>
              </a:rPr>
              <a:t>Week 3 Coverage</a:t>
            </a:r>
            <a:endParaRPr sz="2200" b="1" dirty="0">
              <a:solidFill>
                <a:srgbClr val="1F2A44"/>
              </a:solidFill>
              <a:latin typeface="Play"/>
              <a:ea typeface="Play"/>
              <a:cs typeface="Play"/>
            </a:endParaRPr>
          </a:p>
        </p:txBody>
      </p:sp>
      <p:sp>
        <p:nvSpPr>
          <p:cNvPr id="14" name="Google Shape;14;p3">
            <a:extLst>
              <a:ext uri="{FF2B5EF4-FFF2-40B4-BE49-F238E27FC236}">
                <a16:creationId xmlns:a16="http://schemas.microsoft.com/office/drawing/2014/main" id="{FB14AADD-007B-4674-BE3F-A86F6CEE5597}"/>
              </a:ext>
            </a:extLst>
          </p:cNvPr>
          <p:cNvSpPr>
            <a:spLocks noGrp="1"/>
          </p:cNvSpPr>
          <p:nvPr/>
        </p:nvSpPr>
        <p:spPr>
          <a:xfrm>
            <a:off x="566927" y="969263"/>
            <a:ext cx="7135547" cy="310895"/>
          </a:xfrm>
          <a:prstGeom prst="rect">
            <a:avLst/>
          </a:prstGeom>
          <a:noFill/>
          <a:ln>
            <a:noFill/>
          </a:ln>
        </p:spPr>
        <p:txBody>
          <a:bodyPr spcFirstLastPara="1" wrap="square" lIns="0" tIns="0" rIns="0" bIns="0" anchor="ctr">
            <a:noAutofit/>
          </a:bodyPr>
          <a:lstStyle/>
          <a:p>
            <a:r>
              <a:rPr lang="en-US" sz="1100" b="1" dirty="0">
                <a:solidFill>
                  <a:srgbClr val="1F2A44"/>
                </a:solidFill>
                <a:latin typeface="Play"/>
                <a:ea typeface="Play"/>
                <a:cs typeface="Play"/>
              </a:rPr>
              <a:t>The study expanded beyond a single Ackley4 run</a:t>
            </a:r>
          </a:p>
          <a:p>
            <a:pPr marL="0" indent="0" algn="l">
              <a:spcBef>
                <a:spcPts val="0"/>
              </a:spcBef>
              <a:spcAft>
                <a:spcPts val="0"/>
              </a:spcAft>
              <a:buNone/>
            </a:pPr>
            <a:endParaRPr sz="1100" b="1" dirty="0">
              <a:solidFill>
                <a:srgbClr val="2B6CB0"/>
              </a:solidFill>
              <a:latin typeface="Arial"/>
              <a:ea typeface="Arial"/>
              <a:cs typeface="Arial"/>
            </a:endParaRPr>
          </a:p>
        </p:txBody>
      </p:sp>
      <p:sp>
        <p:nvSpPr>
          <p:cNvPr id="15" name="Google Shape;15;p3">
            <a:extLst>
              <a:ext uri="{FF2B5EF4-FFF2-40B4-BE49-F238E27FC236}">
                <a16:creationId xmlns:a16="http://schemas.microsoft.com/office/drawing/2014/main" id="{C5BD9F6F-A802-46F1-BCCA-282151AAE1A0}"/>
              </a:ext>
            </a:extLst>
          </p:cNvPr>
          <p:cNvSpPr>
            <a:spLocks noGrp="1"/>
          </p:cNvSpPr>
          <p:nvPr/>
        </p:nvSpPr>
        <p:spPr>
          <a:xfrm>
            <a:off x="566928" y="1225296"/>
            <a:ext cx="10515600" cy="228600"/>
          </a:xfrm>
          <a:prstGeom prst="rect">
            <a:avLst/>
          </a:prstGeom>
          <a:noFill/>
          <a:ln>
            <a:noFill/>
          </a:ln>
        </p:spPr>
        <p:txBody>
          <a:bodyPr spcFirstLastPara="1" wrap="square" lIns="0" tIns="0" rIns="0" bIns="0" anchor="ctr">
            <a:noAutofit/>
          </a:bodyPr>
          <a:lstStyle/>
          <a:p>
            <a:pPr marL="0" indent="0" algn="l">
              <a:spcBef>
                <a:spcPts val="0"/>
              </a:spcBef>
              <a:spcAft>
                <a:spcPts val="0"/>
              </a:spcAft>
              <a:buNone/>
            </a:pPr>
            <a:r>
              <a:rPr sz="1100">
                <a:solidFill>
                  <a:srgbClr val="4B5563"/>
                </a:solidFill>
                <a:latin typeface="Arial"/>
                <a:ea typeface="Arial"/>
                <a:cs typeface="Arial"/>
              </a:rPr>
              <a:t>Same thesis question, broader stress tests: can we learn threshold boundaries sample-efficiently?</a:t>
            </a:r>
          </a:p>
        </p:txBody>
      </p:sp>
      <p:sp>
        <p:nvSpPr>
          <p:cNvPr id="16" name="Google Shape;16;p3">
            <a:extLst>
              <a:ext uri="{FF2B5EF4-FFF2-40B4-BE49-F238E27FC236}">
                <a16:creationId xmlns:a16="http://schemas.microsoft.com/office/drawing/2014/main" id="{96C04877-209D-4F90-A30D-F571ADCB8352}"/>
              </a:ext>
            </a:extLst>
          </p:cNvPr>
          <p:cNvSpPr>
            <a:spLocks noGrp="1"/>
          </p:cNvSpPr>
          <p:nvPr/>
        </p:nvSpPr>
        <p:spPr>
          <a:xfrm>
            <a:off x="566928" y="1737360"/>
            <a:ext cx="11018520" cy="1143000"/>
          </a:xfrm>
          <a:prstGeom prst="roundRect">
            <a:avLst>
              <a:gd name="adj" fmla="val 7200"/>
            </a:avLst>
          </a:prstGeom>
          <a:solidFill>
            <a:srgbClr val="FFFFFF"/>
          </a:solidFill>
          <a:ln w="10150" cmpd="sng">
            <a:solidFill>
              <a:srgbClr val="D9DEE8"/>
            </a:solidFill>
            <a:prstDash val="solid"/>
            <a:headEnd type="none" w="sm" len="sm"/>
            <a:tailEnd type="none" w="sm" len="sm"/>
          </a:ln>
          <a:effectLst>
            <a:outerShdw blurRad="15240" dist="50800" dir="2700000" algn="bl" rotWithShape="0">
              <a:srgbClr val="000000">
                <a:alpha val="7843"/>
              </a:srgbClr>
            </a:outerShdw>
          </a:effectLst>
        </p:spPr>
        <p:txBody>
          <a:bodyPr spcFirstLastPara="1" wrap="square" lIns="91425" tIns="45700" rIns="91425" bIns="45700" anchor="t">
            <a:noAutofit/>
          </a:bodyPr>
          <a:lstStyle/>
          <a:p>
            <a:pPr marL="0" indent="0" algn="l">
              <a:spcBef>
                <a:spcPts val="0"/>
              </a:spcBef>
              <a:spcAft>
                <a:spcPts val="0"/>
              </a:spcAft>
              <a:buNone/>
            </a:pPr>
            <a:endParaRPr/>
          </a:p>
        </p:txBody>
      </p:sp>
      <p:sp>
        <p:nvSpPr>
          <p:cNvPr id="17" name="Google Shape;17;p3">
            <a:extLst>
              <a:ext uri="{FF2B5EF4-FFF2-40B4-BE49-F238E27FC236}">
                <a16:creationId xmlns:a16="http://schemas.microsoft.com/office/drawing/2014/main" id="{672EAFE1-0362-4780-A4ED-DAFB3DAB6A47}"/>
              </a:ext>
            </a:extLst>
          </p:cNvPr>
          <p:cNvSpPr>
            <a:spLocks noGrp="1"/>
          </p:cNvSpPr>
          <p:nvPr/>
        </p:nvSpPr>
        <p:spPr>
          <a:xfrm>
            <a:off x="841248" y="1901952"/>
            <a:ext cx="10424160" cy="256032"/>
          </a:xfrm>
          <a:prstGeom prst="rect">
            <a:avLst/>
          </a:prstGeom>
          <a:noFill/>
          <a:ln>
            <a:noFill/>
          </a:ln>
        </p:spPr>
        <p:txBody>
          <a:bodyPr spcFirstLastPara="1" wrap="square" lIns="0" tIns="0" rIns="0" bIns="0" anchor="ctr">
            <a:noAutofit/>
          </a:bodyPr>
          <a:lstStyle/>
          <a:p>
            <a:pPr marL="0" indent="0" algn="l">
              <a:spcBef>
                <a:spcPts val="0"/>
              </a:spcBef>
              <a:spcAft>
                <a:spcPts val="0"/>
              </a:spcAft>
              <a:buNone/>
            </a:pPr>
            <a:r>
              <a:rPr sz="1300" b="1">
                <a:solidFill>
                  <a:srgbClr val="1F2A44"/>
                </a:solidFill>
                <a:latin typeface="Arial"/>
                <a:ea typeface="Arial"/>
                <a:cs typeface="Arial"/>
              </a:rPr>
              <a:t>Goal: test whether boundary-aware acquisitions remain useful across metrics, surrogates, and named benchmarks.</a:t>
            </a:r>
          </a:p>
        </p:txBody>
      </p:sp>
      <p:sp>
        <p:nvSpPr>
          <p:cNvPr id="18" name="Google Shape;18;p3">
            <a:extLst>
              <a:ext uri="{FF2B5EF4-FFF2-40B4-BE49-F238E27FC236}">
                <a16:creationId xmlns:a16="http://schemas.microsoft.com/office/drawing/2014/main" id="{D89CB9FC-571C-495E-8F85-F85A8ED3C833}"/>
              </a:ext>
            </a:extLst>
          </p:cNvPr>
          <p:cNvSpPr>
            <a:spLocks noGrp="1"/>
          </p:cNvSpPr>
          <p:nvPr/>
        </p:nvSpPr>
        <p:spPr>
          <a:xfrm>
            <a:off x="841248" y="2258568"/>
            <a:ext cx="10195560" cy="347472"/>
          </a:xfrm>
          <a:prstGeom prst="rect">
            <a:avLst/>
          </a:prstGeom>
          <a:noFill/>
          <a:ln>
            <a:noFill/>
          </a:ln>
        </p:spPr>
        <p:txBody>
          <a:bodyPr spcFirstLastPara="1" wrap="square" lIns="0" tIns="0" rIns="0" bIns="0" anchor="ctr">
            <a:noAutofit/>
          </a:bodyPr>
          <a:lstStyle/>
          <a:p>
            <a:pPr marL="0" indent="0" algn="l">
              <a:spcBef>
                <a:spcPts val="0"/>
              </a:spcBef>
              <a:spcAft>
                <a:spcPts val="0"/>
              </a:spcAft>
              <a:buNone/>
            </a:pPr>
            <a:r>
              <a:rPr sz="1200">
                <a:solidFill>
                  <a:srgbClr val="4B5563"/>
                </a:solidFill>
                <a:latin typeface="Arial"/>
                <a:ea typeface="Arial"/>
                <a:cs typeface="Arial"/>
              </a:rPr>
              <a:t>The work now covers 2D Branin, thresholded 4D Ackley, and thresholded 4D Hartmann, with global and near-boundary error tracked together.</a:t>
            </a:r>
          </a:p>
        </p:txBody>
      </p:sp>
      <p:sp>
        <p:nvSpPr>
          <p:cNvPr id="19" name="Google Shape;19;p3">
            <a:extLst>
              <a:ext uri="{FF2B5EF4-FFF2-40B4-BE49-F238E27FC236}">
                <a16:creationId xmlns:a16="http://schemas.microsoft.com/office/drawing/2014/main" id="{3CB94A7D-9862-41F3-AE2E-30B51C6FFBD0}"/>
              </a:ext>
            </a:extLst>
          </p:cNvPr>
          <p:cNvSpPr>
            <a:spLocks noGrp="1"/>
          </p:cNvSpPr>
          <p:nvPr/>
        </p:nvSpPr>
        <p:spPr>
          <a:xfrm>
            <a:off x="658368" y="3246120"/>
            <a:ext cx="1920240" cy="1143000"/>
          </a:xfrm>
          <a:prstGeom prst="roundRect">
            <a:avLst>
              <a:gd name="adj" fmla="val 7200"/>
            </a:avLst>
          </a:prstGeom>
          <a:solidFill>
            <a:srgbClr val="FFFFFF"/>
          </a:solidFill>
          <a:ln w="10150" cmpd="sng">
            <a:solidFill>
              <a:srgbClr val="D9DEE8"/>
            </a:solidFill>
            <a:prstDash val="solid"/>
            <a:headEnd type="none" w="sm" len="sm"/>
            <a:tailEnd type="none" w="sm" len="sm"/>
          </a:ln>
          <a:effectLst>
            <a:outerShdw blurRad="15240" dist="50800" dir="2700000" algn="bl" rotWithShape="0">
              <a:srgbClr val="000000">
                <a:alpha val="7843"/>
              </a:srgbClr>
            </a:outerShdw>
          </a:effectLst>
        </p:spPr>
        <p:txBody>
          <a:bodyPr spcFirstLastPara="1" wrap="square" lIns="91425" tIns="45700" rIns="91425" bIns="45700" anchor="t">
            <a:noAutofit/>
          </a:bodyPr>
          <a:lstStyle/>
          <a:p>
            <a:pPr marL="0" indent="0" algn="l">
              <a:spcBef>
                <a:spcPts val="0"/>
              </a:spcBef>
              <a:spcAft>
                <a:spcPts val="0"/>
              </a:spcAft>
              <a:buNone/>
            </a:pPr>
            <a:endParaRPr/>
          </a:p>
        </p:txBody>
      </p:sp>
      <p:sp>
        <p:nvSpPr>
          <p:cNvPr id="20" name="Google Shape;20;p3">
            <a:extLst>
              <a:ext uri="{FF2B5EF4-FFF2-40B4-BE49-F238E27FC236}">
                <a16:creationId xmlns:a16="http://schemas.microsoft.com/office/drawing/2014/main" id="{86492C47-E85C-46D7-8741-DC80167AFDE4}"/>
              </a:ext>
            </a:extLst>
          </p:cNvPr>
          <p:cNvSpPr>
            <a:spLocks noGrp="1"/>
          </p:cNvSpPr>
          <p:nvPr/>
        </p:nvSpPr>
        <p:spPr>
          <a:xfrm>
            <a:off x="749808" y="3392424"/>
            <a:ext cx="1737360" cy="301752"/>
          </a:xfrm>
          <a:prstGeom prst="rect">
            <a:avLst/>
          </a:prstGeom>
          <a:noFill/>
          <a:ln>
            <a:noFill/>
          </a:ln>
        </p:spPr>
        <p:txBody>
          <a:bodyPr spcFirstLastPara="1" wrap="square" lIns="0" tIns="0" rIns="0" bIns="0" anchor="ctr">
            <a:noAutofit/>
          </a:bodyPr>
          <a:lstStyle/>
          <a:p>
            <a:pPr marL="0" indent="0" algn="ctr">
              <a:spcBef>
                <a:spcPts val="0"/>
              </a:spcBef>
              <a:spcAft>
                <a:spcPts val="0"/>
              </a:spcAft>
              <a:buNone/>
            </a:pPr>
            <a:r>
              <a:rPr sz="2000" b="1">
                <a:solidFill>
                  <a:srgbClr val="1F2A44"/>
                </a:solidFill>
                <a:latin typeface="Arial"/>
                <a:ea typeface="Arial"/>
                <a:cs typeface="Arial"/>
              </a:rPr>
              <a:t>3</a:t>
            </a:r>
          </a:p>
        </p:txBody>
      </p:sp>
      <p:sp>
        <p:nvSpPr>
          <p:cNvPr id="21" name="Google Shape;21;p3">
            <a:extLst>
              <a:ext uri="{FF2B5EF4-FFF2-40B4-BE49-F238E27FC236}">
                <a16:creationId xmlns:a16="http://schemas.microsoft.com/office/drawing/2014/main" id="{BFA2F779-BFD7-4F90-804D-97FC394DA1AA}"/>
              </a:ext>
            </a:extLst>
          </p:cNvPr>
          <p:cNvSpPr>
            <a:spLocks noGrp="1"/>
          </p:cNvSpPr>
          <p:nvPr/>
        </p:nvSpPr>
        <p:spPr>
          <a:xfrm>
            <a:off x="768096" y="3749040"/>
            <a:ext cx="1700784" cy="256032"/>
          </a:xfrm>
          <a:prstGeom prst="rect">
            <a:avLst/>
          </a:prstGeom>
          <a:noFill/>
          <a:ln>
            <a:noFill/>
          </a:ln>
        </p:spPr>
        <p:txBody>
          <a:bodyPr spcFirstLastPara="1" wrap="square" lIns="0" tIns="0" rIns="0" bIns="0" anchor="ctr">
            <a:noAutofit/>
          </a:bodyPr>
          <a:lstStyle/>
          <a:p>
            <a:pPr marL="0" indent="0" algn="ctr">
              <a:spcBef>
                <a:spcPts val="0"/>
              </a:spcBef>
              <a:spcAft>
                <a:spcPts val="0"/>
              </a:spcAft>
              <a:buNone/>
            </a:pPr>
            <a:r>
              <a:rPr sz="1000">
                <a:solidFill>
                  <a:srgbClr val="4B5563"/>
                </a:solidFill>
                <a:latin typeface="Arial"/>
                <a:ea typeface="Arial"/>
                <a:cs typeface="Arial"/>
              </a:rPr>
              <a:t>benchmarks</a:t>
            </a:r>
          </a:p>
        </p:txBody>
      </p:sp>
      <p:sp>
        <p:nvSpPr>
          <p:cNvPr id="22" name="Google Shape;22;p3">
            <a:extLst>
              <a:ext uri="{FF2B5EF4-FFF2-40B4-BE49-F238E27FC236}">
                <a16:creationId xmlns:a16="http://schemas.microsoft.com/office/drawing/2014/main" id="{46EAEA04-D1F2-4681-A792-5549602D5FC8}"/>
              </a:ext>
            </a:extLst>
          </p:cNvPr>
          <p:cNvSpPr>
            <a:spLocks noGrp="1"/>
          </p:cNvSpPr>
          <p:nvPr/>
        </p:nvSpPr>
        <p:spPr>
          <a:xfrm>
            <a:off x="2788920" y="3246120"/>
            <a:ext cx="1920240" cy="1143000"/>
          </a:xfrm>
          <a:prstGeom prst="roundRect">
            <a:avLst>
              <a:gd name="adj" fmla="val 7200"/>
            </a:avLst>
          </a:prstGeom>
          <a:solidFill>
            <a:srgbClr val="FFFFFF"/>
          </a:solidFill>
          <a:ln w="10150" cmpd="sng">
            <a:solidFill>
              <a:srgbClr val="D9DEE8"/>
            </a:solidFill>
            <a:prstDash val="solid"/>
            <a:headEnd type="none" w="sm" len="sm"/>
            <a:tailEnd type="none" w="sm" len="sm"/>
          </a:ln>
          <a:effectLst>
            <a:outerShdw blurRad="15240" dist="50800" dir="2700000" algn="bl" rotWithShape="0">
              <a:srgbClr val="000000">
                <a:alpha val="7843"/>
              </a:srgbClr>
            </a:outerShdw>
          </a:effectLst>
        </p:spPr>
        <p:txBody>
          <a:bodyPr spcFirstLastPara="1" wrap="square" lIns="91425" tIns="45700" rIns="91425" bIns="45700" anchor="t">
            <a:noAutofit/>
          </a:bodyPr>
          <a:lstStyle/>
          <a:p>
            <a:pPr marL="0" indent="0" algn="l">
              <a:spcBef>
                <a:spcPts val="0"/>
              </a:spcBef>
              <a:spcAft>
                <a:spcPts val="0"/>
              </a:spcAft>
              <a:buNone/>
            </a:pPr>
            <a:endParaRPr/>
          </a:p>
        </p:txBody>
      </p:sp>
      <p:sp>
        <p:nvSpPr>
          <p:cNvPr id="23" name="Google Shape;23;p3">
            <a:extLst>
              <a:ext uri="{FF2B5EF4-FFF2-40B4-BE49-F238E27FC236}">
                <a16:creationId xmlns:a16="http://schemas.microsoft.com/office/drawing/2014/main" id="{50A97021-A2E3-4921-B553-9198A73191AD}"/>
              </a:ext>
            </a:extLst>
          </p:cNvPr>
          <p:cNvSpPr>
            <a:spLocks noGrp="1"/>
          </p:cNvSpPr>
          <p:nvPr/>
        </p:nvSpPr>
        <p:spPr>
          <a:xfrm>
            <a:off x="2880360" y="3392424"/>
            <a:ext cx="1737360" cy="301752"/>
          </a:xfrm>
          <a:prstGeom prst="rect">
            <a:avLst/>
          </a:prstGeom>
          <a:noFill/>
          <a:ln>
            <a:noFill/>
          </a:ln>
        </p:spPr>
        <p:txBody>
          <a:bodyPr spcFirstLastPara="1" wrap="square" lIns="0" tIns="0" rIns="0" bIns="0" anchor="ctr">
            <a:noAutofit/>
          </a:bodyPr>
          <a:lstStyle/>
          <a:p>
            <a:pPr marL="0" indent="0" algn="ctr">
              <a:spcBef>
                <a:spcPts val="0"/>
              </a:spcBef>
              <a:spcAft>
                <a:spcPts val="0"/>
              </a:spcAft>
              <a:buNone/>
            </a:pPr>
            <a:r>
              <a:rPr sz="2000" b="1">
                <a:solidFill>
                  <a:srgbClr val="0F8B61"/>
                </a:solidFill>
                <a:latin typeface="Arial"/>
                <a:ea typeface="Arial"/>
                <a:cs typeface="Arial"/>
              </a:rPr>
              <a:t>2</a:t>
            </a:r>
          </a:p>
        </p:txBody>
      </p:sp>
      <p:sp>
        <p:nvSpPr>
          <p:cNvPr id="24" name="Google Shape;24;p3">
            <a:extLst>
              <a:ext uri="{FF2B5EF4-FFF2-40B4-BE49-F238E27FC236}">
                <a16:creationId xmlns:a16="http://schemas.microsoft.com/office/drawing/2014/main" id="{84392C0F-236E-40EB-BB6A-4638F52822C2}"/>
              </a:ext>
            </a:extLst>
          </p:cNvPr>
          <p:cNvSpPr>
            <a:spLocks noGrp="1"/>
          </p:cNvSpPr>
          <p:nvPr/>
        </p:nvSpPr>
        <p:spPr>
          <a:xfrm>
            <a:off x="2898648" y="3749040"/>
            <a:ext cx="1700784" cy="256032"/>
          </a:xfrm>
          <a:prstGeom prst="rect">
            <a:avLst/>
          </a:prstGeom>
          <a:noFill/>
          <a:ln>
            <a:noFill/>
          </a:ln>
        </p:spPr>
        <p:txBody>
          <a:bodyPr spcFirstLastPara="1" wrap="square" lIns="0" tIns="0" rIns="0" bIns="0" anchor="ctr">
            <a:noAutofit/>
          </a:bodyPr>
          <a:lstStyle/>
          <a:p>
            <a:pPr marL="0" indent="0" algn="ctr">
              <a:spcBef>
                <a:spcPts val="0"/>
              </a:spcBef>
              <a:spcAft>
                <a:spcPts val="0"/>
              </a:spcAft>
              <a:buNone/>
            </a:pPr>
            <a:r>
              <a:rPr sz="1000">
                <a:solidFill>
                  <a:srgbClr val="4B5563"/>
                </a:solidFill>
                <a:latin typeface="Arial"/>
                <a:ea typeface="Arial"/>
                <a:cs typeface="Arial"/>
              </a:rPr>
              <a:t>surrogate families</a:t>
            </a:r>
          </a:p>
        </p:txBody>
      </p:sp>
      <p:sp>
        <p:nvSpPr>
          <p:cNvPr id="25" name="Google Shape;25;p3">
            <a:extLst>
              <a:ext uri="{FF2B5EF4-FFF2-40B4-BE49-F238E27FC236}">
                <a16:creationId xmlns:a16="http://schemas.microsoft.com/office/drawing/2014/main" id="{4B4F5248-524A-46FB-9652-12F915F55C35}"/>
              </a:ext>
            </a:extLst>
          </p:cNvPr>
          <p:cNvSpPr>
            <a:spLocks noGrp="1"/>
          </p:cNvSpPr>
          <p:nvPr/>
        </p:nvSpPr>
        <p:spPr>
          <a:xfrm>
            <a:off x="4919472" y="3246120"/>
            <a:ext cx="1920240" cy="1143000"/>
          </a:xfrm>
          <a:prstGeom prst="roundRect">
            <a:avLst>
              <a:gd name="adj" fmla="val 7200"/>
            </a:avLst>
          </a:prstGeom>
          <a:solidFill>
            <a:srgbClr val="FFFFFF"/>
          </a:solidFill>
          <a:ln w="10150" cmpd="sng">
            <a:solidFill>
              <a:srgbClr val="D9DEE8"/>
            </a:solidFill>
            <a:prstDash val="solid"/>
            <a:headEnd type="none" w="sm" len="sm"/>
            <a:tailEnd type="none" w="sm" len="sm"/>
          </a:ln>
          <a:effectLst>
            <a:outerShdw blurRad="15240" dist="50800" dir="2700000" algn="bl" rotWithShape="0">
              <a:srgbClr val="000000">
                <a:alpha val="7843"/>
              </a:srgbClr>
            </a:outerShdw>
          </a:effectLst>
        </p:spPr>
        <p:txBody>
          <a:bodyPr spcFirstLastPara="1" wrap="square" lIns="91425" tIns="45700" rIns="91425" bIns="45700" anchor="t">
            <a:noAutofit/>
          </a:bodyPr>
          <a:lstStyle/>
          <a:p>
            <a:pPr marL="0" indent="0" algn="l">
              <a:spcBef>
                <a:spcPts val="0"/>
              </a:spcBef>
              <a:spcAft>
                <a:spcPts val="0"/>
              </a:spcAft>
              <a:buNone/>
            </a:pPr>
            <a:endParaRPr/>
          </a:p>
        </p:txBody>
      </p:sp>
      <p:sp>
        <p:nvSpPr>
          <p:cNvPr id="26" name="Google Shape;26;p3">
            <a:extLst>
              <a:ext uri="{FF2B5EF4-FFF2-40B4-BE49-F238E27FC236}">
                <a16:creationId xmlns:a16="http://schemas.microsoft.com/office/drawing/2014/main" id="{A68CF452-14D7-4611-9AED-F285E309B334}"/>
              </a:ext>
            </a:extLst>
          </p:cNvPr>
          <p:cNvSpPr>
            <a:spLocks noGrp="1"/>
          </p:cNvSpPr>
          <p:nvPr/>
        </p:nvSpPr>
        <p:spPr>
          <a:xfrm>
            <a:off x="5010912" y="3392424"/>
            <a:ext cx="1737360" cy="301752"/>
          </a:xfrm>
          <a:prstGeom prst="rect">
            <a:avLst/>
          </a:prstGeom>
          <a:noFill/>
          <a:ln>
            <a:noFill/>
          </a:ln>
        </p:spPr>
        <p:txBody>
          <a:bodyPr spcFirstLastPara="1" wrap="square" lIns="0" tIns="0" rIns="0" bIns="0" anchor="ctr">
            <a:noAutofit/>
          </a:bodyPr>
          <a:lstStyle/>
          <a:p>
            <a:pPr marL="0" indent="0" algn="ctr">
              <a:spcBef>
                <a:spcPts val="0"/>
              </a:spcBef>
              <a:spcAft>
                <a:spcPts val="0"/>
              </a:spcAft>
              <a:buNone/>
            </a:pPr>
            <a:r>
              <a:rPr sz="2000" b="1">
                <a:solidFill>
                  <a:srgbClr val="2B6CB0"/>
                </a:solidFill>
                <a:latin typeface="Arial"/>
                <a:ea typeface="Arial"/>
                <a:cs typeface="Arial"/>
              </a:rPr>
              <a:t>global</a:t>
            </a:r>
          </a:p>
        </p:txBody>
      </p:sp>
      <p:sp>
        <p:nvSpPr>
          <p:cNvPr id="27" name="Google Shape;27;p3">
            <a:extLst>
              <a:ext uri="{FF2B5EF4-FFF2-40B4-BE49-F238E27FC236}">
                <a16:creationId xmlns:a16="http://schemas.microsoft.com/office/drawing/2014/main" id="{5C42CE2B-E768-41F2-A563-780FB17409B2}"/>
              </a:ext>
            </a:extLst>
          </p:cNvPr>
          <p:cNvSpPr>
            <a:spLocks noGrp="1"/>
          </p:cNvSpPr>
          <p:nvPr/>
        </p:nvSpPr>
        <p:spPr>
          <a:xfrm>
            <a:off x="5029200" y="3749040"/>
            <a:ext cx="1700784" cy="256032"/>
          </a:xfrm>
          <a:prstGeom prst="rect">
            <a:avLst/>
          </a:prstGeom>
          <a:noFill/>
          <a:ln>
            <a:noFill/>
          </a:ln>
        </p:spPr>
        <p:txBody>
          <a:bodyPr spcFirstLastPara="1" wrap="square" lIns="0" tIns="0" rIns="0" bIns="0" anchor="ctr">
            <a:noAutofit/>
          </a:bodyPr>
          <a:lstStyle/>
          <a:p>
            <a:pPr marL="0" indent="0" algn="ctr">
              <a:spcBef>
                <a:spcPts val="0"/>
              </a:spcBef>
              <a:spcAft>
                <a:spcPts val="0"/>
              </a:spcAft>
              <a:buNone/>
            </a:pPr>
            <a:r>
              <a:rPr sz="1000">
                <a:solidFill>
                  <a:srgbClr val="4B5563"/>
                </a:solidFill>
                <a:latin typeface="Arial"/>
                <a:ea typeface="Arial"/>
                <a:cs typeface="Arial"/>
              </a:rPr>
              <a:t>classification error</a:t>
            </a:r>
          </a:p>
        </p:txBody>
      </p:sp>
      <p:sp>
        <p:nvSpPr>
          <p:cNvPr id="28" name="Google Shape;28;p3">
            <a:extLst>
              <a:ext uri="{FF2B5EF4-FFF2-40B4-BE49-F238E27FC236}">
                <a16:creationId xmlns:a16="http://schemas.microsoft.com/office/drawing/2014/main" id="{06D2A714-95B7-41F8-852E-F8E266EE0AAB}"/>
              </a:ext>
            </a:extLst>
          </p:cNvPr>
          <p:cNvSpPr>
            <a:spLocks noGrp="1"/>
          </p:cNvSpPr>
          <p:nvPr/>
        </p:nvSpPr>
        <p:spPr>
          <a:xfrm>
            <a:off x="7050024" y="3246120"/>
            <a:ext cx="1920240" cy="1143000"/>
          </a:xfrm>
          <a:prstGeom prst="roundRect">
            <a:avLst>
              <a:gd name="adj" fmla="val 7200"/>
            </a:avLst>
          </a:prstGeom>
          <a:solidFill>
            <a:srgbClr val="FFFFFF"/>
          </a:solidFill>
          <a:ln w="10150" cmpd="sng">
            <a:solidFill>
              <a:srgbClr val="D9DEE8"/>
            </a:solidFill>
            <a:prstDash val="solid"/>
            <a:headEnd type="none" w="sm" len="sm"/>
            <a:tailEnd type="none" w="sm" len="sm"/>
          </a:ln>
          <a:effectLst>
            <a:outerShdw blurRad="15240" dist="50800" dir="2700000" algn="bl" rotWithShape="0">
              <a:srgbClr val="000000">
                <a:alpha val="7843"/>
              </a:srgbClr>
            </a:outerShdw>
          </a:effectLst>
        </p:spPr>
        <p:txBody>
          <a:bodyPr spcFirstLastPara="1" wrap="square" lIns="91425" tIns="45700" rIns="91425" bIns="45700" anchor="t">
            <a:noAutofit/>
          </a:bodyPr>
          <a:lstStyle/>
          <a:p>
            <a:pPr marL="0" indent="0" algn="l">
              <a:spcBef>
                <a:spcPts val="0"/>
              </a:spcBef>
              <a:spcAft>
                <a:spcPts val="0"/>
              </a:spcAft>
              <a:buNone/>
            </a:pPr>
            <a:endParaRPr/>
          </a:p>
        </p:txBody>
      </p:sp>
      <p:sp>
        <p:nvSpPr>
          <p:cNvPr id="29" name="Google Shape;29;p3">
            <a:extLst>
              <a:ext uri="{FF2B5EF4-FFF2-40B4-BE49-F238E27FC236}">
                <a16:creationId xmlns:a16="http://schemas.microsoft.com/office/drawing/2014/main" id="{2D1E5C83-782B-4690-8C0D-DD6903E334EB}"/>
              </a:ext>
            </a:extLst>
          </p:cNvPr>
          <p:cNvSpPr>
            <a:spLocks noGrp="1"/>
          </p:cNvSpPr>
          <p:nvPr/>
        </p:nvSpPr>
        <p:spPr>
          <a:xfrm>
            <a:off x="7141464" y="3392424"/>
            <a:ext cx="1737360" cy="301752"/>
          </a:xfrm>
          <a:prstGeom prst="rect">
            <a:avLst/>
          </a:prstGeom>
          <a:noFill/>
          <a:ln>
            <a:noFill/>
          </a:ln>
        </p:spPr>
        <p:txBody>
          <a:bodyPr spcFirstLastPara="1" wrap="square" lIns="0" tIns="0" rIns="0" bIns="0" anchor="ctr">
            <a:noAutofit/>
          </a:bodyPr>
          <a:lstStyle/>
          <a:p>
            <a:pPr marL="0" indent="0" algn="ctr">
              <a:spcBef>
                <a:spcPts val="0"/>
              </a:spcBef>
              <a:spcAft>
                <a:spcPts val="0"/>
              </a:spcAft>
              <a:buNone/>
            </a:pPr>
            <a:r>
              <a:rPr sz="2000" b="1">
                <a:solidFill>
                  <a:srgbClr val="6B7280"/>
                </a:solidFill>
                <a:latin typeface="Arial"/>
                <a:ea typeface="Arial"/>
                <a:cs typeface="Arial"/>
              </a:rPr>
              <a:t>q20/q30</a:t>
            </a:r>
          </a:p>
        </p:txBody>
      </p:sp>
      <p:sp>
        <p:nvSpPr>
          <p:cNvPr id="30" name="Google Shape;30;p3">
            <a:extLst>
              <a:ext uri="{FF2B5EF4-FFF2-40B4-BE49-F238E27FC236}">
                <a16:creationId xmlns:a16="http://schemas.microsoft.com/office/drawing/2014/main" id="{6AD6CBFA-DCB9-4B3E-BC1A-57449989239D}"/>
              </a:ext>
            </a:extLst>
          </p:cNvPr>
          <p:cNvSpPr>
            <a:spLocks noGrp="1"/>
          </p:cNvSpPr>
          <p:nvPr/>
        </p:nvSpPr>
        <p:spPr>
          <a:xfrm>
            <a:off x="7159752" y="3749040"/>
            <a:ext cx="1700784" cy="256032"/>
          </a:xfrm>
          <a:prstGeom prst="rect">
            <a:avLst/>
          </a:prstGeom>
          <a:noFill/>
          <a:ln>
            <a:noFill/>
          </a:ln>
        </p:spPr>
        <p:txBody>
          <a:bodyPr spcFirstLastPara="1" wrap="square" lIns="0" tIns="0" rIns="0" bIns="0" anchor="ctr">
            <a:noAutofit/>
          </a:bodyPr>
          <a:lstStyle/>
          <a:p>
            <a:pPr marL="0" indent="0" algn="ctr">
              <a:spcBef>
                <a:spcPts val="0"/>
              </a:spcBef>
              <a:spcAft>
                <a:spcPts val="0"/>
              </a:spcAft>
              <a:buNone/>
            </a:pPr>
            <a:r>
              <a:rPr sz="1000">
                <a:solidFill>
                  <a:srgbClr val="4B5563"/>
                </a:solidFill>
                <a:latin typeface="Arial"/>
                <a:ea typeface="Arial"/>
                <a:cs typeface="Arial"/>
              </a:rPr>
              <a:t>near-boundary error</a:t>
            </a:r>
          </a:p>
        </p:txBody>
      </p:sp>
      <p:sp>
        <p:nvSpPr>
          <p:cNvPr id="31" name="Google Shape;31;p3">
            <a:extLst>
              <a:ext uri="{FF2B5EF4-FFF2-40B4-BE49-F238E27FC236}">
                <a16:creationId xmlns:a16="http://schemas.microsoft.com/office/drawing/2014/main" id="{419A34CC-F241-429C-BB3D-B1B294E7338A}"/>
              </a:ext>
            </a:extLst>
          </p:cNvPr>
          <p:cNvSpPr>
            <a:spLocks noGrp="1"/>
          </p:cNvSpPr>
          <p:nvPr/>
        </p:nvSpPr>
        <p:spPr>
          <a:xfrm>
            <a:off x="9180576" y="3246120"/>
            <a:ext cx="1920240" cy="1143000"/>
          </a:xfrm>
          <a:prstGeom prst="roundRect">
            <a:avLst>
              <a:gd name="adj" fmla="val 7200"/>
            </a:avLst>
          </a:prstGeom>
          <a:solidFill>
            <a:srgbClr val="FFFFFF"/>
          </a:solidFill>
          <a:ln w="10150" cmpd="sng">
            <a:solidFill>
              <a:srgbClr val="D9DEE8"/>
            </a:solidFill>
            <a:prstDash val="solid"/>
            <a:headEnd type="none" w="sm" len="sm"/>
            <a:tailEnd type="none" w="sm" len="sm"/>
          </a:ln>
          <a:effectLst>
            <a:outerShdw blurRad="15240" dist="50800" dir="2700000" algn="bl" rotWithShape="0">
              <a:srgbClr val="000000">
                <a:alpha val="7843"/>
              </a:srgbClr>
            </a:outerShdw>
          </a:effectLst>
        </p:spPr>
        <p:txBody>
          <a:bodyPr spcFirstLastPara="1" wrap="square" lIns="91425" tIns="45700" rIns="91425" bIns="45700" anchor="t">
            <a:noAutofit/>
          </a:bodyPr>
          <a:lstStyle/>
          <a:p>
            <a:pPr marL="0" indent="0" algn="l">
              <a:spcBef>
                <a:spcPts val="0"/>
              </a:spcBef>
              <a:spcAft>
                <a:spcPts val="0"/>
              </a:spcAft>
              <a:buNone/>
            </a:pPr>
            <a:endParaRPr/>
          </a:p>
        </p:txBody>
      </p:sp>
      <p:sp>
        <p:nvSpPr>
          <p:cNvPr id="32" name="Google Shape;32;p3">
            <a:extLst>
              <a:ext uri="{FF2B5EF4-FFF2-40B4-BE49-F238E27FC236}">
                <a16:creationId xmlns:a16="http://schemas.microsoft.com/office/drawing/2014/main" id="{5F197FF8-68BB-4C7B-85C0-7A926B182CAD}"/>
              </a:ext>
            </a:extLst>
          </p:cNvPr>
          <p:cNvSpPr>
            <a:spLocks noGrp="1"/>
          </p:cNvSpPr>
          <p:nvPr/>
        </p:nvSpPr>
        <p:spPr>
          <a:xfrm>
            <a:off x="9272016" y="3392424"/>
            <a:ext cx="1737360" cy="301752"/>
          </a:xfrm>
          <a:prstGeom prst="rect">
            <a:avLst/>
          </a:prstGeom>
          <a:noFill/>
          <a:ln>
            <a:noFill/>
          </a:ln>
        </p:spPr>
        <p:txBody>
          <a:bodyPr spcFirstLastPara="1" wrap="square" lIns="0" tIns="0" rIns="0" bIns="0" anchor="ctr">
            <a:noAutofit/>
          </a:bodyPr>
          <a:lstStyle/>
          <a:p>
            <a:pPr marL="0" indent="0" algn="ctr">
              <a:spcBef>
                <a:spcPts val="0"/>
              </a:spcBef>
              <a:spcAft>
                <a:spcPts val="0"/>
              </a:spcAft>
              <a:buNone/>
            </a:pPr>
            <a:r>
              <a:rPr sz="2000" b="1">
                <a:solidFill>
                  <a:srgbClr val="B7791F"/>
                </a:solidFill>
                <a:latin typeface="Arial"/>
                <a:ea typeface="Arial"/>
                <a:cs typeface="Arial"/>
              </a:rPr>
              <a:t>Hartmann4</a:t>
            </a:r>
          </a:p>
        </p:txBody>
      </p:sp>
      <p:sp>
        <p:nvSpPr>
          <p:cNvPr id="33" name="Google Shape;33;p3">
            <a:extLst>
              <a:ext uri="{FF2B5EF4-FFF2-40B4-BE49-F238E27FC236}">
                <a16:creationId xmlns:a16="http://schemas.microsoft.com/office/drawing/2014/main" id="{4337E173-E6AE-43F3-AAA3-777F5B36676C}"/>
              </a:ext>
            </a:extLst>
          </p:cNvPr>
          <p:cNvSpPr>
            <a:spLocks noGrp="1"/>
          </p:cNvSpPr>
          <p:nvPr/>
        </p:nvSpPr>
        <p:spPr>
          <a:xfrm>
            <a:off x="9290304" y="3749040"/>
            <a:ext cx="1700784" cy="256032"/>
          </a:xfrm>
          <a:prstGeom prst="rect">
            <a:avLst/>
          </a:prstGeom>
          <a:noFill/>
          <a:ln>
            <a:noFill/>
          </a:ln>
        </p:spPr>
        <p:txBody>
          <a:bodyPr spcFirstLastPara="1" wrap="square" lIns="0" tIns="0" rIns="0" bIns="0" anchor="ctr">
            <a:noAutofit/>
          </a:bodyPr>
          <a:lstStyle/>
          <a:p>
            <a:pPr marL="0" indent="0" algn="ctr">
              <a:spcBef>
                <a:spcPts val="0"/>
              </a:spcBef>
              <a:spcAft>
                <a:spcPts val="0"/>
              </a:spcAft>
              <a:buNone/>
            </a:pPr>
            <a:r>
              <a:rPr sz="1000">
                <a:solidFill>
                  <a:srgbClr val="4B5563"/>
                </a:solidFill>
                <a:latin typeface="Arial"/>
                <a:ea typeface="Arial"/>
                <a:cs typeface="Arial"/>
              </a:rPr>
              <a:t>second 4D check</a:t>
            </a:r>
          </a:p>
        </p:txBody>
      </p:sp>
      <p:sp>
        <p:nvSpPr>
          <p:cNvPr id="34" name="Google Shape;34;p3">
            <a:extLst>
              <a:ext uri="{FF2B5EF4-FFF2-40B4-BE49-F238E27FC236}">
                <a16:creationId xmlns:a16="http://schemas.microsoft.com/office/drawing/2014/main" id="{7E45630A-85DB-4925-99F3-4D22CF8EA47E}"/>
              </a:ext>
            </a:extLst>
          </p:cNvPr>
          <p:cNvSpPr>
            <a:spLocks noGrp="1"/>
          </p:cNvSpPr>
          <p:nvPr/>
        </p:nvSpPr>
        <p:spPr>
          <a:xfrm>
            <a:off x="9290304" y="4023360"/>
            <a:ext cx="1700784" cy="146304"/>
          </a:xfrm>
          <a:prstGeom prst="rect">
            <a:avLst/>
          </a:prstGeom>
          <a:noFill/>
          <a:ln>
            <a:noFill/>
          </a:ln>
        </p:spPr>
        <p:txBody>
          <a:bodyPr spcFirstLastPara="1" wrap="square" lIns="0" tIns="0" rIns="0" bIns="0" anchor="ctr">
            <a:noAutofit/>
          </a:bodyPr>
          <a:lstStyle/>
          <a:p>
            <a:pPr marL="0" indent="0" algn="ctr">
              <a:spcBef>
                <a:spcPts val="0"/>
              </a:spcBef>
              <a:spcAft>
                <a:spcPts val="0"/>
              </a:spcAft>
              <a:buNone/>
            </a:pPr>
            <a:r>
              <a:rPr sz="1000">
                <a:solidFill>
                  <a:srgbClr val="6B7280"/>
                </a:solidFill>
                <a:latin typeface="Arial"/>
                <a:ea typeface="Arial"/>
                <a:cs typeface="Arial"/>
              </a:rPr>
              <a:t>added deliberately</a:t>
            </a:r>
          </a:p>
        </p:txBody>
      </p:sp>
      <p:sp>
        <p:nvSpPr>
          <p:cNvPr id="35" name="Google Shape;35;p3">
            <a:extLst>
              <a:ext uri="{FF2B5EF4-FFF2-40B4-BE49-F238E27FC236}">
                <a16:creationId xmlns:a16="http://schemas.microsoft.com/office/drawing/2014/main" id="{2610DA9B-BDDD-47E8-B682-BA4FC6E7BADB}"/>
              </a:ext>
            </a:extLst>
          </p:cNvPr>
          <p:cNvSpPr>
            <a:spLocks noGrp="1"/>
          </p:cNvSpPr>
          <p:nvPr/>
        </p:nvSpPr>
        <p:spPr>
          <a:xfrm>
            <a:off x="658368" y="4800600"/>
            <a:ext cx="10442448" cy="713232"/>
          </a:xfrm>
          <a:prstGeom prst="roundRect">
            <a:avLst>
              <a:gd name="adj" fmla="val 11538"/>
            </a:avLst>
          </a:prstGeom>
          <a:solidFill>
            <a:srgbClr val="ECFDF5"/>
          </a:solidFill>
          <a:ln w="10150" cmpd="sng">
            <a:solidFill>
              <a:srgbClr val="BBF7D0"/>
            </a:solidFill>
            <a:prstDash val="solid"/>
            <a:headEnd type="none" w="sm" len="sm"/>
            <a:tailEnd type="none" w="sm" len="sm"/>
          </a:ln>
        </p:spPr>
        <p:txBody>
          <a:bodyPr spcFirstLastPara="1" wrap="square" lIns="91425" tIns="45700" rIns="91425" bIns="45700" anchor="t">
            <a:noAutofit/>
          </a:bodyPr>
          <a:lstStyle/>
          <a:p>
            <a:pPr marL="0" indent="0" algn="l">
              <a:spcBef>
                <a:spcPts val="0"/>
              </a:spcBef>
              <a:spcAft>
                <a:spcPts val="0"/>
              </a:spcAft>
              <a:buNone/>
            </a:pPr>
            <a:endParaRPr/>
          </a:p>
        </p:txBody>
      </p:sp>
      <p:sp>
        <p:nvSpPr>
          <p:cNvPr id="36" name="Google Shape;36;p3">
            <a:extLst>
              <a:ext uri="{FF2B5EF4-FFF2-40B4-BE49-F238E27FC236}">
                <a16:creationId xmlns:a16="http://schemas.microsoft.com/office/drawing/2014/main" id="{1E80C67B-F351-4CA7-8C8B-3C805D4F22DD}"/>
              </a:ext>
            </a:extLst>
          </p:cNvPr>
          <p:cNvSpPr>
            <a:spLocks noGrp="1"/>
          </p:cNvSpPr>
          <p:nvPr/>
        </p:nvSpPr>
        <p:spPr>
          <a:xfrm>
            <a:off x="868680" y="5010912"/>
            <a:ext cx="10040112" cy="219456"/>
          </a:xfrm>
          <a:prstGeom prst="rect">
            <a:avLst/>
          </a:prstGeom>
          <a:noFill/>
          <a:ln>
            <a:noFill/>
          </a:ln>
        </p:spPr>
        <p:txBody>
          <a:bodyPr spcFirstLastPara="1" wrap="square" lIns="0" tIns="0" rIns="0" bIns="0" anchor="ctr">
            <a:noAutofit/>
          </a:bodyPr>
          <a:lstStyle/>
          <a:p>
            <a:pPr marL="0" indent="0" algn="l">
              <a:spcBef>
                <a:spcPts val="0"/>
              </a:spcBef>
              <a:spcAft>
                <a:spcPts val="0"/>
              </a:spcAft>
              <a:buNone/>
            </a:pPr>
            <a:r>
              <a:rPr sz="1000" b="1">
                <a:solidFill>
                  <a:srgbClr val="1F2A44"/>
                </a:solidFill>
                <a:latin typeface="Arial"/>
                <a:ea typeface="Arial"/>
                <a:cs typeface="Arial"/>
              </a:rPr>
              <a:t>Main message: Ackley stayed hard, Hartmann changed the story, and Branin often rewards methods that do not transfer cleanly.</a:t>
            </a:r>
          </a:p>
        </p:txBody>
      </p:sp>
      <p:cxnSp>
        <p:nvCxnSpPr>
          <p:cNvPr id="91" name="Google Shape;37;p3"/>
          <p:cNvCxnSpPr/>
          <p:nvPr/>
        </p:nvCxnSpPr>
        <p:spPr>
          <a:xfrm>
            <a:off x="502920" y="6446520"/>
            <a:ext cx="11201400" cy="0"/>
          </a:xfrm>
          <a:prstGeom prst="straightConnector1">
            <a:avLst/>
          </a:prstGeom>
          <a:ln w="9525" cap="flat">
            <a:solidFill>
              <a:srgbClr val="D9DEE8"/>
            </a:solidFill>
            <a:prstDash val="solid"/>
            <a:round/>
            <a:headEnd type="none" w="sm" len="sm"/>
            <a:tailEnd type="none" w="sm" len="sm"/>
          </a:ln>
        </p:spPr>
      </p:cxnSp>
      <p:sp>
        <p:nvSpPr>
          <p:cNvPr id="38" name="Google Shape;38;p3">
            <a:extLst>
              <a:ext uri="{FF2B5EF4-FFF2-40B4-BE49-F238E27FC236}">
                <a16:creationId xmlns:a16="http://schemas.microsoft.com/office/drawing/2014/main" id="{15D9547D-E27C-46AC-97D8-93C0D4AA7F4E}"/>
              </a:ext>
            </a:extLst>
          </p:cNvPr>
          <p:cNvSpPr>
            <a:spLocks noGrp="1"/>
          </p:cNvSpPr>
          <p:nvPr/>
        </p:nvSpPr>
        <p:spPr>
          <a:xfrm>
            <a:off x="502920" y="6519672"/>
            <a:ext cx="8961120" cy="164592"/>
          </a:xfrm>
          <a:prstGeom prst="rect">
            <a:avLst/>
          </a:prstGeom>
          <a:noFill/>
          <a:ln>
            <a:noFill/>
          </a:ln>
        </p:spPr>
        <p:txBody>
          <a:bodyPr spcFirstLastPara="1" wrap="square" lIns="0" tIns="0" rIns="0" bIns="0" anchor="ctr">
            <a:noAutofit/>
          </a:bodyPr>
          <a:lstStyle/>
          <a:p>
            <a:pPr marL="0" indent="0" algn="l">
              <a:spcBef>
                <a:spcPts val="0"/>
              </a:spcBef>
              <a:spcAft>
                <a:spcPts val="0"/>
              </a:spcAft>
              <a:buNone/>
            </a:pPr>
            <a:r>
              <a:rPr sz="780">
                <a:solidFill>
                  <a:srgbClr val="6B7280"/>
                </a:solidFill>
                <a:latin typeface="Arial"/>
                <a:ea typeface="Arial"/>
                <a:cs typeface="Arial"/>
              </a:rPr>
              <a:t>Week 3 extended update - Sample-Efficient Active Level-Set Estimation - 3</a:t>
            </a:r>
          </a:p>
        </p:txBody>
      </p:sp>
      <p:sp>
        <p:nvSpPr>
          <p:cNvPr id="39" name="Google Shape;39;p3">
            <a:extLst>
              <a:ext uri="{FF2B5EF4-FFF2-40B4-BE49-F238E27FC236}">
                <a16:creationId xmlns:a16="http://schemas.microsoft.com/office/drawing/2014/main" id="{48AAD136-07B5-40A8-90FA-D6C668651763}"/>
              </a:ext>
            </a:extLst>
          </p:cNvPr>
          <p:cNvSpPr>
            <a:spLocks noGrp="1"/>
          </p:cNvSpPr>
          <p:nvPr/>
        </p:nvSpPr>
        <p:spPr>
          <a:xfrm>
            <a:off x="11521440" y="6492240"/>
            <a:ext cx="228600" cy="164592"/>
          </a:xfrm>
          <a:prstGeom prst="rect">
            <a:avLst/>
          </a:prstGeom>
          <a:noFill/>
          <a:ln>
            <a:noFill/>
          </a:ln>
        </p:spPr>
        <p:txBody>
          <a:bodyPr spcFirstLastPara="1" wrap="square" lIns="0" tIns="0" rIns="0" bIns="0" anchor="ctr">
            <a:noAutofit/>
          </a:bodyPr>
          <a:lstStyle/>
          <a:p>
            <a:pPr marL="0" indent="0" algn="r">
              <a:spcBef>
                <a:spcPts val="0"/>
              </a:spcBef>
              <a:spcAft>
                <a:spcPts val="0"/>
              </a:spcAft>
              <a:buNone/>
            </a:pPr>
            <a:r>
              <a:rPr sz="780">
                <a:solidFill>
                  <a:srgbClr val="6B7280"/>
                </a:solidFill>
                <a:latin typeface="Arial"/>
                <a:ea typeface="Arial"/>
                <a:cs typeface="Arial"/>
              </a:rPr>
              <a:t>3</a:t>
            </a:r>
          </a:p>
        </p:txBody>
      </p:sp>
    </p:spTree>
    <p:extLst>
      <p:ext uri="{BB962C8B-B14F-4D97-AF65-F5344CB8AC3E}">
        <p14:creationId xmlns:p14="http://schemas.microsoft.com/office/powerpoint/2010/main" val="609970817"/>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rgbClr val="F6F8FC"/>
        </a:solidFill>
        <a:effectLst/>
      </p:bgPr>
    </p:bg>
    <p:spTree>
      <p:nvGrpSpPr>
        <p:cNvPr id="1" name=""/>
        <p:cNvGrpSpPr/>
        <p:nvPr/>
      </p:nvGrpSpPr>
      <p:grpSpPr>
        <a:xfrm>
          <a:off x="0" y="0"/>
          <a:ext cx="0" cy="0"/>
          <a:chOff x="0" y="0"/>
          <a:chExt cx="0" cy="0"/>
        </a:xfrm>
      </p:grpSpPr>
      <p:sp>
        <p:nvSpPr>
          <p:cNvPr id="86" name="Google Shape;86;p5">
            <a:extLst>
              <a:ext uri="{FF2B5EF4-FFF2-40B4-BE49-F238E27FC236}">
                <a16:creationId xmlns:a16="http://schemas.microsoft.com/office/drawing/2014/main" id="{21C8C200-2262-4E09-940E-215F3AE756F5}"/>
              </a:ext>
            </a:extLst>
          </p:cNvPr>
          <p:cNvSpPr>
            <a:spLocks noGrp="1"/>
          </p:cNvSpPr>
          <p:nvPr/>
        </p:nvSpPr>
        <p:spPr>
          <a:xfrm>
            <a:off x="502920" y="329184"/>
            <a:ext cx="10789920" cy="320040"/>
          </a:xfrm>
          <a:prstGeom prst="rect">
            <a:avLst/>
          </a:prstGeom>
          <a:noFill/>
          <a:ln>
            <a:noFill/>
          </a:ln>
        </p:spPr>
        <p:txBody>
          <a:bodyPr spcFirstLastPara="1" wrap="square" lIns="0" tIns="0" rIns="0" bIns="0" anchor="ctr">
            <a:noAutofit/>
          </a:bodyPr>
          <a:lstStyle/>
          <a:p>
            <a:pPr marL="0" indent="0" algn="l">
              <a:spcBef>
                <a:spcPts val="0"/>
              </a:spcBef>
              <a:spcAft>
                <a:spcPts val="0"/>
              </a:spcAft>
              <a:buNone/>
            </a:pPr>
            <a:r>
              <a:rPr sz="2200" b="1">
                <a:solidFill>
                  <a:srgbClr val="1F2A44"/>
                </a:solidFill>
                <a:latin typeface="Play"/>
                <a:ea typeface="Play"/>
                <a:cs typeface="Play"/>
              </a:rPr>
              <a:t>Ackley4 was the first named 4D acquisition comparison</a:t>
            </a:r>
          </a:p>
        </p:txBody>
      </p:sp>
      <p:sp>
        <p:nvSpPr>
          <p:cNvPr id="87" name="Google Shape;87;p5">
            <a:extLst>
              <a:ext uri="{FF2B5EF4-FFF2-40B4-BE49-F238E27FC236}">
                <a16:creationId xmlns:a16="http://schemas.microsoft.com/office/drawing/2014/main" id="{38456BF3-49E5-44C1-83E7-EEB09F780601}"/>
              </a:ext>
            </a:extLst>
          </p:cNvPr>
          <p:cNvSpPr>
            <a:spLocks noGrp="1"/>
          </p:cNvSpPr>
          <p:nvPr/>
        </p:nvSpPr>
        <p:spPr>
          <a:xfrm>
            <a:off x="521208" y="713232"/>
            <a:ext cx="10515600" cy="237744"/>
          </a:xfrm>
          <a:prstGeom prst="rect">
            <a:avLst/>
          </a:prstGeom>
          <a:noFill/>
          <a:ln>
            <a:noFill/>
          </a:ln>
        </p:spPr>
        <p:txBody>
          <a:bodyPr spcFirstLastPara="1" wrap="square" lIns="0" tIns="0" rIns="0" bIns="0" anchor="ctr">
            <a:noAutofit/>
          </a:bodyPr>
          <a:lstStyle/>
          <a:p>
            <a:pPr marL="0" indent="0" algn="l">
              <a:spcBef>
                <a:spcPts val="0"/>
              </a:spcBef>
              <a:spcAft>
                <a:spcPts val="0"/>
              </a:spcAft>
              <a:buNone/>
            </a:pPr>
            <a:r>
              <a:rPr sz="1100">
                <a:solidFill>
                  <a:srgbClr val="4B5563"/>
                </a:solidFill>
                <a:latin typeface="Arial"/>
                <a:ea typeface="Arial"/>
                <a:cs typeface="Arial"/>
              </a:rPr>
              <a:t>Ackley4 kept the active level-set setting while moving closer to the target 4D process-parameter space.</a:t>
            </a:r>
          </a:p>
        </p:txBody>
      </p:sp>
      <p:sp>
        <p:nvSpPr>
          <p:cNvPr id="88" name="Google Shape;88;p5">
            <a:extLst>
              <a:ext uri="{FF2B5EF4-FFF2-40B4-BE49-F238E27FC236}">
                <a16:creationId xmlns:a16="http://schemas.microsoft.com/office/drawing/2014/main" id="{3D08A1E3-615E-4825-8C75-62B5CAA6D0F8}"/>
              </a:ext>
            </a:extLst>
          </p:cNvPr>
          <p:cNvSpPr>
            <a:spLocks noGrp="1"/>
          </p:cNvSpPr>
          <p:nvPr/>
        </p:nvSpPr>
        <p:spPr>
          <a:xfrm>
            <a:off x="685800" y="1143000"/>
            <a:ext cx="5074920" cy="1078992"/>
          </a:xfrm>
          <a:prstGeom prst="roundRect">
            <a:avLst>
              <a:gd name="adj" fmla="val 7627"/>
            </a:avLst>
          </a:prstGeom>
          <a:solidFill>
            <a:srgbClr val="FFFFFF"/>
          </a:solidFill>
          <a:ln w="10150" cmpd="sng">
            <a:solidFill>
              <a:srgbClr val="6B7280"/>
            </a:solidFill>
            <a:prstDash val="solid"/>
            <a:headEnd type="none" w="sm" len="sm"/>
            <a:tailEnd type="none" w="sm" len="sm"/>
          </a:ln>
        </p:spPr>
        <p:txBody>
          <a:bodyPr spcFirstLastPara="1" wrap="square" lIns="91425" tIns="45700" rIns="91425" bIns="45700" anchor="t">
            <a:noAutofit/>
          </a:bodyPr>
          <a:lstStyle/>
          <a:p>
            <a:pPr marL="0" indent="0" algn="l">
              <a:spcBef>
                <a:spcPts val="0"/>
              </a:spcBef>
              <a:spcAft>
                <a:spcPts val="0"/>
              </a:spcAft>
              <a:buNone/>
            </a:pPr>
            <a:endParaRPr/>
          </a:p>
        </p:txBody>
      </p:sp>
      <p:sp>
        <p:nvSpPr>
          <p:cNvPr id="89" name="Google Shape;89;p5">
            <a:extLst>
              <a:ext uri="{FF2B5EF4-FFF2-40B4-BE49-F238E27FC236}">
                <a16:creationId xmlns:a16="http://schemas.microsoft.com/office/drawing/2014/main" id="{4F23AE5D-F756-4BE9-8C6E-B9717B552324}"/>
              </a:ext>
            </a:extLst>
          </p:cNvPr>
          <p:cNvSpPr>
            <a:spLocks noGrp="1"/>
          </p:cNvSpPr>
          <p:nvPr/>
        </p:nvSpPr>
        <p:spPr>
          <a:xfrm>
            <a:off x="850392" y="1280160"/>
            <a:ext cx="2011680" cy="164592"/>
          </a:xfrm>
          <a:prstGeom prst="rect">
            <a:avLst/>
          </a:prstGeom>
          <a:noFill/>
          <a:ln>
            <a:noFill/>
          </a:ln>
        </p:spPr>
        <p:txBody>
          <a:bodyPr spcFirstLastPara="1" wrap="square" lIns="0" tIns="0" rIns="0" bIns="0" anchor="ctr">
            <a:noAutofit/>
          </a:bodyPr>
          <a:lstStyle/>
          <a:p>
            <a:pPr marL="0" indent="0" algn="l">
              <a:spcBef>
                <a:spcPts val="0"/>
              </a:spcBef>
              <a:spcAft>
                <a:spcPts val="0"/>
              </a:spcAft>
              <a:buNone/>
            </a:pPr>
            <a:r>
              <a:rPr sz="1100" b="1">
                <a:solidFill>
                  <a:srgbClr val="6B7280"/>
                </a:solidFill>
                <a:latin typeface="Arial"/>
                <a:ea typeface="Arial"/>
                <a:cs typeface="Arial"/>
              </a:rPr>
              <a:t>Random</a:t>
            </a:r>
          </a:p>
        </p:txBody>
      </p:sp>
      <p:sp>
        <p:nvSpPr>
          <p:cNvPr id="90" name="Google Shape;90;p5">
            <a:extLst>
              <a:ext uri="{FF2B5EF4-FFF2-40B4-BE49-F238E27FC236}">
                <a16:creationId xmlns:a16="http://schemas.microsoft.com/office/drawing/2014/main" id="{CA1A4BB2-F370-4162-A481-BEA25705AD0A}"/>
              </a:ext>
            </a:extLst>
          </p:cNvPr>
          <p:cNvSpPr>
            <a:spLocks noGrp="1"/>
          </p:cNvSpPr>
          <p:nvPr/>
        </p:nvSpPr>
        <p:spPr>
          <a:xfrm>
            <a:off x="850392" y="1563624"/>
            <a:ext cx="4745736" cy="182880"/>
          </a:xfrm>
          <a:prstGeom prst="rect">
            <a:avLst/>
          </a:prstGeom>
          <a:noFill/>
          <a:ln>
            <a:noFill/>
          </a:ln>
        </p:spPr>
        <p:txBody>
          <a:bodyPr spcFirstLastPara="1" wrap="square" lIns="0" tIns="0" rIns="0" bIns="0" anchor="ctr">
            <a:noAutofit/>
          </a:bodyPr>
          <a:lstStyle/>
          <a:p>
            <a:pPr marL="0" indent="0" algn="l">
              <a:spcBef>
                <a:spcPts val="0"/>
              </a:spcBef>
              <a:spcAft>
                <a:spcPts val="0"/>
              </a:spcAft>
              <a:buNone/>
            </a:pPr>
            <a:r>
              <a:rPr sz="1000" b="1">
                <a:solidFill>
                  <a:srgbClr val="1F2A44"/>
                </a:solidFill>
                <a:latin typeface="Arial"/>
                <a:ea typeface="Arial"/>
                <a:cs typeface="Arial"/>
              </a:rPr>
              <a:t>No boundary information</a:t>
            </a:r>
          </a:p>
        </p:txBody>
      </p:sp>
      <p:sp>
        <p:nvSpPr>
          <p:cNvPr id="91" name="Google Shape;91;p5">
            <a:extLst>
              <a:ext uri="{FF2B5EF4-FFF2-40B4-BE49-F238E27FC236}">
                <a16:creationId xmlns:a16="http://schemas.microsoft.com/office/drawing/2014/main" id="{FE3A580B-D4CC-40F6-8529-BA35255430F0}"/>
              </a:ext>
            </a:extLst>
          </p:cNvPr>
          <p:cNvSpPr>
            <a:spLocks noGrp="1"/>
          </p:cNvSpPr>
          <p:nvPr/>
        </p:nvSpPr>
        <p:spPr>
          <a:xfrm>
            <a:off x="850392" y="1856232"/>
            <a:ext cx="4745736" cy="201168"/>
          </a:xfrm>
          <a:prstGeom prst="rect">
            <a:avLst/>
          </a:prstGeom>
          <a:noFill/>
          <a:ln>
            <a:noFill/>
          </a:ln>
        </p:spPr>
        <p:txBody>
          <a:bodyPr spcFirstLastPara="1" wrap="square" lIns="0" tIns="0" rIns="0" bIns="0" anchor="ctr">
            <a:noAutofit/>
          </a:bodyPr>
          <a:lstStyle/>
          <a:p>
            <a:pPr marL="0" indent="0" algn="l">
              <a:spcBef>
                <a:spcPts val="0"/>
              </a:spcBef>
              <a:spcAft>
                <a:spcPts val="0"/>
              </a:spcAft>
              <a:buNone/>
            </a:pPr>
            <a:r>
              <a:rPr sz="1050">
                <a:solidFill>
                  <a:srgbClr val="4B5563"/>
                </a:solidFill>
                <a:latin typeface="Arial"/>
                <a:ea typeface="Arial"/>
                <a:cs typeface="Arial"/>
              </a:rPr>
              <a:t>Floor baseline for all later work.</a:t>
            </a:r>
          </a:p>
        </p:txBody>
      </p:sp>
      <p:sp>
        <p:nvSpPr>
          <p:cNvPr id="92" name="Google Shape;92;p5">
            <a:extLst>
              <a:ext uri="{FF2B5EF4-FFF2-40B4-BE49-F238E27FC236}">
                <a16:creationId xmlns:a16="http://schemas.microsoft.com/office/drawing/2014/main" id="{3F901FB6-3614-4CA8-8BEA-952CEE136113}"/>
              </a:ext>
            </a:extLst>
          </p:cNvPr>
          <p:cNvSpPr>
            <a:spLocks noGrp="1"/>
          </p:cNvSpPr>
          <p:nvPr/>
        </p:nvSpPr>
        <p:spPr>
          <a:xfrm>
            <a:off x="6217920" y="1143000"/>
            <a:ext cx="5074920" cy="1078992"/>
          </a:xfrm>
          <a:prstGeom prst="roundRect">
            <a:avLst>
              <a:gd name="adj" fmla="val 7627"/>
            </a:avLst>
          </a:prstGeom>
          <a:solidFill>
            <a:srgbClr val="EEF4FF"/>
          </a:solidFill>
          <a:ln w="10150" cmpd="sng">
            <a:solidFill>
              <a:srgbClr val="2B6CB0"/>
            </a:solidFill>
            <a:prstDash val="solid"/>
            <a:headEnd type="none" w="sm" len="sm"/>
            <a:tailEnd type="none" w="sm" len="sm"/>
          </a:ln>
        </p:spPr>
        <p:txBody>
          <a:bodyPr spcFirstLastPara="1" wrap="square" lIns="91425" tIns="45700" rIns="91425" bIns="45700" anchor="t">
            <a:noAutofit/>
          </a:bodyPr>
          <a:lstStyle/>
          <a:p>
            <a:pPr marL="0" indent="0" algn="l">
              <a:spcBef>
                <a:spcPts val="0"/>
              </a:spcBef>
              <a:spcAft>
                <a:spcPts val="0"/>
              </a:spcAft>
              <a:buNone/>
            </a:pPr>
            <a:endParaRPr/>
          </a:p>
        </p:txBody>
      </p:sp>
      <p:sp>
        <p:nvSpPr>
          <p:cNvPr id="93" name="Google Shape;93;p5">
            <a:extLst>
              <a:ext uri="{FF2B5EF4-FFF2-40B4-BE49-F238E27FC236}">
                <a16:creationId xmlns:a16="http://schemas.microsoft.com/office/drawing/2014/main" id="{3D65413E-90DA-4154-94C3-B2D5E69621CC}"/>
              </a:ext>
            </a:extLst>
          </p:cNvPr>
          <p:cNvSpPr>
            <a:spLocks noGrp="1"/>
          </p:cNvSpPr>
          <p:nvPr/>
        </p:nvSpPr>
        <p:spPr>
          <a:xfrm>
            <a:off x="6382512" y="1280160"/>
            <a:ext cx="2011680" cy="164592"/>
          </a:xfrm>
          <a:prstGeom prst="rect">
            <a:avLst/>
          </a:prstGeom>
          <a:noFill/>
          <a:ln>
            <a:noFill/>
          </a:ln>
        </p:spPr>
        <p:txBody>
          <a:bodyPr spcFirstLastPara="1" wrap="square" lIns="0" tIns="0" rIns="0" bIns="0" anchor="ctr">
            <a:noAutofit/>
          </a:bodyPr>
          <a:lstStyle/>
          <a:p>
            <a:pPr marL="0" indent="0" algn="l">
              <a:spcBef>
                <a:spcPts val="0"/>
              </a:spcBef>
              <a:spcAft>
                <a:spcPts val="0"/>
              </a:spcAft>
              <a:buNone/>
            </a:pPr>
            <a:r>
              <a:rPr sz="1100" b="1">
                <a:solidFill>
                  <a:srgbClr val="2B6CB0"/>
                </a:solidFill>
                <a:latin typeface="Arial"/>
                <a:ea typeface="Arial"/>
                <a:cs typeface="Arial"/>
              </a:rPr>
              <a:t>Smallest abs(mu)</a:t>
            </a:r>
          </a:p>
        </p:txBody>
      </p:sp>
      <p:sp>
        <p:nvSpPr>
          <p:cNvPr id="94" name="Google Shape;94;p5">
            <a:extLst>
              <a:ext uri="{FF2B5EF4-FFF2-40B4-BE49-F238E27FC236}">
                <a16:creationId xmlns:a16="http://schemas.microsoft.com/office/drawing/2014/main" id="{8113698C-6356-44FE-92B9-75FE445F27BC}"/>
              </a:ext>
            </a:extLst>
          </p:cNvPr>
          <p:cNvSpPr>
            <a:spLocks noGrp="1"/>
          </p:cNvSpPr>
          <p:nvPr/>
        </p:nvSpPr>
        <p:spPr>
          <a:xfrm>
            <a:off x="6382512" y="1563624"/>
            <a:ext cx="4745736" cy="182880"/>
          </a:xfrm>
          <a:prstGeom prst="rect">
            <a:avLst/>
          </a:prstGeom>
          <a:noFill/>
          <a:ln>
            <a:noFill/>
          </a:ln>
        </p:spPr>
        <p:txBody>
          <a:bodyPr spcFirstLastPara="1" wrap="square" lIns="0" tIns="0" rIns="0" bIns="0" anchor="ctr">
            <a:noAutofit/>
          </a:bodyPr>
          <a:lstStyle/>
          <a:p>
            <a:pPr marL="0" indent="0" algn="l">
              <a:spcBef>
                <a:spcPts val="0"/>
              </a:spcBef>
              <a:spcAft>
                <a:spcPts val="0"/>
              </a:spcAft>
              <a:buNone/>
            </a:pPr>
            <a:r>
              <a:rPr sz="1000" b="1">
                <a:solidFill>
                  <a:srgbClr val="1F2A44"/>
                </a:solidFill>
                <a:latin typeface="Arial"/>
                <a:ea typeface="Arial"/>
                <a:cs typeface="Arial"/>
              </a:rPr>
              <a:t>closest predicted boundary</a:t>
            </a:r>
          </a:p>
        </p:txBody>
      </p:sp>
      <p:sp>
        <p:nvSpPr>
          <p:cNvPr id="95" name="Google Shape;95;p5">
            <a:extLst>
              <a:ext uri="{FF2B5EF4-FFF2-40B4-BE49-F238E27FC236}">
                <a16:creationId xmlns:a16="http://schemas.microsoft.com/office/drawing/2014/main" id="{98C8B8DD-BD7B-45A6-8DAB-128D2DBEB716}"/>
              </a:ext>
            </a:extLst>
          </p:cNvPr>
          <p:cNvSpPr>
            <a:spLocks noGrp="1"/>
          </p:cNvSpPr>
          <p:nvPr/>
        </p:nvSpPr>
        <p:spPr>
          <a:xfrm>
            <a:off x="6382512" y="1856232"/>
            <a:ext cx="4745736" cy="201168"/>
          </a:xfrm>
          <a:prstGeom prst="rect">
            <a:avLst/>
          </a:prstGeom>
          <a:noFill/>
          <a:ln>
            <a:noFill/>
          </a:ln>
        </p:spPr>
        <p:txBody>
          <a:bodyPr spcFirstLastPara="1" wrap="square" lIns="0" tIns="0" rIns="0" bIns="0" anchor="ctr">
            <a:noAutofit/>
          </a:bodyPr>
          <a:lstStyle/>
          <a:p>
            <a:pPr marL="0" indent="0" algn="l">
              <a:spcBef>
                <a:spcPts val="0"/>
              </a:spcBef>
              <a:spcAft>
                <a:spcPts val="0"/>
              </a:spcAft>
              <a:buNone/>
            </a:pPr>
            <a:r>
              <a:rPr sz="1050">
                <a:solidFill>
                  <a:srgbClr val="4B5563"/>
                </a:solidFill>
                <a:latin typeface="Arial"/>
                <a:ea typeface="Arial"/>
                <a:cs typeface="Arial"/>
              </a:rPr>
              <a:t>Queries near the GP decision boundary.</a:t>
            </a:r>
          </a:p>
        </p:txBody>
      </p:sp>
      <p:sp>
        <p:nvSpPr>
          <p:cNvPr id="96" name="Google Shape;96;p5">
            <a:extLst>
              <a:ext uri="{FF2B5EF4-FFF2-40B4-BE49-F238E27FC236}">
                <a16:creationId xmlns:a16="http://schemas.microsoft.com/office/drawing/2014/main" id="{CAE310D4-17EF-4D84-BD6B-754E1F666866}"/>
              </a:ext>
            </a:extLst>
          </p:cNvPr>
          <p:cNvSpPr>
            <a:spLocks noGrp="1"/>
          </p:cNvSpPr>
          <p:nvPr/>
        </p:nvSpPr>
        <p:spPr>
          <a:xfrm>
            <a:off x="685800" y="2496312"/>
            <a:ext cx="5074920" cy="1078992"/>
          </a:xfrm>
          <a:prstGeom prst="roundRect">
            <a:avLst>
              <a:gd name="adj" fmla="val 7627"/>
            </a:avLst>
          </a:prstGeom>
          <a:solidFill>
            <a:srgbClr val="ECFDF5"/>
          </a:solidFill>
          <a:ln w="10150" cmpd="sng">
            <a:solidFill>
              <a:srgbClr val="0F8B61"/>
            </a:solidFill>
            <a:prstDash val="solid"/>
            <a:headEnd type="none" w="sm" len="sm"/>
            <a:tailEnd type="none" w="sm" len="sm"/>
          </a:ln>
        </p:spPr>
        <p:txBody>
          <a:bodyPr spcFirstLastPara="1" wrap="square" lIns="91425" tIns="45700" rIns="91425" bIns="45700" anchor="t">
            <a:noAutofit/>
          </a:bodyPr>
          <a:lstStyle/>
          <a:p>
            <a:pPr marL="0" indent="0" algn="l">
              <a:spcBef>
                <a:spcPts val="0"/>
              </a:spcBef>
              <a:spcAft>
                <a:spcPts val="0"/>
              </a:spcAft>
              <a:buNone/>
            </a:pPr>
            <a:endParaRPr/>
          </a:p>
        </p:txBody>
      </p:sp>
      <p:sp>
        <p:nvSpPr>
          <p:cNvPr id="97" name="Google Shape;97;p5">
            <a:extLst>
              <a:ext uri="{FF2B5EF4-FFF2-40B4-BE49-F238E27FC236}">
                <a16:creationId xmlns:a16="http://schemas.microsoft.com/office/drawing/2014/main" id="{0910705E-0C6A-44CD-B3B7-4992648176E3}"/>
              </a:ext>
            </a:extLst>
          </p:cNvPr>
          <p:cNvSpPr>
            <a:spLocks noGrp="1"/>
          </p:cNvSpPr>
          <p:nvPr/>
        </p:nvSpPr>
        <p:spPr>
          <a:xfrm>
            <a:off x="850392" y="2633472"/>
            <a:ext cx="2011680" cy="164592"/>
          </a:xfrm>
          <a:prstGeom prst="rect">
            <a:avLst/>
          </a:prstGeom>
          <a:noFill/>
          <a:ln>
            <a:noFill/>
          </a:ln>
        </p:spPr>
        <p:txBody>
          <a:bodyPr spcFirstLastPara="1" wrap="square" lIns="0" tIns="0" rIns="0" bIns="0" anchor="ctr">
            <a:noAutofit/>
          </a:bodyPr>
          <a:lstStyle/>
          <a:p>
            <a:pPr marL="0" indent="0" algn="l">
              <a:spcBef>
                <a:spcPts val="0"/>
              </a:spcBef>
              <a:spcAft>
                <a:spcPts val="0"/>
              </a:spcAft>
              <a:buNone/>
            </a:pPr>
            <a:r>
              <a:rPr sz="1100" b="1">
                <a:solidFill>
                  <a:srgbClr val="0F8B61"/>
                </a:solidFill>
                <a:latin typeface="Arial"/>
                <a:ea typeface="Arial"/>
                <a:cs typeface="Arial"/>
              </a:rPr>
              <a:t>Straddle</a:t>
            </a:r>
          </a:p>
        </p:txBody>
      </p:sp>
      <p:sp>
        <p:nvSpPr>
          <p:cNvPr id="98" name="Google Shape;98;p5">
            <a:extLst>
              <a:ext uri="{FF2B5EF4-FFF2-40B4-BE49-F238E27FC236}">
                <a16:creationId xmlns:a16="http://schemas.microsoft.com/office/drawing/2014/main" id="{7EAA1501-C90C-4994-B0C2-33C943391546}"/>
              </a:ext>
            </a:extLst>
          </p:cNvPr>
          <p:cNvSpPr>
            <a:spLocks noGrp="1"/>
          </p:cNvSpPr>
          <p:nvPr/>
        </p:nvSpPr>
        <p:spPr>
          <a:xfrm>
            <a:off x="850392" y="2916936"/>
            <a:ext cx="4745736" cy="182880"/>
          </a:xfrm>
          <a:prstGeom prst="rect">
            <a:avLst/>
          </a:prstGeom>
          <a:noFill/>
          <a:ln>
            <a:noFill/>
          </a:ln>
        </p:spPr>
        <p:txBody>
          <a:bodyPr spcFirstLastPara="1" wrap="square" lIns="0" tIns="0" rIns="0" bIns="0" anchor="ctr">
            <a:noAutofit/>
          </a:bodyPr>
          <a:lstStyle/>
          <a:p>
            <a:pPr marL="0" indent="0" algn="l">
              <a:spcBef>
                <a:spcPts val="0"/>
              </a:spcBef>
              <a:spcAft>
                <a:spcPts val="0"/>
              </a:spcAft>
              <a:buNone/>
            </a:pPr>
            <a:r>
              <a:rPr sz="1000" b="1">
                <a:solidFill>
                  <a:srgbClr val="1F2A44"/>
                </a:solidFill>
                <a:latin typeface="Arial"/>
                <a:ea typeface="Arial"/>
                <a:cs typeface="Arial"/>
              </a:rPr>
              <a:t>1.96 sigma - abs(mu)</a:t>
            </a:r>
          </a:p>
        </p:txBody>
      </p:sp>
      <p:sp>
        <p:nvSpPr>
          <p:cNvPr id="99" name="Google Shape;99;p5">
            <a:extLst>
              <a:ext uri="{FF2B5EF4-FFF2-40B4-BE49-F238E27FC236}">
                <a16:creationId xmlns:a16="http://schemas.microsoft.com/office/drawing/2014/main" id="{CAAB4CFC-0E42-48D3-8DA6-4CAC2C32769C}"/>
              </a:ext>
            </a:extLst>
          </p:cNvPr>
          <p:cNvSpPr>
            <a:spLocks noGrp="1"/>
          </p:cNvSpPr>
          <p:nvPr/>
        </p:nvSpPr>
        <p:spPr>
          <a:xfrm>
            <a:off x="850392" y="3209544"/>
            <a:ext cx="4745736" cy="201168"/>
          </a:xfrm>
          <a:prstGeom prst="rect">
            <a:avLst/>
          </a:prstGeom>
          <a:noFill/>
          <a:ln>
            <a:noFill/>
          </a:ln>
        </p:spPr>
        <p:txBody>
          <a:bodyPr spcFirstLastPara="1" wrap="square" lIns="0" tIns="0" rIns="0" bIns="0" anchor="ctr">
            <a:noAutofit/>
          </a:bodyPr>
          <a:lstStyle/>
          <a:p>
            <a:pPr marL="0" indent="0" algn="l">
              <a:spcBef>
                <a:spcPts val="0"/>
              </a:spcBef>
              <a:spcAft>
                <a:spcPts val="0"/>
              </a:spcAft>
              <a:buNone/>
            </a:pPr>
            <a:r>
              <a:rPr sz="1050">
                <a:solidFill>
                  <a:srgbClr val="4B5563"/>
                </a:solidFill>
                <a:latin typeface="Arial"/>
                <a:ea typeface="Arial"/>
                <a:cs typeface="Arial"/>
              </a:rPr>
              <a:t>Balances boundary proximity and uncertainty.</a:t>
            </a:r>
          </a:p>
        </p:txBody>
      </p:sp>
      <p:sp>
        <p:nvSpPr>
          <p:cNvPr id="100" name="Google Shape;100;p5">
            <a:extLst>
              <a:ext uri="{FF2B5EF4-FFF2-40B4-BE49-F238E27FC236}">
                <a16:creationId xmlns:a16="http://schemas.microsoft.com/office/drawing/2014/main" id="{A6B1E0ED-FE05-4936-B4B4-BC1C77C7D4E1}"/>
              </a:ext>
            </a:extLst>
          </p:cNvPr>
          <p:cNvSpPr>
            <a:spLocks noGrp="1"/>
          </p:cNvSpPr>
          <p:nvPr/>
        </p:nvSpPr>
        <p:spPr>
          <a:xfrm>
            <a:off x="6217920" y="2496312"/>
            <a:ext cx="5074920" cy="1078992"/>
          </a:xfrm>
          <a:prstGeom prst="roundRect">
            <a:avLst>
              <a:gd name="adj" fmla="val 7627"/>
            </a:avLst>
          </a:prstGeom>
          <a:solidFill>
            <a:srgbClr val="FFF7ED"/>
          </a:solidFill>
          <a:ln w="10150" cmpd="sng">
            <a:solidFill>
              <a:srgbClr val="B7791F"/>
            </a:solidFill>
            <a:prstDash val="solid"/>
            <a:headEnd type="none" w="sm" len="sm"/>
            <a:tailEnd type="none" w="sm" len="sm"/>
          </a:ln>
        </p:spPr>
        <p:txBody>
          <a:bodyPr spcFirstLastPara="1" wrap="square" lIns="91425" tIns="45700" rIns="91425" bIns="45700" anchor="t">
            <a:noAutofit/>
          </a:bodyPr>
          <a:lstStyle/>
          <a:p>
            <a:pPr marL="0" indent="0" algn="l">
              <a:spcBef>
                <a:spcPts val="0"/>
              </a:spcBef>
              <a:spcAft>
                <a:spcPts val="0"/>
              </a:spcAft>
              <a:buNone/>
            </a:pPr>
            <a:endParaRPr/>
          </a:p>
        </p:txBody>
      </p:sp>
      <p:sp>
        <p:nvSpPr>
          <p:cNvPr id="101" name="Google Shape;101;p5">
            <a:extLst>
              <a:ext uri="{FF2B5EF4-FFF2-40B4-BE49-F238E27FC236}">
                <a16:creationId xmlns:a16="http://schemas.microsoft.com/office/drawing/2014/main" id="{20FB2D6E-08DB-42DA-A51A-195FC28A7535}"/>
              </a:ext>
            </a:extLst>
          </p:cNvPr>
          <p:cNvSpPr>
            <a:spLocks noGrp="1"/>
          </p:cNvSpPr>
          <p:nvPr/>
        </p:nvSpPr>
        <p:spPr>
          <a:xfrm>
            <a:off x="6382512" y="2633472"/>
            <a:ext cx="2011680" cy="164592"/>
          </a:xfrm>
          <a:prstGeom prst="rect">
            <a:avLst/>
          </a:prstGeom>
          <a:noFill/>
          <a:ln>
            <a:noFill/>
          </a:ln>
        </p:spPr>
        <p:txBody>
          <a:bodyPr spcFirstLastPara="1" wrap="square" lIns="0" tIns="0" rIns="0" bIns="0" anchor="ctr">
            <a:noAutofit/>
          </a:bodyPr>
          <a:lstStyle/>
          <a:p>
            <a:pPr marL="0" indent="0" algn="l">
              <a:spcBef>
                <a:spcPts val="0"/>
              </a:spcBef>
              <a:spcAft>
                <a:spcPts val="0"/>
              </a:spcAft>
              <a:buNone/>
            </a:pPr>
            <a:r>
              <a:rPr sz="1100" b="1">
                <a:solidFill>
                  <a:srgbClr val="B7791F"/>
                </a:solidFill>
                <a:latin typeface="Arial"/>
                <a:ea typeface="Arial"/>
                <a:cs typeface="Arial"/>
              </a:rPr>
              <a:t>Randomized straddle</a:t>
            </a:r>
          </a:p>
        </p:txBody>
      </p:sp>
      <p:sp>
        <p:nvSpPr>
          <p:cNvPr id="102" name="Google Shape;102;p5">
            <a:extLst>
              <a:ext uri="{FF2B5EF4-FFF2-40B4-BE49-F238E27FC236}">
                <a16:creationId xmlns:a16="http://schemas.microsoft.com/office/drawing/2014/main" id="{467C5FEC-836A-4936-9D21-6A15F057DA94}"/>
              </a:ext>
            </a:extLst>
          </p:cNvPr>
          <p:cNvSpPr>
            <a:spLocks noGrp="1"/>
          </p:cNvSpPr>
          <p:nvPr/>
        </p:nvSpPr>
        <p:spPr>
          <a:xfrm>
            <a:off x="6382512" y="2916936"/>
            <a:ext cx="4745736" cy="182880"/>
          </a:xfrm>
          <a:prstGeom prst="rect">
            <a:avLst/>
          </a:prstGeom>
          <a:noFill/>
          <a:ln>
            <a:noFill/>
          </a:ln>
        </p:spPr>
        <p:txBody>
          <a:bodyPr spcFirstLastPara="1" wrap="square" lIns="0" tIns="0" rIns="0" bIns="0" anchor="ctr">
            <a:noAutofit/>
          </a:bodyPr>
          <a:lstStyle/>
          <a:p>
            <a:pPr marL="0" indent="0" algn="l">
              <a:spcBef>
                <a:spcPts val="0"/>
              </a:spcBef>
              <a:spcAft>
                <a:spcPts val="0"/>
              </a:spcAft>
              <a:buNone/>
            </a:pPr>
            <a:r>
              <a:rPr sz="1000" b="1">
                <a:solidFill>
                  <a:srgbClr val="1F2A44"/>
                </a:solidFill>
                <a:latin typeface="Arial"/>
                <a:ea typeface="Arial"/>
                <a:cs typeface="Arial"/>
              </a:rPr>
              <a:t>random uncertainty weight</a:t>
            </a:r>
          </a:p>
        </p:txBody>
      </p:sp>
      <p:sp>
        <p:nvSpPr>
          <p:cNvPr id="103" name="Google Shape;103;p5">
            <a:extLst>
              <a:ext uri="{FF2B5EF4-FFF2-40B4-BE49-F238E27FC236}">
                <a16:creationId xmlns:a16="http://schemas.microsoft.com/office/drawing/2014/main" id="{8A25AEC7-C1D1-4280-871D-59AC458040B0}"/>
              </a:ext>
            </a:extLst>
          </p:cNvPr>
          <p:cNvSpPr>
            <a:spLocks noGrp="1"/>
          </p:cNvSpPr>
          <p:nvPr/>
        </p:nvSpPr>
        <p:spPr>
          <a:xfrm>
            <a:off x="6382512" y="3209544"/>
            <a:ext cx="4745736" cy="201168"/>
          </a:xfrm>
          <a:prstGeom prst="rect">
            <a:avLst/>
          </a:prstGeom>
          <a:noFill/>
          <a:ln>
            <a:noFill/>
          </a:ln>
        </p:spPr>
        <p:txBody>
          <a:bodyPr spcFirstLastPara="1" wrap="square" lIns="0" tIns="0" rIns="0" bIns="0" anchor="ctr">
            <a:noAutofit/>
          </a:bodyPr>
          <a:lstStyle/>
          <a:p>
            <a:pPr marL="0" indent="0" algn="l">
              <a:spcBef>
                <a:spcPts val="0"/>
              </a:spcBef>
              <a:spcAft>
                <a:spcPts val="0"/>
              </a:spcAft>
              <a:buNone/>
            </a:pPr>
            <a:r>
              <a:rPr sz="1050">
                <a:solidFill>
                  <a:srgbClr val="4B5563"/>
                </a:solidFill>
                <a:latin typeface="Arial"/>
                <a:ea typeface="Arial"/>
                <a:cs typeface="Arial"/>
              </a:rPr>
              <a:t>Adds step-wise randomness to straddle.</a:t>
            </a:r>
          </a:p>
        </p:txBody>
      </p:sp>
      <p:sp>
        <p:nvSpPr>
          <p:cNvPr id="104" name="Google Shape;104;p5">
            <a:extLst>
              <a:ext uri="{FF2B5EF4-FFF2-40B4-BE49-F238E27FC236}">
                <a16:creationId xmlns:a16="http://schemas.microsoft.com/office/drawing/2014/main" id="{4FD3BF2C-ADEB-466B-8D26-16F09BA33CDA}"/>
              </a:ext>
            </a:extLst>
          </p:cNvPr>
          <p:cNvSpPr>
            <a:spLocks noGrp="1"/>
          </p:cNvSpPr>
          <p:nvPr/>
        </p:nvSpPr>
        <p:spPr>
          <a:xfrm>
            <a:off x="685800" y="3849624"/>
            <a:ext cx="11064240" cy="1078992"/>
          </a:xfrm>
          <a:prstGeom prst="roundRect">
            <a:avLst>
              <a:gd name="adj" fmla="val 7627"/>
            </a:avLst>
          </a:prstGeom>
          <a:solidFill>
            <a:srgbClr val="FFF1F2"/>
          </a:solidFill>
          <a:ln w="10150" cmpd="sng">
            <a:solidFill>
              <a:srgbClr val="9F1239"/>
            </a:solidFill>
            <a:prstDash val="solid"/>
            <a:headEnd type="none" w="sm" len="sm"/>
            <a:tailEnd type="none" w="sm" len="sm"/>
          </a:ln>
        </p:spPr>
        <p:txBody>
          <a:bodyPr spcFirstLastPara="1" wrap="square" lIns="91425" tIns="45700" rIns="91425" bIns="45700" anchor="t">
            <a:noAutofit/>
          </a:bodyPr>
          <a:lstStyle/>
          <a:p>
            <a:pPr marL="0" indent="0" algn="l">
              <a:spcBef>
                <a:spcPts val="0"/>
              </a:spcBef>
              <a:spcAft>
                <a:spcPts val="0"/>
              </a:spcAft>
              <a:buNone/>
            </a:pPr>
            <a:endParaRPr/>
          </a:p>
        </p:txBody>
      </p:sp>
      <p:sp>
        <p:nvSpPr>
          <p:cNvPr id="105" name="Google Shape;105;p5">
            <a:extLst>
              <a:ext uri="{FF2B5EF4-FFF2-40B4-BE49-F238E27FC236}">
                <a16:creationId xmlns:a16="http://schemas.microsoft.com/office/drawing/2014/main" id="{A053C947-5D6B-4D7E-B4A5-F8854FBD7E3F}"/>
              </a:ext>
            </a:extLst>
          </p:cNvPr>
          <p:cNvSpPr>
            <a:spLocks noGrp="1"/>
          </p:cNvSpPr>
          <p:nvPr/>
        </p:nvSpPr>
        <p:spPr>
          <a:xfrm>
            <a:off x="850392" y="3986784"/>
            <a:ext cx="2011680" cy="164592"/>
          </a:xfrm>
          <a:prstGeom prst="rect">
            <a:avLst/>
          </a:prstGeom>
          <a:noFill/>
          <a:ln>
            <a:noFill/>
          </a:ln>
        </p:spPr>
        <p:txBody>
          <a:bodyPr spcFirstLastPara="1" wrap="square" lIns="0" tIns="0" rIns="0" bIns="0" anchor="ctr">
            <a:noAutofit/>
          </a:bodyPr>
          <a:lstStyle/>
          <a:p>
            <a:pPr marL="0" indent="0" algn="l">
              <a:spcBef>
                <a:spcPts val="0"/>
              </a:spcBef>
              <a:spcAft>
                <a:spcPts val="0"/>
              </a:spcAft>
              <a:buNone/>
            </a:pPr>
            <a:r>
              <a:rPr sz="1100" b="1">
                <a:solidFill>
                  <a:srgbClr val="9F1239"/>
                </a:solidFill>
                <a:latin typeface="Arial"/>
                <a:ea typeface="Arial"/>
                <a:cs typeface="Arial"/>
              </a:rPr>
              <a:t>Expected feasibility</a:t>
            </a:r>
          </a:p>
        </p:txBody>
      </p:sp>
      <p:sp>
        <p:nvSpPr>
          <p:cNvPr id="106" name="Google Shape;106;p5">
            <a:extLst>
              <a:ext uri="{FF2B5EF4-FFF2-40B4-BE49-F238E27FC236}">
                <a16:creationId xmlns:a16="http://schemas.microsoft.com/office/drawing/2014/main" id="{BB4C1F66-F85C-4746-9EBB-269E7BD1339C}"/>
              </a:ext>
            </a:extLst>
          </p:cNvPr>
          <p:cNvSpPr>
            <a:spLocks noGrp="1"/>
          </p:cNvSpPr>
          <p:nvPr/>
        </p:nvSpPr>
        <p:spPr>
          <a:xfrm>
            <a:off x="850392" y="4270248"/>
            <a:ext cx="10735056" cy="182880"/>
          </a:xfrm>
          <a:prstGeom prst="rect">
            <a:avLst/>
          </a:prstGeom>
          <a:noFill/>
          <a:ln>
            <a:noFill/>
          </a:ln>
        </p:spPr>
        <p:txBody>
          <a:bodyPr spcFirstLastPara="1" wrap="square" lIns="0" tIns="0" rIns="0" bIns="0" anchor="ctr">
            <a:noAutofit/>
          </a:bodyPr>
          <a:lstStyle/>
          <a:p>
            <a:pPr marL="0" indent="0" algn="l">
              <a:spcBef>
                <a:spcPts val="0"/>
              </a:spcBef>
              <a:spcAft>
                <a:spcPts val="0"/>
              </a:spcAft>
              <a:buNone/>
            </a:pPr>
            <a:r>
              <a:rPr sz="1000" b="1">
                <a:solidFill>
                  <a:srgbClr val="1F2A44"/>
                </a:solidFill>
                <a:latin typeface="Arial"/>
                <a:ea typeface="Arial"/>
                <a:cs typeface="Arial"/>
              </a:rPr>
              <a:t>contour-focused EI heuristic</a:t>
            </a:r>
          </a:p>
        </p:txBody>
      </p:sp>
      <p:sp>
        <p:nvSpPr>
          <p:cNvPr id="107" name="Google Shape;107;p5">
            <a:extLst>
              <a:ext uri="{FF2B5EF4-FFF2-40B4-BE49-F238E27FC236}">
                <a16:creationId xmlns:a16="http://schemas.microsoft.com/office/drawing/2014/main" id="{3BDE594B-07D6-4284-B73C-599454728605}"/>
              </a:ext>
            </a:extLst>
          </p:cNvPr>
          <p:cNvSpPr>
            <a:spLocks noGrp="1"/>
          </p:cNvSpPr>
          <p:nvPr/>
        </p:nvSpPr>
        <p:spPr>
          <a:xfrm>
            <a:off x="850392" y="4562856"/>
            <a:ext cx="10735056" cy="201168"/>
          </a:xfrm>
          <a:prstGeom prst="rect">
            <a:avLst/>
          </a:prstGeom>
          <a:noFill/>
          <a:ln>
            <a:noFill/>
          </a:ln>
        </p:spPr>
        <p:txBody>
          <a:bodyPr spcFirstLastPara="1" wrap="square" lIns="0" tIns="0" rIns="0" bIns="0" anchor="ctr">
            <a:noAutofit/>
          </a:bodyPr>
          <a:lstStyle/>
          <a:p>
            <a:pPr marL="0" indent="0" algn="l">
              <a:spcBef>
                <a:spcPts val="0"/>
              </a:spcBef>
              <a:spcAft>
                <a:spcPts val="0"/>
              </a:spcAft>
              <a:buNone/>
            </a:pPr>
            <a:r>
              <a:rPr sz="1050">
                <a:solidFill>
                  <a:srgbClr val="4B5563"/>
                </a:solidFill>
                <a:latin typeface="Arial"/>
                <a:ea typeface="Arial"/>
                <a:cs typeface="Arial"/>
              </a:rPr>
              <a:t>A classic level-set style baseline.</a:t>
            </a:r>
          </a:p>
        </p:txBody>
      </p:sp>
      <p:sp>
        <p:nvSpPr>
          <p:cNvPr id="108" name="Google Shape;108;p5">
            <a:extLst>
              <a:ext uri="{FF2B5EF4-FFF2-40B4-BE49-F238E27FC236}">
                <a16:creationId xmlns:a16="http://schemas.microsoft.com/office/drawing/2014/main" id="{F6EF6D84-3636-42A8-9481-F098211756EE}"/>
              </a:ext>
            </a:extLst>
          </p:cNvPr>
          <p:cNvSpPr>
            <a:spLocks noGrp="1"/>
          </p:cNvSpPr>
          <p:nvPr/>
        </p:nvSpPr>
        <p:spPr>
          <a:xfrm>
            <a:off x="685800" y="5504688"/>
            <a:ext cx="11064240" cy="566928"/>
          </a:xfrm>
          <a:prstGeom prst="roundRect">
            <a:avLst>
              <a:gd name="adj" fmla="val 14516"/>
            </a:avLst>
          </a:prstGeom>
          <a:solidFill>
            <a:srgbClr val="FFFFFF"/>
          </a:solidFill>
          <a:ln w="10150" cmpd="sng">
            <a:solidFill>
              <a:srgbClr val="D9DEE8"/>
            </a:solidFill>
            <a:prstDash val="solid"/>
            <a:headEnd type="none" w="sm" len="sm"/>
            <a:tailEnd type="none" w="sm" len="sm"/>
          </a:ln>
        </p:spPr>
        <p:txBody>
          <a:bodyPr spcFirstLastPara="1" wrap="square" lIns="91425" tIns="45700" rIns="91425" bIns="45700" anchor="t">
            <a:noAutofit/>
          </a:bodyPr>
          <a:lstStyle/>
          <a:p>
            <a:pPr marL="0" indent="0" algn="l">
              <a:spcBef>
                <a:spcPts val="0"/>
              </a:spcBef>
              <a:spcAft>
                <a:spcPts val="0"/>
              </a:spcAft>
              <a:buNone/>
            </a:pPr>
            <a:endParaRPr/>
          </a:p>
        </p:txBody>
      </p:sp>
      <p:sp>
        <p:nvSpPr>
          <p:cNvPr id="109" name="Google Shape;109;p5">
            <a:extLst>
              <a:ext uri="{FF2B5EF4-FFF2-40B4-BE49-F238E27FC236}">
                <a16:creationId xmlns:a16="http://schemas.microsoft.com/office/drawing/2014/main" id="{9752D25C-8166-4A31-8D78-E854BC4FD981}"/>
              </a:ext>
            </a:extLst>
          </p:cNvPr>
          <p:cNvSpPr>
            <a:spLocks noGrp="1"/>
          </p:cNvSpPr>
          <p:nvPr/>
        </p:nvSpPr>
        <p:spPr>
          <a:xfrm>
            <a:off x="896112" y="5696712"/>
            <a:ext cx="10607040" cy="146304"/>
          </a:xfrm>
          <a:prstGeom prst="rect">
            <a:avLst/>
          </a:prstGeom>
          <a:noFill/>
          <a:ln>
            <a:noFill/>
          </a:ln>
        </p:spPr>
        <p:txBody>
          <a:bodyPr spcFirstLastPara="1" wrap="square" lIns="0" tIns="0" rIns="0" bIns="0" anchor="ctr">
            <a:noAutofit/>
          </a:bodyPr>
          <a:lstStyle/>
          <a:p>
            <a:pPr marL="0" indent="0" algn="l">
              <a:spcBef>
                <a:spcPts val="0"/>
              </a:spcBef>
              <a:spcAft>
                <a:spcPts val="0"/>
              </a:spcAft>
              <a:buNone/>
            </a:pPr>
            <a:r>
              <a:rPr sz="1050">
                <a:solidFill>
                  <a:srgbClr val="4B5563"/>
                </a:solidFill>
                <a:latin typeface="Arial"/>
                <a:ea typeface="Arial"/>
                <a:cs typeface="Arial"/>
              </a:rPr>
              <a:t>GPR = Gaussian Process Regressor: mu and sigma are latent boundary-surface quantities, not calibrated class probabilities.</a:t>
            </a:r>
          </a:p>
        </p:txBody>
      </p:sp>
      <p:cxnSp>
        <p:nvCxnSpPr>
          <p:cNvPr id="162" name="Google Shape;110;p5"/>
          <p:cNvCxnSpPr/>
          <p:nvPr/>
        </p:nvCxnSpPr>
        <p:spPr>
          <a:xfrm>
            <a:off x="502920" y="6446520"/>
            <a:ext cx="11201400" cy="0"/>
          </a:xfrm>
          <a:prstGeom prst="straightConnector1">
            <a:avLst/>
          </a:prstGeom>
          <a:ln w="9525" cap="flat">
            <a:solidFill>
              <a:srgbClr val="D9DEE8"/>
            </a:solidFill>
            <a:prstDash val="solid"/>
            <a:round/>
            <a:headEnd type="none" w="sm" len="sm"/>
            <a:tailEnd type="none" w="sm" len="sm"/>
          </a:ln>
        </p:spPr>
      </p:cxnSp>
      <p:sp>
        <p:nvSpPr>
          <p:cNvPr id="111" name="Google Shape;111;p5">
            <a:extLst>
              <a:ext uri="{FF2B5EF4-FFF2-40B4-BE49-F238E27FC236}">
                <a16:creationId xmlns:a16="http://schemas.microsoft.com/office/drawing/2014/main" id="{61D88CEB-DE56-4A79-A0BB-DA9BE8110C9B}"/>
              </a:ext>
            </a:extLst>
          </p:cNvPr>
          <p:cNvSpPr>
            <a:spLocks noGrp="1"/>
          </p:cNvSpPr>
          <p:nvPr/>
        </p:nvSpPr>
        <p:spPr>
          <a:xfrm>
            <a:off x="502920" y="6519672"/>
            <a:ext cx="8961120" cy="164592"/>
          </a:xfrm>
          <a:prstGeom prst="rect">
            <a:avLst/>
          </a:prstGeom>
          <a:noFill/>
          <a:ln>
            <a:noFill/>
          </a:ln>
        </p:spPr>
        <p:txBody>
          <a:bodyPr spcFirstLastPara="1" wrap="square" lIns="0" tIns="0" rIns="0" bIns="0" anchor="ctr">
            <a:noAutofit/>
          </a:bodyPr>
          <a:lstStyle/>
          <a:p>
            <a:pPr marL="0" indent="0" algn="l">
              <a:spcBef>
                <a:spcPts val="0"/>
              </a:spcBef>
              <a:spcAft>
                <a:spcPts val="0"/>
              </a:spcAft>
              <a:buNone/>
            </a:pPr>
            <a:r>
              <a:rPr sz="780">
                <a:solidFill>
                  <a:srgbClr val="6B7280"/>
                </a:solidFill>
                <a:latin typeface="Arial"/>
                <a:ea typeface="Arial"/>
                <a:cs typeface="Arial"/>
              </a:rPr>
              <a:t>Week 3 extended update - Sample-Efficient Active Level-Set Estimation - 4</a:t>
            </a:r>
          </a:p>
        </p:txBody>
      </p:sp>
      <p:sp>
        <p:nvSpPr>
          <p:cNvPr id="112" name="Google Shape;112;p5">
            <a:extLst>
              <a:ext uri="{FF2B5EF4-FFF2-40B4-BE49-F238E27FC236}">
                <a16:creationId xmlns:a16="http://schemas.microsoft.com/office/drawing/2014/main" id="{5B9AD59B-E5D2-4800-8C4E-D3D8D97D07BC}"/>
              </a:ext>
            </a:extLst>
          </p:cNvPr>
          <p:cNvSpPr>
            <a:spLocks noGrp="1"/>
          </p:cNvSpPr>
          <p:nvPr/>
        </p:nvSpPr>
        <p:spPr>
          <a:xfrm>
            <a:off x="11521440" y="6492240"/>
            <a:ext cx="228600" cy="164592"/>
          </a:xfrm>
          <a:prstGeom prst="rect">
            <a:avLst/>
          </a:prstGeom>
          <a:noFill/>
          <a:ln>
            <a:noFill/>
          </a:ln>
        </p:spPr>
        <p:txBody>
          <a:bodyPr spcFirstLastPara="1" wrap="square" lIns="0" tIns="0" rIns="0" bIns="0" anchor="ctr">
            <a:noAutofit/>
          </a:bodyPr>
          <a:lstStyle/>
          <a:p>
            <a:pPr marL="0" indent="0" algn="r">
              <a:spcBef>
                <a:spcPts val="0"/>
              </a:spcBef>
              <a:spcAft>
                <a:spcPts val="0"/>
              </a:spcAft>
              <a:buNone/>
            </a:pPr>
            <a:r>
              <a:rPr sz="780">
                <a:solidFill>
                  <a:srgbClr val="6B7280"/>
                </a:solidFill>
                <a:latin typeface="Arial"/>
                <a:ea typeface="Arial"/>
                <a:cs typeface="Arial"/>
              </a:rPr>
              <a:t>4</a:t>
            </a:r>
          </a:p>
        </p:txBody>
      </p:sp>
    </p:spTree>
    <p:extLst>
      <p:ext uri="{BB962C8B-B14F-4D97-AF65-F5344CB8AC3E}">
        <p14:creationId xmlns:p14="http://schemas.microsoft.com/office/powerpoint/2010/main" val="560878052"/>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rgbClr val="F6F8FC"/>
        </a:solidFill>
        <a:effectLst/>
      </p:bgPr>
    </p:bg>
    <p:spTree>
      <p:nvGrpSpPr>
        <p:cNvPr id="1" name=""/>
        <p:cNvGrpSpPr/>
        <p:nvPr/>
      </p:nvGrpSpPr>
      <p:grpSpPr>
        <a:xfrm>
          <a:off x="0" y="0"/>
          <a:ext cx="0" cy="0"/>
          <a:chOff x="0" y="0"/>
          <a:chExt cx="0" cy="0"/>
        </a:xfrm>
      </p:grpSpPr>
      <p:sp>
        <p:nvSpPr>
          <p:cNvPr id="118" name="Google Shape;118;p6">
            <a:extLst>
              <a:ext uri="{FF2B5EF4-FFF2-40B4-BE49-F238E27FC236}">
                <a16:creationId xmlns:a16="http://schemas.microsoft.com/office/drawing/2014/main" id="{489568B9-A774-4E90-B120-D71F779B6CB5}"/>
              </a:ext>
            </a:extLst>
          </p:cNvPr>
          <p:cNvSpPr>
            <a:spLocks noGrp="1"/>
          </p:cNvSpPr>
          <p:nvPr/>
        </p:nvSpPr>
        <p:spPr>
          <a:xfrm>
            <a:off x="502920" y="329184"/>
            <a:ext cx="10789920" cy="320040"/>
          </a:xfrm>
          <a:prstGeom prst="rect">
            <a:avLst/>
          </a:prstGeom>
          <a:noFill/>
          <a:ln>
            <a:noFill/>
          </a:ln>
        </p:spPr>
        <p:txBody>
          <a:bodyPr spcFirstLastPara="1" wrap="square" lIns="0" tIns="0" rIns="0" bIns="0" anchor="ctr">
            <a:noAutofit/>
          </a:bodyPr>
          <a:lstStyle/>
          <a:p>
            <a:pPr marL="0" indent="0" algn="l">
              <a:spcBef>
                <a:spcPts val="0"/>
              </a:spcBef>
              <a:spcAft>
                <a:spcPts val="0"/>
              </a:spcAft>
              <a:buNone/>
            </a:pPr>
            <a:r>
              <a:rPr sz="2200" b="1">
                <a:solidFill>
                  <a:srgbClr val="1F2A44"/>
                </a:solidFill>
                <a:latin typeface="Play"/>
                <a:ea typeface="Play"/>
                <a:cs typeface="Play"/>
              </a:rPr>
              <a:t>Ackley4 result: straddle wins globally</a:t>
            </a:r>
          </a:p>
        </p:txBody>
      </p:sp>
      <p:sp>
        <p:nvSpPr>
          <p:cNvPr id="119" name="Google Shape;119;p6">
            <a:extLst>
              <a:ext uri="{FF2B5EF4-FFF2-40B4-BE49-F238E27FC236}">
                <a16:creationId xmlns:a16="http://schemas.microsoft.com/office/drawing/2014/main" id="{1B300875-D9B9-41D2-96FA-DD3EC39C23B0}"/>
              </a:ext>
            </a:extLst>
          </p:cNvPr>
          <p:cNvSpPr>
            <a:spLocks noGrp="1"/>
          </p:cNvSpPr>
          <p:nvPr/>
        </p:nvSpPr>
        <p:spPr>
          <a:xfrm>
            <a:off x="521208" y="713232"/>
            <a:ext cx="10515600" cy="237744"/>
          </a:xfrm>
          <a:prstGeom prst="rect">
            <a:avLst/>
          </a:prstGeom>
          <a:noFill/>
          <a:ln>
            <a:noFill/>
          </a:ln>
        </p:spPr>
        <p:txBody>
          <a:bodyPr spcFirstLastPara="1" wrap="square" lIns="0" tIns="0" rIns="0" bIns="0" anchor="ctr">
            <a:noAutofit/>
          </a:bodyPr>
          <a:lstStyle/>
          <a:p>
            <a:pPr marL="0" indent="0" algn="l">
              <a:spcBef>
                <a:spcPts val="0"/>
              </a:spcBef>
              <a:spcAft>
                <a:spcPts val="0"/>
              </a:spcAft>
              <a:buNone/>
            </a:pPr>
            <a:r>
              <a:rPr sz="1100">
                <a:solidFill>
                  <a:srgbClr val="4B5563"/>
                </a:solidFill>
                <a:latin typeface="Arial"/>
                <a:ea typeface="Arial"/>
                <a:cs typeface="Arial"/>
              </a:rPr>
              <a:t>At budget 80, boundary-aware rules clearly beat random; strict tolerances remain difficult.</a:t>
            </a:r>
          </a:p>
        </p:txBody>
      </p:sp>
      <p:sp>
        <p:nvSpPr>
          <p:cNvPr id="120" name="Google Shape;120;p6">
            <a:extLst>
              <a:ext uri="{FF2B5EF4-FFF2-40B4-BE49-F238E27FC236}">
                <a16:creationId xmlns:a16="http://schemas.microsoft.com/office/drawing/2014/main" id="{895D138E-4963-4A7A-A5CA-DAC277D3F878}"/>
              </a:ext>
            </a:extLst>
          </p:cNvPr>
          <p:cNvSpPr>
            <a:spLocks noGrp="1"/>
          </p:cNvSpPr>
          <p:nvPr/>
        </p:nvSpPr>
        <p:spPr>
          <a:xfrm>
            <a:off x="502920" y="1051560"/>
            <a:ext cx="7909560" cy="5029200"/>
          </a:xfrm>
          <a:prstGeom prst="roundRect">
            <a:avLst>
              <a:gd name="adj" fmla="val 1636"/>
            </a:avLst>
          </a:prstGeom>
          <a:solidFill>
            <a:srgbClr val="FFFFFF"/>
          </a:solidFill>
          <a:ln w="10150" cmpd="sng">
            <a:solidFill>
              <a:srgbClr val="D9DEE8"/>
            </a:solidFill>
            <a:prstDash val="solid"/>
            <a:headEnd type="none" w="sm" len="sm"/>
            <a:tailEnd type="none" w="sm" len="sm"/>
          </a:ln>
        </p:spPr>
        <p:txBody>
          <a:bodyPr spcFirstLastPara="1" wrap="square" lIns="91425" tIns="45700" rIns="91425" bIns="45700" anchor="t">
            <a:noAutofit/>
          </a:bodyPr>
          <a:lstStyle/>
          <a:p>
            <a:pPr marL="0" indent="0" algn="l">
              <a:spcBef>
                <a:spcPts val="0"/>
              </a:spcBef>
              <a:spcAft>
                <a:spcPts val="0"/>
              </a:spcAft>
              <a:buNone/>
            </a:pPr>
            <a:endParaRPr/>
          </a:p>
        </p:txBody>
      </p:sp>
      <p:pic>
        <p:nvPicPr>
          <p:cNvPr id="160" name="Google Shape;121;p6"/>
          <p:cNvPicPr>
            <a:picLocks noChangeAspect="1"/>
          </p:cNvPicPr>
          <p:nvPr/>
        </p:nvPicPr>
        <p:blipFill rotWithShape="1">
          <a:blip r:embed="rId3">
            <a:alphaModFix/>
          </a:blip>
          <a:srcRect t="19287" b="19287"/>
          <a:stretch>
            <a:fillRect/>
          </a:stretch>
        </p:blipFill>
        <p:spPr>
          <a:xfrm>
            <a:off x="502920" y="1136905"/>
            <a:ext cx="7909560" cy="4858509"/>
          </a:xfrm>
          <a:prstGeom prst="rect">
            <a:avLst/>
          </a:prstGeom>
          <a:ln>
            <a:noFill/>
          </a:ln>
        </p:spPr>
      </p:pic>
      <p:sp>
        <p:nvSpPr>
          <p:cNvPr id="122" name="Google Shape;122;p6">
            <a:extLst>
              <a:ext uri="{FF2B5EF4-FFF2-40B4-BE49-F238E27FC236}">
                <a16:creationId xmlns:a16="http://schemas.microsoft.com/office/drawing/2014/main" id="{CBC2BBD6-2EF3-475C-90FD-FCBE3C4712A7}"/>
              </a:ext>
            </a:extLst>
          </p:cNvPr>
          <p:cNvSpPr>
            <a:spLocks noGrp="1"/>
          </p:cNvSpPr>
          <p:nvPr/>
        </p:nvSpPr>
        <p:spPr>
          <a:xfrm>
            <a:off x="8641080" y="1051560"/>
            <a:ext cx="2971800" cy="5029200"/>
          </a:xfrm>
          <a:prstGeom prst="roundRect">
            <a:avLst>
              <a:gd name="adj" fmla="val 2769"/>
            </a:avLst>
          </a:prstGeom>
          <a:solidFill>
            <a:srgbClr val="FFFFFF"/>
          </a:solidFill>
          <a:ln w="10150" cmpd="sng">
            <a:solidFill>
              <a:srgbClr val="D9DEE8"/>
            </a:solidFill>
            <a:prstDash val="solid"/>
            <a:headEnd type="none" w="sm" len="sm"/>
            <a:tailEnd type="none" w="sm" len="sm"/>
          </a:ln>
          <a:effectLst>
            <a:outerShdw blurRad="15240" dist="50800" dir="2700000" algn="bl" rotWithShape="0">
              <a:srgbClr val="000000">
                <a:alpha val="7843"/>
              </a:srgbClr>
            </a:outerShdw>
          </a:effectLst>
        </p:spPr>
        <p:txBody>
          <a:bodyPr spcFirstLastPara="1" wrap="square" lIns="91425" tIns="45700" rIns="91425" bIns="45700" anchor="t">
            <a:noAutofit/>
          </a:bodyPr>
          <a:lstStyle/>
          <a:p>
            <a:pPr marL="0" indent="0" algn="l">
              <a:spcBef>
                <a:spcPts val="0"/>
              </a:spcBef>
              <a:spcAft>
                <a:spcPts val="0"/>
              </a:spcAft>
              <a:buNone/>
            </a:pPr>
            <a:endParaRPr/>
          </a:p>
        </p:txBody>
      </p:sp>
      <p:sp>
        <p:nvSpPr>
          <p:cNvPr id="123" name="Google Shape;123;p6">
            <a:extLst>
              <a:ext uri="{FF2B5EF4-FFF2-40B4-BE49-F238E27FC236}">
                <a16:creationId xmlns:a16="http://schemas.microsoft.com/office/drawing/2014/main" id="{48025F33-2BA3-486B-AD7B-133734F39CCD}"/>
              </a:ext>
            </a:extLst>
          </p:cNvPr>
          <p:cNvSpPr>
            <a:spLocks noGrp="1"/>
          </p:cNvSpPr>
          <p:nvPr/>
        </p:nvSpPr>
        <p:spPr>
          <a:xfrm>
            <a:off x="8887968" y="1325880"/>
            <a:ext cx="2377440" cy="164592"/>
          </a:xfrm>
          <a:prstGeom prst="rect">
            <a:avLst/>
          </a:prstGeom>
          <a:noFill/>
          <a:ln>
            <a:noFill/>
          </a:ln>
        </p:spPr>
        <p:txBody>
          <a:bodyPr spcFirstLastPara="1" wrap="square" lIns="0" tIns="0" rIns="0" bIns="0" anchor="ctr">
            <a:noAutofit/>
          </a:bodyPr>
          <a:lstStyle/>
          <a:p>
            <a:pPr marL="0" indent="0" algn="l">
              <a:spcBef>
                <a:spcPts val="0"/>
              </a:spcBef>
              <a:spcAft>
                <a:spcPts val="0"/>
              </a:spcAft>
              <a:buNone/>
            </a:pPr>
            <a:r>
              <a:rPr sz="1400" b="1">
                <a:solidFill>
                  <a:srgbClr val="1F2A44"/>
                </a:solidFill>
                <a:latin typeface="Arial"/>
                <a:ea typeface="Arial"/>
                <a:cs typeface="Arial"/>
              </a:rPr>
              <a:t>What the curves show</a:t>
            </a:r>
          </a:p>
        </p:txBody>
      </p:sp>
      <p:sp>
        <p:nvSpPr>
          <p:cNvPr id="124" name="Google Shape;124;p6">
            <a:extLst>
              <a:ext uri="{FF2B5EF4-FFF2-40B4-BE49-F238E27FC236}">
                <a16:creationId xmlns:a16="http://schemas.microsoft.com/office/drawing/2014/main" id="{82BAA3FE-9695-49A5-BBE1-4C49BFD8047D}"/>
              </a:ext>
            </a:extLst>
          </p:cNvPr>
          <p:cNvSpPr>
            <a:spLocks noGrp="1"/>
          </p:cNvSpPr>
          <p:nvPr/>
        </p:nvSpPr>
        <p:spPr>
          <a:xfrm>
            <a:off x="8887968" y="1796796"/>
            <a:ext cx="109728" cy="146304"/>
          </a:xfrm>
          <a:prstGeom prst="rect">
            <a:avLst/>
          </a:prstGeom>
          <a:noFill/>
          <a:ln>
            <a:noFill/>
          </a:ln>
        </p:spPr>
        <p:txBody>
          <a:bodyPr spcFirstLastPara="1" wrap="square" lIns="0" tIns="0" rIns="0" bIns="0" anchor="ctr">
            <a:noAutofit/>
          </a:bodyPr>
          <a:lstStyle/>
          <a:p>
            <a:pPr marL="0" indent="0" algn="l">
              <a:spcBef>
                <a:spcPts val="0"/>
              </a:spcBef>
              <a:spcAft>
                <a:spcPts val="0"/>
              </a:spcAft>
              <a:buNone/>
            </a:pPr>
            <a:r>
              <a:rPr sz="900">
                <a:solidFill>
                  <a:srgbClr val="1F2A44"/>
                </a:solidFill>
                <a:latin typeface="Arial"/>
                <a:ea typeface="Arial"/>
                <a:cs typeface="Arial"/>
              </a:rPr>
              <a:t>-</a:t>
            </a:r>
          </a:p>
        </p:txBody>
      </p:sp>
      <p:sp>
        <p:nvSpPr>
          <p:cNvPr id="125" name="Google Shape;125;p6">
            <a:extLst>
              <a:ext uri="{FF2B5EF4-FFF2-40B4-BE49-F238E27FC236}">
                <a16:creationId xmlns:a16="http://schemas.microsoft.com/office/drawing/2014/main" id="{383C29E0-2C94-4747-8431-DF6EE49A1C25}"/>
              </a:ext>
            </a:extLst>
          </p:cNvPr>
          <p:cNvSpPr>
            <a:spLocks noGrp="1"/>
          </p:cNvSpPr>
          <p:nvPr/>
        </p:nvSpPr>
        <p:spPr>
          <a:xfrm>
            <a:off x="9052560" y="1783080"/>
            <a:ext cx="2304288" cy="329184"/>
          </a:xfrm>
          <a:prstGeom prst="rect">
            <a:avLst/>
          </a:prstGeom>
          <a:noFill/>
          <a:ln>
            <a:noFill/>
          </a:ln>
        </p:spPr>
        <p:txBody>
          <a:bodyPr spcFirstLastPara="1" wrap="square" lIns="0" tIns="0" rIns="0" bIns="0" anchor="ctr">
            <a:noAutofit/>
          </a:bodyPr>
          <a:lstStyle/>
          <a:p>
            <a:pPr marL="0" indent="0" algn="l">
              <a:spcBef>
                <a:spcPts val="0"/>
              </a:spcBef>
              <a:spcAft>
                <a:spcPts val="0"/>
              </a:spcAft>
              <a:buNone/>
            </a:pPr>
            <a:r>
              <a:rPr sz="1100">
                <a:solidFill>
                  <a:srgbClr val="111827"/>
                </a:solidFill>
                <a:latin typeface="Arial"/>
                <a:ea typeface="Arial"/>
                <a:cs typeface="Arial"/>
              </a:rPr>
              <a:t>All methods start from the same five-seed initial design.</a:t>
            </a:r>
          </a:p>
        </p:txBody>
      </p:sp>
      <p:sp>
        <p:nvSpPr>
          <p:cNvPr id="126" name="Google Shape;126;p6">
            <a:extLst>
              <a:ext uri="{FF2B5EF4-FFF2-40B4-BE49-F238E27FC236}">
                <a16:creationId xmlns:a16="http://schemas.microsoft.com/office/drawing/2014/main" id="{4BF4B436-E041-42FD-B4F7-386ACF656BAD}"/>
              </a:ext>
            </a:extLst>
          </p:cNvPr>
          <p:cNvSpPr>
            <a:spLocks noGrp="1"/>
          </p:cNvSpPr>
          <p:nvPr/>
        </p:nvSpPr>
        <p:spPr>
          <a:xfrm>
            <a:off x="8887968" y="2409444"/>
            <a:ext cx="109728" cy="146304"/>
          </a:xfrm>
          <a:prstGeom prst="rect">
            <a:avLst/>
          </a:prstGeom>
          <a:noFill/>
          <a:ln>
            <a:noFill/>
          </a:ln>
        </p:spPr>
        <p:txBody>
          <a:bodyPr spcFirstLastPara="1" wrap="square" lIns="0" tIns="0" rIns="0" bIns="0" anchor="ctr">
            <a:noAutofit/>
          </a:bodyPr>
          <a:lstStyle/>
          <a:p>
            <a:pPr marL="0" indent="0" algn="l">
              <a:spcBef>
                <a:spcPts val="0"/>
              </a:spcBef>
              <a:spcAft>
                <a:spcPts val="0"/>
              </a:spcAft>
              <a:buNone/>
            </a:pPr>
            <a:r>
              <a:rPr sz="900">
                <a:solidFill>
                  <a:srgbClr val="1F2A44"/>
                </a:solidFill>
                <a:latin typeface="Arial"/>
                <a:ea typeface="Arial"/>
                <a:cs typeface="Arial"/>
              </a:rPr>
              <a:t>-</a:t>
            </a:r>
          </a:p>
        </p:txBody>
      </p:sp>
      <p:sp>
        <p:nvSpPr>
          <p:cNvPr id="127" name="Google Shape;127;p6">
            <a:extLst>
              <a:ext uri="{FF2B5EF4-FFF2-40B4-BE49-F238E27FC236}">
                <a16:creationId xmlns:a16="http://schemas.microsoft.com/office/drawing/2014/main" id="{3839D0E6-394D-4FB7-AF5A-902B9965FB92}"/>
              </a:ext>
            </a:extLst>
          </p:cNvPr>
          <p:cNvSpPr>
            <a:spLocks noGrp="1"/>
          </p:cNvSpPr>
          <p:nvPr/>
        </p:nvSpPr>
        <p:spPr>
          <a:xfrm>
            <a:off x="9052560" y="2395728"/>
            <a:ext cx="2304288" cy="384048"/>
          </a:xfrm>
          <a:prstGeom prst="rect">
            <a:avLst/>
          </a:prstGeom>
          <a:noFill/>
          <a:ln>
            <a:noFill/>
          </a:ln>
        </p:spPr>
        <p:txBody>
          <a:bodyPr spcFirstLastPara="1" wrap="square" lIns="0" tIns="0" rIns="0" bIns="0" anchor="ctr">
            <a:noAutofit/>
          </a:bodyPr>
          <a:lstStyle/>
          <a:p>
            <a:pPr marL="0" indent="0" algn="l">
              <a:spcBef>
                <a:spcPts val="0"/>
              </a:spcBef>
              <a:spcAft>
                <a:spcPts val="0"/>
              </a:spcAft>
              <a:buNone/>
            </a:pPr>
            <a:r>
              <a:rPr sz="1100">
                <a:solidFill>
                  <a:srgbClr val="111827"/>
                </a:solidFill>
                <a:latin typeface="Arial"/>
                <a:ea typeface="Arial"/>
                <a:cs typeface="Arial"/>
              </a:rPr>
              <a:t>Straddle and randomized straddle reach 20% mean error around n=58.</a:t>
            </a:r>
          </a:p>
        </p:txBody>
      </p:sp>
      <p:sp>
        <p:nvSpPr>
          <p:cNvPr id="128" name="Google Shape;128;p6">
            <a:extLst>
              <a:ext uri="{FF2B5EF4-FFF2-40B4-BE49-F238E27FC236}">
                <a16:creationId xmlns:a16="http://schemas.microsoft.com/office/drawing/2014/main" id="{B1E1E4ED-F11F-46A8-B027-F79FB17AB0F1}"/>
              </a:ext>
            </a:extLst>
          </p:cNvPr>
          <p:cNvSpPr>
            <a:spLocks noGrp="1"/>
          </p:cNvSpPr>
          <p:nvPr/>
        </p:nvSpPr>
        <p:spPr>
          <a:xfrm>
            <a:off x="8887968" y="3122676"/>
            <a:ext cx="109728" cy="146304"/>
          </a:xfrm>
          <a:prstGeom prst="rect">
            <a:avLst/>
          </a:prstGeom>
          <a:noFill/>
          <a:ln>
            <a:noFill/>
          </a:ln>
        </p:spPr>
        <p:txBody>
          <a:bodyPr spcFirstLastPara="1" wrap="square" lIns="0" tIns="0" rIns="0" bIns="0" anchor="ctr">
            <a:noAutofit/>
          </a:bodyPr>
          <a:lstStyle/>
          <a:p>
            <a:pPr marL="0" indent="0" algn="l">
              <a:spcBef>
                <a:spcPts val="0"/>
              </a:spcBef>
              <a:spcAft>
                <a:spcPts val="0"/>
              </a:spcAft>
              <a:buNone/>
            </a:pPr>
            <a:r>
              <a:rPr sz="900">
                <a:solidFill>
                  <a:srgbClr val="1F2A44"/>
                </a:solidFill>
                <a:latin typeface="Arial"/>
                <a:ea typeface="Arial"/>
                <a:cs typeface="Arial"/>
              </a:rPr>
              <a:t>-</a:t>
            </a:r>
          </a:p>
        </p:txBody>
      </p:sp>
      <p:sp>
        <p:nvSpPr>
          <p:cNvPr id="129" name="Google Shape;129;p6">
            <a:extLst>
              <a:ext uri="{FF2B5EF4-FFF2-40B4-BE49-F238E27FC236}">
                <a16:creationId xmlns:a16="http://schemas.microsoft.com/office/drawing/2014/main" id="{C77872EA-A679-4AC1-81F0-2F9C968907B0}"/>
              </a:ext>
            </a:extLst>
          </p:cNvPr>
          <p:cNvSpPr>
            <a:spLocks noGrp="1"/>
          </p:cNvSpPr>
          <p:nvPr/>
        </p:nvSpPr>
        <p:spPr>
          <a:xfrm>
            <a:off x="9052560" y="3108960"/>
            <a:ext cx="2304288" cy="475488"/>
          </a:xfrm>
          <a:prstGeom prst="rect">
            <a:avLst/>
          </a:prstGeom>
          <a:noFill/>
          <a:ln>
            <a:noFill/>
          </a:ln>
        </p:spPr>
        <p:txBody>
          <a:bodyPr spcFirstLastPara="1" wrap="square" lIns="0" tIns="0" rIns="0" bIns="0" anchor="ctr">
            <a:noAutofit/>
          </a:bodyPr>
          <a:lstStyle/>
          <a:p>
            <a:pPr marL="0" indent="0" algn="l">
              <a:spcBef>
                <a:spcPts val="0"/>
              </a:spcBef>
              <a:spcAft>
                <a:spcPts val="0"/>
              </a:spcAft>
              <a:buNone/>
            </a:pPr>
            <a:r>
              <a:rPr sz="1100">
                <a:solidFill>
                  <a:srgbClr val="111827"/>
                </a:solidFill>
                <a:latin typeface="Arial"/>
                <a:ea typeface="Arial"/>
                <a:cs typeface="Arial"/>
              </a:rPr>
              <a:t>Expected feasibility catches up later; random remains high.</a:t>
            </a:r>
          </a:p>
        </p:txBody>
      </p:sp>
      <p:sp>
        <p:nvSpPr>
          <p:cNvPr id="130" name="Google Shape;130;p6">
            <a:extLst>
              <a:ext uri="{FF2B5EF4-FFF2-40B4-BE49-F238E27FC236}">
                <a16:creationId xmlns:a16="http://schemas.microsoft.com/office/drawing/2014/main" id="{4F649EF5-0AC4-4CAD-BAC4-F297FD4E3F7F}"/>
              </a:ext>
            </a:extLst>
          </p:cNvPr>
          <p:cNvSpPr>
            <a:spLocks noGrp="1"/>
          </p:cNvSpPr>
          <p:nvPr/>
        </p:nvSpPr>
        <p:spPr>
          <a:xfrm>
            <a:off x="8887968" y="3991356"/>
            <a:ext cx="109728" cy="146304"/>
          </a:xfrm>
          <a:prstGeom prst="rect">
            <a:avLst/>
          </a:prstGeom>
          <a:noFill/>
          <a:ln>
            <a:noFill/>
          </a:ln>
        </p:spPr>
        <p:txBody>
          <a:bodyPr spcFirstLastPara="1" wrap="square" lIns="0" tIns="0" rIns="0" bIns="0" anchor="ctr">
            <a:noAutofit/>
          </a:bodyPr>
          <a:lstStyle/>
          <a:p>
            <a:pPr marL="0" indent="0" algn="l">
              <a:spcBef>
                <a:spcPts val="0"/>
              </a:spcBef>
              <a:spcAft>
                <a:spcPts val="0"/>
              </a:spcAft>
              <a:buNone/>
            </a:pPr>
            <a:r>
              <a:rPr sz="900">
                <a:solidFill>
                  <a:srgbClr val="1F2A44"/>
                </a:solidFill>
                <a:latin typeface="Arial"/>
                <a:ea typeface="Arial"/>
                <a:cs typeface="Arial"/>
              </a:rPr>
              <a:t>-</a:t>
            </a:r>
          </a:p>
        </p:txBody>
      </p:sp>
      <p:sp>
        <p:nvSpPr>
          <p:cNvPr id="131" name="Google Shape;131;p6">
            <a:extLst>
              <a:ext uri="{FF2B5EF4-FFF2-40B4-BE49-F238E27FC236}">
                <a16:creationId xmlns:a16="http://schemas.microsoft.com/office/drawing/2014/main" id="{6958B555-B546-438A-8D83-8AB7D28D2B41}"/>
              </a:ext>
            </a:extLst>
          </p:cNvPr>
          <p:cNvSpPr>
            <a:spLocks noGrp="1"/>
          </p:cNvSpPr>
          <p:nvPr/>
        </p:nvSpPr>
        <p:spPr>
          <a:xfrm>
            <a:off x="9052560" y="3977640"/>
            <a:ext cx="2304288" cy="530352"/>
          </a:xfrm>
          <a:prstGeom prst="rect">
            <a:avLst/>
          </a:prstGeom>
          <a:noFill/>
          <a:ln>
            <a:noFill/>
          </a:ln>
        </p:spPr>
        <p:txBody>
          <a:bodyPr spcFirstLastPara="1" wrap="square" lIns="0" tIns="0" rIns="0" bIns="0" anchor="ctr">
            <a:noAutofit/>
          </a:bodyPr>
          <a:lstStyle/>
          <a:p>
            <a:pPr marL="0" indent="0" algn="l">
              <a:spcBef>
                <a:spcPts val="0"/>
              </a:spcBef>
              <a:spcAft>
                <a:spcPts val="0"/>
              </a:spcAft>
              <a:buNone/>
            </a:pPr>
            <a:r>
              <a:rPr sz="1100">
                <a:solidFill>
                  <a:srgbClr val="111827"/>
                </a:solidFill>
                <a:latin typeface="Arial"/>
                <a:ea typeface="Arial"/>
                <a:cs typeface="Arial"/>
              </a:rPr>
              <a:t>No mean curve reaches 16% error by n=80, so Ackley4 stays challenging.</a:t>
            </a:r>
          </a:p>
        </p:txBody>
      </p:sp>
      <p:sp>
        <p:nvSpPr>
          <p:cNvPr id="132" name="Google Shape;132;p6">
            <a:extLst>
              <a:ext uri="{FF2B5EF4-FFF2-40B4-BE49-F238E27FC236}">
                <a16:creationId xmlns:a16="http://schemas.microsoft.com/office/drawing/2014/main" id="{6658201D-831C-48DB-99D1-42B4ACB8F9A3}"/>
              </a:ext>
            </a:extLst>
          </p:cNvPr>
          <p:cNvSpPr>
            <a:spLocks noGrp="1"/>
          </p:cNvSpPr>
          <p:nvPr/>
        </p:nvSpPr>
        <p:spPr>
          <a:xfrm>
            <a:off x="8887968" y="5047488"/>
            <a:ext cx="2331720" cy="530352"/>
          </a:xfrm>
          <a:prstGeom prst="roundRect">
            <a:avLst>
              <a:gd name="adj" fmla="val 15517"/>
            </a:avLst>
          </a:prstGeom>
          <a:solidFill>
            <a:srgbClr val="ECFDF5"/>
          </a:solidFill>
          <a:ln w="10150" cmpd="sng">
            <a:solidFill>
              <a:srgbClr val="BBF7D0"/>
            </a:solidFill>
            <a:prstDash val="solid"/>
            <a:headEnd type="none" w="sm" len="sm"/>
            <a:tailEnd type="none" w="sm" len="sm"/>
          </a:ln>
        </p:spPr>
        <p:txBody>
          <a:bodyPr spcFirstLastPara="1" wrap="square" lIns="91425" tIns="45700" rIns="91425" bIns="45700" anchor="t">
            <a:noAutofit/>
          </a:bodyPr>
          <a:lstStyle/>
          <a:p>
            <a:pPr marL="0" indent="0" algn="l">
              <a:spcBef>
                <a:spcPts val="0"/>
              </a:spcBef>
              <a:spcAft>
                <a:spcPts val="0"/>
              </a:spcAft>
              <a:buNone/>
            </a:pPr>
            <a:endParaRPr/>
          </a:p>
        </p:txBody>
      </p:sp>
      <p:sp>
        <p:nvSpPr>
          <p:cNvPr id="133" name="Google Shape;133;p6">
            <a:extLst>
              <a:ext uri="{FF2B5EF4-FFF2-40B4-BE49-F238E27FC236}">
                <a16:creationId xmlns:a16="http://schemas.microsoft.com/office/drawing/2014/main" id="{E9301429-E706-4E7F-B31E-D9FBC7631DCB}"/>
              </a:ext>
            </a:extLst>
          </p:cNvPr>
          <p:cNvSpPr>
            <a:spLocks noGrp="1"/>
          </p:cNvSpPr>
          <p:nvPr/>
        </p:nvSpPr>
        <p:spPr>
          <a:xfrm>
            <a:off x="9052560" y="5221224"/>
            <a:ext cx="2011680" cy="146304"/>
          </a:xfrm>
          <a:prstGeom prst="rect">
            <a:avLst/>
          </a:prstGeom>
          <a:noFill/>
          <a:ln>
            <a:noFill/>
          </a:ln>
        </p:spPr>
        <p:txBody>
          <a:bodyPr spcFirstLastPara="1" wrap="square" lIns="0" tIns="0" rIns="0" bIns="0" anchor="ctr">
            <a:noAutofit/>
          </a:bodyPr>
          <a:lstStyle/>
          <a:p>
            <a:pPr marL="0" indent="0" algn="ctr">
              <a:spcBef>
                <a:spcPts val="0"/>
              </a:spcBef>
              <a:spcAft>
                <a:spcPts val="0"/>
              </a:spcAft>
              <a:buNone/>
            </a:pPr>
            <a:r>
              <a:rPr sz="1100" b="1">
                <a:solidFill>
                  <a:srgbClr val="0F8B61"/>
                </a:solidFill>
                <a:latin typeface="Arial"/>
                <a:ea typeface="Arial"/>
                <a:cs typeface="Arial"/>
              </a:rPr>
              <a:t>Main signal: boundary-aware acquisition transfers from Branin to named 4D Ackley, but not perfectly.</a:t>
            </a:r>
          </a:p>
        </p:txBody>
      </p:sp>
      <p:cxnSp>
        <p:nvCxnSpPr>
          <p:cNvPr id="173" name="Google Shape;134;p6"/>
          <p:cNvCxnSpPr/>
          <p:nvPr/>
        </p:nvCxnSpPr>
        <p:spPr>
          <a:xfrm>
            <a:off x="502920" y="6446520"/>
            <a:ext cx="11201400" cy="0"/>
          </a:xfrm>
          <a:prstGeom prst="straightConnector1">
            <a:avLst/>
          </a:prstGeom>
          <a:ln w="9525" cap="flat">
            <a:solidFill>
              <a:srgbClr val="D9DEE8"/>
            </a:solidFill>
            <a:prstDash val="solid"/>
            <a:round/>
            <a:headEnd type="none" w="sm" len="sm"/>
            <a:tailEnd type="none" w="sm" len="sm"/>
          </a:ln>
        </p:spPr>
      </p:cxnSp>
      <p:sp>
        <p:nvSpPr>
          <p:cNvPr id="135" name="Google Shape;135;p6">
            <a:extLst>
              <a:ext uri="{FF2B5EF4-FFF2-40B4-BE49-F238E27FC236}">
                <a16:creationId xmlns:a16="http://schemas.microsoft.com/office/drawing/2014/main" id="{C4944658-B0BA-4D33-9743-10DA6E59F85E}"/>
              </a:ext>
            </a:extLst>
          </p:cNvPr>
          <p:cNvSpPr>
            <a:spLocks noGrp="1"/>
          </p:cNvSpPr>
          <p:nvPr/>
        </p:nvSpPr>
        <p:spPr>
          <a:xfrm>
            <a:off x="502920" y="6519672"/>
            <a:ext cx="8961120" cy="164592"/>
          </a:xfrm>
          <a:prstGeom prst="rect">
            <a:avLst/>
          </a:prstGeom>
          <a:noFill/>
          <a:ln>
            <a:noFill/>
          </a:ln>
        </p:spPr>
        <p:txBody>
          <a:bodyPr spcFirstLastPara="1" wrap="square" lIns="0" tIns="0" rIns="0" bIns="0" anchor="ctr">
            <a:noAutofit/>
          </a:bodyPr>
          <a:lstStyle/>
          <a:p>
            <a:pPr marL="0" indent="0" algn="l">
              <a:spcBef>
                <a:spcPts val="0"/>
              </a:spcBef>
              <a:spcAft>
                <a:spcPts val="0"/>
              </a:spcAft>
              <a:buNone/>
            </a:pPr>
            <a:r>
              <a:rPr sz="780">
                <a:solidFill>
                  <a:srgbClr val="6B7280"/>
                </a:solidFill>
                <a:latin typeface="Arial"/>
                <a:ea typeface="Arial"/>
                <a:cs typeface="Arial"/>
              </a:rPr>
              <a:t>Week 3 extended update - Sample-Efficient Active Level-Set Estimation - 5</a:t>
            </a:r>
          </a:p>
        </p:txBody>
      </p:sp>
      <p:sp>
        <p:nvSpPr>
          <p:cNvPr id="136" name="Google Shape;136;p6">
            <a:extLst>
              <a:ext uri="{FF2B5EF4-FFF2-40B4-BE49-F238E27FC236}">
                <a16:creationId xmlns:a16="http://schemas.microsoft.com/office/drawing/2014/main" id="{C64FB47A-1CE6-4E70-A518-7FAE633EE633}"/>
              </a:ext>
            </a:extLst>
          </p:cNvPr>
          <p:cNvSpPr>
            <a:spLocks noGrp="1"/>
          </p:cNvSpPr>
          <p:nvPr/>
        </p:nvSpPr>
        <p:spPr>
          <a:xfrm>
            <a:off x="11521440" y="6492240"/>
            <a:ext cx="228600" cy="164592"/>
          </a:xfrm>
          <a:prstGeom prst="rect">
            <a:avLst/>
          </a:prstGeom>
          <a:noFill/>
          <a:ln>
            <a:noFill/>
          </a:ln>
        </p:spPr>
        <p:txBody>
          <a:bodyPr spcFirstLastPara="1" wrap="square" lIns="0" tIns="0" rIns="0" bIns="0" anchor="ctr">
            <a:noAutofit/>
          </a:bodyPr>
          <a:lstStyle/>
          <a:p>
            <a:pPr marL="0" indent="0" algn="r">
              <a:spcBef>
                <a:spcPts val="0"/>
              </a:spcBef>
              <a:spcAft>
                <a:spcPts val="0"/>
              </a:spcAft>
              <a:buNone/>
            </a:pPr>
            <a:r>
              <a:rPr sz="780">
                <a:solidFill>
                  <a:srgbClr val="6B7280"/>
                </a:solidFill>
                <a:latin typeface="Arial"/>
                <a:ea typeface="Arial"/>
                <a:cs typeface="Arial"/>
              </a:rPr>
              <a:t>5</a:t>
            </a:r>
          </a:p>
        </p:txBody>
      </p:sp>
      <p:pic>
        <p:nvPicPr>
          <p:cNvPr id="176" name="Picture 175"/>
          <p:cNvPicPr>
            <a:picLocks noChangeAspect="1"/>
          </p:cNvPicPr>
          <p:nvPr/>
        </p:nvPicPr>
        <p:blipFill>
          <a:blip r:embed="rId4"/>
          <a:stretch/>
        </p:blipFill>
        <p:spPr>
          <a:xfrm>
            <a:off x="503984" y="1136905"/>
            <a:ext cx="7907432" cy="4858509"/>
          </a:xfrm>
          <a:prstGeom prst="rect">
            <a:avLst/>
          </a:prstGeom>
        </p:spPr>
      </p:pic>
    </p:spTree>
    <p:extLst>
      <p:ext uri="{BB962C8B-B14F-4D97-AF65-F5344CB8AC3E}">
        <p14:creationId xmlns:p14="http://schemas.microsoft.com/office/powerpoint/2010/main" val="1655550056"/>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rgbClr val="F6F8FC"/>
        </a:solidFill>
        <a:effectLst/>
      </p:bgPr>
    </p:bg>
    <p:spTree>
      <p:nvGrpSpPr>
        <p:cNvPr id="1" name=""/>
        <p:cNvGrpSpPr/>
        <p:nvPr/>
      </p:nvGrpSpPr>
      <p:grpSpPr>
        <a:xfrm>
          <a:off x="0" y="0"/>
          <a:ext cx="0" cy="0"/>
          <a:chOff x="0" y="0"/>
          <a:chExt cx="0" cy="0"/>
        </a:xfrm>
      </p:grpSpPr>
      <p:sp>
        <p:nvSpPr>
          <p:cNvPr id="219" name="Google Shape;219;p9">
            <a:extLst>
              <a:ext uri="{FF2B5EF4-FFF2-40B4-BE49-F238E27FC236}">
                <a16:creationId xmlns:a16="http://schemas.microsoft.com/office/drawing/2014/main" id="{BB011872-5B7B-4D6F-92D2-26368FE116E1}"/>
              </a:ext>
            </a:extLst>
          </p:cNvPr>
          <p:cNvSpPr>
            <a:spLocks noGrp="1"/>
          </p:cNvSpPr>
          <p:nvPr/>
        </p:nvSpPr>
        <p:spPr>
          <a:xfrm>
            <a:off x="502920" y="329184"/>
            <a:ext cx="10789920" cy="320040"/>
          </a:xfrm>
          <a:prstGeom prst="rect">
            <a:avLst/>
          </a:prstGeom>
          <a:noFill/>
          <a:ln>
            <a:noFill/>
          </a:ln>
        </p:spPr>
        <p:txBody>
          <a:bodyPr spcFirstLastPara="1" wrap="square" lIns="0" tIns="0" rIns="0" bIns="0" anchor="ctr">
            <a:noAutofit/>
          </a:bodyPr>
          <a:lstStyle/>
          <a:p>
            <a:pPr marL="0" indent="0" algn="l">
              <a:spcBef>
                <a:spcPts val="0"/>
              </a:spcBef>
              <a:spcAft>
                <a:spcPts val="0"/>
              </a:spcAft>
              <a:buNone/>
            </a:pPr>
            <a:r>
              <a:rPr sz="2200" b="1">
                <a:solidFill>
                  <a:srgbClr val="1F2A44"/>
                </a:solidFill>
                <a:latin typeface="Play"/>
                <a:ea typeface="Play"/>
                <a:cs typeface="Play"/>
              </a:rPr>
              <a:t>Ackley4 diagnostics explain why one plot is not enough</a:t>
            </a:r>
          </a:p>
        </p:txBody>
      </p:sp>
      <p:sp>
        <p:nvSpPr>
          <p:cNvPr id="220" name="Google Shape;220;p9">
            <a:extLst>
              <a:ext uri="{FF2B5EF4-FFF2-40B4-BE49-F238E27FC236}">
                <a16:creationId xmlns:a16="http://schemas.microsoft.com/office/drawing/2014/main" id="{E1D7C49B-65DE-4F48-8113-5382ABB4CFD4}"/>
              </a:ext>
            </a:extLst>
          </p:cNvPr>
          <p:cNvSpPr>
            <a:spLocks noGrp="1"/>
          </p:cNvSpPr>
          <p:nvPr/>
        </p:nvSpPr>
        <p:spPr>
          <a:xfrm>
            <a:off x="521208" y="713232"/>
            <a:ext cx="10515600" cy="237744"/>
          </a:xfrm>
          <a:prstGeom prst="rect">
            <a:avLst/>
          </a:prstGeom>
          <a:noFill/>
          <a:ln>
            <a:noFill/>
          </a:ln>
        </p:spPr>
        <p:txBody>
          <a:bodyPr spcFirstLastPara="1" wrap="square" lIns="0" tIns="0" rIns="0" bIns="0" anchor="ctr">
            <a:noAutofit/>
          </a:bodyPr>
          <a:lstStyle/>
          <a:p>
            <a:pPr marL="0" indent="0" algn="l">
              <a:spcBef>
                <a:spcPts val="0"/>
              </a:spcBef>
              <a:spcAft>
                <a:spcPts val="0"/>
              </a:spcAft>
              <a:buNone/>
            </a:pPr>
            <a:r>
              <a:rPr sz="1100">
                <a:solidFill>
                  <a:srgbClr val="4B5563"/>
                </a:solidFill>
                <a:latin typeface="Arial"/>
                <a:ea typeface="Arial"/>
                <a:cs typeface="Arial"/>
              </a:rPr>
              <a:t>2D slices and projections are only diagnostic views of a 4D boundary.</a:t>
            </a:r>
          </a:p>
        </p:txBody>
      </p:sp>
      <p:sp>
        <p:nvSpPr>
          <p:cNvPr id="221" name="Google Shape;221;p9">
            <a:extLst>
              <a:ext uri="{FF2B5EF4-FFF2-40B4-BE49-F238E27FC236}">
                <a16:creationId xmlns:a16="http://schemas.microsoft.com/office/drawing/2014/main" id="{2CDF63FE-8793-49BC-8989-49C182E054EE}"/>
              </a:ext>
            </a:extLst>
          </p:cNvPr>
          <p:cNvSpPr>
            <a:spLocks noGrp="1"/>
          </p:cNvSpPr>
          <p:nvPr/>
        </p:nvSpPr>
        <p:spPr>
          <a:xfrm>
            <a:off x="411480" y="1024128"/>
            <a:ext cx="11384280" cy="3840480"/>
          </a:xfrm>
          <a:prstGeom prst="roundRect">
            <a:avLst>
              <a:gd name="adj" fmla="val 2143"/>
            </a:avLst>
          </a:prstGeom>
          <a:solidFill>
            <a:srgbClr val="FFFFFF"/>
          </a:solidFill>
          <a:ln w="10150" cmpd="sng">
            <a:solidFill>
              <a:srgbClr val="D9DEE8"/>
            </a:solidFill>
            <a:prstDash val="solid"/>
            <a:headEnd type="none" w="sm" len="sm"/>
            <a:tailEnd type="none" w="sm" len="sm"/>
          </a:ln>
        </p:spPr>
        <p:txBody>
          <a:bodyPr spcFirstLastPara="1" wrap="square" lIns="91425" tIns="45700" rIns="91425" bIns="45700" anchor="t">
            <a:noAutofit/>
          </a:bodyPr>
          <a:lstStyle/>
          <a:p>
            <a:pPr marL="0" indent="0" algn="l">
              <a:spcBef>
                <a:spcPts val="0"/>
              </a:spcBef>
              <a:spcAft>
                <a:spcPts val="0"/>
              </a:spcAft>
              <a:buNone/>
            </a:pPr>
            <a:endParaRPr/>
          </a:p>
        </p:txBody>
      </p:sp>
      <p:pic>
        <p:nvPicPr>
          <p:cNvPr id="251" name="Google Shape;222;p9"/>
          <p:cNvPicPr>
            <a:picLocks noChangeAspect="1"/>
          </p:cNvPicPr>
          <p:nvPr/>
        </p:nvPicPr>
        <p:blipFill rotWithShape="1">
          <a:blip r:embed="rId3">
            <a:alphaModFix/>
          </a:blip>
          <a:srcRect t="34612" b="34612"/>
          <a:stretch>
            <a:fillRect/>
          </a:stretch>
        </p:blipFill>
        <p:spPr>
          <a:xfrm>
            <a:off x="411480" y="1192513"/>
            <a:ext cx="11384280" cy="3503711"/>
          </a:xfrm>
          <a:prstGeom prst="rect">
            <a:avLst/>
          </a:prstGeom>
          <a:ln>
            <a:noFill/>
          </a:ln>
        </p:spPr>
      </p:pic>
      <p:sp>
        <p:nvSpPr>
          <p:cNvPr id="223" name="Google Shape;223;p9">
            <a:extLst>
              <a:ext uri="{FF2B5EF4-FFF2-40B4-BE49-F238E27FC236}">
                <a16:creationId xmlns:a16="http://schemas.microsoft.com/office/drawing/2014/main" id="{EEB32C3B-39ED-4E34-A3BB-6A0FE7F48B39}"/>
              </a:ext>
            </a:extLst>
          </p:cNvPr>
          <p:cNvSpPr>
            <a:spLocks noGrp="1"/>
          </p:cNvSpPr>
          <p:nvPr/>
        </p:nvSpPr>
        <p:spPr>
          <a:xfrm>
            <a:off x="548640" y="5138928"/>
            <a:ext cx="11064240" cy="749808"/>
          </a:xfrm>
          <a:prstGeom prst="roundRect">
            <a:avLst>
              <a:gd name="adj" fmla="val 10976"/>
            </a:avLst>
          </a:prstGeom>
          <a:solidFill>
            <a:srgbClr val="FFFFFF"/>
          </a:solidFill>
          <a:ln w="10150" cmpd="sng">
            <a:solidFill>
              <a:srgbClr val="D9DEE8"/>
            </a:solidFill>
            <a:prstDash val="solid"/>
            <a:headEnd type="none" w="sm" len="sm"/>
            <a:tailEnd type="none" w="sm" len="sm"/>
          </a:ln>
        </p:spPr>
        <p:txBody>
          <a:bodyPr spcFirstLastPara="1" wrap="square" lIns="91425" tIns="45700" rIns="91425" bIns="45700" anchor="t">
            <a:noAutofit/>
          </a:bodyPr>
          <a:lstStyle/>
          <a:p>
            <a:pPr marL="0" indent="0" algn="l">
              <a:spcBef>
                <a:spcPts val="0"/>
              </a:spcBef>
              <a:spcAft>
                <a:spcPts val="0"/>
              </a:spcAft>
              <a:buNone/>
            </a:pPr>
            <a:endParaRPr/>
          </a:p>
        </p:txBody>
      </p:sp>
      <p:sp>
        <p:nvSpPr>
          <p:cNvPr id="224" name="Google Shape;224;p9">
            <a:extLst>
              <a:ext uri="{FF2B5EF4-FFF2-40B4-BE49-F238E27FC236}">
                <a16:creationId xmlns:a16="http://schemas.microsoft.com/office/drawing/2014/main" id="{2AC7DAEC-2638-4DDC-994C-2773B4F1D344}"/>
              </a:ext>
            </a:extLst>
          </p:cNvPr>
          <p:cNvSpPr>
            <a:spLocks noGrp="1"/>
          </p:cNvSpPr>
          <p:nvPr/>
        </p:nvSpPr>
        <p:spPr>
          <a:xfrm>
            <a:off x="822960" y="5344668"/>
            <a:ext cx="109728" cy="146304"/>
          </a:xfrm>
          <a:prstGeom prst="rect">
            <a:avLst/>
          </a:prstGeom>
          <a:noFill/>
          <a:ln>
            <a:noFill/>
          </a:ln>
        </p:spPr>
        <p:txBody>
          <a:bodyPr spcFirstLastPara="1" wrap="square" lIns="0" tIns="0" rIns="0" bIns="0" anchor="ctr">
            <a:noAutofit/>
          </a:bodyPr>
          <a:lstStyle/>
          <a:p>
            <a:pPr marL="0" indent="0" algn="l">
              <a:spcBef>
                <a:spcPts val="0"/>
              </a:spcBef>
              <a:spcAft>
                <a:spcPts val="0"/>
              </a:spcAft>
              <a:buNone/>
            </a:pPr>
            <a:r>
              <a:rPr sz="900">
                <a:solidFill>
                  <a:srgbClr val="1F2A44"/>
                </a:solidFill>
                <a:latin typeface="Arial"/>
                <a:ea typeface="Arial"/>
                <a:cs typeface="Arial"/>
              </a:rPr>
              <a:t>-</a:t>
            </a:r>
          </a:p>
        </p:txBody>
      </p:sp>
      <p:sp>
        <p:nvSpPr>
          <p:cNvPr id="225" name="Google Shape;225;p9">
            <a:extLst>
              <a:ext uri="{FF2B5EF4-FFF2-40B4-BE49-F238E27FC236}">
                <a16:creationId xmlns:a16="http://schemas.microsoft.com/office/drawing/2014/main" id="{8052E9BD-9CAD-4806-8366-715EBEC15687}"/>
              </a:ext>
            </a:extLst>
          </p:cNvPr>
          <p:cNvSpPr>
            <a:spLocks noGrp="1"/>
          </p:cNvSpPr>
          <p:nvPr/>
        </p:nvSpPr>
        <p:spPr>
          <a:xfrm>
            <a:off x="987552" y="5330952"/>
            <a:ext cx="3584448" cy="201168"/>
          </a:xfrm>
          <a:prstGeom prst="rect">
            <a:avLst/>
          </a:prstGeom>
          <a:noFill/>
          <a:ln>
            <a:noFill/>
          </a:ln>
        </p:spPr>
        <p:txBody>
          <a:bodyPr spcFirstLastPara="1" wrap="square" lIns="0" tIns="0" rIns="0" bIns="0" anchor="ctr">
            <a:noAutofit/>
          </a:bodyPr>
          <a:lstStyle/>
          <a:p>
            <a:pPr marL="0" indent="0" algn="l">
              <a:spcBef>
                <a:spcPts val="0"/>
              </a:spcBef>
              <a:spcAft>
                <a:spcPts val="0"/>
              </a:spcAft>
              <a:buNone/>
            </a:pPr>
            <a:r>
              <a:rPr sz="1100">
                <a:solidFill>
                  <a:srgbClr val="111827"/>
                </a:solidFill>
                <a:latin typeface="Arial"/>
                <a:ea typeface="Arial"/>
                <a:cs typeface="Arial"/>
              </a:rPr>
              <a:t>The exact boundary is visible only on fixed 2D slices.</a:t>
            </a:r>
          </a:p>
        </p:txBody>
      </p:sp>
      <p:sp>
        <p:nvSpPr>
          <p:cNvPr id="226" name="Google Shape;226;p9">
            <a:extLst>
              <a:ext uri="{FF2B5EF4-FFF2-40B4-BE49-F238E27FC236}">
                <a16:creationId xmlns:a16="http://schemas.microsoft.com/office/drawing/2014/main" id="{33E4A873-3875-4B05-8917-3AFC771B1C19}"/>
              </a:ext>
            </a:extLst>
          </p:cNvPr>
          <p:cNvSpPr>
            <a:spLocks noGrp="1"/>
          </p:cNvSpPr>
          <p:nvPr/>
        </p:nvSpPr>
        <p:spPr>
          <a:xfrm>
            <a:off x="4617720" y="5344668"/>
            <a:ext cx="109728" cy="146304"/>
          </a:xfrm>
          <a:prstGeom prst="rect">
            <a:avLst/>
          </a:prstGeom>
          <a:noFill/>
          <a:ln>
            <a:noFill/>
          </a:ln>
        </p:spPr>
        <p:txBody>
          <a:bodyPr spcFirstLastPara="1" wrap="square" lIns="0" tIns="0" rIns="0" bIns="0" anchor="ctr">
            <a:noAutofit/>
          </a:bodyPr>
          <a:lstStyle/>
          <a:p>
            <a:pPr marL="0" indent="0" algn="l">
              <a:spcBef>
                <a:spcPts val="0"/>
              </a:spcBef>
              <a:spcAft>
                <a:spcPts val="0"/>
              </a:spcAft>
              <a:buNone/>
            </a:pPr>
            <a:r>
              <a:rPr sz="900">
                <a:solidFill>
                  <a:srgbClr val="1F2A44"/>
                </a:solidFill>
                <a:latin typeface="Arial"/>
                <a:ea typeface="Arial"/>
                <a:cs typeface="Arial"/>
              </a:rPr>
              <a:t>-</a:t>
            </a:r>
          </a:p>
        </p:txBody>
      </p:sp>
      <p:sp>
        <p:nvSpPr>
          <p:cNvPr id="227" name="Google Shape;227;p9">
            <a:extLst>
              <a:ext uri="{FF2B5EF4-FFF2-40B4-BE49-F238E27FC236}">
                <a16:creationId xmlns:a16="http://schemas.microsoft.com/office/drawing/2014/main" id="{1CF8BACE-54DB-4A66-985D-D08628A8A406}"/>
              </a:ext>
            </a:extLst>
          </p:cNvPr>
          <p:cNvSpPr>
            <a:spLocks noGrp="1"/>
          </p:cNvSpPr>
          <p:nvPr/>
        </p:nvSpPr>
        <p:spPr>
          <a:xfrm>
            <a:off x="4782312" y="5330952"/>
            <a:ext cx="3813048" cy="256032"/>
          </a:xfrm>
          <a:prstGeom prst="rect">
            <a:avLst/>
          </a:prstGeom>
          <a:noFill/>
          <a:ln>
            <a:noFill/>
          </a:ln>
        </p:spPr>
        <p:txBody>
          <a:bodyPr spcFirstLastPara="1" wrap="square" lIns="0" tIns="0" rIns="0" bIns="0" anchor="ctr">
            <a:noAutofit/>
          </a:bodyPr>
          <a:lstStyle/>
          <a:p>
            <a:pPr marL="0" indent="0" algn="l">
              <a:spcBef>
                <a:spcPts val="0"/>
              </a:spcBef>
              <a:spcAft>
                <a:spcPts val="0"/>
              </a:spcAft>
              <a:buNone/>
            </a:pPr>
            <a:r>
              <a:rPr sz="1100">
                <a:solidFill>
                  <a:srgbClr val="111827"/>
                </a:solidFill>
                <a:latin typeface="Arial"/>
                <a:ea typeface="Arial"/>
                <a:cs typeface="Arial"/>
              </a:rPr>
              <a:t>Projected query locations can hide behavior in the other dimensions.</a:t>
            </a:r>
          </a:p>
        </p:txBody>
      </p:sp>
      <p:sp>
        <p:nvSpPr>
          <p:cNvPr id="228" name="Google Shape;228;p9">
            <a:extLst>
              <a:ext uri="{FF2B5EF4-FFF2-40B4-BE49-F238E27FC236}">
                <a16:creationId xmlns:a16="http://schemas.microsoft.com/office/drawing/2014/main" id="{5E8B0135-91EE-458A-8E49-C6CC460FD721}"/>
              </a:ext>
            </a:extLst>
          </p:cNvPr>
          <p:cNvSpPr>
            <a:spLocks noGrp="1"/>
          </p:cNvSpPr>
          <p:nvPr/>
        </p:nvSpPr>
        <p:spPr>
          <a:xfrm>
            <a:off x="8549640" y="5344668"/>
            <a:ext cx="109728" cy="146304"/>
          </a:xfrm>
          <a:prstGeom prst="rect">
            <a:avLst/>
          </a:prstGeom>
          <a:noFill/>
          <a:ln>
            <a:noFill/>
          </a:ln>
        </p:spPr>
        <p:txBody>
          <a:bodyPr spcFirstLastPara="1" wrap="square" lIns="0" tIns="0" rIns="0" bIns="0" anchor="ctr">
            <a:noAutofit/>
          </a:bodyPr>
          <a:lstStyle/>
          <a:p>
            <a:pPr marL="0" indent="0" algn="l">
              <a:spcBef>
                <a:spcPts val="0"/>
              </a:spcBef>
              <a:spcAft>
                <a:spcPts val="0"/>
              </a:spcAft>
              <a:buNone/>
            </a:pPr>
            <a:r>
              <a:rPr sz="900">
                <a:solidFill>
                  <a:srgbClr val="1F2A44"/>
                </a:solidFill>
                <a:latin typeface="Arial"/>
                <a:ea typeface="Arial"/>
                <a:cs typeface="Arial"/>
              </a:rPr>
              <a:t>-</a:t>
            </a:r>
          </a:p>
        </p:txBody>
      </p:sp>
      <p:sp>
        <p:nvSpPr>
          <p:cNvPr id="229" name="Google Shape;229;p9">
            <a:extLst>
              <a:ext uri="{FF2B5EF4-FFF2-40B4-BE49-F238E27FC236}">
                <a16:creationId xmlns:a16="http://schemas.microsoft.com/office/drawing/2014/main" id="{8464922B-0A37-4865-8EFE-D54344CA97DC}"/>
              </a:ext>
            </a:extLst>
          </p:cNvPr>
          <p:cNvSpPr>
            <a:spLocks noGrp="1"/>
          </p:cNvSpPr>
          <p:nvPr/>
        </p:nvSpPr>
        <p:spPr>
          <a:xfrm>
            <a:off x="8714232" y="5330952"/>
            <a:ext cx="2578608" cy="256032"/>
          </a:xfrm>
          <a:prstGeom prst="rect">
            <a:avLst/>
          </a:prstGeom>
          <a:noFill/>
          <a:ln>
            <a:noFill/>
          </a:ln>
        </p:spPr>
        <p:txBody>
          <a:bodyPr spcFirstLastPara="1" wrap="square" lIns="0" tIns="0" rIns="0" bIns="0" anchor="ctr">
            <a:noAutofit/>
          </a:bodyPr>
          <a:lstStyle/>
          <a:p>
            <a:pPr marL="0" indent="0" algn="l">
              <a:spcBef>
                <a:spcPts val="0"/>
              </a:spcBef>
              <a:spcAft>
                <a:spcPts val="0"/>
              </a:spcAft>
              <a:buNone/>
            </a:pPr>
            <a:r>
              <a:rPr sz="1100">
                <a:solidFill>
                  <a:srgbClr val="111827"/>
                </a:solidFill>
                <a:latin typeface="Arial"/>
                <a:ea typeface="Arial"/>
                <a:cs typeface="Arial"/>
              </a:rPr>
              <a:t>This motivated the boundary-metric block: evaluate boundary-region error directly, not only global error.</a:t>
            </a:r>
          </a:p>
        </p:txBody>
      </p:sp>
      <p:cxnSp>
        <p:nvCxnSpPr>
          <p:cNvPr id="259" name="Google Shape;230;p9"/>
          <p:cNvCxnSpPr/>
          <p:nvPr/>
        </p:nvCxnSpPr>
        <p:spPr>
          <a:xfrm>
            <a:off x="502920" y="6446520"/>
            <a:ext cx="11201400" cy="0"/>
          </a:xfrm>
          <a:prstGeom prst="straightConnector1">
            <a:avLst/>
          </a:prstGeom>
          <a:ln w="9525" cap="flat">
            <a:solidFill>
              <a:srgbClr val="D9DEE8"/>
            </a:solidFill>
            <a:prstDash val="solid"/>
            <a:round/>
            <a:headEnd type="none" w="sm" len="sm"/>
            <a:tailEnd type="none" w="sm" len="sm"/>
          </a:ln>
        </p:spPr>
      </p:cxnSp>
      <p:sp>
        <p:nvSpPr>
          <p:cNvPr id="231" name="Google Shape;231;p9">
            <a:extLst>
              <a:ext uri="{FF2B5EF4-FFF2-40B4-BE49-F238E27FC236}">
                <a16:creationId xmlns:a16="http://schemas.microsoft.com/office/drawing/2014/main" id="{C252B74B-024D-4AC8-8DE8-11CD9BE08A89}"/>
              </a:ext>
            </a:extLst>
          </p:cNvPr>
          <p:cNvSpPr>
            <a:spLocks noGrp="1"/>
          </p:cNvSpPr>
          <p:nvPr/>
        </p:nvSpPr>
        <p:spPr>
          <a:xfrm>
            <a:off x="502920" y="6519672"/>
            <a:ext cx="8961120" cy="164592"/>
          </a:xfrm>
          <a:prstGeom prst="rect">
            <a:avLst/>
          </a:prstGeom>
          <a:noFill/>
          <a:ln>
            <a:noFill/>
          </a:ln>
        </p:spPr>
        <p:txBody>
          <a:bodyPr spcFirstLastPara="1" wrap="square" lIns="0" tIns="0" rIns="0" bIns="0" anchor="ctr">
            <a:noAutofit/>
          </a:bodyPr>
          <a:lstStyle/>
          <a:p>
            <a:pPr marL="0" indent="0" algn="l">
              <a:spcBef>
                <a:spcPts val="0"/>
              </a:spcBef>
              <a:spcAft>
                <a:spcPts val="0"/>
              </a:spcAft>
              <a:buNone/>
            </a:pPr>
            <a:r>
              <a:rPr sz="780">
                <a:solidFill>
                  <a:srgbClr val="6B7280"/>
                </a:solidFill>
                <a:latin typeface="Arial"/>
                <a:ea typeface="Arial"/>
                <a:cs typeface="Arial"/>
              </a:rPr>
              <a:t>Week 3 extended update - Sample-Efficient Active Level-Set Estimation - 6</a:t>
            </a:r>
          </a:p>
        </p:txBody>
      </p:sp>
      <p:sp>
        <p:nvSpPr>
          <p:cNvPr id="232" name="Google Shape;232;p9">
            <a:extLst>
              <a:ext uri="{FF2B5EF4-FFF2-40B4-BE49-F238E27FC236}">
                <a16:creationId xmlns:a16="http://schemas.microsoft.com/office/drawing/2014/main" id="{3512A538-9F18-473B-9338-ABBC132E9582}"/>
              </a:ext>
            </a:extLst>
          </p:cNvPr>
          <p:cNvSpPr>
            <a:spLocks noGrp="1"/>
          </p:cNvSpPr>
          <p:nvPr/>
        </p:nvSpPr>
        <p:spPr>
          <a:xfrm>
            <a:off x="11521440" y="6492240"/>
            <a:ext cx="228600" cy="164592"/>
          </a:xfrm>
          <a:prstGeom prst="rect">
            <a:avLst/>
          </a:prstGeom>
          <a:noFill/>
          <a:ln>
            <a:noFill/>
          </a:ln>
        </p:spPr>
        <p:txBody>
          <a:bodyPr spcFirstLastPara="1" wrap="square" lIns="0" tIns="0" rIns="0" bIns="0" anchor="ctr">
            <a:noAutofit/>
          </a:bodyPr>
          <a:lstStyle/>
          <a:p>
            <a:pPr marL="0" indent="0" algn="r">
              <a:spcBef>
                <a:spcPts val="0"/>
              </a:spcBef>
              <a:spcAft>
                <a:spcPts val="0"/>
              </a:spcAft>
              <a:buNone/>
            </a:pPr>
            <a:r>
              <a:rPr sz="780">
                <a:solidFill>
                  <a:srgbClr val="6B7280"/>
                </a:solidFill>
                <a:latin typeface="Arial"/>
                <a:ea typeface="Arial"/>
                <a:cs typeface="Arial"/>
              </a:rPr>
              <a:t>6</a:t>
            </a:r>
          </a:p>
        </p:txBody>
      </p:sp>
      <p:pic>
        <p:nvPicPr>
          <p:cNvPr id="262" name="Picture 261"/>
          <p:cNvPicPr>
            <a:picLocks noChangeAspect="1"/>
          </p:cNvPicPr>
          <p:nvPr/>
        </p:nvPicPr>
        <p:blipFill>
          <a:blip r:embed="rId4"/>
          <a:stretch/>
        </p:blipFill>
        <p:spPr>
          <a:xfrm>
            <a:off x="4619920" y="1192513"/>
            <a:ext cx="2967401" cy="3503711"/>
          </a:xfrm>
          <a:prstGeom prst="rect">
            <a:avLst/>
          </a:prstGeom>
        </p:spPr>
      </p:pic>
    </p:spTree>
    <p:extLst>
      <p:ext uri="{BB962C8B-B14F-4D97-AF65-F5344CB8AC3E}">
        <p14:creationId xmlns:p14="http://schemas.microsoft.com/office/powerpoint/2010/main" val="1450060589"/>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rgbClr val="F6F8FC"/>
        </a:solidFill>
        <a:effectLst/>
      </p:bgPr>
    </p:bg>
    <p:spTree>
      <p:nvGrpSpPr>
        <p:cNvPr id="1" name=""/>
        <p:cNvGrpSpPr/>
        <p:nvPr/>
      </p:nvGrpSpPr>
      <p:grpSpPr>
        <a:xfrm>
          <a:off x="0" y="0"/>
          <a:ext cx="0" cy="0"/>
          <a:chOff x="0" y="0"/>
          <a:chExt cx="0" cy="0"/>
        </a:xfrm>
      </p:grpSpPr>
      <p:sp>
        <p:nvSpPr>
          <p:cNvPr id="142" name="Google Shape;142;p7">
            <a:extLst>
              <a:ext uri="{FF2B5EF4-FFF2-40B4-BE49-F238E27FC236}">
                <a16:creationId xmlns:a16="http://schemas.microsoft.com/office/drawing/2014/main" id="{81BA9912-BDB9-4CBD-807E-05E773527849}"/>
              </a:ext>
            </a:extLst>
          </p:cNvPr>
          <p:cNvSpPr>
            <a:spLocks noGrp="1"/>
          </p:cNvSpPr>
          <p:nvPr/>
        </p:nvSpPr>
        <p:spPr>
          <a:xfrm>
            <a:off x="502920" y="329184"/>
            <a:ext cx="10789920" cy="320040"/>
          </a:xfrm>
          <a:prstGeom prst="rect">
            <a:avLst/>
          </a:prstGeom>
          <a:noFill/>
          <a:ln>
            <a:noFill/>
          </a:ln>
        </p:spPr>
        <p:txBody>
          <a:bodyPr spcFirstLastPara="1" wrap="square" lIns="0" tIns="0" rIns="0" bIns="0" anchor="ctr">
            <a:noAutofit/>
          </a:bodyPr>
          <a:lstStyle/>
          <a:p>
            <a:pPr marL="0" indent="0" algn="l">
              <a:spcBef>
                <a:spcPts val="0"/>
              </a:spcBef>
              <a:spcAft>
                <a:spcPts val="0"/>
              </a:spcAft>
              <a:buNone/>
            </a:pPr>
            <a:r>
              <a:rPr sz="2200" b="1">
                <a:solidFill>
                  <a:srgbClr val="1F2A44"/>
                </a:solidFill>
                <a:latin typeface="Play"/>
                <a:ea typeface="Play"/>
                <a:cs typeface="Play"/>
              </a:rPr>
              <a:t>Ackley4 final ranking at budget 80</a:t>
            </a:r>
          </a:p>
        </p:txBody>
      </p:sp>
      <p:sp>
        <p:nvSpPr>
          <p:cNvPr id="143" name="Google Shape;143;p7">
            <a:extLst>
              <a:ext uri="{FF2B5EF4-FFF2-40B4-BE49-F238E27FC236}">
                <a16:creationId xmlns:a16="http://schemas.microsoft.com/office/drawing/2014/main" id="{5DECCD09-421D-4E02-AD30-9E681AA6585B}"/>
              </a:ext>
            </a:extLst>
          </p:cNvPr>
          <p:cNvSpPr>
            <a:spLocks noGrp="1"/>
          </p:cNvSpPr>
          <p:nvPr/>
        </p:nvSpPr>
        <p:spPr>
          <a:xfrm>
            <a:off x="521208" y="713232"/>
            <a:ext cx="10515600" cy="237744"/>
          </a:xfrm>
          <a:prstGeom prst="rect">
            <a:avLst/>
          </a:prstGeom>
          <a:noFill/>
          <a:ln>
            <a:noFill/>
          </a:ln>
        </p:spPr>
        <p:txBody>
          <a:bodyPr spcFirstLastPara="1" wrap="square" lIns="0" tIns="0" rIns="0" bIns="0" anchor="ctr">
            <a:noAutofit/>
          </a:bodyPr>
          <a:lstStyle/>
          <a:p>
            <a:pPr marL="0" indent="0" algn="l">
              <a:spcBef>
                <a:spcPts val="0"/>
              </a:spcBef>
              <a:spcAft>
                <a:spcPts val="0"/>
              </a:spcAft>
              <a:buNone/>
            </a:pPr>
            <a:r>
              <a:rPr sz="1050">
                <a:solidFill>
                  <a:srgbClr val="4B5563"/>
                </a:solidFill>
                <a:latin typeface="Arial"/>
                <a:ea typeface="Arial"/>
                <a:cs typeface="Arial"/>
              </a:rPr>
              <a:t>Straddle is best by mean final global error; randomized straddle is very close.</a:t>
            </a:r>
          </a:p>
        </p:txBody>
      </p:sp>
      <p:sp>
        <p:nvSpPr>
          <p:cNvPr id="144" name="Google Shape;144;p7">
            <a:extLst>
              <a:ext uri="{FF2B5EF4-FFF2-40B4-BE49-F238E27FC236}">
                <a16:creationId xmlns:a16="http://schemas.microsoft.com/office/drawing/2014/main" id="{9D89FC33-07A9-4D22-BB7C-0AD9052EA6ED}"/>
              </a:ext>
            </a:extLst>
          </p:cNvPr>
          <p:cNvSpPr>
            <a:spLocks noGrp="1"/>
          </p:cNvSpPr>
          <p:nvPr/>
        </p:nvSpPr>
        <p:spPr>
          <a:xfrm>
            <a:off x="502920" y="1051560"/>
            <a:ext cx="7406640" cy="4937760"/>
          </a:xfrm>
          <a:prstGeom prst="roundRect">
            <a:avLst>
              <a:gd name="adj" fmla="val 1667"/>
            </a:avLst>
          </a:prstGeom>
          <a:solidFill>
            <a:srgbClr val="FFFFFF"/>
          </a:solidFill>
          <a:ln w="10150" cmpd="sng">
            <a:solidFill>
              <a:srgbClr val="D9DEE8"/>
            </a:solidFill>
            <a:prstDash val="solid"/>
            <a:headEnd type="none" w="sm" len="sm"/>
            <a:tailEnd type="none" w="sm" len="sm"/>
          </a:ln>
        </p:spPr>
        <p:txBody>
          <a:bodyPr spcFirstLastPara="1" wrap="square" lIns="91425" tIns="45700" rIns="91425" bIns="45700" anchor="t">
            <a:noAutofit/>
          </a:bodyPr>
          <a:lstStyle/>
          <a:p>
            <a:pPr marL="0" indent="0" algn="l">
              <a:spcBef>
                <a:spcPts val="0"/>
              </a:spcBef>
              <a:spcAft>
                <a:spcPts val="0"/>
              </a:spcAft>
              <a:buNone/>
            </a:pPr>
            <a:endParaRPr/>
          </a:p>
        </p:txBody>
      </p:sp>
      <p:pic>
        <p:nvPicPr>
          <p:cNvPr id="210" name="Google Shape;145;p7"/>
          <p:cNvPicPr>
            <a:picLocks noChangeAspect="1"/>
          </p:cNvPicPr>
          <p:nvPr/>
        </p:nvPicPr>
        <p:blipFill rotWithShape="1">
          <a:blip r:embed="rId3">
            <a:alphaModFix/>
          </a:blip>
          <a:srcRect t="20278" b="20278"/>
          <a:stretch>
            <a:fillRect/>
          </a:stretch>
        </p:blipFill>
        <p:spPr>
          <a:xfrm>
            <a:off x="502920" y="1319022"/>
            <a:ext cx="7406640" cy="4402836"/>
          </a:xfrm>
          <a:prstGeom prst="rect">
            <a:avLst/>
          </a:prstGeom>
          <a:ln>
            <a:noFill/>
          </a:ln>
        </p:spPr>
      </p:pic>
      <p:sp>
        <p:nvSpPr>
          <p:cNvPr id="146" name="Google Shape;146;p7">
            <a:extLst>
              <a:ext uri="{FF2B5EF4-FFF2-40B4-BE49-F238E27FC236}">
                <a16:creationId xmlns:a16="http://schemas.microsoft.com/office/drawing/2014/main" id="{53A6A1D4-98A3-4627-9A37-EB28651795A5}"/>
              </a:ext>
            </a:extLst>
          </p:cNvPr>
          <p:cNvSpPr>
            <a:spLocks noGrp="1"/>
          </p:cNvSpPr>
          <p:nvPr/>
        </p:nvSpPr>
        <p:spPr>
          <a:xfrm>
            <a:off x="8156448" y="1051560"/>
            <a:ext cx="3456432" cy="4937760"/>
          </a:xfrm>
          <a:prstGeom prst="roundRect">
            <a:avLst>
              <a:gd name="adj" fmla="val 2381"/>
            </a:avLst>
          </a:prstGeom>
          <a:solidFill>
            <a:srgbClr val="FFFFFF"/>
          </a:solidFill>
          <a:ln w="10150" cmpd="sng">
            <a:solidFill>
              <a:srgbClr val="D9DEE8"/>
            </a:solidFill>
            <a:prstDash val="solid"/>
            <a:headEnd type="none" w="sm" len="sm"/>
            <a:tailEnd type="none" w="sm" len="sm"/>
          </a:ln>
          <a:effectLst>
            <a:outerShdw blurRad="15240" dist="50800" dir="2700000" algn="bl" rotWithShape="0">
              <a:srgbClr val="000000">
                <a:alpha val="7843"/>
              </a:srgbClr>
            </a:outerShdw>
          </a:effectLst>
        </p:spPr>
        <p:txBody>
          <a:bodyPr spcFirstLastPara="1" wrap="square" lIns="91425" tIns="45700" rIns="91425" bIns="45700" anchor="t">
            <a:noAutofit/>
          </a:bodyPr>
          <a:lstStyle/>
          <a:p>
            <a:pPr marL="0" indent="0" algn="l">
              <a:spcBef>
                <a:spcPts val="0"/>
              </a:spcBef>
              <a:spcAft>
                <a:spcPts val="0"/>
              </a:spcAft>
              <a:buNone/>
            </a:pPr>
            <a:endParaRPr/>
          </a:p>
        </p:txBody>
      </p:sp>
      <p:sp>
        <p:nvSpPr>
          <p:cNvPr id="147" name="Google Shape;147;p7">
            <a:extLst>
              <a:ext uri="{FF2B5EF4-FFF2-40B4-BE49-F238E27FC236}">
                <a16:creationId xmlns:a16="http://schemas.microsoft.com/office/drawing/2014/main" id="{92266219-070C-46E7-84F9-B10E52F98B86}"/>
              </a:ext>
            </a:extLst>
          </p:cNvPr>
          <p:cNvSpPr>
            <a:spLocks noGrp="1"/>
          </p:cNvSpPr>
          <p:nvPr/>
        </p:nvSpPr>
        <p:spPr>
          <a:xfrm>
            <a:off x="8394192" y="1307592"/>
            <a:ext cx="2651760" cy="164592"/>
          </a:xfrm>
          <a:prstGeom prst="rect">
            <a:avLst/>
          </a:prstGeom>
          <a:noFill/>
          <a:ln>
            <a:noFill/>
          </a:ln>
        </p:spPr>
        <p:txBody>
          <a:bodyPr spcFirstLastPara="1" wrap="square" lIns="0" tIns="0" rIns="0" bIns="0" anchor="ctr">
            <a:noAutofit/>
          </a:bodyPr>
          <a:lstStyle/>
          <a:p>
            <a:pPr marL="0" indent="0" algn="l">
              <a:spcBef>
                <a:spcPts val="0"/>
              </a:spcBef>
              <a:spcAft>
                <a:spcPts val="0"/>
              </a:spcAft>
              <a:buNone/>
            </a:pPr>
            <a:r>
              <a:rPr sz="1400" b="1">
                <a:solidFill>
                  <a:srgbClr val="1F2A44"/>
                </a:solidFill>
                <a:latin typeface="Arial"/>
                <a:ea typeface="Arial"/>
                <a:cs typeface="Arial"/>
              </a:rPr>
              <a:t>Mean final error</a:t>
            </a:r>
          </a:p>
        </p:txBody>
      </p:sp>
      <p:sp>
        <p:nvSpPr>
          <p:cNvPr id="148" name="Google Shape;148;p7">
            <a:extLst>
              <a:ext uri="{FF2B5EF4-FFF2-40B4-BE49-F238E27FC236}">
                <a16:creationId xmlns:a16="http://schemas.microsoft.com/office/drawing/2014/main" id="{22182E4C-2E3E-4F0D-BA22-C266022CB68F}"/>
              </a:ext>
            </a:extLst>
          </p:cNvPr>
          <p:cNvSpPr>
            <a:spLocks noGrp="1"/>
          </p:cNvSpPr>
          <p:nvPr/>
        </p:nvSpPr>
        <p:spPr>
          <a:xfrm>
            <a:off x="8394192" y="1719072"/>
            <a:ext cx="256032" cy="256032"/>
          </a:xfrm>
          <a:prstGeom prst="ellipse">
            <a:avLst/>
          </a:prstGeom>
          <a:solidFill>
            <a:srgbClr val="B7791F"/>
          </a:solidFill>
          <a:ln w="12700" cmpd="sng">
            <a:solidFill>
              <a:srgbClr val="B7791F"/>
            </a:solidFill>
            <a:prstDash val="solid"/>
            <a:headEnd type="none" w="sm" len="sm"/>
            <a:tailEnd type="none" w="sm" len="sm"/>
          </a:ln>
        </p:spPr>
        <p:txBody>
          <a:bodyPr spcFirstLastPara="1" wrap="square" lIns="91425" tIns="45700" rIns="91425" bIns="45700" anchor="t">
            <a:noAutofit/>
          </a:bodyPr>
          <a:lstStyle/>
          <a:p>
            <a:pPr marL="0" indent="0" algn="l">
              <a:spcBef>
                <a:spcPts val="0"/>
              </a:spcBef>
              <a:spcAft>
                <a:spcPts val="0"/>
              </a:spcAft>
              <a:buNone/>
            </a:pPr>
            <a:endParaRPr/>
          </a:p>
        </p:txBody>
      </p:sp>
      <p:sp>
        <p:nvSpPr>
          <p:cNvPr id="149" name="Google Shape;149;p7">
            <a:extLst>
              <a:ext uri="{FF2B5EF4-FFF2-40B4-BE49-F238E27FC236}">
                <a16:creationId xmlns:a16="http://schemas.microsoft.com/office/drawing/2014/main" id="{83374358-80A8-4BBC-8CEF-3FEE18F3A67E}"/>
              </a:ext>
            </a:extLst>
          </p:cNvPr>
          <p:cNvSpPr>
            <a:spLocks noGrp="1"/>
          </p:cNvSpPr>
          <p:nvPr/>
        </p:nvSpPr>
        <p:spPr>
          <a:xfrm>
            <a:off x="8394192" y="1769364"/>
            <a:ext cx="256032" cy="109728"/>
          </a:xfrm>
          <a:prstGeom prst="rect">
            <a:avLst/>
          </a:prstGeom>
          <a:noFill/>
          <a:ln>
            <a:noFill/>
          </a:ln>
        </p:spPr>
        <p:txBody>
          <a:bodyPr spcFirstLastPara="1" wrap="square" lIns="0" tIns="0" rIns="0" bIns="0" anchor="ctr">
            <a:noAutofit/>
          </a:bodyPr>
          <a:lstStyle/>
          <a:p>
            <a:pPr marL="0" indent="0" algn="ctr">
              <a:spcBef>
                <a:spcPts val="0"/>
              </a:spcBef>
              <a:spcAft>
                <a:spcPts val="0"/>
              </a:spcAft>
              <a:buNone/>
            </a:pPr>
            <a:endParaRPr/>
          </a:p>
        </p:txBody>
      </p:sp>
      <p:sp>
        <p:nvSpPr>
          <p:cNvPr id="150" name="Google Shape;150;p7">
            <a:extLst>
              <a:ext uri="{FF2B5EF4-FFF2-40B4-BE49-F238E27FC236}">
                <a16:creationId xmlns:a16="http://schemas.microsoft.com/office/drawing/2014/main" id="{16738B45-3CB2-4551-9E66-950A18456CF2}"/>
              </a:ext>
            </a:extLst>
          </p:cNvPr>
          <p:cNvSpPr>
            <a:spLocks noGrp="1"/>
          </p:cNvSpPr>
          <p:nvPr/>
        </p:nvSpPr>
        <p:spPr>
          <a:xfrm>
            <a:off x="8759952" y="1746504"/>
            <a:ext cx="1645920" cy="146304"/>
          </a:xfrm>
          <a:prstGeom prst="rect">
            <a:avLst/>
          </a:prstGeom>
          <a:noFill/>
          <a:ln>
            <a:noFill/>
          </a:ln>
        </p:spPr>
        <p:txBody>
          <a:bodyPr spcFirstLastPara="1" wrap="square" lIns="0" tIns="0" rIns="0" bIns="0" anchor="ctr">
            <a:noAutofit/>
          </a:bodyPr>
          <a:lstStyle/>
          <a:p>
            <a:pPr marL="0" indent="0" algn="l">
              <a:spcBef>
                <a:spcPts val="0"/>
              </a:spcBef>
              <a:spcAft>
                <a:spcPts val="0"/>
              </a:spcAft>
              <a:buNone/>
            </a:pPr>
            <a:r>
              <a:rPr sz="1100">
                <a:solidFill>
                  <a:srgbClr val="111827"/>
                </a:solidFill>
                <a:latin typeface="Arial"/>
                <a:ea typeface="Arial"/>
                <a:cs typeface="Arial"/>
              </a:rPr>
              <a:t>straddle</a:t>
            </a:r>
          </a:p>
        </p:txBody>
      </p:sp>
      <p:sp>
        <p:nvSpPr>
          <p:cNvPr id="151" name="Google Shape;151;p7">
            <a:extLst>
              <a:ext uri="{FF2B5EF4-FFF2-40B4-BE49-F238E27FC236}">
                <a16:creationId xmlns:a16="http://schemas.microsoft.com/office/drawing/2014/main" id="{21764C4C-4E11-40D0-9CFC-959CCFB59BD4}"/>
              </a:ext>
            </a:extLst>
          </p:cNvPr>
          <p:cNvSpPr>
            <a:spLocks noGrp="1"/>
          </p:cNvSpPr>
          <p:nvPr/>
        </p:nvSpPr>
        <p:spPr>
          <a:xfrm>
            <a:off x="10652760" y="1746504"/>
            <a:ext cx="685800" cy="146304"/>
          </a:xfrm>
          <a:prstGeom prst="rect">
            <a:avLst/>
          </a:prstGeom>
          <a:noFill/>
          <a:ln>
            <a:noFill/>
          </a:ln>
        </p:spPr>
        <p:txBody>
          <a:bodyPr spcFirstLastPara="1" wrap="square" lIns="0" tIns="0" rIns="0" bIns="0" anchor="ctr">
            <a:noAutofit/>
          </a:bodyPr>
          <a:lstStyle/>
          <a:p>
            <a:pPr marL="0" indent="0" algn="r">
              <a:spcBef>
                <a:spcPts val="0"/>
              </a:spcBef>
              <a:spcAft>
                <a:spcPts val="0"/>
              </a:spcAft>
              <a:buNone/>
            </a:pPr>
            <a:r>
              <a:rPr sz="1100" b="1">
                <a:solidFill>
                  <a:srgbClr val="B7791F"/>
                </a:solidFill>
                <a:latin typeface="Arial"/>
                <a:ea typeface="Arial"/>
                <a:cs typeface="Arial"/>
              </a:rPr>
              <a:t>16.84%</a:t>
            </a:r>
          </a:p>
        </p:txBody>
      </p:sp>
      <p:sp>
        <p:nvSpPr>
          <p:cNvPr id="152" name="Google Shape;152;p7">
            <a:extLst>
              <a:ext uri="{FF2B5EF4-FFF2-40B4-BE49-F238E27FC236}">
                <a16:creationId xmlns:a16="http://schemas.microsoft.com/office/drawing/2014/main" id="{7419CD7D-D776-4075-97E2-52C7E9F7D61F}"/>
              </a:ext>
            </a:extLst>
          </p:cNvPr>
          <p:cNvSpPr>
            <a:spLocks noGrp="1"/>
          </p:cNvSpPr>
          <p:nvPr/>
        </p:nvSpPr>
        <p:spPr>
          <a:xfrm>
            <a:off x="8394192" y="2249424"/>
            <a:ext cx="256032" cy="256032"/>
          </a:xfrm>
          <a:prstGeom prst="ellipse">
            <a:avLst/>
          </a:prstGeom>
          <a:solidFill>
            <a:srgbClr val="0F8B61"/>
          </a:solidFill>
          <a:ln w="12700" cmpd="sng">
            <a:solidFill>
              <a:srgbClr val="0F8B61"/>
            </a:solidFill>
            <a:prstDash val="solid"/>
            <a:headEnd type="none" w="sm" len="sm"/>
            <a:tailEnd type="none" w="sm" len="sm"/>
          </a:ln>
        </p:spPr>
        <p:txBody>
          <a:bodyPr spcFirstLastPara="1" wrap="square" lIns="91425" tIns="45700" rIns="91425" bIns="45700" anchor="t">
            <a:noAutofit/>
          </a:bodyPr>
          <a:lstStyle/>
          <a:p>
            <a:pPr marL="0" indent="0" algn="l">
              <a:spcBef>
                <a:spcPts val="0"/>
              </a:spcBef>
              <a:spcAft>
                <a:spcPts val="0"/>
              </a:spcAft>
              <a:buNone/>
            </a:pPr>
            <a:endParaRPr/>
          </a:p>
        </p:txBody>
      </p:sp>
      <p:sp>
        <p:nvSpPr>
          <p:cNvPr id="153" name="Google Shape;153;p7">
            <a:extLst>
              <a:ext uri="{FF2B5EF4-FFF2-40B4-BE49-F238E27FC236}">
                <a16:creationId xmlns:a16="http://schemas.microsoft.com/office/drawing/2014/main" id="{FB1F0EE9-FC0F-47C6-984E-CC3D0DACE893}"/>
              </a:ext>
            </a:extLst>
          </p:cNvPr>
          <p:cNvSpPr>
            <a:spLocks noGrp="1"/>
          </p:cNvSpPr>
          <p:nvPr/>
        </p:nvSpPr>
        <p:spPr>
          <a:xfrm>
            <a:off x="8394192" y="2299716"/>
            <a:ext cx="256032" cy="109728"/>
          </a:xfrm>
          <a:prstGeom prst="rect">
            <a:avLst/>
          </a:prstGeom>
          <a:noFill/>
          <a:ln>
            <a:noFill/>
          </a:ln>
        </p:spPr>
        <p:txBody>
          <a:bodyPr spcFirstLastPara="1" wrap="square" lIns="0" tIns="0" rIns="0" bIns="0" anchor="ctr">
            <a:noAutofit/>
          </a:bodyPr>
          <a:lstStyle/>
          <a:p>
            <a:pPr marL="0" indent="0" algn="ctr">
              <a:spcBef>
                <a:spcPts val="0"/>
              </a:spcBef>
              <a:spcAft>
                <a:spcPts val="0"/>
              </a:spcAft>
              <a:buNone/>
            </a:pPr>
            <a:endParaRPr/>
          </a:p>
        </p:txBody>
      </p:sp>
      <p:sp>
        <p:nvSpPr>
          <p:cNvPr id="154" name="Google Shape;154;p7">
            <a:extLst>
              <a:ext uri="{FF2B5EF4-FFF2-40B4-BE49-F238E27FC236}">
                <a16:creationId xmlns:a16="http://schemas.microsoft.com/office/drawing/2014/main" id="{70EC3FD1-AE3D-4D02-92A2-54D41DA802E4}"/>
              </a:ext>
            </a:extLst>
          </p:cNvPr>
          <p:cNvSpPr>
            <a:spLocks noGrp="1"/>
          </p:cNvSpPr>
          <p:nvPr/>
        </p:nvSpPr>
        <p:spPr>
          <a:xfrm>
            <a:off x="8759952" y="2276856"/>
            <a:ext cx="1645920" cy="146304"/>
          </a:xfrm>
          <a:prstGeom prst="rect">
            <a:avLst/>
          </a:prstGeom>
          <a:noFill/>
          <a:ln>
            <a:noFill/>
          </a:ln>
        </p:spPr>
        <p:txBody>
          <a:bodyPr spcFirstLastPara="1" wrap="square" lIns="0" tIns="0" rIns="0" bIns="0" anchor="ctr">
            <a:noAutofit/>
          </a:bodyPr>
          <a:lstStyle/>
          <a:p>
            <a:pPr marL="0" indent="0" algn="l">
              <a:spcBef>
                <a:spcPts val="0"/>
              </a:spcBef>
              <a:spcAft>
                <a:spcPts val="0"/>
              </a:spcAft>
              <a:buNone/>
            </a:pPr>
            <a:r>
              <a:rPr sz="1100">
                <a:solidFill>
                  <a:srgbClr val="111827"/>
                </a:solidFill>
                <a:latin typeface="Arial"/>
                <a:ea typeface="Arial"/>
                <a:cs typeface="Arial"/>
              </a:rPr>
              <a:t>randomized straddle</a:t>
            </a:r>
          </a:p>
        </p:txBody>
      </p:sp>
      <p:sp>
        <p:nvSpPr>
          <p:cNvPr id="155" name="Google Shape;155;p7">
            <a:extLst>
              <a:ext uri="{FF2B5EF4-FFF2-40B4-BE49-F238E27FC236}">
                <a16:creationId xmlns:a16="http://schemas.microsoft.com/office/drawing/2014/main" id="{11AF2C08-3973-46A0-A1E4-36DDD4834556}"/>
              </a:ext>
            </a:extLst>
          </p:cNvPr>
          <p:cNvSpPr>
            <a:spLocks noGrp="1"/>
          </p:cNvSpPr>
          <p:nvPr/>
        </p:nvSpPr>
        <p:spPr>
          <a:xfrm>
            <a:off x="10652760" y="2276856"/>
            <a:ext cx="685800" cy="146304"/>
          </a:xfrm>
          <a:prstGeom prst="rect">
            <a:avLst/>
          </a:prstGeom>
          <a:noFill/>
          <a:ln>
            <a:noFill/>
          </a:ln>
        </p:spPr>
        <p:txBody>
          <a:bodyPr spcFirstLastPara="1" wrap="square" lIns="0" tIns="0" rIns="0" bIns="0" anchor="ctr">
            <a:noAutofit/>
          </a:bodyPr>
          <a:lstStyle/>
          <a:p>
            <a:pPr marL="0" indent="0" algn="r">
              <a:spcBef>
                <a:spcPts val="0"/>
              </a:spcBef>
              <a:spcAft>
                <a:spcPts val="0"/>
              </a:spcAft>
              <a:buNone/>
            </a:pPr>
            <a:r>
              <a:rPr sz="1100" b="1">
                <a:solidFill>
                  <a:srgbClr val="0F8B61"/>
                </a:solidFill>
                <a:latin typeface="Arial"/>
                <a:ea typeface="Arial"/>
                <a:cs typeface="Arial"/>
              </a:rPr>
              <a:t>17.54%</a:t>
            </a:r>
          </a:p>
        </p:txBody>
      </p:sp>
      <p:sp>
        <p:nvSpPr>
          <p:cNvPr id="156" name="Google Shape;156;p7">
            <a:extLst>
              <a:ext uri="{FF2B5EF4-FFF2-40B4-BE49-F238E27FC236}">
                <a16:creationId xmlns:a16="http://schemas.microsoft.com/office/drawing/2014/main" id="{B87DFDA3-581C-48C6-ABFC-2A79ECAB14C4}"/>
              </a:ext>
            </a:extLst>
          </p:cNvPr>
          <p:cNvSpPr>
            <a:spLocks noGrp="1"/>
          </p:cNvSpPr>
          <p:nvPr/>
        </p:nvSpPr>
        <p:spPr>
          <a:xfrm>
            <a:off x="8394192" y="2779776"/>
            <a:ext cx="256032" cy="256032"/>
          </a:xfrm>
          <a:prstGeom prst="ellipse">
            <a:avLst/>
          </a:prstGeom>
          <a:solidFill>
            <a:srgbClr val="2B6CB0"/>
          </a:solidFill>
          <a:ln w="12700" cmpd="sng">
            <a:solidFill>
              <a:srgbClr val="2B6CB0"/>
            </a:solidFill>
            <a:prstDash val="solid"/>
            <a:headEnd type="none" w="sm" len="sm"/>
            <a:tailEnd type="none" w="sm" len="sm"/>
          </a:ln>
        </p:spPr>
        <p:txBody>
          <a:bodyPr spcFirstLastPara="1" wrap="square" lIns="91425" tIns="45700" rIns="91425" bIns="45700" anchor="t">
            <a:noAutofit/>
          </a:bodyPr>
          <a:lstStyle/>
          <a:p>
            <a:pPr marL="0" indent="0" algn="l">
              <a:spcBef>
                <a:spcPts val="0"/>
              </a:spcBef>
              <a:spcAft>
                <a:spcPts val="0"/>
              </a:spcAft>
              <a:buNone/>
            </a:pPr>
            <a:endParaRPr/>
          </a:p>
        </p:txBody>
      </p:sp>
      <p:sp>
        <p:nvSpPr>
          <p:cNvPr id="157" name="Google Shape;157;p7">
            <a:extLst>
              <a:ext uri="{FF2B5EF4-FFF2-40B4-BE49-F238E27FC236}">
                <a16:creationId xmlns:a16="http://schemas.microsoft.com/office/drawing/2014/main" id="{AB7A27D0-9A25-4193-8B4C-6864650E586B}"/>
              </a:ext>
            </a:extLst>
          </p:cNvPr>
          <p:cNvSpPr>
            <a:spLocks noGrp="1"/>
          </p:cNvSpPr>
          <p:nvPr/>
        </p:nvSpPr>
        <p:spPr>
          <a:xfrm>
            <a:off x="8394192" y="2830068"/>
            <a:ext cx="256032" cy="109728"/>
          </a:xfrm>
          <a:prstGeom prst="rect">
            <a:avLst/>
          </a:prstGeom>
          <a:noFill/>
          <a:ln>
            <a:noFill/>
          </a:ln>
        </p:spPr>
        <p:txBody>
          <a:bodyPr spcFirstLastPara="1" wrap="square" lIns="0" tIns="0" rIns="0" bIns="0" anchor="ctr">
            <a:noAutofit/>
          </a:bodyPr>
          <a:lstStyle/>
          <a:p>
            <a:pPr marL="0" indent="0" algn="ctr">
              <a:spcBef>
                <a:spcPts val="0"/>
              </a:spcBef>
              <a:spcAft>
                <a:spcPts val="0"/>
              </a:spcAft>
              <a:buNone/>
            </a:pPr>
            <a:endParaRPr/>
          </a:p>
        </p:txBody>
      </p:sp>
      <p:sp>
        <p:nvSpPr>
          <p:cNvPr id="158" name="Google Shape;158;p7">
            <a:extLst>
              <a:ext uri="{FF2B5EF4-FFF2-40B4-BE49-F238E27FC236}">
                <a16:creationId xmlns:a16="http://schemas.microsoft.com/office/drawing/2014/main" id="{E9701341-0856-4F78-B4B9-247E0C5E4FDA}"/>
              </a:ext>
            </a:extLst>
          </p:cNvPr>
          <p:cNvSpPr>
            <a:spLocks noGrp="1"/>
          </p:cNvSpPr>
          <p:nvPr/>
        </p:nvSpPr>
        <p:spPr>
          <a:xfrm>
            <a:off x="8759952" y="2807208"/>
            <a:ext cx="1645920" cy="146304"/>
          </a:xfrm>
          <a:prstGeom prst="rect">
            <a:avLst/>
          </a:prstGeom>
          <a:noFill/>
          <a:ln>
            <a:noFill/>
          </a:ln>
        </p:spPr>
        <p:txBody>
          <a:bodyPr spcFirstLastPara="1" wrap="square" lIns="0" tIns="0" rIns="0" bIns="0" anchor="ctr">
            <a:noAutofit/>
          </a:bodyPr>
          <a:lstStyle/>
          <a:p>
            <a:pPr marL="0" indent="0" algn="l">
              <a:spcBef>
                <a:spcPts val="0"/>
              </a:spcBef>
              <a:spcAft>
                <a:spcPts val="0"/>
              </a:spcAft>
              <a:buNone/>
            </a:pPr>
            <a:r>
              <a:rPr sz="1100">
                <a:solidFill>
                  <a:srgbClr val="111827"/>
                </a:solidFill>
                <a:latin typeface="Arial"/>
                <a:ea typeface="Arial"/>
                <a:cs typeface="Arial"/>
              </a:rPr>
              <a:t>expected feasibility</a:t>
            </a:r>
          </a:p>
        </p:txBody>
      </p:sp>
      <p:sp>
        <p:nvSpPr>
          <p:cNvPr id="159" name="Google Shape;159;p7">
            <a:extLst>
              <a:ext uri="{FF2B5EF4-FFF2-40B4-BE49-F238E27FC236}">
                <a16:creationId xmlns:a16="http://schemas.microsoft.com/office/drawing/2014/main" id="{F95B15A3-A8D8-454A-B209-1D7389E982E8}"/>
              </a:ext>
            </a:extLst>
          </p:cNvPr>
          <p:cNvSpPr>
            <a:spLocks noGrp="1"/>
          </p:cNvSpPr>
          <p:nvPr/>
        </p:nvSpPr>
        <p:spPr>
          <a:xfrm>
            <a:off x="10652760" y="2807208"/>
            <a:ext cx="685800" cy="146304"/>
          </a:xfrm>
          <a:prstGeom prst="rect">
            <a:avLst/>
          </a:prstGeom>
          <a:noFill/>
          <a:ln>
            <a:noFill/>
          </a:ln>
        </p:spPr>
        <p:txBody>
          <a:bodyPr spcFirstLastPara="1" wrap="square" lIns="0" tIns="0" rIns="0" bIns="0" anchor="ctr">
            <a:noAutofit/>
          </a:bodyPr>
          <a:lstStyle/>
          <a:p>
            <a:pPr marL="0" indent="0" algn="r">
              <a:spcBef>
                <a:spcPts val="0"/>
              </a:spcBef>
              <a:spcAft>
                <a:spcPts val="0"/>
              </a:spcAft>
              <a:buNone/>
            </a:pPr>
            <a:r>
              <a:rPr sz="1100" b="1">
                <a:solidFill>
                  <a:srgbClr val="2B6CB0"/>
                </a:solidFill>
                <a:latin typeface="Arial"/>
                <a:ea typeface="Arial"/>
                <a:cs typeface="Arial"/>
              </a:rPr>
              <a:t>18.98%</a:t>
            </a:r>
          </a:p>
        </p:txBody>
      </p:sp>
      <p:sp>
        <p:nvSpPr>
          <p:cNvPr id="160" name="Google Shape;160;p7">
            <a:extLst>
              <a:ext uri="{FF2B5EF4-FFF2-40B4-BE49-F238E27FC236}">
                <a16:creationId xmlns:a16="http://schemas.microsoft.com/office/drawing/2014/main" id="{E5E03697-6340-46A6-8DF4-DFA6818BBF51}"/>
              </a:ext>
            </a:extLst>
          </p:cNvPr>
          <p:cNvSpPr>
            <a:spLocks noGrp="1"/>
          </p:cNvSpPr>
          <p:nvPr/>
        </p:nvSpPr>
        <p:spPr>
          <a:xfrm>
            <a:off x="8394192" y="3310128"/>
            <a:ext cx="256032" cy="256032"/>
          </a:xfrm>
          <a:prstGeom prst="ellipse">
            <a:avLst/>
          </a:prstGeom>
          <a:solidFill>
            <a:srgbClr val="9F1239"/>
          </a:solidFill>
          <a:ln w="12700" cmpd="sng">
            <a:solidFill>
              <a:srgbClr val="9F1239"/>
            </a:solidFill>
            <a:prstDash val="solid"/>
            <a:headEnd type="none" w="sm" len="sm"/>
            <a:tailEnd type="none" w="sm" len="sm"/>
          </a:ln>
        </p:spPr>
        <p:txBody>
          <a:bodyPr spcFirstLastPara="1" wrap="square" lIns="91425" tIns="45700" rIns="91425" bIns="45700" anchor="t">
            <a:noAutofit/>
          </a:bodyPr>
          <a:lstStyle/>
          <a:p>
            <a:pPr marL="0" indent="0" algn="l">
              <a:spcBef>
                <a:spcPts val="0"/>
              </a:spcBef>
              <a:spcAft>
                <a:spcPts val="0"/>
              </a:spcAft>
              <a:buNone/>
            </a:pPr>
            <a:endParaRPr/>
          </a:p>
        </p:txBody>
      </p:sp>
      <p:sp>
        <p:nvSpPr>
          <p:cNvPr id="161" name="Google Shape;161;p7">
            <a:extLst>
              <a:ext uri="{FF2B5EF4-FFF2-40B4-BE49-F238E27FC236}">
                <a16:creationId xmlns:a16="http://schemas.microsoft.com/office/drawing/2014/main" id="{A5148F75-34CC-44D7-93B8-B4B7A16B144F}"/>
              </a:ext>
            </a:extLst>
          </p:cNvPr>
          <p:cNvSpPr>
            <a:spLocks noGrp="1"/>
          </p:cNvSpPr>
          <p:nvPr/>
        </p:nvSpPr>
        <p:spPr>
          <a:xfrm>
            <a:off x="8394192" y="3360420"/>
            <a:ext cx="256032" cy="109728"/>
          </a:xfrm>
          <a:prstGeom prst="rect">
            <a:avLst/>
          </a:prstGeom>
          <a:noFill/>
          <a:ln>
            <a:noFill/>
          </a:ln>
        </p:spPr>
        <p:txBody>
          <a:bodyPr spcFirstLastPara="1" wrap="square" lIns="0" tIns="0" rIns="0" bIns="0" anchor="ctr">
            <a:noAutofit/>
          </a:bodyPr>
          <a:lstStyle/>
          <a:p>
            <a:pPr marL="0" indent="0" algn="ctr">
              <a:spcBef>
                <a:spcPts val="0"/>
              </a:spcBef>
              <a:spcAft>
                <a:spcPts val="0"/>
              </a:spcAft>
              <a:buNone/>
            </a:pPr>
            <a:endParaRPr/>
          </a:p>
        </p:txBody>
      </p:sp>
      <p:sp>
        <p:nvSpPr>
          <p:cNvPr id="162" name="Google Shape;162;p7">
            <a:extLst>
              <a:ext uri="{FF2B5EF4-FFF2-40B4-BE49-F238E27FC236}">
                <a16:creationId xmlns:a16="http://schemas.microsoft.com/office/drawing/2014/main" id="{DF3D2CE1-3B88-44FC-A57D-FD41D3DE463C}"/>
              </a:ext>
            </a:extLst>
          </p:cNvPr>
          <p:cNvSpPr>
            <a:spLocks noGrp="1"/>
          </p:cNvSpPr>
          <p:nvPr/>
        </p:nvSpPr>
        <p:spPr>
          <a:xfrm>
            <a:off x="8759952" y="3337560"/>
            <a:ext cx="1645920" cy="146304"/>
          </a:xfrm>
          <a:prstGeom prst="rect">
            <a:avLst/>
          </a:prstGeom>
          <a:noFill/>
          <a:ln>
            <a:noFill/>
          </a:ln>
        </p:spPr>
        <p:txBody>
          <a:bodyPr spcFirstLastPara="1" wrap="square" lIns="0" tIns="0" rIns="0" bIns="0" anchor="ctr">
            <a:noAutofit/>
          </a:bodyPr>
          <a:lstStyle/>
          <a:p>
            <a:pPr marL="0" indent="0" algn="l">
              <a:spcBef>
                <a:spcPts val="0"/>
              </a:spcBef>
              <a:spcAft>
                <a:spcPts val="0"/>
              </a:spcAft>
              <a:buNone/>
            </a:pPr>
            <a:r>
              <a:rPr sz="1100">
                <a:solidFill>
                  <a:srgbClr val="111827"/>
                </a:solidFill>
                <a:latin typeface="Arial"/>
                <a:ea typeface="Arial"/>
                <a:cs typeface="Arial"/>
              </a:rPr>
              <a:t>smallest abs(mu)</a:t>
            </a:r>
          </a:p>
        </p:txBody>
      </p:sp>
      <p:sp>
        <p:nvSpPr>
          <p:cNvPr id="163" name="Google Shape;163;p7">
            <a:extLst>
              <a:ext uri="{FF2B5EF4-FFF2-40B4-BE49-F238E27FC236}">
                <a16:creationId xmlns:a16="http://schemas.microsoft.com/office/drawing/2014/main" id="{B12A205E-D8DE-41F3-9E43-CCD44B8E2290}"/>
              </a:ext>
            </a:extLst>
          </p:cNvPr>
          <p:cNvSpPr>
            <a:spLocks noGrp="1"/>
          </p:cNvSpPr>
          <p:nvPr/>
        </p:nvSpPr>
        <p:spPr>
          <a:xfrm>
            <a:off x="10652760" y="3337560"/>
            <a:ext cx="685800" cy="146304"/>
          </a:xfrm>
          <a:prstGeom prst="rect">
            <a:avLst/>
          </a:prstGeom>
          <a:noFill/>
          <a:ln>
            <a:noFill/>
          </a:ln>
        </p:spPr>
        <p:txBody>
          <a:bodyPr spcFirstLastPara="1" wrap="square" lIns="0" tIns="0" rIns="0" bIns="0" anchor="ctr">
            <a:noAutofit/>
          </a:bodyPr>
          <a:lstStyle/>
          <a:p>
            <a:pPr marL="0" indent="0" algn="r">
              <a:spcBef>
                <a:spcPts val="0"/>
              </a:spcBef>
              <a:spcAft>
                <a:spcPts val="0"/>
              </a:spcAft>
              <a:buNone/>
            </a:pPr>
            <a:r>
              <a:rPr sz="1100" b="1">
                <a:solidFill>
                  <a:srgbClr val="9F1239"/>
                </a:solidFill>
                <a:latin typeface="Arial"/>
                <a:ea typeface="Arial"/>
                <a:cs typeface="Arial"/>
              </a:rPr>
              <a:t>23.62%</a:t>
            </a:r>
          </a:p>
        </p:txBody>
      </p:sp>
      <p:sp>
        <p:nvSpPr>
          <p:cNvPr id="164" name="Google Shape;164;p7">
            <a:extLst>
              <a:ext uri="{FF2B5EF4-FFF2-40B4-BE49-F238E27FC236}">
                <a16:creationId xmlns:a16="http://schemas.microsoft.com/office/drawing/2014/main" id="{37703292-23A3-435C-B573-A0C0AF7909A9}"/>
              </a:ext>
            </a:extLst>
          </p:cNvPr>
          <p:cNvSpPr>
            <a:spLocks noGrp="1"/>
          </p:cNvSpPr>
          <p:nvPr/>
        </p:nvSpPr>
        <p:spPr>
          <a:xfrm>
            <a:off x="8394192" y="3840480"/>
            <a:ext cx="256032" cy="256032"/>
          </a:xfrm>
          <a:prstGeom prst="ellipse">
            <a:avLst/>
          </a:prstGeom>
          <a:solidFill>
            <a:srgbClr val="6B7280"/>
          </a:solidFill>
          <a:ln w="12700" cmpd="sng">
            <a:solidFill>
              <a:srgbClr val="6B7280"/>
            </a:solidFill>
            <a:prstDash val="solid"/>
            <a:headEnd type="none" w="sm" len="sm"/>
            <a:tailEnd type="none" w="sm" len="sm"/>
          </a:ln>
        </p:spPr>
        <p:txBody>
          <a:bodyPr spcFirstLastPara="1" wrap="square" lIns="91425" tIns="45700" rIns="91425" bIns="45700" anchor="t">
            <a:noAutofit/>
          </a:bodyPr>
          <a:lstStyle/>
          <a:p>
            <a:pPr marL="0" indent="0" algn="l">
              <a:spcBef>
                <a:spcPts val="0"/>
              </a:spcBef>
              <a:spcAft>
                <a:spcPts val="0"/>
              </a:spcAft>
              <a:buNone/>
            </a:pPr>
            <a:endParaRPr/>
          </a:p>
        </p:txBody>
      </p:sp>
      <p:sp>
        <p:nvSpPr>
          <p:cNvPr id="165" name="Google Shape;165;p7">
            <a:extLst>
              <a:ext uri="{FF2B5EF4-FFF2-40B4-BE49-F238E27FC236}">
                <a16:creationId xmlns:a16="http://schemas.microsoft.com/office/drawing/2014/main" id="{CCEDA26D-0C7F-499C-A93D-71C5901F0836}"/>
              </a:ext>
            </a:extLst>
          </p:cNvPr>
          <p:cNvSpPr>
            <a:spLocks noGrp="1"/>
          </p:cNvSpPr>
          <p:nvPr/>
        </p:nvSpPr>
        <p:spPr>
          <a:xfrm>
            <a:off x="8394192" y="3890772"/>
            <a:ext cx="256032" cy="109728"/>
          </a:xfrm>
          <a:prstGeom prst="rect">
            <a:avLst/>
          </a:prstGeom>
          <a:noFill/>
          <a:ln>
            <a:noFill/>
          </a:ln>
        </p:spPr>
        <p:txBody>
          <a:bodyPr spcFirstLastPara="1" wrap="square" lIns="0" tIns="0" rIns="0" bIns="0" anchor="ctr">
            <a:noAutofit/>
          </a:bodyPr>
          <a:lstStyle/>
          <a:p>
            <a:pPr marL="0" indent="0" algn="ctr">
              <a:spcBef>
                <a:spcPts val="0"/>
              </a:spcBef>
              <a:spcAft>
                <a:spcPts val="0"/>
              </a:spcAft>
              <a:buNone/>
            </a:pPr>
            <a:endParaRPr/>
          </a:p>
        </p:txBody>
      </p:sp>
      <p:sp>
        <p:nvSpPr>
          <p:cNvPr id="166" name="Google Shape;166;p7">
            <a:extLst>
              <a:ext uri="{FF2B5EF4-FFF2-40B4-BE49-F238E27FC236}">
                <a16:creationId xmlns:a16="http://schemas.microsoft.com/office/drawing/2014/main" id="{B03D9E3B-68FB-4961-81C8-FE3B9134CE1E}"/>
              </a:ext>
            </a:extLst>
          </p:cNvPr>
          <p:cNvSpPr>
            <a:spLocks noGrp="1"/>
          </p:cNvSpPr>
          <p:nvPr/>
        </p:nvSpPr>
        <p:spPr>
          <a:xfrm>
            <a:off x="8759952" y="3867912"/>
            <a:ext cx="1645920" cy="146304"/>
          </a:xfrm>
          <a:prstGeom prst="rect">
            <a:avLst/>
          </a:prstGeom>
          <a:noFill/>
          <a:ln>
            <a:noFill/>
          </a:ln>
        </p:spPr>
        <p:txBody>
          <a:bodyPr spcFirstLastPara="1" wrap="square" lIns="0" tIns="0" rIns="0" bIns="0" anchor="ctr">
            <a:noAutofit/>
          </a:bodyPr>
          <a:lstStyle/>
          <a:p>
            <a:pPr marL="0" indent="0" algn="l">
              <a:spcBef>
                <a:spcPts val="0"/>
              </a:spcBef>
              <a:spcAft>
                <a:spcPts val="0"/>
              </a:spcAft>
              <a:buNone/>
            </a:pPr>
            <a:r>
              <a:rPr sz="1100">
                <a:solidFill>
                  <a:srgbClr val="111827"/>
                </a:solidFill>
                <a:latin typeface="Arial"/>
                <a:ea typeface="Arial"/>
                <a:cs typeface="Arial"/>
              </a:rPr>
              <a:t>random</a:t>
            </a:r>
          </a:p>
        </p:txBody>
      </p:sp>
      <p:sp>
        <p:nvSpPr>
          <p:cNvPr id="167" name="Google Shape;167;p7">
            <a:extLst>
              <a:ext uri="{FF2B5EF4-FFF2-40B4-BE49-F238E27FC236}">
                <a16:creationId xmlns:a16="http://schemas.microsoft.com/office/drawing/2014/main" id="{86A5F43E-5BCE-4F9B-8DCE-209294D4F530}"/>
              </a:ext>
            </a:extLst>
          </p:cNvPr>
          <p:cNvSpPr>
            <a:spLocks noGrp="1"/>
          </p:cNvSpPr>
          <p:nvPr/>
        </p:nvSpPr>
        <p:spPr>
          <a:xfrm>
            <a:off x="10652760" y="3867912"/>
            <a:ext cx="685800" cy="146304"/>
          </a:xfrm>
          <a:prstGeom prst="rect">
            <a:avLst/>
          </a:prstGeom>
          <a:noFill/>
          <a:ln>
            <a:noFill/>
          </a:ln>
        </p:spPr>
        <p:txBody>
          <a:bodyPr spcFirstLastPara="1" wrap="square" lIns="0" tIns="0" rIns="0" bIns="0" anchor="ctr">
            <a:noAutofit/>
          </a:bodyPr>
          <a:lstStyle/>
          <a:p>
            <a:pPr marL="0" indent="0" algn="r">
              <a:spcBef>
                <a:spcPts val="0"/>
              </a:spcBef>
              <a:spcAft>
                <a:spcPts val="0"/>
              </a:spcAft>
              <a:buNone/>
            </a:pPr>
            <a:r>
              <a:rPr sz="1100" b="1">
                <a:solidFill>
                  <a:srgbClr val="6B7280"/>
                </a:solidFill>
                <a:latin typeface="Arial"/>
                <a:ea typeface="Arial"/>
                <a:cs typeface="Arial"/>
              </a:rPr>
              <a:t>28.27%</a:t>
            </a:r>
          </a:p>
        </p:txBody>
      </p:sp>
      <p:sp>
        <p:nvSpPr>
          <p:cNvPr id="168" name="Google Shape;168;p7">
            <a:extLst>
              <a:ext uri="{FF2B5EF4-FFF2-40B4-BE49-F238E27FC236}">
                <a16:creationId xmlns:a16="http://schemas.microsoft.com/office/drawing/2014/main" id="{145F9010-7029-495B-B7DB-19DB1E0C0348}"/>
              </a:ext>
            </a:extLst>
          </p:cNvPr>
          <p:cNvSpPr>
            <a:spLocks noGrp="1"/>
          </p:cNvSpPr>
          <p:nvPr/>
        </p:nvSpPr>
        <p:spPr>
          <a:xfrm>
            <a:off x="8348472" y="4572000"/>
            <a:ext cx="2907792" cy="731520"/>
          </a:xfrm>
          <a:prstGeom prst="roundRect">
            <a:avLst>
              <a:gd name="adj" fmla="val 11250"/>
            </a:avLst>
          </a:prstGeom>
          <a:solidFill>
            <a:srgbClr val="FFF7ED"/>
          </a:solidFill>
          <a:ln w="10150" cmpd="sng">
            <a:solidFill>
              <a:srgbClr val="FED7AA"/>
            </a:solidFill>
            <a:prstDash val="solid"/>
            <a:headEnd type="none" w="sm" len="sm"/>
            <a:tailEnd type="none" w="sm" len="sm"/>
          </a:ln>
        </p:spPr>
        <p:txBody>
          <a:bodyPr spcFirstLastPara="1" wrap="square" lIns="91425" tIns="45700" rIns="91425" bIns="45700" anchor="t">
            <a:noAutofit/>
          </a:bodyPr>
          <a:lstStyle/>
          <a:p>
            <a:pPr marL="0" indent="0" algn="l">
              <a:spcBef>
                <a:spcPts val="0"/>
              </a:spcBef>
              <a:spcAft>
                <a:spcPts val="0"/>
              </a:spcAft>
              <a:buNone/>
            </a:pPr>
            <a:endParaRPr/>
          </a:p>
        </p:txBody>
      </p:sp>
      <p:sp>
        <p:nvSpPr>
          <p:cNvPr id="169" name="Google Shape;169;p7">
            <a:extLst>
              <a:ext uri="{FF2B5EF4-FFF2-40B4-BE49-F238E27FC236}">
                <a16:creationId xmlns:a16="http://schemas.microsoft.com/office/drawing/2014/main" id="{5E225263-EFAB-4A3D-8ACB-A210C3D77A46}"/>
              </a:ext>
            </a:extLst>
          </p:cNvPr>
          <p:cNvSpPr>
            <a:spLocks noGrp="1"/>
          </p:cNvSpPr>
          <p:nvPr/>
        </p:nvSpPr>
        <p:spPr>
          <a:xfrm>
            <a:off x="8549640" y="4709160"/>
            <a:ext cx="1188720" cy="137160"/>
          </a:xfrm>
          <a:prstGeom prst="rect">
            <a:avLst/>
          </a:prstGeom>
          <a:noFill/>
          <a:ln>
            <a:noFill/>
          </a:ln>
        </p:spPr>
        <p:txBody>
          <a:bodyPr spcFirstLastPara="1" wrap="square" lIns="0" tIns="0" rIns="0" bIns="0" anchor="ctr">
            <a:noAutofit/>
          </a:bodyPr>
          <a:lstStyle/>
          <a:p>
            <a:pPr marL="0" indent="0" algn="l">
              <a:spcBef>
                <a:spcPts val="0"/>
              </a:spcBef>
              <a:spcAft>
                <a:spcPts val="0"/>
              </a:spcAft>
              <a:buNone/>
            </a:pPr>
            <a:r>
              <a:rPr sz="1100" b="1">
                <a:solidFill>
                  <a:srgbClr val="B7791F"/>
                </a:solidFill>
                <a:latin typeface="Arial"/>
                <a:ea typeface="Arial"/>
                <a:cs typeface="Arial"/>
              </a:rPr>
              <a:t>Safe wording</a:t>
            </a:r>
          </a:p>
        </p:txBody>
      </p:sp>
      <p:sp>
        <p:nvSpPr>
          <p:cNvPr id="170" name="Google Shape;170;p7">
            <a:extLst>
              <a:ext uri="{FF2B5EF4-FFF2-40B4-BE49-F238E27FC236}">
                <a16:creationId xmlns:a16="http://schemas.microsoft.com/office/drawing/2014/main" id="{DA9C74D6-3B3A-426C-914F-703AA59F43CF}"/>
              </a:ext>
            </a:extLst>
          </p:cNvPr>
          <p:cNvSpPr>
            <a:spLocks noGrp="1"/>
          </p:cNvSpPr>
          <p:nvPr/>
        </p:nvSpPr>
        <p:spPr>
          <a:xfrm>
            <a:off x="8549640" y="4956048"/>
            <a:ext cx="2514600" cy="173736"/>
          </a:xfrm>
          <a:prstGeom prst="rect">
            <a:avLst/>
          </a:prstGeom>
          <a:noFill/>
          <a:ln>
            <a:noFill/>
          </a:ln>
        </p:spPr>
        <p:txBody>
          <a:bodyPr spcFirstLastPara="1" wrap="square" lIns="0" tIns="0" rIns="0" bIns="0" anchor="ctr">
            <a:noAutofit/>
          </a:bodyPr>
          <a:lstStyle/>
          <a:p>
            <a:pPr marL="0" indent="0" algn="l">
              <a:spcBef>
                <a:spcPts val="0"/>
              </a:spcBef>
              <a:spcAft>
                <a:spcPts val="0"/>
              </a:spcAft>
              <a:buNone/>
            </a:pPr>
            <a:r>
              <a:rPr sz="1100">
                <a:solidFill>
                  <a:srgbClr val="4B5563"/>
                </a:solidFill>
                <a:latin typeface="Arial"/>
                <a:ea typeface="Arial"/>
                <a:cs typeface="Arial"/>
              </a:rPr>
              <a:t>Best on this named 4D global-error benchmark, not a final thesis method ranking.</a:t>
            </a:r>
          </a:p>
        </p:txBody>
      </p:sp>
      <p:cxnSp>
        <p:nvCxnSpPr>
          <p:cNvPr id="236" name="Google Shape;171;p7"/>
          <p:cNvCxnSpPr/>
          <p:nvPr/>
        </p:nvCxnSpPr>
        <p:spPr>
          <a:xfrm>
            <a:off x="502920" y="6446520"/>
            <a:ext cx="11201400" cy="0"/>
          </a:xfrm>
          <a:prstGeom prst="straightConnector1">
            <a:avLst/>
          </a:prstGeom>
          <a:ln w="9525" cap="flat">
            <a:solidFill>
              <a:srgbClr val="D9DEE8"/>
            </a:solidFill>
            <a:prstDash val="solid"/>
            <a:round/>
            <a:headEnd type="none" w="sm" len="sm"/>
            <a:tailEnd type="none" w="sm" len="sm"/>
          </a:ln>
        </p:spPr>
      </p:cxnSp>
      <p:sp>
        <p:nvSpPr>
          <p:cNvPr id="172" name="Google Shape;172;p7">
            <a:extLst>
              <a:ext uri="{FF2B5EF4-FFF2-40B4-BE49-F238E27FC236}">
                <a16:creationId xmlns:a16="http://schemas.microsoft.com/office/drawing/2014/main" id="{17CE0911-0117-4194-9C8E-3BA8EF3775EE}"/>
              </a:ext>
            </a:extLst>
          </p:cNvPr>
          <p:cNvSpPr>
            <a:spLocks noGrp="1"/>
          </p:cNvSpPr>
          <p:nvPr/>
        </p:nvSpPr>
        <p:spPr>
          <a:xfrm>
            <a:off x="502920" y="6519672"/>
            <a:ext cx="8961120" cy="164592"/>
          </a:xfrm>
          <a:prstGeom prst="rect">
            <a:avLst/>
          </a:prstGeom>
          <a:noFill/>
          <a:ln>
            <a:noFill/>
          </a:ln>
        </p:spPr>
        <p:txBody>
          <a:bodyPr spcFirstLastPara="1" wrap="square" lIns="0" tIns="0" rIns="0" bIns="0" anchor="ctr">
            <a:noAutofit/>
          </a:bodyPr>
          <a:lstStyle/>
          <a:p>
            <a:pPr marL="0" indent="0" algn="l">
              <a:spcBef>
                <a:spcPts val="0"/>
              </a:spcBef>
              <a:spcAft>
                <a:spcPts val="0"/>
              </a:spcAft>
              <a:buNone/>
            </a:pPr>
            <a:r>
              <a:rPr sz="780">
                <a:solidFill>
                  <a:srgbClr val="6B7280"/>
                </a:solidFill>
                <a:latin typeface="Arial"/>
                <a:ea typeface="Arial"/>
                <a:cs typeface="Arial"/>
              </a:rPr>
              <a:t>Week 3 extended update - Sample-Efficient Active Level-Set Estimation - 7</a:t>
            </a:r>
          </a:p>
        </p:txBody>
      </p:sp>
      <p:sp>
        <p:nvSpPr>
          <p:cNvPr id="173" name="Google Shape;173;p7">
            <a:extLst>
              <a:ext uri="{FF2B5EF4-FFF2-40B4-BE49-F238E27FC236}">
                <a16:creationId xmlns:a16="http://schemas.microsoft.com/office/drawing/2014/main" id="{7E348F6B-B4F5-4DD9-851B-450FC1334BE5}"/>
              </a:ext>
            </a:extLst>
          </p:cNvPr>
          <p:cNvSpPr>
            <a:spLocks noGrp="1"/>
          </p:cNvSpPr>
          <p:nvPr/>
        </p:nvSpPr>
        <p:spPr>
          <a:xfrm>
            <a:off x="11521440" y="6492240"/>
            <a:ext cx="228600" cy="164592"/>
          </a:xfrm>
          <a:prstGeom prst="rect">
            <a:avLst/>
          </a:prstGeom>
          <a:noFill/>
          <a:ln>
            <a:noFill/>
          </a:ln>
        </p:spPr>
        <p:txBody>
          <a:bodyPr spcFirstLastPara="1" wrap="square" lIns="0" tIns="0" rIns="0" bIns="0" anchor="ctr">
            <a:noAutofit/>
          </a:bodyPr>
          <a:lstStyle/>
          <a:p>
            <a:pPr marL="0" indent="0" algn="r">
              <a:spcBef>
                <a:spcPts val="0"/>
              </a:spcBef>
              <a:spcAft>
                <a:spcPts val="0"/>
              </a:spcAft>
              <a:buNone/>
            </a:pPr>
            <a:r>
              <a:rPr sz="780">
                <a:solidFill>
                  <a:srgbClr val="6B7280"/>
                </a:solidFill>
                <a:latin typeface="Arial"/>
                <a:ea typeface="Arial"/>
                <a:cs typeface="Arial"/>
              </a:rPr>
              <a:t>7</a:t>
            </a:r>
          </a:p>
        </p:txBody>
      </p:sp>
      <p:pic>
        <p:nvPicPr>
          <p:cNvPr id="239" name="Picture 238"/>
          <p:cNvPicPr>
            <a:picLocks noChangeAspect="1"/>
          </p:cNvPicPr>
          <p:nvPr/>
        </p:nvPicPr>
        <p:blipFill>
          <a:blip r:embed="rId4"/>
          <a:stretch/>
        </p:blipFill>
        <p:spPr>
          <a:xfrm>
            <a:off x="502920" y="1319022"/>
            <a:ext cx="7406640" cy="4402836"/>
          </a:xfrm>
          <a:prstGeom prst="rect">
            <a:avLst/>
          </a:prstGeom>
        </p:spPr>
      </p:pic>
    </p:spTree>
    <p:extLst>
      <p:ext uri="{BB962C8B-B14F-4D97-AF65-F5344CB8AC3E}">
        <p14:creationId xmlns:p14="http://schemas.microsoft.com/office/powerpoint/2010/main" val="1479111479"/>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rgbClr val="F6F8FC"/>
        </a:solidFill>
        <a:effectLst/>
      </p:bgPr>
    </p:bg>
    <p:spTree>
      <p:nvGrpSpPr>
        <p:cNvPr id="1" name=""/>
        <p:cNvGrpSpPr/>
        <p:nvPr/>
      </p:nvGrpSpPr>
      <p:grpSpPr>
        <a:xfrm>
          <a:off x="0" y="0"/>
          <a:ext cx="0" cy="0"/>
          <a:chOff x="0" y="0"/>
          <a:chExt cx="0" cy="0"/>
        </a:xfrm>
      </p:grpSpPr>
      <p:sp>
        <p:nvSpPr>
          <p:cNvPr id="118" name="Google Shape;118;p6">
            <a:extLst>
              <a:ext uri="{FF2B5EF4-FFF2-40B4-BE49-F238E27FC236}">
                <a16:creationId xmlns:a16="http://schemas.microsoft.com/office/drawing/2014/main" id="{489568B9-A774-4E90-B120-D71F779B6CB5}"/>
              </a:ext>
            </a:extLst>
          </p:cNvPr>
          <p:cNvSpPr>
            <a:spLocks noGrp="1"/>
          </p:cNvSpPr>
          <p:nvPr/>
        </p:nvSpPr>
        <p:spPr>
          <a:xfrm>
            <a:off x="502920" y="329184"/>
            <a:ext cx="10789920" cy="320040"/>
          </a:xfrm>
          <a:prstGeom prst="rect">
            <a:avLst/>
          </a:prstGeom>
          <a:noFill/>
          <a:ln>
            <a:noFill/>
          </a:ln>
        </p:spPr>
        <p:txBody>
          <a:bodyPr spcFirstLastPara="1" wrap="square" lIns="0" tIns="0" rIns="0" bIns="0" anchor="ctr">
            <a:noAutofit/>
          </a:bodyPr>
          <a:lstStyle/>
          <a:p>
            <a:pPr marL="0" indent="0" algn="l">
              <a:spcBef>
                <a:spcPts val="0"/>
              </a:spcBef>
              <a:spcAft>
                <a:spcPts val="0"/>
              </a:spcAft>
              <a:buNone/>
            </a:pPr>
            <a:r>
              <a:rPr sz="2200" b="1">
                <a:solidFill>
                  <a:srgbClr val="1F2A44"/>
                </a:solidFill>
                <a:latin typeface="Play"/>
                <a:ea typeface="Play"/>
                <a:cs typeface="Play"/>
              </a:rPr>
              <a:t>Boundary metrics change the ranking</a:t>
            </a:r>
          </a:p>
        </p:txBody>
      </p:sp>
      <p:sp>
        <p:nvSpPr>
          <p:cNvPr id="119" name="Google Shape;119;p6">
            <a:extLst>
              <a:ext uri="{FF2B5EF4-FFF2-40B4-BE49-F238E27FC236}">
                <a16:creationId xmlns:a16="http://schemas.microsoft.com/office/drawing/2014/main" id="{1B300875-D9B9-41D2-96FA-DD3EC39C23B0}"/>
              </a:ext>
            </a:extLst>
          </p:cNvPr>
          <p:cNvSpPr>
            <a:spLocks noGrp="1"/>
          </p:cNvSpPr>
          <p:nvPr/>
        </p:nvSpPr>
        <p:spPr>
          <a:xfrm>
            <a:off x="521208" y="713232"/>
            <a:ext cx="10515600" cy="237744"/>
          </a:xfrm>
          <a:prstGeom prst="rect">
            <a:avLst/>
          </a:prstGeom>
          <a:noFill/>
          <a:ln>
            <a:noFill/>
          </a:ln>
        </p:spPr>
        <p:txBody>
          <a:bodyPr spcFirstLastPara="1" wrap="square" lIns="0" tIns="0" rIns="0" bIns="0" anchor="ctr">
            <a:noAutofit/>
          </a:bodyPr>
          <a:lstStyle/>
          <a:p>
            <a:pPr marL="0" indent="0" algn="l">
              <a:spcBef>
                <a:spcPts val="0"/>
              </a:spcBef>
              <a:spcAft>
                <a:spcPts val="0"/>
              </a:spcAft>
              <a:buNone/>
            </a:pPr>
            <a:r>
              <a:rPr sz="1100">
                <a:solidFill>
                  <a:srgbClr val="4B5563"/>
                </a:solidFill>
                <a:latin typeface="Arial"/>
                <a:ea typeface="Arial"/>
                <a:cs typeface="Arial"/>
              </a:rPr>
              <a:t>Global error is useful, but level-set estimation needs near-boundary evaluation.</a:t>
            </a:r>
          </a:p>
        </p:txBody>
      </p:sp>
      <p:sp>
        <p:nvSpPr>
          <p:cNvPr id="120" name="Google Shape;120;p6">
            <a:extLst>
              <a:ext uri="{FF2B5EF4-FFF2-40B4-BE49-F238E27FC236}">
                <a16:creationId xmlns:a16="http://schemas.microsoft.com/office/drawing/2014/main" id="{895D138E-4963-4A7A-A5CA-DAC277D3F878}"/>
              </a:ext>
            </a:extLst>
          </p:cNvPr>
          <p:cNvSpPr>
            <a:spLocks noGrp="1"/>
          </p:cNvSpPr>
          <p:nvPr/>
        </p:nvSpPr>
        <p:spPr>
          <a:xfrm>
            <a:off x="502920" y="1051560"/>
            <a:ext cx="7909560" cy="5029200"/>
          </a:xfrm>
          <a:prstGeom prst="roundRect">
            <a:avLst>
              <a:gd name="adj" fmla="val 1636"/>
            </a:avLst>
          </a:prstGeom>
          <a:solidFill>
            <a:srgbClr val="FFFFFF"/>
          </a:solidFill>
          <a:ln w="10150" cmpd="sng">
            <a:solidFill>
              <a:srgbClr val="D9DEE8"/>
            </a:solidFill>
            <a:prstDash val="solid"/>
            <a:headEnd type="none" w="sm" len="sm"/>
            <a:tailEnd type="none" w="sm" len="sm"/>
          </a:ln>
        </p:spPr>
        <p:txBody>
          <a:bodyPr spcFirstLastPara="1" wrap="square" lIns="91425" tIns="45700" rIns="91425" bIns="45700" anchor="t">
            <a:noAutofit/>
          </a:bodyPr>
          <a:lstStyle/>
          <a:p>
            <a:pPr marL="0" indent="0" algn="l">
              <a:spcBef>
                <a:spcPts val="0"/>
              </a:spcBef>
              <a:spcAft>
                <a:spcPts val="0"/>
              </a:spcAft>
              <a:buNone/>
            </a:pPr>
            <a:endParaRPr/>
          </a:p>
        </p:txBody>
      </p:sp>
      <p:pic>
        <p:nvPicPr>
          <p:cNvPr id="160" name="Google Shape;121;p6"/>
          <p:cNvPicPr>
            <a:picLocks noChangeAspect="1"/>
          </p:cNvPicPr>
          <p:nvPr/>
        </p:nvPicPr>
        <p:blipFill rotWithShape="1">
          <a:blip r:embed="rId3">
            <a:alphaModFix/>
          </a:blip>
          <a:srcRect t="19287" b="19287"/>
          <a:stretch>
            <a:fillRect/>
          </a:stretch>
        </p:blipFill>
        <p:spPr>
          <a:xfrm>
            <a:off x="502920" y="1136905"/>
            <a:ext cx="7909560" cy="4858509"/>
          </a:xfrm>
          <a:prstGeom prst="rect">
            <a:avLst/>
          </a:prstGeom>
          <a:ln>
            <a:noFill/>
          </a:ln>
        </p:spPr>
      </p:pic>
      <p:sp>
        <p:nvSpPr>
          <p:cNvPr id="122" name="Google Shape;122;p6">
            <a:extLst>
              <a:ext uri="{FF2B5EF4-FFF2-40B4-BE49-F238E27FC236}">
                <a16:creationId xmlns:a16="http://schemas.microsoft.com/office/drawing/2014/main" id="{CBC2BBD6-2EF3-475C-90FD-FCBE3C4712A7}"/>
              </a:ext>
            </a:extLst>
          </p:cNvPr>
          <p:cNvSpPr>
            <a:spLocks noGrp="1"/>
          </p:cNvSpPr>
          <p:nvPr/>
        </p:nvSpPr>
        <p:spPr>
          <a:xfrm>
            <a:off x="8641080" y="1051560"/>
            <a:ext cx="2971800" cy="5029200"/>
          </a:xfrm>
          <a:prstGeom prst="roundRect">
            <a:avLst>
              <a:gd name="adj" fmla="val 2769"/>
            </a:avLst>
          </a:prstGeom>
          <a:solidFill>
            <a:srgbClr val="FFFFFF"/>
          </a:solidFill>
          <a:ln w="10150" cmpd="sng">
            <a:solidFill>
              <a:srgbClr val="D9DEE8"/>
            </a:solidFill>
            <a:prstDash val="solid"/>
            <a:headEnd type="none" w="sm" len="sm"/>
            <a:tailEnd type="none" w="sm" len="sm"/>
          </a:ln>
          <a:effectLst>
            <a:outerShdw blurRad="15240" dist="50800" dir="2700000" algn="bl" rotWithShape="0">
              <a:srgbClr val="000000">
                <a:alpha val="7843"/>
              </a:srgbClr>
            </a:outerShdw>
          </a:effectLst>
        </p:spPr>
        <p:txBody>
          <a:bodyPr spcFirstLastPara="1" wrap="square" lIns="91425" tIns="45700" rIns="91425" bIns="45700" anchor="t">
            <a:noAutofit/>
          </a:bodyPr>
          <a:lstStyle/>
          <a:p>
            <a:pPr marL="0" indent="0" algn="l">
              <a:spcBef>
                <a:spcPts val="0"/>
              </a:spcBef>
              <a:spcAft>
                <a:spcPts val="0"/>
              </a:spcAft>
              <a:buNone/>
            </a:pPr>
            <a:endParaRPr/>
          </a:p>
        </p:txBody>
      </p:sp>
      <p:sp>
        <p:nvSpPr>
          <p:cNvPr id="123" name="Google Shape;123;p6">
            <a:extLst>
              <a:ext uri="{FF2B5EF4-FFF2-40B4-BE49-F238E27FC236}">
                <a16:creationId xmlns:a16="http://schemas.microsoft.com/office/drawing/2014/main" id="{48025F33-2BA3-486B-AD7B-133734F39CCD}"/>
              </a:ext>
            </a:extLst>
          </p:cNvPr>
          <p:cNvSpPr>
            <a:spLocks noGrp="1"/>
          </p:cNvSpPr>
          <p:nvPr/>
        </p:nvSpPr>
        <p:spPr>
          <a:xfrm>
            <a:off x="8887968" y="1325880"/>
            <a:ext cx="2377440" cy="164592"/>
          </a:xfrm>
          <a:prstGeom prst="rect">
            <a:avLst/>
          </a:prstGeom>
          <a:noFill/>
          <a:ln>
            <a:noFill/>
          </a:ln>
        </p:spPr>
        <p:txBody>
          <a:bodyPr spcFirstLastPara="1" wrap="square" lIns="0" tIns="0" rIns="0" bIns="0" anchor="ctr">
            <a:noAutofit/>
          </a:bodyPr>
          <a:lstStyle/>
          <a:p>
            <a:pPr marL="0" indent="0" algn="l">
              <a:spcBef>
                <a:spcPts val="0"/>
              </a:spcBef>
              <a:spcAft>
                <a:spcPts val="0"/>
              </a:spcAft>
              <a:buNone/>
            </a:pPr>
            <a:r>
              <a:rPr sz="1400" b="1">
                <a:solidFill>
                  <a:srgbClr val="1F2A44"/>
                </a:solidFill>
                <a:latin typeface="Arial"/>
                <a:ea typeface="Arial"/>
                <a:cs typeface="Arial"/>
              </a:rPr>
              <a:t>What the boundary metrics show</a:t>
            </a:r>
          </a:p>
        </p:txBody>
      </p:sp>
      <p:sp>
        <p:nvSpPr>
          <p:cNvPr id="124" name="Google Shape;124;p6">
            <a:extLst>
              <a:ext uri="{FF2B5EF4-FFF2-40B4-BE49-F238E27FC236}">
                <a16:creationId xmlns:a16="http://schemas.microsoft.com/office/drawing/2014/main" id="{82BAA3FE-9695-49A5-BBE1-4C49BFD8047D}"/>
              </a:ext>
            </a:extLst>
          </p:cNvPr>
          <p:cNvSpPr>
            <a:spLocks noGrp="1"/>
          </p:cNvSpPr>
          <p:nvPr/>
        </p:nvSpPr>
        <p:spPr>
          <a:xfrm>
            <a:off x="8887968" y="1796796"/>
            <a:ext cx="109728" cy="146304"/>
          </a:xfrm>
          <a:prstGeom prst="rect">
            <a:avLst/>
          </a:prstGeom>
          <a:noFill/>
          <a:ln>
            <a:noFill/>
          </a:ln>
        </p:spPr>
        <p:txBody>
          <a:bodyPr spcFirstLastPara="1" wrap="square" lIns="0" tIns="0" rIns="0" bIns="0" anchor="ctr">
            <a:noAutofit/>
          </a:bodyPr>
          <a:lstStyle/>
          <a:p>
            <a:pPr marL="0" indent="0" algn="l">
              <a:spcBef>
                <a:spcPts val="0"/>
              </a:spcBef>
              <a:spcAft>
                <a:spcPts val="0"/>
              </a:spcAft>
              <a:buNone/>
            </a:pPr>
            <a:r>
              <a:rPr sz="900">
                <a:solidFill>
                  <a:srgbClr val="1F2A44"/>
                </a:solidFill>
                <a:latin typeface="Arial"/>
                <a:ea typeface="Arial"/>
                <a:cs typeface="Arial"/>
              </a:rPr>
              <a:t>-</a:t>
            </a:r>
          </a:p>
        </p:txBody>
      </p:sp>
      <p:sp>
        <p:nvSpPr>
          <p:cNvPr id="125" name="Google Shape;125;p6">
            <a:extLst>
              <a:ext uri="{FF2B5EF4-FFF2-40B4-BE49-F238E27FC236}">
                <a16:creationId xmlns:a16="http://schemas.microsoft.com/office/drawing/2014/main" id="{383C29E0-2C94-4747-8431-DF6EE49A1C25}"/>
              </a:ext>
            </a:extLst>
          </p:cNvPr>
          <p:cNvSpPr>
            <a:spLocks noGrp="1"/>
          </p:cNvSpPr>
          <p:nvPr/>
        </p:nvSpPr>
        <p:spPr>
          <a:xfrm>
            <a:off x="9052560" y="1783080"/>
            <a:ext cx="2304288" cy="329184"/>
          </a:xfrm>
          <a:prstGeom prst="rect">
            <a:avLst/>
          </a:prstGeom>
          <a:noFill/>
          <a:ln>
            <a:noFill/>
          </a:ln>
        </p:spPr>
        <p:txBody>
          <a:bodyPr spcFirstLastPara="1" wrap="square" lIns="0" tIns="0" rIns="0" bIns="0" anchor="ctr">
            <a:noAutofit/>
          </a:bodyPr>
          <a:lstStyle/>
          <a:p>
            <a:pPr marL="0" indent="0" algn="l">
              <a:spcBef>
                <a:spcPts val="0"/>
              </a:spcBef>
              <a:spcAft>
                <a:spcPts val="0"/>
              </a:spcAft>
              <a:buNone/>
            </a:pPr>
            <a:r>
              <a:rPr sz="1100">
                <a:solidFill>
                  <a:srgbClr val="111827"/>
                </a:solidFill>
                <a:latin typeface="Arial"/>
                <a:ea typeface="Arial"/>
                <a:cs typeface="Arial"/>
              </a:rPr>
              <a:t>Branin and Ackley both disagree with the global ranking on at least one boundary metric.</a:t>
            </a:r>
          </a:p>
        </p:txBody>
      </p:sp>
      <p:sp>
        <p:nvSpPr>
          <p:cNvPr id="126" name="Google Shape;126;p6">
            <a:extLst>
              <a:ext uri="{FF2B5EF4-FFF2-40B4-BE49-F238E27FC236}">
                <a16:creationId xmlns:a16="http://schemas.microsoft.com/office/drawing/2014/main" id="{4BF4B436-E041-42FD-B4F7-386ACF656BAD}"/>
              </a:ext>
            </a:extLst>
          </p:cNvPr>
          <p:cNvSpPr>
            <a:spLocks noGrp="1"/>
          </p:cNvSpPr>
          <p:nvPr/>
        </p:nvSpPr>
        <p:spPr>
          <a:xfrm>
            <a:off x="8887968" y="2409444"/>
            <a:ext cx="109728" cy="146304"/>
          </a:xfrm>
          <a:prstGeom prst="rect">
            <a:avLst/>
          </a:prstGeom>
          <a:noFill/>
          <a:ln>
            <a:noFill/>
          </a:ln>
        </p:spPr>
        <p:txBody>
          <a:bodyPr spcFirstLastPara="1" wrap="square" lIns="0" tIns="0" rIns="0" bIns="0" anchor="ctr">
            <a:noAutofit/>
          </a:bodyPr>
          <a:lstStyle/>
          <a:p>
            <a:pPr marL="0" indent="0" algn="l">
              <a:spcBef>
                <a:spcPts val="0"/>
              </a:spcBef>
              <a:spcAft>
                <a:spcPts val="0"/>
              </a:spcAft>
              <a:buNone/>
            </a:pPr>
            <a:r>
              <a:rPr sz="900">
                <a:solidFill>
                  <a:srgbClr val="1F2A44"/>
                </a:solidFill>
                <a:latin typeface="Arial"/>
                <a:ea typeface="Arial"/>
                <a:cs typeface="Arial"/>
              </a:rPr>
              <a:t>-</a:t>
            </a:r>
          </a:p>
        </p:txBody>
      </p:sp>
      <p:sp>
        <p:nvSpPr>
          <p:cNvPr id="127" name="Google Shape;127;p6">
            <a:extLst>
              <a:ext uri="{FF2B5EF4-FFF2-40B4-BE49-F238E27FC236}">
                <a16:creationId xmlns:a16="http://schemas.microsoft.com/office/drawing/2014/main" id="{3839D0E6-394D-4FB7-AF5A-902B9965FB92}"/>
              </a:ext>
            </a:extLst>
          </p:cNvPr>
          <p:cNvSpPr>
            <a:spLocks noGrp="1"/>
          </p:cNvSpPr>
          <p:nvPr/>
        </p:nvSpPr>
        <p:spPr>
          <a:xfrm>
            <a:off x="9052560" y="2395728"/>
            <a:ext cx="2304288" cy="384048"/>
          </a:xfrm>
          <a:prstGeom prst="rect">
            <a:avLst/>
          </a:prstGeom>
          <a:noFill/>
          <a:ln>
            <a:noFill/>
          </a:ln>
        </p:spPr>
        <p:txBody>
          <a:bodyPr spcFirstLastPara="1" wrap="square" lIns="0" tIns="0" rIns="0" bIns="0" anchor="ctr">
            <a:noAutofit/>
          </a:bodyPr>
          <a:lstStyle/>
          <a:p>
            <a:pPr marL="0" indent="0" algn="l">
              <a:spcBef>
                <a:spcPts val="0"/>
              </a:spcBef>
              <a:spcAft>
                <a:spcPts val="0"/>
              </a:spcAft>
              <a:buNone/>
            </a:pPr>
            <a:r>
              <a:rPr sz="1100">
                <a:solidFill>
                  <a:srgbClr val="111827"/>
                </a:solidFill>
                <a:latin typeface="Arial"/>
                <a:ea typeface="Arial"/>
                <a:cs typeface="Arial"/>
              </a:rPr>
              <a:t>On Ackley4, straddle wins global error; randomized straddle wins q10/q20/q30.</a:t>
            </a:r>
          </a:p>
        </p:txBody>
      </p:sp>
      <p:sp>
        <p:nvSpPr>
          <p:cNvPr id="128" name="Google Shape;128;p6">
            <a:extLst>
              <a:ext uri="{FF2B5EF4-FFF2-40B4-BE49-F238E27FC236}">
                <a16:creationId xmlns:a16="http://schemas.microsoft.com/office/drawing/2014/main" id="{B1E1E4ED-F11F-46A8-B027-F79FB17AB0F1}"/>
              </a:ext>
            </a:extLst>
          </p:cNvPr>
          <p:cNvSpPr>
            <a:spLocks noGrp="1"/>
          </p:cNvSpPr>
          <p:nvPr/>
        </p:nvSpPr>
        <p:spPr>
          <a:xfrm>
            <a:off x="8887968" y="3122676"/>
            <a:ext cx="109728" cy="146304"/>
          </a:xfrm>
          <a:prstGeom prst="rect">
            <a:avLst/>
          </a:prstGeom>
          <a:noFill/>
          <a:ln>
            <a:noFill/>
          </a:ln>
        </p:spPr>
        <p:txBody>
          <a:bodyPr spcFirstLastPara="1" wrap="square" lIns="0" tIns="0" rIns="0" bIns="0" anchor="ctr">
            <a:noAutofit/>
          </a:bodyPr>
          <a:lstStyle/>
          <a:p>
            <a:pPr marL="0" indent="0" algn="l">
              <a:spcBef>
                <a:spcPts val="0"/>
              </a:spcBef>
              <a:spcAft>
                <a:spcPts val="0"/>
              </a:spcAft>
              <a:buNone/>
            </a:pPr>
            <a:r>
              <a:rPr sz="900">
                <a:solidFill>
                  <a:srgbClr val="1F2A44"/>
                </a:solidFill>
                <a:latin typeface="Arial"/>
                <a:ea typeface="Arial"/>
                <a:cs typeface="Arial"/>
              </a:rPr>
              <a:t>-</a:t>
            </a:r>
          </a:p>
        </p:txBody>
      </p:sp>
      <p:sp>
        <p:nvSpPr>
          <p:cNvPr id="129" name="Google Shape;129;p6">
            <a:extLst>
              <a:ext uri="{FF2B5EF4-FFF2-40B4-BE49-F238E27FC236}">
                <a16:creationId xmlns:a16="http://schemas.microsoft.com/office/drawing/2014/main" id="{C77872EA-A679-4AC1-81F0-2F9C968907B0}"/>
              </a:ext>
            </a:extLst>
          </p:cNvPr>
          <p:cNvSpPr>
            <a:spLocks noGrp="1"/>
          </p:cNvSpPr>
          <p:nvPr/>
        </p:nvSpPr>
        <p:spPr>
          <a:xfrm>
            <a:off x="9052560" y="3108960"/>
            <a:ext cx="2304288" cy="475488"/>
          </a:xfrm>
          <a:prstGeom prst="rect">
            <a:avLst/>
          </a:prstGeom>
          <a:noFill/>
          <a:ln>
            <a:noFill/>
          </a:ln>
        </p:spPr>
        <p:txBody>
          <a:bodyPr spcFirstLastPara="1" wrap="square" lIns="0" tIns="0" rIns="0" bIns="0" anchor="ctr">
            <a:noAutofit/>
          </a:bodyPr>
          <a:lstStyle/>
          <a:p>
            <a:pPr marL="0" indent="0" algn="l">
              <a:spcBef>
                <a:spcPts val="0"/>
              </a:spcBef>
              <a:spcAft>
                <a:spcPts val="0"/>
              </a:spcAft>
              <a:buNone/>
            </a:pPr>
            <a:r>
              <a:rPr sz="1100">
                <a:solidFill>
                  <a:srgbClr val="111827"/>
                </a:solidFill>
                <a:latin typeface="Arial"/>
                <a:ea typeface="Arial"/>
                <a:cs typeface="Arial"/>
              </a:rPr>
              <a:t>Smallest abs(mu) queries closest to the boundary but is not the best predictor.</a:t>
            </a:r>
          </a:p>
        </p:txBody>
      </p:sp>
      <p:sp>
        <p:nvSpPr>
          <p:cNvPr id="130" name="Google Shape;130;p6">
            <a:extLst>
              <a:ext uri="{FF2B5EF4-FFF2-40B4-BE49-F238E27FC236}">
                <a16:creationId xmlns:a16="http://schemas.microsoft.com/office/drawing/2014/main" id="{4F649EF5-0AC4-4CAD-BAC4-F297FD4E3F7F}"/>
              </a:ext>
            </a:extLst>
          </p:cNvPr>
          <p:cNvSpPr>
            <a:spLocks noGrp="1"/>
          </p:cNvSpPr>
          <p:nvPr/>
        </p:nvSpPr>
        <p:spPr>
          <a:xfrm>
            <a:off x="8887968" y="3991356"/>
            <a:ext cx="109728" cy="146304"/>
          </a:xfrm>
          <a:prstGeom prst="rect">
            <a:avLst/>
          </a:prstGeom>
          <a:noFill/>
          <a:ln>
            <a:noFill/>
          </a:ln>
        </p:spPr>
        <p:txBody>
          <a:bodyPr spcFirstLastPara="1" wrap="square" lIns="0" tIns="0" rIns="0" bIns="0" anchor="ctr">
            <a:noAutofit/>
          </a:bodyPr>
          <a:lstStyle/>
          <a:p>
            <a:pPr marL="0" indent="0" algn="l">
              <a:spcBef>
                <a:spcPts val="0"/>
              </a:spcBef>
              <a:spcAft>
                <a:spcPts val="0"/>
              </a:spcAft>
              <a:buNone/>
            </a:pPr>
            <a:r>
              <a:rPr sz="900">
                <a:solidFill>
                  <a:srgbClr val="1F2A44"/>
                </a:solidFill>
                <a:latin typeface="Arial"/>
                <a:ea typeface="Arial"/>
                <a:cs typeface="Arial"/>
              </a:rPr>
              <a:t>-</a:t>
            </a:r>
          </a:p>
        </p:txBody>
      </p:sp>
      <p:sp>
        <p:nvSpPr>
          <p:cNvPr id="131" name="Google Shape;131;p6">
            <a:extLst>
              <a:ext uri="{FF2B5EF4-FFF2-40B4-BE49-F238E27FC236}">
                <a16:creationId xmlns:a16="http://schemas.microsoft.com/office/drawing/2014/main" id="{6958B555-B546-438A-8D83-8AB7D28D2B41}"/>
              </a:ext>
            </a:extLst>
          </p:cNvPr>
          <p:cNvSpPr>
            <a:spLocks noGrp="1"/>
          </p:cNvSpPr>
          <p:nvPr/>
        </p:nvSpPr>
        <p:spPr>
          <a:xfrm>
            <a:off x="9052560" y="3977640"/>
            <a:ext cx="2304288" cy="530352"/>
          </a:xfrm>
          <a:prstGeom prst="rect">
            <a:avLst/>
          </a:prstGeom>
          <a:noFill/>
          <a:ln>
            <a:noFill/>
          </a:ln>
        </p:spPr>
        <p:txBody>
          <a:bodyPr spcFirstLastPara="1" wrap="square" lIns="0" tIns="0" rIns="0" bIns="0" anchor="ctr">
            <a:noAutofit/>
          </a:bodyPr>
          <a:lstStyle/>
          <a:p>
            <a:pPr marL="0" indent="0" algn="l">
              <a:spcBef>
                <a:spcPts val="0"/>
              </a:spcBef>
              <a:spcAft>
                <a:spcPts val="0"/>
              </a:spcAft>
              <a:buNone/>
            </a:pPr>
            <a:r>
              <a:rPr sz="1100">
                <a:solidFill>
                  <a:srgbClr val="111827"/>
                </a:solidFill>
                <a:latin typeface="Arial"/>
                <a:ea typeface="Arial"/>
                <a:cs typeface="Arial"/>
              </a:rPr>
              <a:t>q20/q30 are more stable than q10 and become the main boundary metrics.</a:t>
            </a:r>
          </a:p>
        </p:txBody>
      </p:sp>
      <p:sp>
        <p:nvSpPr>
          <p:cNvPr id="132" name="Google Shape;132;p6">
            <a:extLst>
              <a:ext uri="{FF2B5EF4-FFF2-40B4-BE49-F238E27FC236}">
                <a16:creationId xmlns:a16="http://schemas.microsoft.com/office/drawing/2014/main" id="{6658201D-831C-48DB-99D1-42B4ACB8F9A3}"/>
              </a:ext>
            </a:extLst>
          </p:cNvPr>
          <p:cNvSpPr>
            <a:spLocks noGrp="1"/>
          </p:cNvSpPr>
          <p:nvPr/>
        </p:nvSpPr>
        <p:spPr>
          <a:xfrm>
            <a:off x="8887968" y="5047488"/>
            <a:ext cx="2331720" cy="530352"/>
          </a:xfrm>
          <a:prstGeom prst="roundRect">
            <a:avLst>
              <a:gd name="adj" fmla="val 15517"/>
            </a:avLst>
          </a:prstGeom>
          <a:solidFill>
            <a:srgbClr val="ECFDF5"/>
          </a:solidFill>
          <a:ln w="10150" cmpd="sng">
            <a:solidFill>
              <a:srgbClr val="BBF7D0"/>
            </a:solidFill>
            <a:prstDash val="solid"/>
            <a:headEnd type="none" w="sm" len="sm"/>
            <a:tailEnd type="none" w="sm" len="sm"/>
          </a:ln>
        </p:spPr>
        <p:txBody>
          <a:bodyPr spcFirstLastPara="1" wrap="square" lIns="91425" tIns="45700" rIns="91425" bIns="45700" anchor="t">
            <a:noAutofit/>
          </a:bodyPr>
          <a:lstStyle/>
          <a:p>
            <a:pPr marL="0" indent="0" algn="l">
              <a:spcBef>
                <a:spcPts val="0"/>
              </a:spcBef>
              <a:spcAft>
                <a:spcPts val="0"/>
              </a:spcAft>
              <a:buNone/>
            </a:pPr>
            <a:endParaRPr/>
          </a:p>
        </p:txBody>
      </p:sp>
      <p:sp>
        <p:nvSpPr>
          <p:cNvPr id="133" name="Google Shape;133;p6">
            <a:extLst>
              <a:ext uri="{FF2B5EF4-FFF2-40B4-BE49-F238E27FC236}">
                <a16:creationId xmlns:a16="http://schemas.microsoft.com/office/drawing/2014/main" id="{E9301429-E706-4E7F-B31E-D9FBC7631DCB}"/>
              </a:ext>
            </a:extLst>
          </p:cNvPr>
          <p:cNvSpPr>
            <a:spLocks noGrp="1"/>
          </p:cNvSpPr>
          <p:nvPr/>
        </p:nvSpPr>
        <p:spPr>
          <a:xfrm>
            <a:off x="9052560" y="5221224"/>
            <a:ext cx="2011680" cy="146304"/>
          </a:xfrm>
          <a:prstGeom prst="rect">
            <a:avLst/>
          </a:prstGeom>
          <a:noFill/>
          <a:ln>
            <a:noFill/>
          </a:ln>
        </p:spPr>
        <p:txBody>
          <a:bodyPr spcFirstLastPara="1" wrap="square" lIns="0" tIns="0" rIns="0" bIns="0" anchor="ctr">
            <a:noAutofit/>
          </a:bodyPr>
          <a:lstStyle/>
          <a:p>
            <a:pPr marL="0" indent="0" algn="ctr">
              <a:spcBef>
                <a:spcPts val="0"/>
              </a:spcBef>
              <a:spcAft>
                <a:spcPts val="0"/>
              </a:spcAft>
              <a:buNone/>
            </a:pPr>
            <a:r>
              <a:rPr sz="1100" b="1">
                <a:solidFill>
                  <a:srgbClr val="0F8B61"/>
                </a:solidFill>
                <a:latin typeface="Arial"/>
                <a:ea typeface="Arial"/>
                <a:cs typeface="Arial"/>
              </a:rPr>
              <a:t>Main signal: close-to-boundary sampling is useful but insufficient without uncertainty and coverage.</a:t>
            </a:r>
          </a:p>
        </p:txBody>
      </p:sp>
      <p:cxnSp>
        <p:nvCxnSpPr>
          <p:cNvPr id="173" name="Google Shape;134;p6"/>
          <p:cNvCxnSpPr/>
          <p:nvPr/>
        </p:nvCxnSpPr>
        <p:spPr>
          <a:xfrm>
            <a:off x="502920" y="6446520"/>
            <a:ext cx="11201400" cy="0"/>
          </a:xfrm>
          <a:prstGeom prst="straightConnector1">
            <a:avLst/>
          </a:prstGeom>
          <a:ln w="9525" cap="flat">
            <a:solidFill>
              <a:srgbClr val="D9DEE8"/>
            </a:solidFill>
            <a:prstDash val="solid"/>
            <a:round/>
            <a:headEnd type="none" w="sm" len="sm"/>
            <a:tailEnd type="none" w="sm" len="sm"/>
          </a:ln>
        </p:spPr>
      </p:cxnSp>
      <p:sp>
        <p:nvSpPr>
          <p:cNvPr id="135" name="Google Shape;135;p6">
            <a:extLst>
              <a:ext uri="{FF2B5EF4-FFF2-40B4-BE49-F238E27FC236}">
                <a16:creationId xmlns:a16="http://schemas.microsoft.com/office/drawing/2014/main" id="{C4944658-B0BA-4D33-9743-10DA6E59F85E}"/>
              </a:ext>
            </a:extLst>
          </p:cNvPr>
          <p:cNvSpPr>
            <a:spLocks noGrp="1"/>
          </p:cNvSpPr>
          <p:nvPr/>
        </p:nvSpPr>
        <p:spPr>
          <a:xfrm>
            <a:off x="502920" y="6519672"/>
            <a:ext cx="8961120" cy="164592"/>
          </a:xfrm>
          <a:prstGeom prst="rect">
            <a:avLst/>
          </a:prstGeom>
          <a:noFill/>
          <a:ln>
            <a:noFill/>
          </a:ln>
        </p:spPr>
        <p:txBody>
          <a:bodyPr spcFirstLastPara="1" wrap="square" lIns="0" tIns="0" rIns="0" bIns="0" anchor="ctr">
            <a:noAutofit/>
          </a:bodyPr>
          <a:lstStyle/>
          <a:p>
            <a:pPr marL="0" indent="0" algn="l">
              <a:spcBef>
                <a:spcPts val="0"/>
              </a:spcBef>
              <a:spcAft>
                <a:spcPts val="0"/>
              </a:spcAft>
              <a:buNone/>
            </a:pPr>
            <a:r>
              <a:rPr sz="780">
                <a:solidFill>
                  <a:srgbClr val="6B7280"/>
                </a:solidFill>
                <a:latin typeface="Arial"/>
                <a:ea typeface="Arial"/>
                <a:cs typeface="Arial"/>
              </a:rPr>
              <a:t>Week 3 extended update - Sample-Efficient Active Level-Set Estimation - 8</a:t>
            </a:r>
          </a:p>
        </p:txBody>
      </p:sp>
      <p:sp>
        <p:nvSpPr>
          <p:cNvPr id="136" name="Google Shape;136;p6">
            <a:extLst>
              <a:ext uri="{FF2B5EF4-FFF2-40B4-BE49-F238E27FC236}">
                <a16:creationId xmlns:a16="http://schemas.microsoft.com/office/drawing/2014/main" id="{C64FB47A-1CE6-4E70-A518-7FAE633EE633}"/>
              </a:ext>
            </a:extLst>
          </p:cNvPr>
          <p:cNvSpPr>
            <a:spLocks noGrp="1"/>
          </p:cNvSpPr>
          <p:nvPr/>
        </p:nvSpPr>
        <p:spPr>
          <a:xfrm>
            <a:off x="11521440" y="6492240"/>
            <a:ext cx="228600" cy="164592"/>
          </a:xfrm>
          <a:prstGeom prst="rect">
            <a:avLst/>
          </a:prstGeom>
          <a:noFill/>
          <a:ln>
            <a:noFill/>
          </a:ln>
        </p:spPr>
        <p:txBody>
          <a:bodyPr spcFirstLastPara="1" wrap="square" lIns="0" tIns="0" rIns="0" bIns="0" anchor="ctr">
            <a:noAutofit/>
          </a:bodyPr>
          <a:lstStyle/>
          <a:p>
            <a:pPr marL="0" indent="0" algn="r">
              <a:spcBef>
                <a:spcPts val="0"/>
              </a:spcBef>
              <a:spcAft>
                <a:spcPts val="0"/>
              </a:spcAft>
              <a:buNone/>
            </a:pPr>
            <a:r>
              <a:rPr sz="780">
                <a:solidFill>
                  <a:srgbClr val="6B7280"/>
                </a:solidFill>
                <a:latin typeface="Arial"/>
                <a:ea typeface="Arial"/>
                <a:cs typeface="Arial"/>
              </a:rPr>
              <a:t>8</a:t>
            </a:r>
          </a:p>
        </p:txBody>
      </p:sp>
      <p:pic>
        <p:nvPicPr>
          <p:cNvPr id="176" name="Picture 175"/>
          <p:cNvPicPr>
            <a:picLocks noChangeAspect="1"/>
          </p:cNvPicPr>
          <p:nvPr/>
        </p:nvPicPr>
        <p:blipFill>
          <a:blip r:embed="rId4"/>
          <a:stretch/>
        </p:blipFill>
        <p:spPr>
          <a:xfrm>
            <a:off x="502920" y="1285812"/>
            <a:ext cx="7909560" cy="4560696"/>
          </a:xfrm>
          <a:prstGeom prst="rect">
            <a:avLst/>
          </a:prstGeom>
        </p:spPr>
      </p:pic>
    </p:spTree>
    <p:extLst>
      <p:ext uri="{BB962C8B-B14F-4D97-AF65-F5344CB8AC3E}">
        <p14:creationId xmlns:p14="http://schemas.microsoft.com/office/powerpoint/2010/main" val="1655550056"/>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rgbClr val="F6F8FC"/>
        </a:solidFill>
        <a:effectLst/>
      </p:bgPr>
    </p:bg>
    <p:spTree>
      <p:nvGrpSpPr>
        <p:cNvPr id="1" name=""/>
        <p:cNvGrpSpPr/>
        <p:nvPr/>
      </p:nvGrpSpPr>
      <p:grpSpPr>
        <a:xfrm>
          <a:off x="0" y="0"/>
          <a:ext cx="0" cy="0"/>
          <a:chOff x="0" y="0"/>
          <a:chExt cx="0" cy="0"/>
        </a:xfrm>
      </p:grpSpPr>
      <p:sp>
        <p:nvSpPr>
          <p:cNvPr id="86" name="Google Shape;86;p5">
            <a:extLst>
              <a:ext uri="{FF2B5EF4-FFF2-40B4-BE49-F238E27FC236}">
                <a16:creationId xmlns:a16="http://schemas.microsoft.com/office/drawing/2014/main" id="{21C8C200-2262-4E09-940E-215F3AE756F5}"/>
              </a:ext>
            </a:extLst>
          </p:cNvPr>
          <p:cNvSpPr>
            <a:spLocks noGrp="1"/>
          </p:cNvSpPr>
          <p:nvPr/>
        </p:nvSpPr>
        <p:spPr>
          <a:xfrm>
            <a:off x="502920" y="329184"/>
            <a:ext cx="10789920" cy="320040"/>
          </a:xfrm>
          <a:prstGeom prst="rect">
            <a:avLst/>
          </a:prstGeom>
          <a:noFill/>
          <a:ln>
            <a:noFill/>
          </a:ln>
        </p:spPr>
        <p:txBody>
          <a:bodyPr spcFirstLastPara="1" wrap="square" lIns="0" tIns="0" rIns="0" bIns="0" anchor="ctr">
            <a:noAutofit/>
          </a:bodyPr>
          <a:lstStyle/>
          <a:p>
            <a:pPr marL="0" indent="0" algn="l">
              <a:spcBef>
                <a:spcPts val="0"/>
              </a:spcBef>
              <a:spcAft>
                <a:spcPts val="0"/>
              </a:spcAft>
              <a:buNone/>
            </a:pPr>
            <a:r>
              <a:rPr sz="2200" b="1">
                <a:solidFill>
                  <a:srgbClr val="1F2A44"/>
                </a:solidFill>
                <a:latin typeface="Play"/>
                <a:ea typeface="Play"/>
                <a:cs typeface="Play"/>
              </a:rPr>
              <a:t>New acquisition variants tested specific hypotheses</a:t>
            </a:r>
          </a:p>
        </p:txBody>
      </p:sp>
      <p:sp>
        <p:nvSpPr>
          <p:cNvPr id="87" name="Google Shape;87;p5">
            <a:extLst>
              <a:ext uri="{FF2B5EF4-FFF2-40B4-BE49-F238E27FC236}">
                <a16:creationId xmlns:a16="http://schemas.microsoft.com/office/drawing/2014/main" id="{38456BF3-49E5-44C1-83E7-EEB09F780601}"/>
              </a:ext>
            </a:extLst>
          </p:cNvPr>
          <p:cNvSpPr>
            <a:spLocks noGrp="1"/>
          </p:cNvSpPr>
          <p:nvPr/>
        </p:nvSpPr>
        <p:spPr>
          <a:xfrm>
            <a:off x="521208" y="713232"/>
            <a:ext cx="10515600" cy="237744"/>
          </a:xfrm>
          <a:prstGeom prst="rect">
            <a:avLst/>
          </a:prstGeom>
          <a:noFill/>
          <a:ln>
            <a:noFill/>
          </a:ln>
        </p:spPr>
        <p:txBody>
          <a:bodyPr spcFirstLastPara="1" wrap="square" lIns="0" tIns="0" rIns="0" bIns="0" anchor="ctr">
            <a:noAutofit/>
          </a:bodyPr>
          <a:lstStyle/>
          <a:p>
            <a:pPr marL="0" indent="0" algn="l">
              <a:spcBef>
                <a:spcPts val="0"/>
              </a:spcBef>
              <a:spcAft>
                <a:spcPts val="0"/>
              </a:spcAft>
              <a:buNone/>
            </a:pPr>
            <a:r>
              <a:rPr sz="1100">
                <a:solidFill>
                  <a:srgbClr val="4B5563"/>
                </a:solidFill>
                <a:latin typeface="Arial"/>
                <a:ea typeface="Arial"/>
                <a:cs typeface="Arial"/>
              </a:rPr>
              <a:t>The new rules were built to repair concrete weaknesses seen in the boundary metrics.</a:t>
            </a:r>
          </a:p>
        </p:txBody>
      </p:sp>
      <p:sp>
        <p:nvSpPr>
          <p:cNvPr id="88" name="Google Shape;88;p5">
            <a:extLst>
              <a:ext uri="{FF2B5EF4-FFF2-40B4-BE49-F238E27FC236}">
                <a16:creationId xmlns:a16="http://schemas.microsoft.com/office/drawing/2014/main" id="{3D08A1E3-615E-4825-8C75-62B5CAA6D0F8}"/>
              </a:ext>
            </a:extLst>
          </p:cNvPr>
          <p:cNvSpPr>
            <a:spLocks noGrp="1"/>
          </p:cNvSpPr>
          <p:nvPr/>
        </p:nvSpPr>
        <p:spPr>
          <a:xfrm>
            <a:off x="685800" y="1143000"/>
            <a:ext cx="5074920" cy="1078992"/>
          </a:xfrm>
          <a:prstGeom prst="roundRect">
            <a:avLst>
              <a:gd name="adj" fmla="val 7627"/>
            </a:avLst>
          </a:prstGeom>
          <a:solidFill>
            <a:srgbClr val="FFFFFF"/>
          </a:solidFill>
          <a:ln w="10150" cmpd="sng">
            <a:solidFill>
              <a:srgbClr val="6B7280"/>
            </a:solidFill>
            <a:prstDash val="solid"/>
            <a:headEnd type="none" w="sm" len="sm"/>
            <a:tailEnd type="none" w="sm" len="sm"/>
          </a:ln>
        </p:spPr>
        <p:txBody>
          <a:bodyPr spcFirstLastPara="1" wrap="square" lIns="91425" tIns="45700" rIns="91425" bIns="45700" anchor="t">
            <a:noAutofit/>
          </a:bodyPr>
          <a:lstStyle/>
          <a:p>
            <a:pPr marL="0" indent="0" algn="l">
              <a:spcBef>
                <a:spcPts val="0"/>
              </a:spcBef>
              <a:spcAft>
                <a:spcPts val="0"/>
              </a:spcAft>
              <a:buNone/>
            </a:pPr>
            <a:endParaRPr/>
          </a:p>
        </p:txBody>
      </p:sp>
      <p:sp>
        <p:nvSpPr>
          <p:cNvPr id="89" name="Google Shape;89;p5">
            <a:extLst>
              <a:ext uri="{FF2B5EF4-FFF2-40B4-BE49-F238E27FC236}">
                <a16:creationId xmlns:a16="http://schemas.microsoft.com/office/drawing/2014/main" id="{4F23AE5D-F756-4BE9-8C6E-B9717B552324}"/>
              </a:ext>
            </a:extLst>
          </p:cNvPr>
          <p:cNvSpPr>
            <a:spLocks noGrp="1"/>
          </p:cNvSpPr>
          <p:nvPr/>
        </p:nvSpPr>
        <p:spPr>
          <a:xfrm>
            <a:off x="850392" y="1280160"/>
            <a:ext cx="2011680" cy="164592"/>
          </a:xfrm>
          <a:prstGeom prst="rect">
            <a:avLst/>
          </a:prstGeom>
          <a:noFill/>
          <a:ln>
            <a:noFill/>
          </a:ln>
        </p:spPr>
        <p:txBody>
          <a:bodyPr spcFirstLastPara="1" wrap="square" lIns="0" tIns="0" rIns="0" bIns="0" anchor="ctr">
            <a:noAutofit/>
          </a:bodyPr>
          <a:lstStyle/>
          <a:p>
            <a:pPr marL="0" indent="0" algn="l">
              <a:spcBef>
                <a:spcPts val="0"/>
              </a:spcBef>
              <a:spcAft>
                <a:spcPts val="0"/>
              </a:spcAft>
              <a:buNone/>
            </a:pPr>
            <a:r>
              <a:rPr sz="1100" b="1">
                <a:solidFill>
                  <a:srgbClr val="6B7280"/>
                </a:solidFill>
                <a:latin typeface="Arial"/>
                <a:ea typeface="Arial"/>
                <a:cs typeface="Arial"/>
              </a:rPr>
              <a:t>Diversified straddle</a:t>
            </a:r>
          </a:p>
        </p:txBody>
      </p:sp>
      <p:sp>
        <p:nvSpPr>
          <p:cNvPr id="90" name="Google Shape;90;p5">
            <a:extLst>
              <a:ext uri="{FF2B5EF4-FFF2-40B4-BE49-F238E27FC236}">
                <a16:creationId xmlns:a16="http://schemas.microsoft.com/office/drawing/2014/main" id="{CA1A4BB2-F370-4162-A481-BEA25705AD0A}"/>
              </a:ext>
            </a:extLst>
          </p:cNvPr>
          <p:cNvSpPr>
            <a:spLocks noGrp="1"/>
          </p:cNvSpPr>
          <p:nvPr/>
        </p:nvSpPr>
        <p:spPr>
          <a:xfrm>
            <a:off x="850392" y="1563624"/>
            <a:ext cx="4745736" cy="182880"/>
          </a:xfrm>
          <a:prstGeom prst="rect">
            <a:avLst/>
          </a:prstGeom>
          <a:noFill/>
          <a:ln>
            <a:noFill/>
          </a:ln>
        </p:spPr>
        <p:txBody>
          <a:bodyPr spcFirstLastPara="1" wrap="square" lIns="0" tIns="0" rIns="0" bIns="0" anchor="ctr">
            <a:noAutofit/>
          </a:bodyPr>
          <a:lstStyle/>
          <a:p>
            <a:pPr marL="0" indent="0" algn="l">
              <a:spcBef>
                <a:spcPts val="0"/>
              </a:spcBef>
              <a:spcAft>
                <a:spcPts val="0"/>
              </a:spcAft>
              <a:buNone/>
            </a:pPr>
            <a:r>
              <a:rPr sz="1000" b="1">
                <a:solidFill>
                  <a:srgbClr val="1F2A44"/>
                </a:solidFill>
                <a:latin typeface="Arial"/>
                <a:ea typeface="Arial"/>
                <a:cs typeface="Arial"/>
              </a:rPr>
              <a:t>score = straddle + distance bonus</a:t>
            </a:r>
          </a:p>
        </p:txBody>
      </p:sp>
      <p:sp>
        <p:nvSpPr>
          <p:cNvPr id="91" name="Google Shape;91;p5">
            <a:extLst>
              <a:ext uri="{FF2B5EF4-FFF2-40B4-BE49-F238E27FC236}">
                <a16:creationId xmlns:a16="http://schemas.microsoft.com/office/drawing/2014/main" id="{FE3A580B-D4CC-40F6-8529-BA35255430F0}"/>
              </a:ext>
            </a:extLst>
          </p:cNvPr>
          <p:cNvSpPr>
            <a:spLocks noGrp="1"/>
          </p:cNvSpPr>
          <p:nvPr/>
        </p:nvSpPr>
        <p:spPr>
          <a:xfrm>
            <a:off x="850392" y="1856232"/>
            <a:ext cx="4745736" cy="201168"/>
          </a:xfrm>
          <a:prstGeom prst="rect">
            <a:avLst/>
          </a:prstGeom>
          <a:noFill/>
          <a:ln>
            <a:noFill/>
          </a:ln>
        </p:spPr>
        <p:txBody>
          <a:bodyPr spcFirstLastPara="1" wrap="square" lIns="0" tIns="0" rIns="0" bIns="0" anchor="ctr">
            <a:noAutofit/>
          </a:bodyPr>
          <a:lstStyle/>
          <a:p>
            <a:pPr marL="0" indent="0" algn="l">
              <a:spcBef>
                <a:spcPts val="0"/>
              </a:spcBef>
              <a:spcAft>
                <a:spcPts val="0"/>
              </a:spcAft>
              <a:buNone/>
            </a:pPr>
            <a:r>
              <a:rPr sz="1050">
                <a:solidFill>
                  <a:srgbClr val="4B5563"/>
                </a:solidFill>
                <a:latin typeface="Arial"/>
                <a:ea typeface="Arial"/>
                <a:cs typeface="Arial"/>
              </a:rPr>
              <a:t>Test whether coverage prevents repeated local sampling.</a:t>
            </a:r>
          </a:p>
        </p:txBody>
      </p:sp>
      <p:sp>
        <p:nvSpPr>
          <p:cNvPr id="92" name="Google Shape;92;p5">
            <a:extLst>
              <a:ext uri="{FF2B5EF4-FFF2-40B4-BE49-F238E27FC236}">
                <a16:creationId xmlns:a16="http://schemas.microsoft.com/office/drawing/2014/main" id="{3F901FB6-3614-4CA8-8BEA-952CEE136113}"/>
              </a:ext>
            </a:extLst>
          </p:cNvPr>
          <p:cNvSpPr>
            <a:spLocks noGrp="1"/>
          </p:cNvSpPr>
          <p:nvPr/>
        </p:nvSpPr>
        <p:spPr>
          <a:xfrm>
            <a:off x="6217920" y="1143000"/>
            <a:ext cx="5074920" cy="1078992"/>
          </a:xfrm>
          <a:prstGeom prst="roundRect">
            <a:avLst>
              <a:gd name="adj" fmla="val 7627"/>
            </a:avLst>
          </a:prstGeom>
          <a:solidFill>
            <a:srgbClr val="EEF4FF"/>
          </a:solidFill>
          <a:ln w="10150" cmpd="sng">
            <a:solidFill>
              <a:srgbClr val="2B6CB0"/>
            </a:solidFill>
            <a:prstDash val="solid"/>
            <a:headEnd type="none" w="sm" len="sm"/>
            <a:tailEnd type="none" w="sm" len="sm"/>
          </a:ln>
        </p:spPr>
        <p:txBody>
          <a:bodyPr spcFirstLastPara="1" wrap="square" lIns="91425" tIns="45700" rIns="91425" bIns="45700" anchor="t">
            <a:noAutofit/>
          </a:bodyPr>
          <a:lstStyle/>
          <a:p>
            <a:pPr marL="0" indent="0" algn="l">
              <a:spcBef>
                <a:spcPts val="0"/>
              </a:spcBef>
              <a:spcAft>
                <a:spcPts val="0"/>
              </a:spcAft>
              <a:buNone/>
            </a:pPr>
            <a:endParaRPr/>
          </a:p>
        </p:txBody>
      </p:sp>
      <p:sp>
        <p:nvSpPr>
          <p:cNvPr id="93" name="Google Shape;93;p5">
            <a:extLst>
              <a:ext uri="{FF2B5EF4-FFF2-40B4-BE49-F238E27FC236}">
                <a16:creationId xmlns:a16="http://schemas.microsoft.com/office/drawing/2014/main" id="{3D65413E-90DA-4154-94C3-B2D5E69621CC}"/>
              </a:ext>
            </a:extLst>
          </p:cNvPr>
          <p:cNvSpPr>
            <a:spLocks noGrp="1"/>
          </p:cNvSpPr>
          <p:nvPr/>
        </p:nvSpPr>
        <p:spPr>
          <a:xfrm>
            <a:off x="6382512" y="1280160"/>
            <a:ext cx="2011680" cy="164592"/>
          </a:xfrm>
          <a:prstGeom prst="rect">
            <a:avLst/>
          </a:prstGeom>
          <a:noFill/>
          <a:ln>
            <a:noFill/>
          </a:ln>
        </p:spPr>
        <p:txBody>
          <a:bodyPr spcFirstLastPara="1" wrap="square" lIns="0" tIns="0" rIns="0" bIns="0" anchor="ctr">
            <a:noAutofit/>
          </a:bodyPr>
          <a:lstStyle/>
          <a:p>
            <a:pPr marL="0" indent="0" algn="l">
              <a:spcBef>
                <a:spcPts val="0"/>
              </a:spcBef>
              <a:spcAft>
                <a:spcPts val="0"/>
              </a:spcAft>
              <a:buNone/>
            </a:pPr>
            <a:r>
              <a:rPr sz="1100" b="1">
                <a:solidFill>
                  <a:srgbClr val="2B6CB0"/>
                </a:solidFill>
                <a:latin typeface="Arial"/>
                <a:ea typeface="Arial"/>
                <a:cs typeface="Arial"/>
              </a:rPr>
              <a:t>Boundary-gated diversity</a:t>
            </a:r>
          </a:p>
        </p:txBody>
      </p:sp>
      <p:sp>
        <p:nvSpPr>
          <p:cNvPr id="94" name="Google Shape;94;p5">
            <a:extLst>
              <a:ext uri="{FF2B5EF4-FFF2-40B4-BE49-F238E27FC236}">
                <a16:creationId xmlns:a16="http://schemas.microsoft.com/office/drawing/2014/main" id="{8113698C-6356-44FE-92B9-75FE445F27BC}"/>
              </a:ext>
            </a:extLst>
          </p:cNvPr>
          <p:cNvSpPr>
            <a:spLocks noGrp="1"/>
          </p:cNvSpPr>
          <p:nvPr/>
        </p:nvSpPr>
        <p:spPr>
          <a:xfrm>
            <a:off x="6382512" y="1563624"/>
            <a:ext cx="4745736" cy="182880"/>
          </a:xfrm>
          <a:prstGeom prst="rect">
            <a:avLst/>
          </a:prstGeom>
          <a:noFill/>
          <a:ln>
            <a:noFill/>
          </a:ln>
        </p:spPr>
        <p:txBody>
          <a:bodyPr spcFirstLastPara="1" wrap="square" lIns="0" tIns="0" rIns="0" bIns="0" anchor="ctr">
            <a:noAutofit/>
          </a:bodyPr>
          <a:lstStyle/>
          <a:p>
            <a:pPr marL="0" indent="0" algn="l">
              <a:spcBef>
                <a:spcPts val="0"/>
              </a:spcBef>
              <a:spcAft>
                <a:spcPts val="0"/>
              </a:spcAft>
              <a:buNone/>
            </a:pPr>
            <a:r>
              <a:rPr sz="1000" b="1">
                <a:solidFill>
                  <a:srgbClr val="1F2A44"/>
                </a:solidFill>
                <a:latin typeface="Arial"/>
                <a:ea typeface="Arial"/>
                <a:cs typeface="Arial"/>
              </a:rPr>
              <a:t>diversify only inside boundary gate</a:t>
            </a:r>
          </a:p>
        </p:txBody>
      </p:sp>
      <p:sp>
        <p:nvSpPr>
          <p:cNvPr id="95" name="Google Shape;95;p5">
            <a:extLst>
              <a:ext uri="{FF2B5EF4-FFF2-40B4-BE49-F238E27FC236}">
                <a16:creationId xmlns:a16="http://schemas.microsoft.com/office/drawing/2014/main" id="{98C8B8DD-BD7B-45A6-8DAB-128D2DBEB716}"/>
              </a:ext>
            </a:extLst>
          </p:cNvPr>
          <p:cNvSpPr>
            <a:spLocks noGrp="1"/>
          </p:cNvSpPr>
          <p:nvPr/>
        </p:nvSpPr>
        <p:spPr>
          <a:xfrm>
            <a:off x="6382512" y="1856232"/>
            <a:ext cx="4745736" cy="201168"/>
          </a:xfrm>
          <a:prstGeom prst="rect">
            <a:avLst/>
          </a:prstGeom>
          <a:noFill/>
          <a:ln>
            <a:noFill/>
          </a:ln>
        </p:spPr>
        <p:txBody>
          <a:bodyPr spcFirstLastPara="1" wrap="square" lIns="0" tIns="0" rIns="0" bIns="0" anchor="ctr">
            <a:noAutofit/>
          </a:bodyPr>
          <a:lstStyle/>
          <a:p>
            <a:pPr marL="0" indent="0" algn="l">
              <a:spcBef>
                <a:spcPts val="0"/>
              </a:spcBef>
              <a:spcAft>
                <a:spcPts val="0"/>
              </a:spcAft>
              <a:buNone/>
            </a:pPr>
            <a:r>
              <a:rPr sz="1050">
                <a:solidFill>
                  <a:srgbClr val="4B5563"/>
                </a:solidFill>
                <a:latin typeface="Arial"/>
                <a:ea typeface="Arial"/>
                <a:cs typeface="Arial"/>
              </a:rPr>
              <a:t>Avoid letting diversity pull queries away from the boundary.</a:t>
            </a:r>
          </a:p>
        </p:txBody>
      </p:sp>
      <p:sp>
        <p:nvSpPr>
          <p:cNvPr id="96" name="Google Shape;96;p5">
            <a:extLst>
              <a:ext uri="{FF2B5EF4-FFF2-40B4-BE49-F238E27FC236}">
                <a16:creationId xmlns:a16="http://schemas.microsoft.com/office/drawing/2014/main" id="{CAE310D4-17EF-4D84-BD6B-754E1F666866}"/>
              </a:ext>
            </a:extLst>
          </p:cNvPr>
          <p:cNvSpPr>
            <a:spLocks noGrp="1"/>
          </p:cNvSpPr>
          <p:nvPr/>
        </p:nvSpPr>
        <p:spPr>
          <a:xfrm>
            <a:off x="685800" y="2496312"/>
            <a:ext cx="5074920" cy="1078992"/>
          </a:xfrm>
          <a:prstGeom prst="roundRect">
            <a:avLst>
              <a:gd name="adj" fmla="val 7627"/>
            </a:avLst>
          </a:prstGeom>
          <a:solidFill>
            <a:srgbClr val="ECFDF5"/>
          </a:solidFill>
          <a:ln w="10150" cmpd="sng">
            <a:solidFill>
              <a:srgbClr val="0F8B61"/>
            </a:solidFill>
            <a:prstDash val="solid"/>
            <a:headEnd type="none" w="sm" len="sm"/>
            <a:tailEnd type="none" w="sm" len="sm"/>
          </a:ln>
        </p:spPr>
        <p:txBody>
          <a:bodyPr spcFirstLastPara="1" wrap="square" lIns="91425" tIns="45700" rIns="91425" bIns="45700" anchor="t">
            <a:noAutofit/>
          </a:bodyPr>
          <a:lstStyle/>
          <a:p>
            <a:pPr marL="0" indent="0" algn="l">
              <a:spcBef>
                <a:spcPts val="0"/>
              </a:spcBef>
              <a:spcAft>
                <a:spcPts val="0"/>
              </a:spcAft>
              <a:buNone/>
            </a:pPr>
            <a:endParaRPr/>
          </a:p>
        </p:txBody>
      </p:sp>
      <p:sp>
        <p:nvSpPr>
          <p:cNvPr id="97" name="Google Shape;97;p5">
            <a:extLst>
              <a:ext uri="{FF2B5EF4-FFF2-40B4-BE49-F238E27FC236}">
                <a16:creationId xmlns:a16="http://schemas.microsoft.com/office/drawing/2014/main" id="{0910705E-0C6A-44CD-B3B7-4992648176E3}"/>
              </a:ext>
            </a:extLst>
          </p:cNvPr>
          <p:cNvSpPr>
            <a:spLocks noGrp="1"/>
          </p:cNvSpPr>
          <p:nvPr/>
        </p:nvSpPr>
        <p:spPr>
          <a:xfrm>
            <a:off x="850392" y="2633472"/>
            <a:ext cx="2011680" cy="164592"/>
          </a:xfrm>
          <a:prstGeom prst="rect">
            <a:avLst/>
          </a:prstGeom>
          <a:noFill/>
          <a:ln>
            <a:noFill/>
          </a:ln>
        </p:spPr>
        <p:txBody>
          <a:bodyPr spcFirstLastPara="1" wrap="square" lIns="0" tIns="0" rIns="0" bIns="0" anchor="ctr">
            <a:noAutofit/>
          </a:bodyPr>
          <a:lstStyle/>
          <a:p>
            <a:pPr marL="0" indent="0" algn="l">
              <a:spcBef>
                <a:spcPts val="0"/>
              </a:spcBef>
              <a:spcAft>
                <a:spcPts val="0"/>
              </a:spcAft>
              <a:buNone/>
            </a:pPr>
            <a:r>
              <a:rPr sz="1100" b="1">
                <a:solidFill>
                  <a:srgbClr val="0F8B61"/>
                </a:solidFill>
                <a:latin typeface="Arial"/>
                <a:ea typeface="Arial"/>
                <a:cs typeface="Arial"/>
              </a:rPr>
              <a:t>Lookahead BUR</a:t>
            </a:r>
          </a:p>
        </p:txBody>
      </p:sp>
      <p:sp>
        <p:nvSpPr>
          <p:cNvPr id="98" name="Google Shape;98;p5">
            <a:extLst>
              <a:ext uri="{FF2B5EF4-FFF2-40B4-BE49-F238E27FC236}">
                <a16:creationId xmlns:a16="http://schemas.microsoft.com/office/drawing/2014/main" id="{7EAA1501-C90C-4994-B0C2-33C943391546}"/>
              </a:ext>
            </a:extLst>
          </p:cNvPr>
          <p:cNvSpPr>
            <a:spLocks noGrp="1"/>
          </p:cNvSpPr>
          <p:nvPr/>
        </p:nvSpPr>
        <p:spPr>
          <a:xfrm>
            <a:off x="850392" y="2916936"/>
            <a:ext cx="4745736" cy="182880"/>
          </a:xfrm>
          <a:prstGeom prst="rect">
            <a:avLst/>
          </a:prstGeom>
          <a:noFill/>
          <a:ln>
            <a:noFill/>
          </a:ln>
        </p:spPr>
        <p:txBody>
          <a:bodyPr spcFirstLastPara="1" wrap="square" lIns="0" tIns="0" rIns="0" bIns="0" anchor="ctr">
            <a:noAutofit/>
          </a:bodyPr>
          <a:lstStyle/>
          <a:p>
            <a:pPr marL="0" indent="0" algn="l">
              <a:spcBef>
                <a:spcPts val="0"/>
              </a:spcBef>
              <a:spcAft>
                <a:spcPts val="0"/>
              </a:spcAft>
              <a:buNone/>
            </a:pPr>
            <a:r>
              <a:rPr sz="1000" b="1">
                <a:solidFill>
                  <a:srgbClr val="1F2A44"/>
                </a:solidFill>
                <a:latin typeface="Arial"/>
                <a:ea typeface="Arial"/>
                <a:cs typeface="Arial"/>
              </a:rPr>
              <a:t>fantasy labels reduce boundary uncertainty</a:t>
            </a:r>
          </a:p>
        </p:txBody>
      </p:sp>
      <p:sp>
        <p:nvSpPr>
          <p:cNvPr id="99" name="Google Shape;99;p5">
            <a:extLst>
              <a:ext uri="{FF2B5EF4-FFF2-40B4-BE49-F238E27FC236}">
                <a16:creationId xmlns:a16="http://schemas.microsoft.com/office/drawing/2014/main" id="{CAAB4CFC-0E42-48D3-8DA6-4CAC2C32769C}"/>
              </a:ext>
            </a:extLst>
          </p:cNvPr>
          <p:cNvSpPr>
            <a:spLocks noGrp="1"/>
          </p:cNvSpPr>
          <p:nvPr/>
        </p:nvSpPr>
        <p:spPr>
          <a:xfrm>
            <a:off x="850392" y="3209544"/>
            <a:ext cx="4745736" cy="201168"/>
          </a:xfrm>
          <a:prstGeom prst="rect">
            <a:avLst/>
          </a:prstGeom>
          <a:noFill/>
          <a:ln>
            <a:noFill/>
          </a:ln>
        </p:spPr>
        <p:txBody>
          <a:bodyPr spcFirstLastPara="1" wrap="square" lIns="0" tIns="0" rIns="0" bIns="0" anchor="ctr">
            <a:noAutofit/>
          </a:bodyPr>
          <a:lstStyle/>
          <a:p>
            <a:pPr marL="0" indent="0" algn="l">
              <a:spcBef>
                <a:spcPts val="0"/>
              </a:spcBef>
              <a:spcAft>
                <a:spcPts val="0"/>
              </a:spcAft>
              <a:buNone/>
            </a:pPr>
            <a:r>
              <a:rPr sz="1050">
                <a:solidFill>
                  <a:srgbClr val="4B5563"/>
                </a:solidFill>
                <a:latin typeface="Arial"/>
                <a:ea typeface="Arial"/>
                <a:cs typeface="Arial"/>
              </a:rPr>
              <a:t>Choose points expected to shrink aggregate straddle uncertainty.</a:t>
            </a:r>
          </a:p>
        </p:txBody>
      </p:sp>
      <p:sp>
        <p:nvSpPr>
          <p:cNvPr id="100" name="Google Shape;100;p5">
            <a:extLst>
              <a:ext uri="{FF2B5EF4-FFF2-40B4-BE49-F238E27FC236}">
                <a16:creationId xmlns:a16="http://schemas.microsoft.com/office/drawing/2014/main" id="{A6B1E0ED-FE05-4936-B4B4-BC1C77C7D4E1}"/>
              </a:ext>
            </a:extLst>
          </p:cNvPr>
          <p:cNvSpPr>
            <a:spLocks noGrp="1"/>
          </p:cNvSpPr>
          <p:nvPr/>
        </p:nvSpPr>
        <p:spPr>
          <a:xfrm>
            <a:off x="6217920" y="2496312"/>
            <a:ext cx="5074920" cy="1078992"/>
          </a:xfrm>
          <a:prstGeom prst="roundRect">
            <a:avLst>
              <a:gd name="adj" fmla="val 7627"/>
            </a:avLst>
          </a:prstGeom>
          <a:solidFill>
            <a:srgbClr val="FFF7ED"/>
          </a:solidFill>
          <a:ln w="10150" cmpd="sng">
            <a:solidFill>
              <a:srgbClr val="B7791F"/>
            </a:solidFill>
            <a:prstDash val="solid"/>
            <a:headEnd type="none" w="sm" len="sm"/>
            <a:tailEnd type="none" w="sm" len="sm"/>
          </a:ln>
        </p:spPr>
        <p:txBody>
          <a:bodyPr spcFirstLastPara="1" wrap="square" lIns="91425" tIns="45700" rIns="91425" bIns="45700" anchor="t">
            <a:noAutofit/>
          </a:bodyPr>
          <a:lstStyle/>
          <a:p>
            <a:pPr marL="0" indent="0" algn="l">
              <a:spcBef>
                <a:spcPts val="0"/>
              </a:spcBef>
              <a:spcAft>
                <a:spcPts val="0"/>
              </a:spcAft>
              <a:buNone/>
            </a:pPr>
            <a:endParaRPr/>
          </a:p>
        </p:txBody>
      </p:sp>
      <p:sp>
        <p:nvSpPr>
          <p:cNvPr id="101" name="Google Shape;101;p5">
            <a:extLst>
              <a:ext uri="{FF2B5EF4-FFF2-40B4-BE49-F238E27FC236}">
                <a16:creationId xmlns:a16="http://schemas.microsoft.com/office/drawing/2014/main" id="{20FB2D6E-08DB-42DA-A51A-195FC28A7535}"/>
              </a:ext>
            </a:extLst>
          </p:cNvPr>
          <p:cNvSpPr>
            <a:spLocks noGrp="1"/>
          </p:cNvSpPr>
          <p:nvPr/>
        </p:nvSpPr>
        <p:spPr>
          <a:xfrm>
            <a:off x="6382512" y="2633472"/>
            <a:ext cx="2011680" cy="164592"/>
          </a:xfrm>
          <a:prstGeom prst="rect">
            <a:avLst/>
          </a:prstGeom>
          <a:noFill/>
          <a:ln>
            <a:noFill/>
          </a:ln>
        </p:spPr>
        <p:txBody>
          <a:bodyPr spcFirstLastPara="1" wrap="square" lIns="0" tIns="0" rIns="0" bIns="0" anchor="ctr">
            <a:noAutofit/>
          </a:bodyPr>
          <a:lstStyle/>
          <a:p>
            <a:pPr marL="0" indent="0" algn="l">
              <a:spcBef>
                <a:spcPts val="0"/>
              </a:spcBef>
              <a:spcAft>
                <a:spcPts val="0"/>
              </a:spcAft>
              <a:buNone/>
            </a:pPr>
            <a:r>
              <a:rPr sz="1100" b="1">
                <a:solidFill>
                  <a:srgbClr val="B7791F"/>
                </a:solidFill>
                <a:latin typeface="Arial"/>
                <a:ea typeface="Arial"/>
                <a:cs typeface="Arial"/>
              </a:rPr>
              <a:t>Gated geometric BC</a:t>
            </a:r>
          </a:p>
        </p:txBody>
      </p:sp>
      <p:sp>
        <p:nvSpPr>
          <p:cNvPr id="102" name="Google Shape;102;p5">
            <a:extLst>
              <a:ext uri="{FF2B5EF4-FFF2-40B4-BE49-F238E27FC236}">
                <a16:creationId xmlns:a16="http://schemas.microsoft.com/office/drawing/2014/main" id="{467C5FEC-836A-4936-9D21-6A15F057DA94}"/>
              </a:ext>
            </a:extLst>
          </p:cNvPr>
          <p:cNvSpPr>
            <a:spLocks noGrp="1"/>
          </p:cNvSpPr>
          <p:nvPr/>
        </p:nvSpPr>
        <p:spPr>
          <a:xfrm>
            <a:off x="6382512" y="2916936"/>
            <a:ext cx="4745736" cy="182880"/>
          </a:xfrm>
          <a:prstGeom prst="rect">
            <a:avLst/>
          </a:prstGeom>
          <a:noFill/>
          <a:ln>
            <a:noFill/>
          </a:ln>
        </p:spPr>
        <p:txBody>
          <a:bodyPr spcFirstLastPara="1" wrap="square" lIns="0" tIns="0" rIns="0" bIns="0" anchor="ctr">
            <a:noAutofit/>
          </a:bodyPr>
          <a:lstStyle/>
          <a:p>
            <a:pPr marL="0" indent="0" algn="l">
              <a:spcBef>
                <a:spcPts val="0"/>
              </a:spcBef>
              <a:spcAft>
                <a:spcPts val="0"/>
              </a:spcAft>
              <a:buNone/>
            </a:pPr>
            <a:r>
              <a:rPr sz="1000" b="1">
                <a:solidFill>
                  <a:srgbClr val="1F2A44"/>
                </a:solidFill>
                <a:latin typeface="Arial"/>
                <a:ea typeface="Arial"/>
                <a:cs typeface="Arial"/>
              </a:rPr>
              <a:t>curvature + uncertainty + repulsion</a:t>
            </a:r>
          </a:p>
        </p:txBody>
      </p:sp>
      <p:sp>
        <p:nvSpPr>
          <p:cNvPr id="103" name="Google Shape;103;p5">
            <a:extLst>
              <a:ext uri="{FF2B5EF4-FFF2-40B4-BE49-F238E27FC236}">
                <a16:creationId xmlns:a16="http://schemas.microsoft.com/office/drawing/2014/main" id="{8A25AEC7-C1D1-4280-871D-59AC458040B0}"/>
              </a:ext>
            </a:extLst>
          </p:cNvPr>
          <p:cNvSpPr>
            <a:spLocks noGrp="1"/>
          </p:cNvSpPr>
          <p:nvPr/>
        </p:nvSpPr>
        <p:spPr>
          <a:xfrm>
            <a:off x="6382512" y="3209544"/>
            <a:ext cx="4745736" cy="201168"/>
          </a:xfrm>
          <a:prstGeom prst="rect">
            <a:avLst/>
          </a:prstGeom>
          <a:noFill/>
          <a:ln>
            <a:noFill/>
          </a:ln>
        </p:spPr>
        <p:txBody>
          <a:bodyPr spcFirstLastPara="1" wrap="square" lIns="0" tIns="0" rIns="0" bIns="0" anchor="ctr">
            <a:noAutofit/>
          </a:bodyPr>
          <a:lstStyle/>
          <a:p>
            <a:pPr marL="0" indent="0" algn="l">
              <a:spcBef>
                <a:spcPts val="0"/>
              </a:spcBef>
              <a:spcAft>
                <a:spcPts val="0"/>
              </a:spcAft>
              <a:buNone/>
            </a:pPr>
            <a:r>
              <a:rPr sz="1050">
                <a:solidFill>
                  <a:srgbClr val="4B5563"/>
                </a:solidFill>
                <a:latin typeface="Arial"/>
                <a:ea typeface="Arial"/>
                <a:cs typeface="Arial"/>
              </a:rPr>
              <a:t>Test whether predicted boundary geometry identifies hard regions.</a:t>
            </a:r>
          </a:p>
        </p:txBody>
      </p:sp>
      <p:sp>
        <p:nvSpPr>
          <p:cNvPr id="104" name="Google Shape;104;p5">
            <a:extLst>
              <a:ext uri="{FF2B5EF4-FFF2-40B4-BE49-F238E27FC236}">
                <a16:creationId xmlns:a16="http://schemas.microsoft.com/office/drawing/2014/main" id="{4FD3BF2C-ADEB-466B-8D26-16F09BA33CDA}"/>
              </a:ext>
            </a:extLst>
          </p:cNvPr>
          <p:cNvSpPr>
            <a:spLocks noGrp="1"/>
          </p:cNvSpPr>
          <p:nvPr/>
        </p:nvSpPr>
        <p:spPr>
          <a:xfrm>
            <a:off x="685800" y="3849624"/>
            <a:ext cx="11064240" cy="1078992"/>
          </a:xfrm>
          <a:prstGeom prst="roundRect">
            <a:avLst>
              <a:gd name="adj" fmla="val 7627"/>
            </a:avLst>
          </a:prstGeom>
          <a:solidFill>
            <a:srgbClr val="FFF1F2"/>
          </a:solidFill>
          <a:ln w="10150" cmpd="sng">
            <a:solidFill>
              <a:srgbClr val="9F1239"/>
            </a:solidFill>
            <a:prstDash val="solid"/>
            <a:headEnd type="none" w="sm" len="sm"/>
            <a:tailEnd type="none" w="sm" len="sm"/>
          </a:ln>
        </p:spPr>
        <p:txBody>
          <a:bodyPr spcFirstLastPara="1" wrap="square" lIns="91425" tIns="45700" rIns="91425" bIns="45700" anchor="t">
            <a:noAutofit/>
          </a:bodyPr>
          <a:lstStyle/>
          <a:p>
            <a:pPr marL="0" indent="0" algn="l">
              <a:spcBef>
                <a:spcPts val="0"/>
              </a:spcBef>
              <a:spcAft>
                <a:spcPts val="0"/>
              </a:spcAft>
              <a:buNone/>
            </a:pPr>
            <a:endParaRPr/>
          </a:p>
        </p:txBody>
      </p:sp>
      <p:sp>
        <p:nvSpPr>
          <p:cNvPr id="105" name="Google Shape;105;p5">
            <a:extLst>
              <a:ext uri="{FF2B5EF4-FFF2-40B4-BE49-F238E27FC236}">
                <a16:creationId xmlns:a16="http://schemas.microsoft.com/office/drawing/2014/main" id="{A053C947-5D6B-4D7E-B4A5-F8854FBD7E3F}"/>
              </a:ext>
            </a:extLst>
          </p:cNvPr>
          <p:cNvSpPr>
            <a:spLocks noGrp="1"/>
          </p:cNvSpPr>
          <p:nvPr/>
        </p:nvSpPr>
        <p:spPr>
          <a:xfrm>
            <a:off x="850392" y="3986784"/>
            <a:ext cx="2011680" cy="164592"/>
          </a:xfrm>
          <a:prstGeom prst="rect">
            <a:avLst/>
          </a:prstGeom>
          <a:noFill/>
          <a:ln>
            <a:noFill/>
          </a:ln>
        </p:spPr>
        <p:txBody>
          <a:bodyPr spcFirstLastPara="1" wrap="square" lIns="0" tIns="0" rIns="0" bIns="0" anchor="ctr">
            <a:noAutofit/>
          </a:bodyPr>
          <a:lstStyle/>
          <a:p>
            <a:pPr marL="0" indent="0" algn="l">
              <a:spcBef>
                <a:spcPts val="0"/>
              </a:spcBef>
              <a:spcAft>
                <a:spcPts val="0"/>
              </a:spcAft>
              <a:buNone/>
            </a:pPr>
            <a:r>
              <a:rPr sz="1100" b="1">
                <a:solidFill>
                  <a:srgbClr val="9F1239"/>
                </a:solidFill>
                <a:latin typeface="Arial"/>
                <a:ea typeface="Arial"/>
                <a:cs typeface="Arial"/>
              </a:rPr>
              <a:t>Reference baselines</a:t>
            </a:r>
          </a:p>
        </p:txBody>
      </p:sp>
      <p:sp>
        <p:nvSpPr>
          <p:cNvPr id="106" name="Google Shape;106;p5">
            <a:extLst>
              <a:ext uri="{FF2B5EF4-FFF2-40B4-BE49-F238E27FC236}">
                <a16:creationId xmlns:a16="http://schemas.microsoft.com/office/drawing/2014/main" id="{BB4C1F66-F85C-4746-9EBB-269E7BD1339C}"/>
              </a:ext>
            </a:extLst>
          </p:cNvPr>
          <p:cNvSpPr>
            <a:spLocks noGrp="1"/>
          </p:cNvSpPr>
          <p:nvPr/>
        </p:nvSpPr>
        <p:spPr>
          <a:xfrm>
            <a:off x="850392" y="4270248"/>
            <a:ext cx="10735056" cy="182880"/>
          </a:xfrm>
          <a:prstGeom prst="rect">
            <a:avLst/>
          </a:prstGeom>
          <a:noFill/>
          <a:ln>
            <a:noFill/>
          </a:ln>
        </p:spPr>
        <p:txBody>
          <a:bodyPr spcFirstLastPara="1" wrap="square" lIns="0" tIns="0" rIns="0" bIns="0" anchor="ctr">
            <a:noAutofit/>
          </a:bodyPr>
          <a:lstStyle/>
          <a:p>
            <a:pPr marL="0" indent="0" algn="l">
              <a:spcBef>
                <a:spcPts val="0"/>
              </a:spcBef>
              <a:spcAft>
                <a:spcPts val="0"/>
              </a:spcAft>
              <a:buNone/>
            </a:pPr>
            <a:r>
              <a:rPr sz="1000" b="1">
                <a:solidFill>
                  <a:srgbClr val="1F2A44"/>
                </a:solidFill>
                <a:latin typeface="Arial"/>
                <a:ea typeface="Arial"/>
                <a:cs typeface="Arial"/>
              </a:rPr>
              <a:t>straddle family kept</a:t>
            </a:r>
          </a:p>
        </p:txBody>
      </p:sp>
      <p:sp>
        <p:nvSpPr>
          <p:cNvPr id="107" name="Google Shape;107;p5">
            <a:extLst>
              <a:ext uri="{FF2B5EF4-FFF2-40B4-BE49-F238E27FC236}">
                <a16:creationId xmlns:a16="http://schemas.microsoft.com/office/drawing/2014/main" id="{3BDE594B-07D6-4284-B73C-599454728605}"/>
              </a:ext>
            </a:extLst>
          </p:cNvPr>
          <p:cNvSpPr>
            <a:spLocks noGrp="1"/>
          </p:cNvSpPr>
          <p:nvPr/>
        </p:nvSpPr>
        <p:spPr>
          <a:xfrm>
            <a:off x="850392" y="4562856"/>
            <a:ext cx="10735056" cy="201168"/>
          </a:xfrm>
          <a:prstGeom prst="rect">
            <a:avLst/>
          </a:prstGeom>
          <a:noFill/>
          <a:ln>
            <a:noFill/>
          </a:ln>
        </p:spPr>
        <p:txBody>
          <a:bodyPr spcFirstLastPara="1" wrap="square" lIns="0" tIns="0" rIns="0" bIns="0" anchor="ctr">
            <a:noAutofit/>
          </a:bodyPr>
          <a:lstStyle/>
          <a:p>
            <a:pPr marL="0" indent="0" algn="l">
              <a:spcBef>
                <a:spcPts val="0"/>
              </a:spcBef>
              <a:spcAft>
                <a:spcPts val="0"/>
              </a:spcAft>
              <a:buNone/>
            </a:pPr>
            <a:r>
              <a:rPr sz="1050">
                <a:solidFill>
                  <a:srgbClr val="4B5563"/>
                </a:solidFill>
                <a:latin typeface="Arial"/>
                <a:ea typeface="Arial"/>
                <a:cs typeface="Arial"/>
              </a:rPr>
              <a:t>Every new idea was compared against the simple strong baselines.</a:t>
            </a:r>
          </a:p>
        </p:txBody>
      </p:sp>
      <p:sp>
        <p:nvSpPr>
          <p:cNvPr id="108" name="Google Shape;108;p5">
            <a:extLst>
              <a:ext uri="{FF2B5EF4-FFF2-40B4-BE49-F238E27FC236}">
                <a16:creationId xmlns:a16="http://schemas.microsoft.com/office/drawing/2014/main" id="{F6EF6D84-3636-42A8-9481-F098211756EE}"/>
              </a:ext>
            </a:extLst>
          </p:cNvPr>
          <p:cNvSpPr>
            <a:spLocks noGrp="1"/>
          </p:cNvSpPr>
          <p:nvPr/>
        </p:nvSpPr>
        <p:spPr>
          <a:xfrm>
            <a:off x="685800" y="5504688"/>
            <a:ext cx="11064240" cy="566928"/>
          </a:xfrm>
          <a:prstGeom prst="roundRect">
            <a:avLst>
              <a:gd name="adj" fmla="val 14516"/>
            </a:avLst>
          </a:prstGeom>
          <a:solidFill>
            <a:srgbClr val="FFFFFF"/>
          </a:solidFill>
          <a:ln w="10150" cmpd="sng">
            <a:solidFill>
              <a:srgbClr val="D9DEE8"/>
            </a:solidFill>
            <a:prstDash val="solid"/>
            <a:headEnd type="none" w="sm" len="sm"/>
            <a:tailEnd type="none" w="sm" len="sm"/>
          </a:ln>
        </p:spPr>
        <p:txBody>
          <a:bodyPr spcFirstLastPara="1" wrap="square" lIns="91425" tIns="45700" rIns="91425" bIns="45700" anchor="t">
            <a:noAutofit/>
          </a:bodyPr>
          <a:lstStyle/>
          <a:p>
            <a:pPr marL="0" indent="0" algn="l">
              <a:spcBef>
                <a:spcPts val="0"/>
              </a:spcBef>
              <a:spcAft>
                <a:spcPts val="0"/>
              </a:spcAft>
              <a:buNone/>
            </a:pPr>
            <a:endParaRPr/>
          </a:p>
        </p:txBody>
      </p:sp>
      <p:sp>
        <p:nvSpPr>
          <p:cNvPr id="109" name="Google Shape;109;p5">
            <a:extLst>
              <a:ext uri="{FF2B5EF4-FFF2-40B4-BE49-F238E27FC236}">
                <a16:creationId xmlns:a16="http://schemas.microsoft.com/office/drawing/2014/main" id="{9752D25C-8166-4A31-8D78-E854BC4FD981}"/>
              </a:ext>
            </a:extLst>
          </p:cNvPr>
          <p:cNvSpPr>
            <a:spLocks noGrp="1"/>
          </p:cNvSpPr>
          <p:nvPr/>
        </p:nvSpPr>
        <p:spPr>
          <a:xfrm>
            <a:off x="896112" y="5696712"/>
            <a:ext cx="10607040" cy="146304"/>
          </a:xfrm>
          <a:prstGeom prst="rect">
            <a:avLst/>
          </a:prstGeom>
          <a:noFill/>
          <a:ln>
            <a:noFill/>
          </a:ln>
        </p:spPr>
        <p:txBody>
          <a:bodyPr spcFirstLastPara="1" wrap="square" lIns="0" tIns="0" rIns="0" bIns="0" anchor="ctr">
            <a:noAutofit/>
          </a:bodyPr>
          <a:lstStyle/>
          <a:p>
            <a:pPr marL="0" indent="0" algn="l">
              <a:spcBef>
                <a:spcPts val="0"/>
              </a:spcBef>
              <a:spcAft>
                <a:spcPts val="0"/>
              </a:spcAft>
              <a:buNone/>
            </a:pPr>
            <a:r>
              <a:rPr sz="1050">
                <a:solidFill>
                  <a:srgbClr val="4B5563"/>
                </a:solidFill>
                <a:latin typeface="Arial"/>
                <a:ea typeface="Arial"/>
                <a:cs typeface="Arial"/>
              </a:rPr>
              <a:t>GPR = Gaussian Process Regressor. These are heuristic GPR acquisitions, so the question is empirical robustness, not elegance.</a:t>
            </a:r>
          </a:p>
        </p:txBody>
      </p:sp>
      <p:cxnSp>
        <p:nvCxnSpPr>
          <p:cNvPr id="162" name="Google Shape;110;p5"/>
          <p:cNvCxnSpPr/>
          <p:nvPr/>
        </p:nvCxnSpPr>
        <p:spPr>
          <a:xfrm>
            <a:off x="502920" y="6446520"/>
            <a:ext cx="11201400" cy="0"/>
          </a:xfrm>
          <a:prstGeom prst="straightConnector1">
            <a:avLst/>
          </a:prstGeom>
          <a:ln w="9525" cap="flat">
            <a:solidFill>
              <a:srgbClr val="D9DEE8"/>
            </a:solidFill>
            <a:prstDash val="solid"/>
            <a:round/>
            <a:headEnd type="none" w="sm" len="sm"/>
            <a:tailEnd type="none" w="sm" len="sm"/>
          </a:ln>
        </p:spPr>
      </p:cxnSp>
      <p:sp>
        <p:nvSpPr>
          <p:cNvPr id="111" name="Google Shape;111;p5">
            <a:extLst>
              <a:ext uri="{FF2B5EF4-FFF2-40B4-BE49-F238E27FC236}">
                <a16:creationId xmlns:a16="http://schemas.microsoft.com/office/drawing/2014/main" id="{61D88CEB-DE56-4A79-A0BB-DA9BE8110C9B}"/>
              </a:ext>
            </a:extLst>
          </p:cNvPr>
          <p:cNvSpPr>
            <a:spLocks noGrp="1"/>
          </p:cNvSpPr>
          <p:nvPr/>
        </p:nvSpPr>
        <p:spPr>
          <a:xfrm>
            <a:off x="502920" y="6519672"/>
            <a:ext cx="8961120" cy="164592"/>
          </a:xfrm>
          <a:prstGeom prst="rect">
            <a:avLst/>
          </a:prstGeom>
          <a:noFill/>
          <a:ln>
            <a:noFill/>
          </a:ln>
        </p:spPr>
        <p:txBody>
          <a:bodyPr spcFirstLastPara="1" wrap="square" lIns="0" tIns="0" rIns="0" bIns="0" anchor="ctr">
            <a:noAutofit/>
          </a:bodyPr>
          <a:lstStyle/>
          <a:p>
            <a:pPr marL="0" indent="0" algn="l">
              <a:spcBef>
                <a:spcPts val="0"/>
              </a:spcBef>
              <a:spcAft>
                <a:spcPts val="0"/>
              </a:spcAft>
              <a:buNone/>
            </a:pPr>
            <a:r>
              <a:rPr sz="780">
                <a:solidFill>
                  <a:srgbClr val="6B7280"/>
                </a:solidFill>
                <a:latin typeface="Arial"/>
                <a:ea typeface="Arial"/>
                <a:cs typeface="Arial"/>
              </a:rPr>
              <a:t>Week 3 extended update - Sample-Efficient Active Level-Set Estimation - 9</a:t>
            </a:r>
          </a:p>
        </p:txBody>
      </p:sp>
      <p:sp>
        <p:nvSpPr>
          <p:cNvPr id="112" name="Google Shape;112;p5">
            <a:extLst>
              <a:ext uri="{FF2B5EF4-FFF2-40B4-BE49-F238E27FC236}">
                <a16:creationId xmlns:a16="http://schemas.microsoft.com/office/drawing/2014/main" id="{5B9AD59B-E5D2-4800-8C4E-D3D8D97D07BC}"/>
              </a:ext>
            </a:extLst>
          </p:cNvPr>
          <p:cNvSpPr>
            <a:spLocks noGrp="1"/>
          </p:cNvSpPr>
          <p:nvPr/>
        </p:nvSpPr>
        <p:spPr>
          <a:xfrm>
            <a:off x="11521440" y="6492240"/>
            <a:ext cx="228600" cy="164592"/>
          </a:xfrm>
          <a:prstGeom prst="rect">
            <a:avLst/>
          </a:prstGeom>
          <a:noFill/>
          <a:ln>
            <a:noFill/>
          </a:ln>
        </p:spPr>
        <p:txBody>
          <a:bodyPr spcFirstLastPara="1" wrap="square" lIns="0" tIns="0" rIns="0" bIns="0" anchor="ctr">
            <a:noAutofit/>
          </a:bodyPr>
          <a:lstStyle/>
          <a:p>
            <a:pPr marL="0" indent="0" algn="r">
              <a:spcBef>
                <a:spcPts val="0"/>
              </a:spcBef>
              <a:spcAft>
                <a:spcPts val="0"/>
              </a:spcAft>
              <a:buNone/>
            </a:pPr>
            <a:r>
              <a:rPr sz="780">
                <a:solidFill>
                  <a:srgbClr val="6B7280"/>
                </a:solidFill>
                <a:latin typeface="Arial"/>
                <a:ea typeface="Arial"/>
                <a:cs typeface="Arial"/>
              </a:rPr>
              <a:t>9</a:t>
            </a:r>
          </a:p>
        </p:txBody>
      </p:sp>
    </p:spTree>
    <p:extLst>
      <p:ext uri="{BB962C8B-B14F-4D97-AF65-F5344CB8AC3E}">
        <p14:creationId xmlns:p14="http://schemas.microsoft.com/office/powerpoint/2010/main" val="560878052"/>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rgbClr val="F6F8FC"/>
        </a:solidFill>
        <a:effectLst/>
      </p:bgPr>
    </p:bg>
    <p:spTree>
      <p:nvGrpSpPr>
        <p:cNvPr id="1" name=""/>
        <p:cNvGrpSpPr/>
        <p:nvPr/>
      </p:nvGrpSpPr>
      <p:grpSpPr>
        <a:xfrm>
          <a:off x="0" y="0"/>
          <a:ext cx="0" cy="0"/>
          <a:chOff x="0" y="0"/>
          <a:chExt cx="0" cy="0"/>
        </a:xfrm>
      </p:grpSpPr>
      <p:sp>
        <p:nvSpPr>
          <p:cNvPr id="142" name="Google Shape;142;p7">
            <a:extLst>
              <a:ext uri="{FF2B5EF4-FFF2-40B4-BE49-F238E27FC236}">
                <a16:creationId xmlns:a16="http://schemas.microsoft.com/office/drawing/2014/main" id="{81BA9912-BDB9-4CBD-807E-05E773527849}"/>
              </a:ext>
            </a:extLst>
          </p:cNvPr>
          <p:cNvSpPr>
            <a:spLocks noGrp="1"/>
          </p:cNvSpPr>
          <p:nvPr/>
        </p:nvSpPr>
        <p:spPr>
          <a:xfrm>
            <a:off x="502920" y="329184"/>
            <a:ext cx="10789920" cy="320040"/>
          </a:xfrm>
          <a:prstGeom prst="rect">
            <a:avLst/>
          </a:prstGeom>
          <a:noFill/>
          <a:ln>
            <a:noFill/>
          </a:ln>
        </p:spPr>
        <p:txBody>
          <a:bodyPr spcFirstLastPara="1" wrap="square" lIns="0" tIns="0" rIns="0" bIns="0" anchor="ctr">
            <a:noAutofit/>
          </a:bodyPr>
          <a:lstStyle/>
          <a:p>
            <a:pPr marL="0" indent="0" algn="l">
              <a:spcBef>
                <a:spcPts val="0"/>
              </a:spcBef>
              <a:spcAft>
                <a:spcPts val="0"/>
              </a:spcAft>
              <a:buNone/>
            </a:pPr>
            <a:r>
              <a:rPr sz="2200" b="1">
                <a:solidFill>
                  <a:srgbClr val="1F2A44"/>
                </a:solidFill>
                <a:latin typeface="Play"/>
                <a:ea typeface="Play"/>
                <a:cs typeface="Play"/>
              </a:rPr>
              <a:t>Lookahead helps Branin but fails Ackley4</a:t>
            </a:r>
          </a:p>
        </p:txBody>
      </p:sp>
      <p:sp>
        <p:nvSpPr>
          <p:cNvPr id="143" name="Google Shape;143;p7">
            <a:extLst>
              <a:ext uri="{FF2B5EF4-FFF2-40B4-BE49-F238E27FC236}">
                <a16:creationId xmlns:a16="http://schemas.microsoft.com/office/drawing/2014/main" id="{5DECCD09-421D-4E02-AD30-9E681AA6585B}"/>
              </a:ext>
            </a:extLst>
          </p:cNvPr>
          <p:cNvSpPr>
            <a:spLocks noGrp="1"/>
          </p:cNvSpPr>
          <p:nvPr/>
        </p:nvSpPr>
        <p:spPr>
          <a:xfrm>
            <a:off x="521208" y="713232"/>
            <a:ext cx="10515600" cy="237744"/>
          </a:xfrm>
          <a:prstGeom prst="rect">
            <a:avLst/>
          </a:prstGeom>
          <a:noFill/>
          <a:ln>
            <a:noFill/>
          </a:ln>
        </p:spPr>
        <p:txBody>
          <a:bodyPr spcFirstLastPara="1" wrap="square" lIns="0" tIns="0" rIns="0" bIns="0" anchor="ctr">
            <a:noAutofit/>
          </a:bodyPr>
          <a:lstStyle/>
          <a:p>
            <a:pPr marL="0" indent="0" algn="l">
              <a:spcBef>
                <a:spcPts val="0"/>
              </a:spcBef>
              <a:spcAft>
                <a:spcPts val="0"/>
              </a:spcAft>
              <a:buNone/>
            </a:pPr>
            <a:r>
              <a:rPr sz="1050">
                <a:solidFill>
                  <a:srgbClr val="4B5563"/>
                </a:solidFill>
                <a:latin typeface="Arial"/>
                <a:ea typeface="Arial"/>
                <a:cs typeface="Arial"/>
              </a:rPr>
              <a:t>Expected boundary-uncertainty reduction is promising, but not robust under the GPR surrogate.</a:t>
            </a:r>
          </a:p>
        </p:txBody>
      </p:sp>
      <p:sp>
        <p:nvSpPr>
          <p:cNvPr id="144" name="Google Shape;144;p7">
            <a:extLst>
              <a:ext uri="{FF2B5EF4-FFF2-40B4-BE49-F238E27FC236}">
                <a16:creationId xmlns:a16="http://schemas.microsoft.com/office/drawing/2014/main" id="{9D89FC33-07A9-4D22-BB7C-0AD9052EA6ED}"/>
              </a:ext>
            </a:extLst>
          </p:cNvPr>
          <p:cNvSpPr>
            <a:spLocks noGrp="1"/>
          </p:cNvSpPr>
          <p:nvPr/>
        </p:nvSpPr>
        <p:spPr>
          <a:xfrm>
            <a:off x="502920" y="1051560"/>
            <a:ext cx="7406640" cy="4937760"/>
          </a:xfrm>
          <a:prstGeom prst="roundRect">
            <a:avLst>
              <a:gd name="adj" fmla="val 1667"/>
            </a:avLst>
          </a:prstGeom>
          <a:solidFill>
            <a:srgbClr val="FFFFFF"/>
          </a:solidFill>
          <a:ln w="10150" cmpd="sng">
            <a:solidFill>
              <a:srgbClr val="D9DEE8"/>
            </a:solidFill>
            <a:prstDash val="solid"/>
            <a:headEnd type="none" w="sm" len="sm"/>
            <a:tailEnd type="none" w="sm" len="sm"/>
          </a:ln>
        </p:spPr>
        <p:txBody>
          <a:bodyPr spcFirstLastPara="1" wrap="square" lIns="91425" tIns="45700" rIns="91425" bIns="45700" anchor="t">
            <a:noAutofit/>
          </a:bodyPr>
          <a:lstStyle/>
          <a:p>
            <a:pPr marL="0" indent="0" algn="l">
              <a:spcBef>
                <a:spcPts val="0"/>
              </a:spcBef>
              <a:spcAft>
                <a:spcPts val="0"/>
              </a:spcAft>
              <a:buNone/>
            </a:pPr>
            <a:endParaRPr/>
          </a:p>
        </p:txBody>
      </p:sp>
      <p:pic>
        <p:nvPicPr>
          <p:cNvPr id="210" name="Google Shape;145;p7"/>
          <p:cNvPicPr>
            <a:picLocks noChangeAspect="1"/>
          </p:cNvPicPr>
          <p:nvPr/>
        </p:nvPicPr>
        <p:blipFill rotWithShape="1">
          <a:blip r:embed="rId3">
            <a:alphaModFix/>
          </a:blip>
          <a:srcRect t="20278" b="20278"/>
          <a:stretch>
            <a:fillRect/>
          </a:stretch>
        </p:blipFill>
        <p:spPr>
          <a:xfrm>
            <a:off x="502920" y="1319022"/>
            <a:ext cx="7406640" cy="4402836"/>
          </a:xfrm>
          <a:prstGeom prst="rect">
            <a:avLst/>
          </a:prstGeom>
          <a:ln>
            <a:noFill/>
          </a:ln>
        </p:spPr>
      </p:pic>
      <p:sp>
        <p:nvSpPr>
          <p:cNvPr id="146" name="Google Shape;146;p7">
            <a:extLst>
              <a:ext uri="{FF2B5EF4-FFF2-40B4-BE49-F238E27FC236}">
                <a16:creationId xmlns:a16="http://schemas.microsoft.com/office/drawing/2014/main" id="{53A6A1D4-98A3-4627-9A37-EB28651795A5}"/>
              </a:ext>
            </a:extLst>
          </p:cNvPr>
          <p:cNvSpPr>
            <a:spLocks noGrp="1"/>
          </p:cNvSpPr>
          <p:nvPr/>
        </p:nvSpPr>
        <p:spPr>
          <a:xfrm>
            <a:off x="8156448" y="1051560"/>
            <a:ext cx="3456432" cy="4937760"/>
          </a:xfrm>
          <a:prstGeom prst="roundRect">
            <a:avLst>
              <a:gd name="adj" fmla="val 2381"/>
            </a:avLst>
          </a:prstGeom>
          <a:solidFill>
            <a:srgbClr val="FFFFFF"/>
          </a:solidFill>
          <a:ln w="10150" cmpd="sng">
            <a:solidFill>
              <a:srgbClr val="D9DEE8"/>
            </a:solidFill>
            <a:prstDash val="solid"/>
            <a:headEnd type="none" w="sm" len="sm"/>
            <a:tailEnd type="none" w="sm" len="sm"/>
          </a:ln>
          <a:effectLst>
            <a:outerShdw blurRad="15240" dist="50800" dir="2700000" algn="bl" rotWithShape="0">
              <a:srgbClr val="000000">
                <a:alpha val="7843"/>
              </a:srgbClr>
            </a:outerShdw>
          </a:effectLst>
        </p:spPr>
        <p:txBody>
          <a:bodyPr spcFirstLastPara="1" wrap="square" lIns="91425" tIns="45700" rIns="91425" bIns="45700" anchor="t">
            <a:noAutofit/>
          </a:bodyPr>
          <a:lstStyle/>
          <a:p>
            <a:pPr marL="0" indent="0" algn="l">
              <a:spcBef>
                <a:spcPts val="0"/>
              </a:spcBef>
              <a:spcAft>
                <a:spcPts val="0"/>
              </a:spcAft>
              <a:buNone/>
            </a:pPr>
            <a:endParaRPr/>
          </a:p>
        </p:txBody>
      </p:sp>
      <p:sp>
        <p:nvSpPr>
          <p:cNvPr id="147" name="Google Shape;147;p7">
            <a:extLst>
              <a:ext uri="{FF2B5EF4-FFF2-40B4-BE49-F238E27FC236}">
                <a16:creationId xmlns:a16="http://schemas.microsoft.com/office/drawing/2014/main" id="{92266219-070C-46E7-84F9-B10E52F98B86}"/>
              </a:ext>
            </a:extLst>
          </p:cNvPr>
          <p:cNvSpPr>
            <a:spLocks noGrp="1"/>
          </p:cNvSpPr>
          <p:nvPr/>
        </p:nvSpPr>
        <p:spPr>
          <a:xfrm>
            <a:off x="8394192" y="1307592"/>
            <a:ext cx="2651760" cy="164592"/>
          </a:xfrm>
          <a:prstGeom prst="rect">
            <a:avLst/>
          </a:prstGeom>
          <a:noFill/>
          <a:ln>
            <a:noFill/>
          </a:ln>
        </p:spPr>
        <p:txBody>
          <a:bodyPr spcFirstLastPara="1" wrap="square" lIns="0" tIns="0" rIns="0" bIns="0" anchor="ctr">
            <a:noAutofit/>
          </a:bodyPr>
          <a:lstStyle/>
          <a:p>
            <a:pPr marL="0" indent="0" algn="l">
              <a:spcBef>
                <a:spcPts val="0"/>
              </a:spcBef>
              <a:spcAft>
                <a:spcPts val="0"/>
              </a:spcAft>
              <a:buNone/>
            </a:pPr>
            <a:r>
              <a:rPr sz="1400" b="1">
                <a:solidFill>
                  <a:srgbClr val="1F2A44"/>
                </a:solidFill>
                <a:latin typeface="Arial"/>
                <a:ea typeface="Arial"/>
                <a:cs typeface="Arial"/>
              </a:rPr>
              <a:t>Lookahead vs baselines</a:t>
            </a:r>
          </a:p>
        </p:txBody>
      </p:sp>
      <p:sp>
        <p:nvSpPr>
          <p:cNvPr id="148" name="Google Shape;148;p7">
            <a:extLst>
              <a:ext uri="{FF2B5EF4-FFF2-40B4-BE49-F238E27FC236}">
                <a16:creationId xmlns:a16="http://schemas.microsoft.com/office/drawing/2014/main" id="{22182E4C-2E3E-4F0D-BA22-C266022CB68F}"/>
              </a:ext>
            </a:extLst>
          </p:cNvPr>
          <p:cNvSpPr>
            <a:spLocks noGrp="1"/>
          </p:cNvSpPr>
          <p:nvPr/>
        </p:nvSpPr>
        <p:spPr>
          <a:xfrm>
            <a:off x="8394192" y="1719072"/>
            <a:ext cx="256032" cy="256032"/>
          </a:xfrm>
          <a:prstGeom prst="ellipse">
            <a:avLst/>
          </a:prstGeom>
          <a:solidFill>
            <a:srgbClr val="B7791F"/>
          </a:solidFill>
          <a:ln w="12700" cmpd="sng">
            <a:solidFill>
              <a:srgbClr val="B7791F"/>
            </a:solidFill>
            <a:prstDash val="solid"/>
            <a:headEnd type="none" w="sm" len="sm"/>
            <a:tailEnd type="none" w="sm" len="sm"/>
          </a:ln>
        </p:spPr>
        <p:txBody>
          <a:bodyPr spcFirstLastPara="1" wrap="square" lIns="91425" tIns="45700" rIns="91425" bIns="45700" anchor="t">
            <a:noAutofit/>
          </a:bodyPr>
          <a:lstStyle/>
          <a:p>
            <a:pPr marL="0" indent="0" algn="l">
              <a:spcBef>
                <a:spcPts val="0"/>
              </a:spcBef>
              <a:spcAft>
                <a:spcPts val="0"/>
              </a:spcAft>
              <a:buNone/>
            </a:pPr>
            <a:endParaRPr/>
          </a:p>
        </p:txBody>
      </p:sp>
      <p:sp>
        <p:nvSpPr>
          <p:cNvPr id="149" name="Google Shape;149;p7">
            <a:extLst>
              <a:ext uri="{FF2B5EF4-FFF2-40B4-BE49-F238E27FC236}">
                <a16:creationId xmlns:a16="http://schemas.microsoft.com/office/drawing/2014/main" id="{83374358-80A8-4BBC-8CEF-3FEE18F3A67E}"/>
              </a:ext>
            </a:extLst>
          </p:cNvPr>
          <p:cNvSpPr>
            <a:spLocks noGrp="1"/>
          </p:cNvSpPr>
          <p:nvPr/>
        </p:nvSpPr>
        <p:spPr>
          <a:xfrm>
            <a:off x="8394192" y="1769364"/>
            <a:ext cx="256032" cy="109728"/>
          </a:xfrm>
          <a:prstGeom prst="rect">
            <a:avLst/>
          </a:prstGeom>
          <a:noFill/>
          <a:ln>
            <a:noFill/>
          </a:ln>
        </p:spPr>
        <p:txBody>
          <a:bodyPr spcFirstLastPara="1" wrap="square" lIns="0" tIns="0" rIns="0" bIns="0" anchor="ctr">
            <a:noAutofit/>
          </a:bodyPr>
          <a:lstStyle/>
          <a:p>
            <a:pPr marL="0" indent="0" algn="ctr">
              <a:spcBef>
                <a:spcPts val="0"/>
              </a:spcBef>
              <a:spcAft>
                <a:spcPts val="0"/>
              </a:spcAft>
              <a:buNone/>
            </a:pPr>
            <a:endParaRPr/>
          </a:p>
        </p:txBody>
      </p:sp>
      <p:sp>
        <p:nvSpPr>
          <p:cNvPr id="150" name="Google Shape;150;p7">
            <a:extLst>
              <a:ext uri="{FF2B5EF4-FFF2-40B4-BE49-F238E27FC236}">
                <a16:creationId xmlns:a16="http://schemas.microsoft.com/office/drawing/2014/main" id="{16738B45-3CB2-4551-9E66-950A18456CF2}"/>
              </a:ext>
            </a:extLst>
          </p:cNvPr>
          <p:cNvSpPr>
            <a:spLocks noGrp="1"/>
          </p:cNvSpPr>
          <p:nvPr/>
        </p:nvSpPr>
        <p:spPr>
          <a:xfrm>
            <a:off x="8759952" y="1746504"/>
            <a:ext cx="1645920" cy="146304"/>
          </a:xfrm>
          <a:prstGeom prst="rect">
            <a:avLst/>
          </a:prstGeom>
          <a:noFill/>
          <a:ln>
            <a:noFill/>
          </a:ln>
        </p:spPr>
        <p:txBody>
          <a:bodyPr spcFirstLastPara="1" wrap="square" lIns="0" tIns="0" rIns="0" bIns="0" anchor="ctr">
            <a:noAutofit/>
          </a:bodyPr>
          <a:lstStyle/>
          <a:p>
            <a:pPr marL="0" indent="0" algn="l">
              <a:spcBef>
                <a:spcPts val="0"/>
              </a:spcBef>
              <a:spcAft>
                <a:spcPts val="0"/>
              </a:spcAft>
              <a:buNone/>
            </a:pPr>
            <a:r>
              <a:rPr sz="1100">
                <a:solidFill>
                  <a:srgbClr val="111827"/>
                </a:solidFill>
                <a:latin typeface="Arial"/>
                <a:ea typeface="Arial"/>
                <a:cs typeface="Arial"/>
              </a:rPr>
              <a:t>Branin global</a:t>
            </a:r>
          </a:p>
        </p:txBody>
      </p:sp>
      <p:sp>
        <p:nvSpPr>
          <p:cNvPr id="151" name="Google Shape;151;p7">
            <a:extLst>
              <a:ext uri="{FF2B5EF4-FFF2-40B4-BE49-F238E27FC236}">
                <a16:creationId xmlns:a16="http://schemas.microsoft.com/office/drawing/2014/main" id="{21764C4C-4E11-40D0-9CFC-959CCFB59BD4}"/>
              </a:ext>
            </a:extLst>
          </p:cNvPr>
          <p:cNvSpPr>
            <a:spLocks noGrp="1"/>
          </p:cNvSpPr>
          <p:nvPr/>
        </p:nvSpPr>
        <p:spPr>
          <a:xfrm>
            <a:off x="10652760" y="1746504"/>
            <a:ext cx="685800" cy="146304"/>
          </a:xfrm>
          <a:prstGeom prst="rect">
            <a:avLst/>
          </a:prstGeom>
          <a:noFill/>
          <a:ln>
            <a:noFill/>
          </a:ln>
        </p:spPr>
        <p:txBody>
          <a:bodyPr spcFirstLastPara="1" wrap="square" lIns="0" tIns="0" rIns="0" bIns="0" anchor="ctr">
            <a:noAutofit/>
          </a:bodyPr>
          <a:lstStyle/>
          <a:p>
            <a:pPr marL="0" indent="0" algn="r">
              <a:spcBef>
                <a:spcPts val="0"/>
              </a:spcBef>
              <a:spcAft>
                <a:spcPts val="0"/>
              </a:spcAft>
              <a:buNone/>
            </a:pPr>
            <a:r>
              <a:rPr sz="1100" b="1">
                <a:solidFill>
                  <a:srgbClr val="B7791F"/>
                </a:solidFill>
                <a:latin typeface="Arial"/>
                <a:ea typeface="Arial"/>
                <a:cs typeface="Arial"/>
              </a:rPr>
              <a:t>5.59%</a:t>
            </a:r>
          </a:p>
        </p:txBody>
      </p:sp>
      <p:sp>
        <p:nvSpPr>
          <p:cNvPr id="152" name="Google Shape;152;p7">
            <a:extLst>
              <a:ext uri="{FF2B5EF4-FFF2-40B4-BE49-F238E27FC236}">
                <a16:creationId xmlns:a16="http://schemas.microsoft.com/office/drawing/2014/main" id="{7419CD7D-D776-4075-97E2-52C7E9F7D61F}"/>
              </a:ext>
            </a:extLst>
          </p:cNvPr>
          <p:cNvSpPr>
            <a:spLocks noGrp="1"/>
          </p:cNvSpPr>
          <p:nvPr/>
        </p:nvSpPr>
        <p:spPr>
          <a:xfrm>
            <a:off x="8394192" y="2249424"/>
            <a:ext cx="256032" cy="256032"/>
          </a:xfrm>
          <a:prstGeom prst="ellipse">
            <a:avLst/>
          </a:prstGeom>
          <a:solidFill>
            <a:srgbClr val="0F8B61"/>
          </a:solidFill>
          <a:ln w="12700" cmpd="sng">
            <a:solidFill>
              <a:srgbClr val="0F8B61"/>
            </a:solidFill>
            <a:prstDash val="solid"/>
            <a:headEnd type="none" w="sm" len="sm"/>
            <a:tailEnd type="none" w="sm" len="sm"/>
          </a:ln>
        </p:spPr>
        <p:txBody>
          <a:bodyPr spcFirstLastPara="1" wrap="square" lIns="91425" tIns="45700" rIns="91425" bIns="45700" anchor="t">
            <a:noAutofit/>
          </a:bodyPr>
          <a:lstStyle/>
          <a:p>
            <a:pPr marL="0" indent="0" algn="l">
              <a:spcBef>
                <a:spcPts val="0"/>
              </a:spcBef>
              <a:spcAft>
                <a:spcPts val="0"/>
              </a:spcAft>
              <a:buNone/>
            </a:pPr>
            <a:endParaRPr/>
          </a:p>
        </p:txBody>
      </p:sp>
      <p:sp>
        <p:nvSpPr>
          <p:cNvPr id="153" name="Google Shape;153;p7">
            <a:extLst>
              <a:ext uri="{FF2B5EF4-FFF2-40B4-BE49-F238E27FC236}">
                <a16:creationId xmlns:a16="http://schemas.microsoft.com/office/drawing/2014/main" id="{FB1F0EE9-FC0F-47C6-984E-CC3D0DACE893}"/>
              </a:ext>
            </a:extLst>
          </p:cNvPr>
          <p:cNvSpPr>
            <a:spLocks noGrp="1"/>
          </p:cNvSpPr>
          <p:nvPr/>
        </p:nvSpPr>
        <p:spPr>
          <a:xfrm>
            <a:off x="8394192" y="2299716"/>
            <a:ext cx="256032" cy="109728"/>
          </a:xfrm>
          <a:prstGeom prst="rect">
            <a:avLst/>
          </a:prstGeom>
          <a:noFill/>
          <a:ln>
            <a:noFill/>
          </a:ln>
        </p:spPr>
        <p:txBody>
          <a:bodyPr spcFirstLastPara="1" wrap="square" lIns="0" tIns="0" rIns="0" bIns="0" anchor="ctr">
            <a:noAutofit/>
          </a:bodyPr>
          <a:lstStyle/>
          <a:p>
            <a:pPr marL="0" indent="0" algn="ctr">
              <a:spcBef>
                <a:spcPts val="0"/>
              </a:spcBef>
              <a:spcAft>
                <a:spcPts val="0"/>
              </a:spcAft>
              <a:buNone/>
            </a:pPr>
            <a:endParaRPr/>
          </a:p>
        </p:txBody>
      </p:sp>
      <p:sp>
        <p:nvSpPr>
          <p:cNvPr id="154" name="Google Shape;154;p7">
            <a:extLst>
              <a:ext uri="{FF2B5EF4-FFF2-40B4-BE49-F238E27FC236}">
                <a16:creationId xmlns:a16="http://schemas.microsoft.com/office/drawing/2014/main" id="{70EC3FD1-AE3D-4D02-92A2-54D41DA802E4}"/>
              </a:ext>
            </a:extLst>
          </p:cNvPr>
          <p:cNvSpPr>
            <a:spLocks noGrp="1"/>
          </p:cNvSpPr>
          <p:nvPr/>
        </p:nvSpPr>
        <p:spPr>
          <a:xfrm>
            <a:off x="8759952" y="2276856"/>
            <a:ext cx="1645920" cy="146304"/>
          </a:xfrm>
          <a:prstGeom prst="rect">
            <a:avLst/>
          </a:prstGeom>
          <a:noFill/>
          <a:ln>
            <a:noFill/>
          </a:ln>
        </p:spPr>
        <p:txBody>
          <a:bodyPr spcFirstLastPara="1" wrap="square" lIns="0" tIns="0" rIns="0" bIns="0" anchor="ctr">
            <a:noAutofit/>
          </a:bodyPr>
          <a:lstStyle/>
          <a:p>
            <a:pPr marL="0" indent="0" algn="l">
              <a:spcBef>
                <a:spcPts val="0"/>
              </a:spcBef>
              <a:spcAft>
                <a:spcPts val="0"/>
              </a:spcAft>
              <a:buNone/>
            </a:pPr>
            <a:r>
              <a:rPr sz="1100">
                <a:solidFill>
                  <a:srgbClr val="111827"/>
                </a:solidFill>
                <a:latin typeface="Arial"/>
                <a:ea typeface="Arial"/>
                <a:cs typeface="Arial"/>
              </a:rPr>
              <a:t>Branin q20</a:t>
            </a:r>
          </a:p>
        </p:txBody>
      </p:sp>
      <p:sp>
        <p:nvSpPr>
          <p:cNvPr id="155" name="Google Shape;155;p7">
            <a:extLst>
              <a:ext uri="{FF2B5EF4-FFF2-40B4-BE49-F238E27FC236}">
                <a16:creationId xmlns:a16="http://schemas.microsoft.com/office/drawing/2014/main" id="{11AF2C08-3973-46A0-A1E4-36DDD4834556}"/>
              </a:ext>
            </a:extLst>
          </p:cNvPr>
          <p:cNvSpPr>
            <a:spLocks noGrp="1"/>
          </p:cNvSpPr>
          <p:nvPr/>
        </p:nvSpPr>
        <p:spPr>
          <a:xfrm>
            <a:off x="10652760" y="2276856"/>
            <a:ext cx="685800" cy="146304"/>
          </a:xfrm>
          <a:prstGeom prst="rect">
            <a:avLst/>
          </a:prstGeom>
          <a:noFill/>
          <a:ln>
            <a:noFill/>
          </a:ln>
        </p:spPr>
        <p:txBody>
          <a:bodyPr spcFirstLastPara="1" wrap="square" lIns="0" tIns="0" rIns="0" bIns="0" anchor="ctr">
            <a:noAutofit/>
          </a:bodyPr>
          <a:lstStyle/>
          <a:p>
            <a:pPr marL="0" indent="0" algn="r">
              <a:spcBef>
                <a:spcPts val="0"/>
              </a:spcBef>
              <a:spcAft>
                <a:spcPts val="0"/>
              </a:spcAft>
              <a:buNone/>
            </a:pPr>
            <a:r>
              <a:rPr sz="1100" b="1">
                <a:solidFill>
                  <a:srgbClr val="0F8B61"/>
                </a:solidFill>
                <a:latin typeface="Arial"/>
                <a:ea typeface="Arial"/>
                <a:cs typeface="Arial"/>
              </a:rPr>
              <a:t>23.55%</a:t>
            </a:r>
          </a:p>
        </p:txBody>
      </p:sp>
      <p:sp>
        <p:nvSpPr>
          <p:cNvPr id="156" name="Google Shape;156;p7">
            <a:extLst>
              <a:ext uri="{FF2B5EF4-FFF2-40B4-BE49-F238E27FC236}">
                <a16:creationId xmlns:a16="http://schemas.microsoft.com/office/drawing/2014/main" id="{B87DFDA3-581C-48C6-ABFC-2A79ECAB14C4}"/>
              </a:ext>
            </a:extLst>
          </p:cNvPr>
          <p:cNvSpPr>
            <a:spLocks noGrp="1"/>
          </p:cNvSpPr>
          <p:nvPr/>
        </p:nvSpPr>
        <p:spPr>
          <a:xfrm>
            <a:off x="8394192" y="2779776"/>
            <a:ext cx="256032" cy="256032"/>
          </a:xfrm>
          <a:prstGeom prst="ellipse">
            <a:avLst/>
          </a:prstGeom>
          <a:solidFill>
            <a:srgbClr val="2B6CB0"/>
          </a:solidFill>
          <a:ln w="12700" cmpd="sng">
            <a:solidFill>
              <a:srgbClr val="2B6CB0"/>
            </a:solidFill>
            <a:prstDash val="solid"/>
            <a:headEnd type="none" w="sm" len="sm"/>
            <a:tailEnd type="none" w="sm" len="sm"/>
          </a:ln>
        </p:spPr>
        <p:txBody>
          <a:bodyPr spcFirstLastPara="1" wrap="square" lIns="91425" tIns="45700" rIns="91425" bIns="45700" anchor="t">
            <a:noAutofit/>
          </a:bodyPr>
          <a:lstStyle/>
          <a:p>
            <a:pPr marL="0" indent="0" algn="l">
              <a:spcBef>
                <a:spcPts val="0"/>
              </a:spcBef>
              <a:spcAft>
                <a:spcPts val="0"/>
              </a:spcAft>
              <a:buNone/>
            </a:pPr>
            <a:endParaRPr/>
          </a:p>
        </p:txBody>
      </p:sp>
      <p:sp>
        <p:nvSpPr>
          <p:cNvPr id="157" name="Google Shape;157;p7">
            <a:extLst>
              <a:ext uri="{FF2B5EF4-FFF2-40B4-BE49-F238E27FC236}">
                <a16:creationId xmlns:a16="http://schemas.microsoft.com/office/drawing/2014/main" id="{AB7A27D0-9A25-4193-8B4C-6864650E586B}"/>
              </a:ext>
            </a:extLst>
          </p:cNvPr>
          <p:cNvSpPr>
            <a:spLocks noGrp="1"/>
          </p:cNvSpPr>
          <p:nvPr/>
        </p:nvSpPr>
        <p:spPr>
          <a:xfrm>
            <a:off x="8394192" y="2830068"/>
            <a:ext cx="256032" cy="109728"/>
          </a:xfrm>
          <a:prstGeom prst="rect">
            <a:avLst/>
          </a:prstGeom>
          <a:noFill/>
          <a:ln>
            <a:noFill/>
          </a:ln>
        </p:spPr>
        <p:txBody>
          <a:bodyPr spcFirstLastPara="1" wrap="square" lIns="0" tIns="0" rIns="0" bIns="0" anchor="ctr">
            <a:noAutofit/>
          </a:bodyPr>
          <a:lstStyle/>
          <a:p>
            <a:pPr marL="0" indent="0" algn="ctr">
              <a:spcBef>
                <a:spcPts val="0"/>
              </a:spcBef>
              <a:spcAft>
                <a:spcPts val="0"/>
              </a:spcAft>
              <a:buNone/>
            </a:pPr>
            <a:endParaRPr/>
          </a:p>
        </p:txBody>
      </p:sp>
      <p:sp>
        <p:nvSpPr>
          <p:cNvPr id="158" name="Google Shape;158;p7">
            <a:extLst>
              <a:ext uri="{FF2B5EF4-FFF2-40B4-BE49-F238E27FC236}">
                <a16:creationId xmlns:a16="http://schemas.microsoft.com/office/drawing/2014/main" id="{E9701341-0856-4F78-B4B9-247E0C5E4FDA}"/>
              </a:ext>
            </a:extLst>
          </p:cNvPr>
          <p:cNvSpPr>
            <a:spLocks noGrp="1"/>
          </p:cNvSpPr>
          <p:nvPr/>
        </p:nvSpPr>
        <p:spPr>
          <a:xfrm>
            <a:off x="8759952" y="2807208"/>
            <a:ext cx="1645920" cy="146304"/>
          </a:xfrm>
          <a:prstGeom prst="rect">
            <a:avLst/>
          </a:prstGeom>
          <a:noFill/>
          <a:ln>
            <a:noFill/>
          </a:ln>
        </p:spPr>
        <p:txBody>
          <a:bodyPr spcFirstLastPara="1" wrap="square" lIns="0" tIns="0" rIns="0" bIns="0" anchor="ctr">
            <a:noAutofit/>
          </a:bodyPr>
          <a:lstStyle/>
          <a:p>
            <a:pPr marL="0" indent="0" algn="l">
              <a:spcBef>
                <a:spcPts val="0"/>
              </a:spcBef>
              <a:spcAft>
                <a:spcPts val="0"/>
              </a:spcAft>
              <a:buNone/>
            </a:pPr>
            <a:r>
              <a:rPr sz="1100">
                <a:solidFill>
                  <a:srgbClr val="111827"/>
                </a:solidFill>
                <a:latin typeface="Arial"/>
                <a:ea typeface="Arial"/>
                <a:cs typeface="Arial"/>
              </a:rPr>
              <a:t>Branin q30</a:t>
            </a:r>
          </a:p>
        </p:txBody>
      </p:sp>
      <p:sp>
        <p:nvSpPr>
          <p:cNvPr id="159" name="Google Shape;159;p7">
            <a:extLst>
              <a:ext uri="{FF2B5EF4-FFF2-40B4-BE49-F238E27FC236}">
                <a16:creationId xmlns:a16="http://schemas.microsoft.com/office/drawing/2014/main" id="{F95B15A3-A8D8-454A-B209-1D7389E982E8}"/>
              </a:ext>
            </a:extLst>
          </p:cNvPr>
          <p:cNvSpPr>
            <a:spLocks noGrp="1"/>
          </p:cNvSpPr>
          <p:nvPr/>
        </p:nvSpPr>
        <p:spPr>
          <a:xfrm>
            <a:off x="10652760" y="2807208"/>
            <a:ext cx="685800" cy="146304"/>
          </a:xfrm>
          <a:prstGeom prst="rect">
            <a:avLst/>
          </a:prstGeom>
          <a:noFill/>
          <a:ln>
            <a:noFill/>
          </a:ln>
        </p:spPr>
        <p:txBody>
          <a:bodyPr spcFirstLastPara="1" wrap="square" lIns="0" tIns="0" rIns="0" bIns="0" anchor="ctr">
            <a:noAutofit/>
          </a:bodyPr>
          <a:lstStyle/>
          <a:p>
            <a:pPr marL="0" indent="0" algn="r">
              <a:spcBef>
                <a:spcPts val="0"/>
              </a:spcBef>
              <a:spcAft>
                <a:spcPts val="0"/>
              </a:spcAft>
              <a:buNone/>
            </a:pPr>
            <a:r>
              <a:rPr sz="1100" b="1">
                <a:solidFill>
                  <a:srgbClr val="2B6CB0"/>
                </a:solidFill>
                <a:latin typeface="Arial"/>
                <a:ea typeface="Arial"/>
                <a:cs typeface="Arial"/>
              </a:rPr>
              <a:t>17.53%</a:t>
            </a:r>
          </a:p>
        </p:txBody>
      </p:sp>
      <p:sp>
        <p:nvSpPr>
          <p:cNvPr id="160" name="Google Shape;160;p7">
            <a:extLst>
              <a:ext uri="{FF2B5EF4-FFF2-40B4-BE49-F238E27FC236}">
                <a16:creationId xmlns:a16="http://schemas.microsoft.com/office/drawing/2014/main" id="{E5E03697-6340-46A6-8DF4-DFA6818BBF51}"/>
              </a:ext>
            </a:extLst>
          </p:cNvPr>
          <p:cNvSpPr>
            <a:spLocks noGrp="1"/>
          </p:cNvSpPr>
          <p:nvPr/>
        </p:nvSpPr>
        <p:spPr>
          <a:xfrm>
            <a:off x="8394192" y="3310128"/>
            <a:ext cx="256032" cy="256032"/>
          </a:xfrm>
          <a:prstGeom prst="ellipse">
            <a:avLst/>
          </a:prstGeom>
          <a:solidFill>
            <a:srgbClr val="9F1239"/>
          </a:solidFill>
          <a:ln w="12700" cmpd="sng">
            <a:solidFill>
              <a:srgbClr val="9F1239"/>
            </a:solidFill>
            <a:prstDash val="solid"/>
            <a:headEnd type="none" w="sm" len="sm"/>
            <a:tailEnd type="none" w="sm" len="sm"/>
          </a:ln>
        </p:spPr>
        <p:txBody>
          <a:bodyPr spcFirstLastPara="1" wrap="square" lIns="91425" tIns="45700" rIns="91425" bIns="45700" anchor="t">
            <a:noAutofit/>
          </a:bodyPr>
          <a:lstStyle/>
          <a:p>
            <a:pPr marL="0" indent="0" algn="l">
              <a:spcBef>
                <a:spcPts val="0"/>
              </a:spcBef>
              <a:spcAft>
                <a:spcPts val="0"/>
              </a:spcAft>
              <a:buNone/>
            </a:pPr>
            <a:endParaRPr/>
          </a:p>
        </p:txBody>
      </p:sp>
      <p:sp>
        <p:nvSpPr>
          <p:cNvPr id="161" name="Google Shape;161;p7">
            <a:extLst>
              <a:ext uri="{FF2B5EF4-FFF2-40B4-BE49-F238E27FC236}">
                <a16:creationId xmlns:a16="http://schemas.microsoft.com/office/drawing/2014/main" id="{A5148F75-34CC-44D7-93B8-B4B7A16B144F}"/>
              </a:ext>
            </a:extLst>
          </p:cNvPr>
          <p:cNvSpPr>
            <a:spLocks noGrp="1"/>
          </p:cNvSpPr>
          <p:nvPr/>
        </p:nvSpPr>
        <p:spPr>
          <a:xfrm>
            <a:off x="8394192" y="3360420"/>
            <a:ext cx="256032" cy="109728"/>
          </a:xfrm>
          <a:prstGeom prst="rect">
            <a:avLst/>
          </a:prstGeom>
          <a:noFill/>
          <a:ln>
            <a:noFill/>
          </a:ln>
        </p:spPr>
        <p:txBody>
          <a:bodyPr spcFirstLastPara="1" wrap="square" lIns="0" tIns="0" rIns="0" bIns="0" anchor="ctr">
            <a:noAutofit/>
          </a:bodyPr>
          <a:lstStyle/>
          <a:p>
            <a:pPr marL="0" indent="0" algn="ctr">
              <a:spcBef>
                <a:spcPts val="0"/>
              </a:spcBef>
              <a:spcAft>
                <a:spcPts val="0"/>
              </a:spcAft>
              <a:buNone/>
            </a:pPr>
            <a:endParaRPr/>
          </a:p>
        </p:txBody>
      </p:sp>
      <p:sp>
        <p:nvSpPr>
          <p:cNvPr id="162" name="Google Shape;162;p7">
            <a:extLst>
              <a:ext uri="{FF2B5EF4-FFF2-40B4-BE49-F238E27FC236}">
                <a16:creationId xmlns:a16="http://schemas.microsoft.com/office/drawing/2014/main" id="{DF3D2CE1-3B88-44FC-A57D-FD41D3DE463C}"/>
              </a:ext>
            </a:extLst>
          </p:cNvPr>
          <p:cNvSpPr>
            <a:spLocks noGrp="1"/>
          </p:cNvSpPr>
          <p:nvPr/>
        </p:nvSpPr>
        <p:spPr>
          <a:xfrm>
            <a:off x="8759952" y="3337560"/>
            <a:ext cx="1645920" cy="146304"/>
          </a:xfrm>
          <a:prstGeom prst="rect">
            <a:avLst/>
          </a:prstGeom>
          <a:noFill/>
          <a:ln>
            <a:noFill/>
          </a:ln>
        </p:spPr>
        <p:txBody>
          <a:bodyPr spcFirstLastPara="1" wrap="square" lIns="0" tIns="0" rIns="0" bIns="0" anchor="ctr">
            <a:noAutofit/>
          </a:bodyPr>
          <a:lstStyle/>
          <a:p>
            <a:pPr marL="0" indent="0" algn="l">
              <a:spcBef>
                <a:spcPts val="0"/>
              </a:spcBef>
              <a:spcAft>
                <a:spcPts val="0"/>
              </a:spcAft>
              <a:buNone/>
            </a:pPr>
            <a:r>
              <a:rPr sz="1100">
                <a:solidFill>
                  <a:srgbClr val="111827"/>
                </a:solidFill>
                <a:latin typeface="Arial"/>
                <a:ea typeface="Arial"/>
                <a:cs typeface="Arial"/>
              </a:rPr>
              <a:t>Ackley global</a:t>
            </a:r>
          </a:p>
        </p:txBody>
      </p:sp>
      <p:sp>
        <p:nvSpPr>
          <p:cNvPr id="163" name="Google Shape;163;p7">
            <a:extLst>
              <a:ext uri="{FF2B5EF4-FFF2-40B4-BE49-F238E27FC236}">
                <a16:creationId xmlns:a16="http://schemas.microsoft.com/office/drawing/2014/main" id="{B12A205E-D8DE-41F3-9E43-CCD44B8E2290}"/>
              </a:ext>
            </a:extLst>
          </p:cNvPr>
          <p:cNvSpPr>
            <a:spLocks noGrp="1"/>
          </p:cNvSpPr>
          <p:nvPr/>
        </p:nvSpPr>
        <p:spPr>
          <a:xfrm>
            <a:off x="10652760" y="3337560"/>
            <a:ext cx="685800" cy="146304"/>
          </a:xfrm>
          <a:prstGeom prst="rect">
            <a:avLst/>
          </a:prstGeom>
          <a:noFill/>
          <a:ln>
            <a:noFill/>
          </a:ln>
        </p:spPr>
        <p:txBody>
          <a:bodyPr spcFirstLastPara="1" wrap="square" lIns="0" tIns="0" rIns="0" bIns="0" anchor="ctr">
            <a:noAutofit/>
          </a:bodyPr>
          <a:lstStyle/>
          <a:p>
            <a:pPr marL="0" indent="0" algn="r">
              <a:spcBef>
                <a:spcPts val="0"/>
              </a:spcBef>
              <a:spcAft>
                <a:spcPts val="0"/>
              </a:spcAft>
              <a:buNone/>
            </a:pPr>
            <a:r>
              <a:rPr sz="1100" b="1">
                <a:solidFill>
                  <a:srgbClr val="9F1239"/>
                </a:solidFill>
                <a:latin typeface="Arial"/>
                <a:ea typeface="Arial"/>
                <a:cs typeface="Arial"/>
              </a:rPr>
              <a:t>22.90%</a:t>
            </a:r>
          </a:p>
        </p:txBody>
      </p:sp>
      <p:sp>
        <p:nvSpPr>
          <p:cNvPr id="164" name="Google Shape;164;p7">
            <a:extLst>
              <a:ext uri="{FF2B5EF4-FFF2-40B4-BE49-F238E27FC236}">
                <a16:creationId xmlns:a16="http://schemas.microsoft.com/office/drawing/2014/main" id="{37703292-23A3-435C-B573-A0C0AF7909A9}"/>
              </a:ext>
            </a:extLst>
          </p:cNvPr>
          <p:cNvSpPr>
            <a:spLocks noGrp="1"/>
          </p:cNvSpPr>
          <p:nvPr/>
        </p:nvSpPr>
        <p:spPr>
          <a:xfrm>
            <a:off x="8394192" y="3840480"/>
            <a:ext cx="256032" cy="256032"/>
          </a:xfrm>
          <a:prstGeom prst="ellipse">
            <a:avLst/>
          </a:prstGeom>
          <a:solidFill>
            <a:srgbClr val="6B7280"/>
          </a:solidFill>
          <a:ln w="12700" cmpd="sng">
            <a:solidFill>
              <a:srgbClr val="6B7280"/>
            </a:solidFill>
            <a:prstDash val="solid"/>
            <a:headEnd type="none" w="sm" len="sm"/>
            <a:tailEnd type="none" w="sm" len="sm"/>
          </a:ln>
        </p:spPr>
        <p:txBody>
          <a:bodyPr spcFirstLastPara="1" wrap="square" lIns="91425" tIns="45700" rIns="91425" bIns="45700" anchor="t">
            <a:noAutofit/>
          </a:bodyPr>
          <a:lstStyle/>
          <a:p>
            <a:pPr marL="0" indent="0" algn="l">
              <a:spcBef>
                <a:spcPts val="0"/>
              </a:spcBef>
              <a:spcAft>
                <a:spcPts val="0"/>
              </a:spcAft>
              <a:buNone/>
            </a:pPr>
            <a:endParaRPr/>
          </a:p>
        </p:txBody>
      </p:sp>
      <p:sp>
        <p:nvSpPr>
          <p:cNvPr id="165" name="Google Shape;165;p7">
            <a:extLst>
              <a:ext uri="{FF2B5EF4-FFF2-40B4-BE49-F238E27FC236}">
                <a16:creationId xmlns:a16="http://schemas.microsoft.com/office/drawing/2014/main" id="{CCEDA26D-0C7F-499C-A93D-71C5901F0836}"/>
              </a:ext>
            </a:extLst>
          </p:cNvPr>
          <p:cNvSpPr>
            <a:spLocks noGrp="1"/>
          </p:cNvSpPr>
          <p:nvPr/>
        </p:nvSpPr>
        <p:spPr>
          <a:xfrm>
            <a:off x="8394192" y="3890772"/>
            <a:ext cx="256032" cy="109728"/>
          </a:xfrm>
          <a:prstGeom prst="rect">
            <a:avLst/>
          </a:prstGeom>
          <a:noFill/>
          <a:ln>
            <a:noFill/>
          </a:ln>
        </p:spPr>
        <p:txBody>
          <a:bodyPr spcFirstLastPara="1" wrap="square" lIns="0" tIns="0" rIns="0" bIns="0" anchor="ctr">
            <a:noAutofit/>
          </a:bodyPr>
          <a:lstStyle/>
          <a:p>
            <a:pPr marL="0" indent="0" algn="ctr">
              <a:spcBef>
                <a:spcPts val="0"/>
              </a:spcBef>
              <a:spcAft>
                <a:spcPts val="0"/>
              </a:spcAft>
              <a:buNone/>
            </a:pPr>
            <a:endParaRPr/>
          </a:p>
        </p:txBody>
      </p:sp>
      <p:sp>
        <p:nvSpPr>
          <p:cNvPr id="166" name="Google Shape;166;p7">
            <a:extLst>
              <a:ext uri="{FF2B5EF4-FFF2-40B4-BE49-F238E27FC236}">
                <a16:creationId xmlns:a16="http://schemas.microsoft.com/office/drawing/2014/main" id="{B03D9E3B-68FB-4961-81C8-FE3B9134CE1E}"/>
              </a:ext>
            </a:extLst>
          </p:cNvPr>
          <p:cNvSpPr>
            <a:spLocks noGrp="1"/>
          </p:cNvSpPr>
          <p:nvPr/>
        </p:nvSpPr>
        <p:spPr>
          <a:xfrm>
            <a:off x="8759952" y="3867912"/>
            <a:ext cx="1645920" cy="146304"/>
          </a:xfrm>
          <a:prstGeom prst="rect">
            <a:avLst/>
          </a:prstGeom>
          <a:noFill/>
          <a:ln>
            <a:noFill/>
          </a:ln>
        </p:spPr>
        <p:txBody>
          <a:bodyPr spcFirstLastPara="1" wrap="square" lIns="0" tIns="0" rIns="0" bIns="0" anchor="ctr">
            <a:noAutofit/>
          </a:bodyPr>
          <a:lstStyle/>
          <a:p>
            <a:pPr marL="0" indent="0" algn="l">
              <a:spcBef>
                <a:spcPts val="0"/>
              </a:spcBef>
              <a:spcAft>
                <a:spcPts val="0"/>
              </a:spcAft>
              <a:buNone/>
            </a:pPr>
            <a:r>
              <a:rPr sz="1100">
                <a:solidFill>
                  <a:srgbClr val="111827"/>
                </a:solidFill>
                <a:latin typeface="Arial"/>
                <a:ea typeface="Arial"/>
                <a:cs typeface="Arial"/>
              </a:rPr>
              <a:t>Ackley q20/q30</a:t>
            </a:r>
          </a:p>
        </p:txBody>
      </p:sp>
      <p:sp>
        <p:nvSpPr>
          <p:cNvPr id="167" name="Google Shape;167;p7">
            <a:extLst>
              <a:ext uri="{FF2B5EF4-FFF2-40B4-BE49-F238E27FC236}">
                <a16:creationId xmlns:a16="http://schemas.microsoft.com/office/drawing/2014/main" id="{86A5F43E-5BCE-4F9B-8DCE-209294D4F530}"/>
              </a:ext>
            </a:extLst>
          </p:cNvPr>
          <p:cNvSpPr>
            <a:spLocks noGrp="1"/>
          </p:cNvSpPr>
          <p:nvPr/>
        </p:nvSpPr>
        <p:spPr>
          <a:xfrm>
            <a:off x="10652760" y="3867912"/>
            <a:ext cx="685800" cy="146304"/>
          </a:xfrm>
          <a:prstGeom prst="rect">
            <a:avLst/>
          </a:prstGeom>
          <a:noFill/>
          <a:ln>
            <a:noFill/>
          </a:ln>
        </p:spPr>
        <p:txBody>
          <a:bodyPr spcFirstLastPara="1" wrap="square" lIns="0" tIns="0" rIns="0" bIns="0" anchor="ctr">
            <a:noAutofit/>
          </a:bodyPr>
          <a:lstStyle/>
          <a:p>
            <a:pPr marL="0" indent="0" algn="r">
              <a:spcBef>
                <a:spcPts val="0"/>
              </a:spcBef>
              <a:spcAft>
                <a:spcPts val="0"/>
              </a:spcAft>
              <a:buNone/>
            </a:pPr>
            <a:r>
              <a:rPr sz="1100" b="1">
                <a:solidFill>
                  <a:srgbClr val="6B7280"/>
                </a:solidFill>
                <a:latin typeface="Arial"/>
                <a:ea typeface="Arial"/>
                <a:cs typeface="Arial"/>
              </a:rPr>
              <a:t>44.42 / 40.80%</a:t>
            </a:r>
          </a:p>
        </p:txBody>
      </p:sp>
      <p:sp>
        <p:nvSpPr>
          <p:cNvPr id="168" name="Google Shape;168;p7">
            <a:extLst>
              <a:ext uri="{FF2B5EF4-FFF2-40B4-BE49-F238E27FC236}">
                <a16:creationId xmlns:a16="http://schemas.microsoft.com/office/drawing/2014/main" id="{145F9010-7029-495B-B7DB-19DB1E0C0348}"/>
              </a:ext>
            </a:extLst>
          </p:cNvPr>
          <p:cNvSpPr>
            <a:spLocks noGrp="1"/>
          </p:cNvSpPr>
          <p:nvPr/>
        </p:nvSpPr>
        <p:spPr>
          <a:xfrm>
            <a:off x="8348472" y="4572000"/>
            <a:ext cx="2907792" cy="731520"/>
          </a:xfrm>
          <a:prstGeom prst="roundRect">
            <a:avLst>
              <a:gd name="adj" fmla="val 11250"/>
            </a:avLst>
          </a:prstGeom>
          <a:solidFill>
            <a:srgbClr val="FFF7ED"/>
          </a:solidFill>
          <a:ln w="10150" cmpd="sng">
            <a:solidFill>
              <a:srgbClr val="FED7AA"/>
            </a:solidFill>
            <a:prstDash val="solid"/>
            <a:headEnd type="none" w="sm" len="sm"/>
            <a:tailEnd type="none" w="sm" len="sm"/>
          </a:ln>
        </p:spPr>
        <p:txBody>
          <a:bodyPr spcFirstLastPara="1" wrap="square" lIns="91425" tIns="45700" rIns="91425" bIns="45700" anchor="t">
            <a:noAutofit/>
          </a:bodyPr>
          <a:lstStyle/>
          <a:p>
            <a:pPr marL="0" indent="0" algn="l">
              <a:spcBef>
                <a:spcPts val="0"/>
              </a:spcBef>
              <a:spcAft>
                <a:spcPts val="0"/>
              </a:spcAft>
              <a:buNone/>
            </a:pPr>
            <a:endParaRPr/>
          </a:p>
        </p:txBody>
      </p:sp>
      <p:sp>
        <p:nvSpPr>
          <p:cNvPr id="169" name="Google Shape;169;p7">
            <a:extLst>
              <a:ext uri="{FF2B5EF4-FFF2-40B4-BE49-F238E27FC236}">
                <a16:creationId xmlns:a16="http://schemas.microsoft.com/office/drawing/2014/main" id="{5E225263-EFAB-4A3D-8ACB-A210C3D77A46}"/>
              </a:ext>
            </a:extLst>
          </p:cNvPr>
          <p:cNvSpPr>
            <a:spLocks noGrp="1"/>
          </p:cNvSpPr>
          <p:nvPr/>
        </p:nvSpPr>
        <p:spPr>
          <a:xfrm>
            <a:off x="8549640" y="4709160"/>
            <a:ext cx="1188720" cy="137160"/>
          </a:xfrm>
          <a:prstGeom prst="rect">
            <a:avLst/>
          </a:prstGeom>
          <a:noFill/>
          <a:ln>
            <a:noFill/>
          </a:ln>
        </p:spPr>
        <p:txBody>
          <a:bodyPr spcFirstLastPara="1" wrap="square" lIns="0" tIns="0" rIns="0" bIns="0" anchor="ctr">
            <a:noAutofit/>
          </a:bodyPr>
          <a:lstStyle/>
          <a:p>
            <a:pPr marL="0" indent="0" algn="l">
              <a:spcBef>
                <a:spcPts val="0"/>
              </a:spcBef>
              <a:spcAft>
                <a:spcPts val="0"/>
              </a:spcAft>
              <a:buNone/>
            </a:pPr>
            <a:r>
              <a:rPr sz="1100" b="1">
                <a:solidFill>
                  <a:srgbClr val="B7791F"/>
                </a:solidFill>
                <a:latin typeface="Arial"/>
                <a:ea typeface="Arial"/>
                <a:cs typeface="Arial"/>
              </a:rPr>
              <a:t>Safe wording</a:t>
            </a:r>
          </a:p>
        </p:txBody>
      </p:sp>
      <p:sp>
        <p:nvSpPr>
          <p:cNvPr id="170" name="Google Shape;170;p7">
            <a:extLst>
              <a:ext uri="{FF2B5EF4-FFF2-40B4-BE49-F238E27FC236}">
                <a16:creationId xmlns:a16="http://schemas.microsoft.com/office/drawing/2014/main" id="{DA9C74D6-3B3A-426C-914F-703AA59F43CF}"/>
              </a:ext>
            </a:extLst>
          </p:cNvPr>
          <p:cNvSpPr>
            <a:spLocks noGrp="1"/>
          </p:cNvSpPr>
          <p:nvPr/>
        </p:nvSpPr>
        <p:spPr>
          <a:xfrm>
            <a:off x="8549640" y="4956048"/>
            <a:ext cx="2514600" cy="173736"/>
          </a:xfrm>
          <a:prstGeom prst="rect">
            <a:avLst/>
          </a:prstGeom>
          <a:noFill/>
          <a:ln>
            <a:noFill/>
          </a:ln>
        </p:spPr>
        <p:txBody>
          <a:bodyPr spcFirstLastPara="1" wrap="square" lIns="0" tIns="0" rIns="0" bIns="0" anchor="ctr">
            <a:noAutofit/>
          </a:bodyPr>
          <a:lstStyle/>
          <a:p>
            <a:pPr marL="0" indent="0" algn="l">
              <a:spcBef>
                <a:spcPts val="0"/>
              </a:spcBef>
              <a:spcAft>
                <a:spcPts val="0"/>
              </a:spcAft>
              <a:buNone/>
            </a:pPr>
            <a:r>
              <a:rPr sz="1100">
                <a:solidFill>
                  <a:srgbClr val="4B5563"/>
                </a:solidFill>
                <a:latin typeface="Arial"/>
                <a:ea typeface="Arial"/>
                <a:cs typeface="Arial"/>
              </a:rPr>
              <a:t>A thesis-relevant idea, but not a default method after the Ackley stress test.</a:t>
            </a:r>
          </a:p>
        </p:txBody>
      </p:sp>
      <p:cxnSp>
        <p:nvCxnSpPr>
          <p:cNvPr id="236" name="Google Shape;171;p7"/>
          <p:cNvCxnSpPr/>
          <p:nvPr/>
        </p:nvCxnSpPr>
        <p:spPr>
          <a:xfrm>
            <a:off x="502920" y="6446520"/>
            <a:ext cx="11201400" cy="0"/>
          </a:xfrm>
          <a:prstGeom prst="straightConnector1">
            <a:avLst/>
          </a:prstGeom>
          <a:ln w="9525" cap="flat">
            <a:solidFill>
              <a:srgbClr val="D9DEE8"/>
            </a:solidFill>
            <a:prstDash val="solid"/>
            <a:round/>
            <a:headEnd type="none" w="sm" len="sm"/>
            <a:tailEnd type="none" w="sm" len="sm"/>
          </a:ln>
        </p:spPr>
      </p:cxnSp>
      <p:sp>
        <p:nvSpPr>
          <p:cNvPr id="172" name="Google Shape;172;p7">
            <a:extLst>
              <a:ext uri="{FF2B5EF4-FFF2-40B4-BE49-F238E27FC236}">
                <a16:creationId xmlns:a16="http://schemas.microsoft.com/office/drawing/2014/main" id="{17CE0911-0117-4194-9C8E-3BA8EF3775EE}"/>
              </a:ext>
            </a:extLst>
          </p:cNvPr>
          <p:cNvSpPr>
            <a:spLocks noGrp="1"/>
          </p:cNvSpPr>
          <p:nvPr/>
        </p:nvSpPr>
        <p:spPr>
          <a:xfrm>
            <a:off x="502920" y="6519672"/>
            <a:ext cx="8961120" cy="164592"/>
          </a:xfrm>
          <a:prstGeom prst="rect">
            <a:avLst/>
          </a:prstGeom>
          <a:noFill/>
          <a:ln>
            <a:noFill/>
          </a:ln>
        </p:spPr>
        <p:txBody>
          <a:bodyPr spcFirstLastPara="1" wrap="square" lIns="0" tIns="0" rIns="0" bIns="0" anchor="ctr">
            <a:noAutofit/>
          </a:bodyPr>
          <a:lstStyle/>
          <a:p>
            <a:pPr marL="0" indent="0" algn="l">
              <a:spcBef>
                <a:spcPts val="0"/>
              </a:spcBef>
              <a:spcAft>
                <a:spcPts val="0"/>
              </a:spcAft>
              <a:buNone/>
            </a:pPr>
            <a:r>
              <a:rPr sz="780">
                <a:solidFill>
                  <a:srgbClr val="6B7280"/>
                </a:solidFill>
                <a:latin typeface="Arial"/>
                <a:ea typeface="Arial"/>
                <a:cs typeface="Arial"/>
              </a:rPr>
              <a:t>Week 3 extended update - Sample-Efficient Active Level-Set Estimation - 10</a:t>
            </a:r>
          </a:p>
        </p:txBody>
      </p:sp>
      <p:sp>
        <p:nvSpPr>
          <p:cNvPr id="173" name="Google Shape;173;p7">
            <a:extLst>
              <a:ext uri="{FF2B5EF4-FFF2-40B4-BE49-F238E27FC236}">
                <a16:creationId xmlns:a16="http://schemas.microsoft.com/office/drawing/2014/main" id="{7E348F6B-B4F5-4DD9-851B-450FC1334BE5}"/>
              </a:ext>
            </a:extLst>
          </p:cNvPr>
          <p:cNvSpPr>
            <a:spLocks noGrp="1"/>
          </p:cNvSpPr>
          <p:nvPr/>
        </p:nvSpPr>
        <p:spPr>
          <a:xfrm>
            <a:off x="11521440" y="6492240"/>
            <a:ext cx="228600" cy="164592"/>
          </a:xfrm>
          <a:prstGeom prst="rect">
            <a:avLst/>
          </a:prstGeom>
          <a:noFill/>
          <a:ln>
            <a:noFill/>
          </a:ln>
        </p:spPr>
        <p:txBody>
          <a:bodyPr spcFirstLastPara="1" wrap="square" lIns="0" tIns="0" rIns="0" bIns="0" anchor="ctr">
            <a:noAutofit/>
          </a:bodyPr>
          <a:lstStyle/>
          <a:p>
            <a:pPr marL="0" indent="0" algn="r">
              <a:spcBef>
                <a:spcPts val="0"/>
              </a:spcBef>
              <a:spcAft>
                <a:spcPts val="0"/>
              </a:spcAft>
              <a:buNone/>
            </a:pPr>
            <a:r>
              <a:rPr sz="780">
                <a:solidFill>
                  <a:srgbClr val="6B7280"/>
                </a:solidFill>
                <a:latin typeface="Arial"/>
                <a:ea typeface="Arial"/>
                <a:cs typeface="Arial"/>
              </a:rPr>
              <a:t>10</a:t>
            </a:r>
          </a:p>
        </p:txBody>
      </p:sp>
      <p:graphicFrame>
        <p:nvGraphicFramePr>
          <p:cNvPr id="239" name="Chart"/>
          <p:cNvGraphicFramePr/>
          <p:nvPr/>
        </p:nvGraphicFramePr>
        <p:xfrm>
          <a:off x="502920" y="1319022"/>
          <a:ext cx="7406640" cy="4402836"/>
        </p:xfrm>
        <a:graphic>
          <a:graphicData uri="http://schemas.openxmlformats.org/drawingml/2006/chart">
            <c:chart xmlns:c="http://schemas.openxmlformats.org/drawingml/2006/chart" xmlns:r="http://schemas.openxmlformats.org/officeDocument/2006/relationships" r:id="rId4"/>
          </a:graphicData>
        </a:graphic>
      </p:graphicFrame>
    </p:spTree>
    <p:extLst>
      <p:ext uri="{BB962C8B-B14F-4D97-AF65-F5344CB8AC3E}">
        <p14:creationId xmlns:p14="http://schemas.microsoft.com/office/powerpoint/2010/main" val="1479111479"/>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rgbClr val="F6F8FC"/>
        </a:solidFill>
        <a:effectLst/>
      </p:bgPr>
    </p:bg>
    <p:spTree>
      <p:nvGrpSpPr>
        <p:cNvPr id="1" name=""/>
        <p:cNvGrpSpPr/>
        <p:nvPr/>
      </p:nvGrpSpPr>
      <p:grpSpPr>
        <a:xfrm>
          <a:off x="0" y="0"/>
          <a:ext cx="0" cy="0"/>
          <a:chOff x="0" y="0"/>
          <a:chExt cx="0" cy="0"/>
        </a:xfrm>
      </p:grpSpPr>
      <p:sp>
        <p:nvSpPr>
          <p:cNvPr id="142" name="Google Shape;142;p7">
            <a:extLst>
              <a:ext uri="{FF2B5EF4-FFF2-40B4-BE49-F238E27FC236}">
                <a16:creationId xmlns:a16="http://schemas.microsoft.com/office/drawing/2014/main" id="{81BA9912-BDB9-4CBD-807E-05E773527849}"/>
              </a:ext>
            </a:extLst>
          </p:cNvPr>
          <p:cNvSpPr>
            <a:spLocks noGrp="1"/>
          </p:cNvSpPr>
          <p:nvPr/>
        </p:nvSpPr>
        <p:spPr>
          <a:xfrm>
            <a:off x="502920" y="329184"/>
            <a:ext cx="10789920" cy="320040"/>
          </a:xfrm>
          <a:prstGeom prst="rect">
            <a:avLst/>
          </a:prstGeom>
          <a:noFill/>
          <a:ln>
            <a:noFill/>
          </a:ln>
        </p:spPr>
        <p:txBody>
          <a:bodyPr spcFirstLastPara="1" wrap="square" lIns="0" tIns="0" rIns="0" bIns="0" anchor="ctr">
            <a:noAutofit/>
          </a:bodyPr>
          <a:lstStyle/>
          <a:p>
            <a:pPr marL="0" indent="0" algn="l">
              <a:spcBef>
                <a:spcPts val="0"/>
              </a:spcBef>
              <a:spcAft>
                <a:spcPts val="0"/>
              </a:spcAft>
              <a:buNone/>
            </a:pPr>
            <a:r>
              <a:rPr sz="2200" b="1">
                <a:solidFill>
                  <a:srgbClr val="1F2A44"/>
                </a:solidFill>
                <a:latin typeface="Play"/>
                <a:ea typeface="Play"/>
                <a:cs typeface="Play"/>
              </a:rPr>
              <a:t>Geometry can reduce uncertainty without reducing error</a:t>
            </a:r>
          </a:p>
        </p:txBody>
      </p:sp>
      <p:sp>
        <p:nvSpPr>
          <p:cNvPr id="143" name="Google Shape;143;p7">
            <a:extLst>
              <a:ext uri="{FF2B5EF4-FFF2-40B4-BE49-F238E27FC236}">
                <a16:creationId xmlns:a16="http://schemas.microsoft.com/office/drawing/2014/main" id="{5DECCD09-421D-4E02-AD30-9E681AA6585B}"/>
              </a:ext>
            </a:extLst>
          </p:cNvPr>
          <p:cNvSpPr>
            <a:spLocks noGrp="1"/>
          </p:cNvSpPr>
          <p:nvPr/>
        </p:nvSpPr>
        <p:spPr>
          <a:xfrm>
            <a:off x="521208" y="713232"/>
            <a:ext cx="10515600" cy="237744"/>
          </a:xfrm>
          <a:prstGeom prst="rect">
            <a:avLst/>
          </a:prstGeom>
          <a:noFill/>
          <a:ln>
            <a:noFill/>
          </a:ln>
        </p:spPr>
        <p:txBody>
          <a:bodyPr spcFirstLastPara="1" wrap="square" lIns="0" tIns="0" rIns="0" bIns="0" anchor="ctr">
            <a:noAutofit/>
          </a:bodyPr>
          <a:lstStyle/>
          <a:p>
            <a:pPr marL="0" indent="0" algn="l">
              <a:spcBef>
                <a:spcPts val="0"/>
              </a:spcBef>
              <a:spcAft>
                <a:spcPts val="0"/>
              </a:spcAft>
              <a:buNone/>
            </a:pPr>
            <a:r>
              <a:rPr sz="1050">
                <a:solidFill>
                  <a:srgbClr val="4B5563"/>
                </a:solidFill>
                <a:latin typeface="Arial"/>
                <a:ea typeface="Arial"/>
                <a:cs typeface="Arial"/>
              </a:rPr>
              <a:t>Gated geometric boundary contraction did not beat the strong baselines on Branin or Ackley4.</a:t>
            </a:r>
          </a:p>
        </p:txBody>
      </p:sp>
      <p:sp>
        <p:nvSpPr>
          <p:cNvPr id="144" name="Google Shape;144;p7">
            <a:extLst>
              <a:ext uri="{FF2B5EF4-FFF2-40B4-BE49-F238E27FC236}">
                <a16:creationId xmlns:a16="http://schemas.microsoft.com/office/drawing/2014/main" id="{9D89FC33-07A9-4D22-BB7C-0AD9052EA6ED}"/>
              </a:ext>
            </a:extLst>
          </p:cNvPr>
          <p:cNvSpPr>
            <a:spLocks noGrp="1"/>
          </p:cNvSpPr>
          <p:nvPr/>
        </p:nvSpPr>
        <p:spPr>
          <a:xfrm>
            <a:off x="502920" y="1051560"/>
            <a:ext cx="7406640" cy="4937760"/>
          </a:xfrm>
          <a:prstGeom prst="roundRect">
            <a:avLst>
              <a:gd name="adj" fmla="val 1667"/>
            </a:avLst>
          </a:prstGeom>
          <a:solidFill>
            <a:srgbClr val="FFFFFF"/>
          </a:solidFill>
          <a:ln w="10150" cmpd="sng">
            <a:solidFill>
              <a:srgbClr val="D9DEE8"/>
            </a:solidFill>
            <a:prstDash val="solid"/>
            <a:headEnd type="none" w="sm" len="sm"/>
            <a:tailEnd type="none" w="sm" len="sm"/>
          </a:ln>
        </p:spPr>
        <p:txBody>
          <a:bodyPr spcFirstLastPara="1" wrap="square" lIns="91425" tIns="45700" rIns="91425" bIns="45700" anchor="t">
            <a:noAutofit/>
          </a:bodyPr>
          <a:lstStyle/>
          <a:p>
            <a:pPr marL="0" indent="0" algn="l">
              <a:spcBef>
                <a:spcPts val="0"/>
              </a:spcBef>
              <a:spcAft>
                <a:spcPts val="0"/>
              </a:spcAft>
              <a:buNone/>
            </a:pPr>
            <a:endParaRPr/>
          </a:p>
        </p:txBody>
      </p:sp>
      <p:pic>
        <p:nvPicPr>
          <p:cNvPr id="210" name="Google Shape;145;p7"/>
          <p:cNvPicPr>
            <a:picLocks noChangeAspect="1"/>
          </p:cNvPicPr>
          <p:nvPr/>
        </p:nvPicPr>
        <p:blipFill rotWithShape="1">
          <a:blip r:embed="rId3">
            <a:alphaModFix/>
          </a:blip>
          <a:srcRect t="20278" b="20278"/>
          <a:stretch>
            <a:fillRect/>
          </a:stretch>
        </p:blipFill>
        <p:spPr>
          <a:xfrm>
            <a:off x="502920" y="1319022"/>
            <a:ext cx="7406640" cy="4402836"/>
          </a:xfrm>
          <a:prstGeom prst="rect">
            <a:avLst/>
          </a:prstGeom>
          <a:ln>
            <a:noFill/>
          </a:ln>
        </p:spPr>
      </p:pic>
      <p:sp>
        <p:nvSpPr>
          <p:cNvPr id="146" name="Google Shape;146;p7">
            <a:extLst>
              <a:ext uri="{FF2B5EF4-FFF2-40B4-BE49-F238E27FC236}">
                <a16:creationId xmlns:a16="http://schemas.microsoft.com/office/drawing/2014/main" id="{53A6A1D4-98A3-4627-9A37-EB28651795A5}"/>
              </a:ext>
            </a:extLst>
          </p:cNvPr>
          <p:cNvSpPr>
            <a:spLocks noGrp="1"/>
          </p:cNvSpPr>
          <p:nvPr/>
        </p:nvSpPr>
        <p:spPr>
          <a:xfrm>
            <a:off x="8156448" y="1051560"/>
            <a:ext cx="3456432" cy="4937760"/>
          </a:xfrm>
          <a:prstGeom prst="roundRect">
            <a:avLst>
              <a:gd name="adj" fmla="val 2381"/>
            </a:avLst>
          </a:prstGeom>
          <a:solidFill>
            <a:srgbClr val="FFFFFF"/>
          </a:solidFill>
          <a:ln w="10150" cmpd="sng">
            <a:solidFill>
              <a:srgbClr val="D9DEE8"/>
            </a:solidFill>
            <a:prstDash val="solid"/>
            <a:headEnd type="none" w="sm" len="sm"/>
            <a:tailEnd type="none" w="sm" len="sm"/>
          </a:ln>
          <a:effectLst>
            <a:outerShdw blurRad="15240" dist="50800" dir="2700000" algn="bl" rotWithShape="0">
              <a:srgbClr val="000000">
                <a:alpha val="7843"/>
              </a:srgbClr>
            </a:outerShdw>
          </a:effectLst>
        </p:spPr>
        <p:txBody>
          <a:bodyPr spcFirstLastPara="1" wrap="square" lIns="91425" tIns="45700" rIns="91425" bIns="45700" anchor="t">
            <a:noAutofit/>
          </a:bodyPr>
          <a:lstStyle/>
          <a:p>
            <a:pPr marL="0" indent="0" algn="l">
              <a:spcBef>
                <a:spcPts val="0"/>
              </a:spcBef>
              <a:spcAft>
                <a:spcPts val="0"/>
              </a:spcAft>
              <a:buNone/>
            </a:pPr>
            <a:endParaRPr/>
          </a:p>
        </p:txBody>
      </p:sp>
      <p:sp>
        <p:nvSpPr>
          <p:cNvPr id="147" name="Google Shape;147;p7">
            <a:extLst>
              <a:ext uri="{FF2B5EF4-FFF2-40B4-BE49-F238E27FC236}">
                <a16:creationId xmlns:a16="http://schemas.microsoft.com/office/drawing/2014/main" id="{92266219-070C-46E7-84F9-B10E52F98B86}"/>
              </a:ext>
            </a:extLst>
          </p:cNvPr>
          <p:cNvSpPr>
            <a:spLocks noGrp="1"/>
          </p:cNvSpPr>
          <p:nvPr/>
        </p:nvSpPr>
        <p:spPr>
          <a:xfrm>
            <a:off x="8394192" y="1307592"/>
            <a:ext cx="2651760" cy="164592"/>
          </a:xfrm>
          <a:prstGeom prst="rect">
            <a:avLst/>
          </a:prstGeom>
          <a:noFill/>
          <a:ln>
            <a:noFill/>
          </a:ln>
        </p:spPr>
        <p:txBody>
          <a:bodyPr spcFirstLastPara="1" wrap="square" lIns="0" tIns="0" rIns="0" bIns="0" anchor="ctr">
            <a:noAutofit/>
          </a:bodyPr>
          <a:lstStyle/>
          <a:p>
            <a:pPr marL="0" indent="0" algn="l">
              <a:spcBef>
                <a:spcPts val="0"/>
              </a:spcBef>
              <a:spcAft>
                <a:spcPts val="0"/>
              </a:spcAft>
              <a:buNone/>
            </a:pPr>
            <a:r>
              <a:rPr sz="1400" b="1">
                <a:solidFill>
                  <a:srgbClr val="1F2A44"/>
                </a:solidFill>
                <a:latin typeface="Arial"/>
                <a:ea typeface="Arial"/>
                <a:cs typeface="Arial"/>
              </a:rPr>
              <a:t>GBC compared with baselines</a:t>
            </a:r>
          </a:p>
        </p:txBody>
      </p:sp>
      <p:sp>
        <p:nvSpPr>
          <p:cNvPr id="148" name="Google Shape;148;p7">
            <a:extLst>
              <a:ext uri="{FF2B5EF4-FFF2-40B4-BE49-F238E27FC236}">
                <a16:creationId xmlns:a16="http://schemas.microsoft.com/office/drawing/2014/main" id="{22182E4C-2E3E-4F0D-BA22-C266022CB68F}"/>
              </a:ext>
            </a:extLst>
          </p:cNvPr>
          <p:cNvSpPr>
            <a:spLocks noGrp="1"/>
          </p:cNvSpPr>
          <p:nvPr/>
        </p:nvSpPr>
        <p:spPr>
          <a:xfrm>
            <a:off x="8394192" y="1719072"/>
            <a:ext cx="256032" cy="256032"/>
          </a:xfrm>
          <a:prstGeom prst="ellipse">
            <a:avLst/>
          </a:prstGeom>
          <a:solidFill>
            <a:srgbClr val="B7791F"/>
          </a:solidFill>
          <a:ln w="12700" cmpd="sng">
            <a:solidFill>
              <a:srgbClr val="B7791F"/>
            </a:solidFill>
            <a:prstDash val="solid"/>
            <a:headEnd type="none" w="sm" len="sm"/>
            <a:tailEnd type="none" w="sm" len="sm"/>
          </a:ln>
        </p:spPr>
        <p:txBody>
          <a:bodyPr spcFirstLastPara="1" wrap="square" lIns="91425" tIns="45700" rIns="91425" bIns="45700" anchor="t">
            <a:noAutofit/>
          </a:bodyPr>
          <a:lstStyle/>
          <a:p>
            <a:pPr marL="0" indent="0" algn="l">
              <a:spcBef>
                <a:spcPts val="0"/>
              </a:spcBef>
              <a:spcAft>
                <a:spcPts val="0"/>
              </a:spcAft>
              <a:buNone/>
            </a:pPr>
            <a:endParaRPr/>
          </a:p>
        </p:txBody>
      </p:sp>
      <p:sp>
        <p:nvSpPr>
          <p:cNvPr id="149" name="Google Shape;149;p7">
            <a:extLst>
              <a:ext uri="{FF2B5EF4-FFF2-40B4-BE49-F238E27FC236}">
                <a16:creationId xmlns:a16="http://schemas.microsoft.com/office/drawing/2014/main" id="{83374358-80A8-4BBC-8CEF-3FEE18F3A67E}"/>
              </a:ext>
            </a:extLst>
          </p:cNvPr>
          <p:cNvSpPr>
            <a:spLocks noGrp="1"/>
          </p:cNvSpPr>
          <p:nvPr/>
        </p:nvSpPr>
        <p:spPr>
          <a:xfrm>
            <a:off x="8394192" y="1769364"/>
            <a:ext cx="256032" cy="109728"/>
          </a:xfrm>
          <a:prstGeom prst="rect">
            <a:avLst/>
          </a:prstGeom>
          <a:noFill/>
          <a:ln>
            <a:noFill/>
          </a:ln>
        </p:spPr>
        <p:txBody>
          <a:bodyPr spcFirstLastPara="1" wrap="square" lIns="0" tIns="0" rIns="0" bIns="0" anchor="ctr">
            <a:noAutofit/>
          </a:bodyPr>
          <a:lstStyle/>
          <a:p>
            <a:pPr marL="0" indent="0" algn="ctr">
              <a:spcBef>
                <a:spcPts val="0"/>
              </a:spcBef>
              <a:spcAft>
                <a:spcPts val="0"/>
              </a:spcAft>
              <a:buNone/>
            </a:pPr>
            <a:endParaRPr/>
          </a:p>
        </p:txBody>
      </p:sp>
      <p:sp>
        <p:nvSpPr>
          <p:cNvPr id="150" name="Google Shape;150;p7">
            <a:extLst>
              <a:ext uri="{FF2B5EF4-FFF2-40B4-BE49-F238E27FC236}">
                <a16:creationId xmlns:a16="http://schemas.microsoft.com/office/drawing/2014/main" id="{16738B45-3CB2-4551-9E66-950A18456CF2}"/>
              </a:ext>
            </a:extLst>
          </p:cNvPr>
          <p:cNvSpPr>
            <a:spLocks noGrp="1"/>
          </p:cNvSpPr>
          <p:nvPr/>
        </p:nvSpPr>
        <p:spPr>
          <a:xfrm>
            <a:off x="8759952" y="1746504"/>
            <a:ext cx="1645920" cy="146304"/>
          </a:xfrm>
          <a:prstGeom prst="rect">
            <a:avLst/>
          </a:prstGeom>
          <a:noFill/>
          <a:ln>
            <a:noFill/>
          </a:ln>
        </p:spPr>
        <p:txBody>
          <a:bodyPr spcFirstLastPara="1" wrap="square" lIns="0" tIns="0" rIns="0" bIns="0" anchor="ctr">
            <a:noAutofit/>
          </a:bodyPr>
          <a:lstStyle/>
          <a:p>
            <a:pPr marL="0" indent="0" algn="l">
              <a:spcBef>
                <a:spcPts val="0"/>
              </a:spcBef>
              <a:spcAft>
                <a:spcPts val="0"/>
              </a:spcAft>
              <a:buNone/>
            </a:pPr>
            <a:r>
              <a:rPr sz="1100">
                <a:solidFill>
                  <a:srgbClr val="111827"/>
                </a:solidFill>
                <a:latin typeface="Arial"/>
                <a:ea typeface="Arial"/>
                <a:cs typeface="Arial"/>
              </a:rPr>
              <a:t>Branin global</a:t>
            </a:r>
          </a:p>
        </p:txBody>
      </p:sp>
      <p:sp>
        <p:nvSpPr>
          <p:cNvPr id="151" name="Google Shape;151;p7">
            <a:extLst>
              <a:ext uri="{FF2B5EF4-FFF2-40B4-BE49-F238E27FC236}">
                <a16:creationId xmlns:a16="http://schemas.microsoft.com/office/drawing/2014/main" id="{21764C4C-4E11-40D0-9CFC-959CCFB59BD4}"/>
              </a:ext>
            </a:extLst>
          </p:cNvPr>
          <p:cNvSpPr>
            <a:spLocks noGrp="1"/>
          </p:cNvSpPr>
          <p:nvPr/>
        </p:nvSpPr>
        <p:spPr>
          <a:xfrm>
            <a:off x="10652760" y="1746504"/>
            <a:ext cx="685800" cy="146304"/>
          </a:xfrm>
          <a:prstGeom prst="rect">
            <a:avLst/>
          </a:prstGeom>
          <a:noFill/>
          <a:ln>
            <a:noFill/>
          </a:ln>
        </p:spPr>
        <p:txBody>
          <a:bodyPr spcFirstLastPara="1" wrap="square" lIns="0" tIns="0" rIns="0" bIns="0" anchor="ctr">
            <a:noAutofit/>
          </a:bodyPr>
          <a:lstStyle/>
          <a:p>
            <a:pPr marL="0" indent="0" algn="r">
              <a:spcBef>
                <a:spcPts val="0"/>
              </a:spcBef>
              <a:spcAft>
                <a:spcPts val="0"/>
              </a:spcAft>
              <a:buNone/>
            </a:pPr>
            <a:r>
              <a:rPr sz="1100" b="1">
                <a:solidFill>
                  <a:srgbClr val="B7791F"/>
                </a:solidFill>
                <a:latin typeface="Arial"/>
                <a:ea typeface="Arial"/>
                <a:cs typeface="Arial"/>
              </a:rPr>
              <a:t>7.17%</a:t>
            </a:r>
          </a:p>
        </p:txBody>
      </p:sp>
      <p:sp>
        <p:nvSpPr>
          <p:cNvPr id="152" name="Google Shape;152;p7">
            <a:extLst>
              <a:ext uri="{FF2B5EF4-FFF2-40B4-BE49-F238E27FC236}">
                <a16:creationId xmlns:a16="http://schemas.microsoft.com/office/drawing/2014/main" id="{7419CD7D-D776-4075-97E2-52C7E9F7D61F}"/>
              </a:ext>
            </a:extLst>
          </p:cNvPr>
          <p:cNvSpPr>
            <a:spLocks noGrp="1"/>
          </p:cNvSpPr>
          <p:nvPr/>
        </p:nvSpPr>
        <p:spPr>
          <a:xfrm>
            <a:off x="8394192" y="2249424"/>
            <a:ext cx="256032" cy="256032"/>
          </a:xfrm>
          <a:prstGeom prst="ellipse">
            <a:avLst/>
          </a:prstGeom>
          <a:solidFill>
            <a:srgbClr val="0F8B61"/>
          </a:solidFill>
          <a:ln w="12700" cmpd="sng">
            <a:solidFill>
              <a:srgbClr val="0F8B61"/>
            </a:solidFill>
            <a:prstDash val="solid"/>
            <a:headEnd type="none" w="sm" len="sm"/>
            <a:tailEnd type="none" w="sm" len="sm"/>
          </a:ln>
        </p:spPr>
        <p:txBody>
          <a:bodyPr spcFirstLastPara="1" wrap="square" lIns="91425" tIns="45700" rIns="91425" bIns="45700" anchor="t">
            <a:noAutofit/>
          </a:bodyPr>
          <a:lstStyle/>
          <a:p>
            <a:pPr marL="0" indent="0" algn="l">
              <a:spcBef>
                <a:spcPts val="0"/>
              </a:spcBef>
              <a:spcAft>
                <a:spcPts val="0"/>
              </a:spcAft>
              <a:buNone/>
            </a:pPr>
            <a:endParaRPr/>
          </a:p>
        </p:txBody>
      </p:sp>
      <p:sp>
        <p:nvSpPr>
          <p:cNvPr id="153" name="Google Shape;153;p7">
            <a:extLst>
              <a:ext uri="{FF2B5EF4-FFF2-40B4-BE49-F238E27FC236}">
                <a16:creationId xmlns:a16="http://schemas.microsoft.com/office/drawing/2014/main" id="{FB1F0EE9-FC0F-47C6-984E-CC3D0DACE893}"/>
              </a:ext>
            </a:extLst>
          </p:cNvPr>
          <p:cNvSpPr>
            <a:spLocks noGrp="1"/>
          </p:cNvSpPr>
          <p:nvPr/>
        </p:nvSpPr>
        <p:spPr>
          <a:xfrm>
            <a:off x="8394192" y="2299716"/>
            <a:ext cx="256032" cy="109728"/>
          </a:xfrm>
          <a:prstGeom prst="rect">
            <a:avLst/>
          </a:prstGeom>
          <a:noFill/>
          <a:ln>
            <a:noFill/>
          </a:ln>
        </p:spPr>
        <p:txBody>
          <a:bodyPr spcFirstLastPara="1" wrap="square" lIns="0" tIns="0" rIns="0" bIns="0" anchor="ctr">
            <a:noAutofit/>
          </a:bodyPr>
          <a:lstStyle/>
          <a:p>
            <a:pPr marL="0" indent="0" algn="ctr">
              <a:spcBef>
                <a:spcPts val="0"/>
              </a:spcBef>
              <a:spcAft>
                <a:spcPts val="0"/>
              </a:spcAft>
              <a:buNone/>
            </a:pPr>
            <a:endParaRPr/>
          </a:p>
        </p:txBody>
      </p:sp>
      <p:sp>
        <p:nvSpPr>
          <p:cNvPr id="154" name="Google Shape;154;p7">
            <a:extLst>
              <a:ext uri="{FF2B5EF4-FFF2-40B4-BE49-F238E27FC236}">
                <a16:creationId xmlns:a16="http://schemas.microsoft.com/office/drawing/2014/main" id="{70EC3FD1-AE3D-4D02-92A2-54D41DA802E4}"/>
              </a:ext>
            </a:extLst>
          </p:cNvPr>
          <p:cNvSpPr>
            <a:spLocks noGrp="1"/>
          </p:cNvSpPr>
          <p:nvPr/>
        </p:nvSpPr>
        <p:spPr>
          <a:xfrm>
            <a:off x="8759952" y="2276856"/>
            <a:ext cx="1645920" cy="146304"/>
          </a:xfrm>
          <a:prstGeom prst="rect">
            <a:avLst/>
          </a:prstGeom>
          <a:noFill/>
          <a:ln>
            <a:noFill/>
          </a:ln>
        </p:spPr>
        <p:txBody>
          <a:bodyPr spcFirstLastPara="1" wrap="square" lIns="0" tIns="0" rIns="0" bIns="0" anchor="ctr">
            <a:noAutofit/>
          </a:bodyPr>
          <a:lstStyle/>
          <a:p>
            <a:pPr marL="0" indent="0" algn="l">
              <a:spcBef>
                <a:spcPts val="0"/>
              </a:spcBef>
              <a:spcAft>
                <a:spcPts val="0"/>
              </a:spcAft>
              <a:buNone/>
            </a:pPr>
            <a:r>
              <a:rPr sz="1100">
                <a:solidFill>
                  <a:srgbClr val="111827"/>
                </a:solidFill>
                <a:latin typeface="Arial"/>
                <a:ea typeface="Arial"/>
                <a:cs typeface="Arial"/>
              </a:rPr>
              <a:t>Branin q20/q30</a:t>
            </a:r>
          </a:p>
        </p:txBody>
      </p:sp>
      <p:sp>
        <p:nvSpPr>
          <p:cNvPr id="155" name="Google Shape;155;p7">
            <a:extLst>
              <a:ext uri="{FF2B5EF4-FFF2-40B4-BE49-F238E27FC236}">
                <a16:creationId xmlns:a16="http://schemas.microsoft.com/office/drawing/2014/main" id="{11AF2C08-3973-46A0-A1E4-36DDD4834556}"/>
              </a:ext>
            </a:extLst>
          </p:cNvPr>
          <p:cNvSpPr>
            <a:spLocks noGrp="1"/>
          </p:cNvSpPr>
          <p:nvPr/>
        </p:nvSpPr>
        <p:spPr>
          <a:xfrm>
            <a:off x="10652760" y="2276856"/>
            <a:ext cx="685800" cy="146304"/>
          </a:xfrm>
          <a:prstGeom prst="rect">
            <a:avLst/>
          </a:prstGeom>
          <a:noFill/>
          <a:ln>
            <a:noFill/>
          </a:ln>
        </p:spPr>
        <p:txBody>
          <a:bodyPr spcFirstLastPara="1" wrap="square" lIns="0" tIns="0" rIns="0" bIns="0" anchor="ctr">
            <a:noAutofit/>
          </a:bodyPr>
          <a:lstStyle/>
          <a:p>
            <a:pPr marL="0" indent="0" algn="r">
              <a:spcBef>
                <a:spcPts val="0"/>
              </a:spcBef>
              <a:spcAft>
                <a:spcPts val="0"/>
              </a:spcAft>
              <a:buNone/>
            </a:pPr>
            <a:r>
              <a:rPr sz="1100" b="1">
                <a:solidFill>
                  <a:srgbClr val="0F8B61"/>
                </a:solidFill>
                <a:latin typeface="Arial"/>
                <a:ea typeface="Arial"/>
                <a:cs typeface="Arial"/>
              </a:rPr>
              <a:t>27.18 / 21.00%</a:t>
            </a:r>
          </a:p>
        </p:txBody>
      </p:sp>
      <p:sp>
        <p:nvSpPr>
          <p:cNvPr id="156" name="Google Shape;156;p7">
            <a:extLst>
              <a:ext uri="{FF2B5EF4-FFF2-40B4-BE49-F238E27FC236}">
                <a16:creationId xmlns:a16="http://schemas.microsoft.com/office/drawing/2014/main" id="{B87DFDA3-581C-48C6-ABFC-2A79ECAB14C4}"/>
              </a:ext>
            </a:extLst>
          </p:cNvPr>
          <p:cNvSpPr>
            <a:spLocks noGrp="1"/>
          </p:cNvSpPr>
          <p:nvPr/>
        </p:nvSpPr>
        <p:spPr>
          <a:xfrm>
            <a:off x="8394192" y="2779776"/>
            <a:ext cx="256032" cy="256032"/>
          </a:xfrm>
          <a:prstGeom prst="ellipse">
            <a:avLst/>
          </a:prstGeom>
          <a:solidFill>
            <a:srgbClr val="2B6CB0"/>
          </a:solidFill>
          <a:ln w="12700" cmpd="sng">
            <a:solidFill>
              <a:srgbClr val="2B6CB0"/>
            </a:solidFill>
            <a:prstDash val="solid"/>
            <a:headEnd type="none" w="sm" len="sm"/>
            <a:tailEnd type="none" w="sm" len="sm"/>
          </a:ln>
        </p:spPr>
        <p:txBody>
          <a:bodyPr spcFirstLastPara="1" wrap="square" lIns="91425" tIns="45700" rIns="91425" bIns="45700" anchor="t">
            <a:noAutofit/>
          </a:bodyPr>
          <a:lstStyle/>
          <a:p>
            <a:pPr marL="0" indent="0" algn="l">
              <a:spcBef>
                <a:spcPts val="0"/>
              </a:spcBef>
              <a:spcAft>
                <a:spcPts val="0"/>
              </a:spcAft>
              <a:buNone/>
            </a:pPr>
            <a:endParaRPr/>
          </a:p>
        </p:txBody>
      </p:sp>
      <p:sp>
        <p:nvSpPr>
          <p:cNvPr id="157" name="Google Shape;157;p7">
            <a:extLst>
              <a:ext uri="{FF2B5EF4-FFF2-40B4-BE49-F238E27FC236}">
                <a16:creationId xmlns:a16="http://schemas.microsoft.com/office/drawing/2014/main" id="{AB7A27D0-9A25-4193-8B4C-6864650E586B}"/>
              </a:ext>
            </a:extLst>
          </p:cNvPr>
          <p:cNvSpPr>
            <a:spLocks noGrp="1"/>
          </p:cNvSpPr>
          <p:nvPr/>
        </p:nvSpPr>
        <p:spPr>
          <a:xfrm>
            <a:off x="8394192" y="2830068"/>
            <a:ext cx="256032" cy="109728"/>
          </a:xfrm>
          <a:prstGeom prst="rect">
            <a:avLst/>
          </a:prstGeom>
          <a:noFill/>
          <a:ln>
            <a:noFill/>
          </a:ln>
        </p:spPr>
        <p:txBody>
          <a:bodyPr spcFirstLastPara="1" wrap="square" lIns="0" tIns="0" rIns="0" bIns="0" anchor="ctr">
            <a:noAutofit/>
          </a:bodyPr>
          <a:lstStyle/>
          <a:p>
            <a:pPr marL="0" indent="0" algn="ctr">
              <a:spcBef>
                <a:spcPts val="0"/>
              </a:spcBef>
              <a:spcAft>
                <a:spcPts val="0"/>
              </a:spcAft>
              <a:buNone/>
            </a:pPr>
            <a:endParaRPr/>
          </a:p>
        </p:txBody>
      </p:sp>
      <p:sp>
        <p:nvSpPr>
          <p:cNvPr id="158" name="Google Shape;158;p7">
            <a:extLst>
              <a:ext uri="{FF2B5EF4-FFF2-40B4-BE49-F238E27FC236}">
                <a16:creationId xmlns:a16="http://schemas.microsoft.com/office/drawing/2014/main" id="{E9701341-0856-4F78-B4B9-247E0C5E4FDA}"/>
              </a:ext>
            </a:extLst>
          </p:cNvPr>
          <p:cNvSpPr>
            <a:spLocks noGrp="1"/>
          </p:cNvSpPr>
          <p:nvPr/>
        </p:nvSpPr>
        <p:spPr>
          <a:xfrm>
            <a:off x="8759952" y="2807208"/>
            <a:ext cx="1645920" cy="146304"/>
          </a:xfrm>
          <a:prstGeom prst="rect">
            <a:avLst/>
          </a:prstGeom>
          <a:noFill/>
          <a:ln>
            <a:noFill/>
          </a:ln>
        </p:spPr>
        <p:txBody>
          <a:bodyPr spcFirstLastPara="1" wrap="square" lIns="0" tIns="0" rIns="0" bIns="0" anchor="ctr">
            <a:noAutofit/>
          </a:bodyPr>
          <a:lstStyle/>
          <a:p>
            <a:pPr marL="0" indent="0" algn="l">
              <a:spcBef>
                <a:spcPts val="0"/>
              </a:spcBef>
              <a:spcAft>
                <a:spcPts val="0"/>
              </a:spcAft>
              <a:buNone/>
            </a:pPr>
            <a:r>
              <a:rPr sz="1100">
                <a:solidFill>
                  <a:srgbClr val="111827"/>
                </a:solidFill>
                <a:latin typeface="Arial"/>
                <a:ea typeface="Arial"/>
                <a:cs typeface="Arial"/>
              </a:rPr>
              <a:t>Ackley global</a:t>
            </a:r>
          </a:p>
        </p:txBody>
      </p:sp>
      <p:sp>
        <p:nvSpPr>
          <p:cNvPr id="159" name="Google Shape;159;p7">
            <a:extLst>
              <a:ext uri="{FF2B5EF4-FFF2-40B4-BE49-F238E27FC236}">
                <a16:creationId xmlns:a16="http://schemas.microsoft.com/office/drawing/2014/main" id="{F95B15A3-A8D8-454A-B209-1D7389E982E8}"/>
              </a:ext>
            </a:extLst>
          </p:cNvPr>
          <p:cNvSpPr>
            <a:spLocks noGrp="1"/>
          </p:cNvSpPr>
          <p:nvPr/>
        </p:nvSpPr>
        <p:spPr>
          <a:xfrm>
            <a:off x="10652760" y="2807208"/>
            <a:ext cx="685800" cy="146304"/>
          </a:xfrm>
          <a:prstGeom prst="rect">
            <a:avLst/>
          </a:prstGeom>
          <a:noFill/>
          <a:ln>
            <a:noFill/>
          </a:ln>
        </p:spPr>
        <p:txBody>
          <a:bodyPr spcFirstLastPara="1" wrap="square" lIns="0" tIns="0" rIns="0" bIns="0" anchor="ctr">
            <a:noAutofit/>
          </a:bodyPr>
          <a:lstStyle/>
          <a:p>
            <a:pPr marL="0" indent="0" algn="r">
              <a:spcBef>
                <a:spcPts val="0"/>
              </a:spcBef>
              <a:spcAft>
                <a:spcPts val="0"/>
              </a:spcAft>
              <a:buNone/>
            </a:pPr>
            <a:r>
              <a:rPr sz="1100" b="1">
                <a:solidFill>
                  <a:srgbClr val="2B6CB0"/>
                </a:solidFill>
                <a:latin typeface="Arial"/>
                <a:ea typeface="Arial"/>
                <a:cs typeface="Arial"/>
              </a:rPr>
              <a:t>20.04%</a:t>
            </a:r>
          </a:p>
        </p:txBody>
      </p:sp>
      <p:sp>
        <p:nvSpPr>
          <p:cNvPr id="160" name="Google Shape;160;p7">
            <a:extLst>
              <a:ext uri="{FF2B5EF4-FFF2-40B4-BE49-F238E27FC236}">
                <a16:creationId xmlns:a16="http://schemas.microsoft.com/office/drawing/2014/main" id="{E5E03697-6340-46A6-8DF4-DFA6818BBF51}"/>
              </a:ext>
            </a:extLst>
          </p:cNvPr>
          <p:cNvSpPr>
            <a:spLocks noGrp="1"/>
          </p:cNvSpPr>
          <p:nvPr/>
        </p:nvSpPr>
        <p:spPr>
          <a:xfrm>
            <a:off x="8394192" y="3310128"/>
            <a:ext cx="256032" cy="256032"/>
          </a:xfrm>
          <a:prstGeom prst="ellipse">
            <a:avLst/>
          </a:prstGeom>
          <a:solidFill>
            <a:srgbClr val="9F1239"/>
          </a:solidFill>
          <a:ln w="12700" cmpd="sng">
            <a:solidFill>
              <a:srgbClr val="9F1239"/>
            </a:solidFill>
            <a:prstDash val="solid"/>
            <a:headEnd type="none" w="sm" len="sm"/>
            <a:tailEnd type="none" w="sm" len="sm"/>
          </a:ln>
        </p:spPr>
        <p:txBody>
          <a:bodyPr spcFirstLastPara="1" wrap="square" lIns="91425" tIns="45700" rIns="91425" bIns="45700" anchor="t">
            <a:noAutofit/>
          </a:bodyPr>
          <a:lstStyle/>
          <a:p>
            <a:pPr marL="0" indent="0" algn="l">
              <a:spcBef>
                <a:spcPts val="0"/>
              </a:spcBef>
              <a:spcAft>
                <a:spcPts val="0"/>
              </a:spcAft>
              <a:buNone/>
            </a:pPr>
            <a:endParaRPr/>
          </a:p>
        </p:txBody>
      </p:sp>
      <p:sp>
        <p:nvSpPr>
          <p:cNvPr id="161" name="Google Shape;161;p7">
            <a:extLst>
              <a:ext uri="{FF2B5EF4-FFF2-40B4-BE49-F238E27FC236}">
                <a16:creationId xmlns:a16="http://schemas.microsoft.com/office/drawing/2014/main" id="{A5148F75-34CC-44D7-93B8-B4B7A16B144F}"/>
              </a:ext>
            </a:extLst>
          </p:cNvPr>
          <p:cNvSpPr>
            <a:spLocks noGrp="1"/>
          </p:cNvSpPr>
          <p:nvPr/>
        </p:nvSpPr>
        <p:spPr>
          <a:xfrm>
            <a:off x="8394192" y="3360420"/>
            <a:ext cx="256032" cy="109728"/>
          </a:xfrm>
          <a:prstGeom prst="rect">
            <a:avLst/>
          </a:prstGeom>
          <a:noFill/>
          <a:ln>
            <a:noFill/>
          </a:ln>
        </p:spPr>
        <p:txBody>
          <a:bodyPr spcFirstLastPara="1" wrap="square" lIns="0" tIns="0" rIns="0" bIns="0" anchor="ctr">
            <a:noAutofit/>
          </a:bodyPr>
          <a:lstStyle/>
          <a:p>
            <a:pPr marL="0" indent="0" algn="ctr">
              <a:spcBef>
                <a:spcPts val="0"/>
              </a:spcBef>
              <a:spcAft>
                <a:spcPts val="0"/>
              </a:spcAft>
              <a:buNone/>
            </a:pPr>
            <a:endParaRPr/>
          </a:p>
        </p:txBody>
      </p:sp>
      <p:sp>
        <p:nvSpPr>
          <p:cNvPr id="162" name="Google Shape;162;p7">
            <a:extLst>
              <a:ext uri="{FF2B5EF4-FFF2-40B4-BE49-F238E27FC236}">
                <a16:creationId xmlns:a16="http://schemas.microsoft.com/office/drawing/2014/main" id="{DF3D2CE1-3B88-44FC-A57D-FD41D3DE463C}"/>
              </a:ext>
            </a:extLst>
          </p:cNvPr>
          <p:cNvSpPr>
            <a:spLocks noGrp="1"/>
          </p:cNvSpPr>
          <p:nvPr/>
        </p:nvSpPr>
        <p:spPr>
          <a:xfrm>
            <a:off x="8759952" y="3337560"/>
            <a:ext cx="1645920" cy="146304"/>
          </a:xfrm>
          <a:prstGeom prst="rect">
            <a:avLst/>
          </a:prstGeom>
          <a:noFill/>
          <a:ln>
            <a:noFill/>
          </a:ln>
        </p:spPr>
        <p:txBody>
          <a:bodyPr spcFirstLastPara="1" wrap="square" lIns="0" tIns="0" rIns="0" bIns="0" anchor="ctr">
            <a:noAutofit/>
          </a:bodyPr>
          <a:lstStyle/>
          <a:p>
            <a:pPr marL="0" indent="0" algn="l">
              <a:spcBef>
                <a:spcPts val="0"/>
              </a:spcBef>
              <a:spcAft>
                <a:spcPts val="0"/>
              </a:spcAft>
              <a:buNone/>
            </a:pPr>
            <a:r>
              <a:rPr sz="1100">
                <a:solidFill>
                  <a:srgbClr val="111827"/>
                </a:solidFill>
                <a:latin typeface="Arial"/>
                <a:ea typeface="Arial"/>
                <a:cs typeface="Arial"/>
              </a:rPr>
              <a:t>Ackley q20/q30</a:t>
            </a:r>
          </a:p>
        </p:txBody>
      </p:sp>
      <p:sp>
        <p:nvSpPr>
          <p:cNvPr id="163" name="Google Shape;163;p7">
            <a:extLst>
              <a:ext uri="{FF2B5EF4-FFF2-40B4-BE49-F238E27FC236}">
                <a16:creationId xmlns:a16="http://schemas.microsoft.com/office/drawing/2014/main" id="{B12A205E-D8DE-41F3-9E43-CCD44B8E2290}"/>
              </a:ext>
            </a:extLst>
          </p:cNvPr>
          <p:cNvSpPr>
            <a:spLocks noGrp="1"/>
          </p:cNvSpPr>
          <p:nvPr/>
        </p:nvSpPr>
        <p:spPr>
          <a:xfrm>
            <a:off x="10652760" y="3337560"/>
            <a:ext cx="685800" cy="146304"/>
          </a:xfrm>
          <a:prstGeom prst="rect">
            <a:avLst/>
          </a:prstGeom>
          <a:noFill/>
          <a:ln>
            <a:noFill/>
          </a:ln>
        </p:spPr>
        <p:txBody>
          <a:bodyPr spcFirstLastPara="1" wrap="square" lIns="0" tIns="0" rIns="0" bIns="0" anchor="ctr">
            <a:noAutofit/>
          </a:bodyPr>
          <a:lstStyle/>
          <a:p>
            <a:pPr marL="0" indent="0" algn="r">
              <a:spcBef>
                <a:spcPts val="0"/>
              </a:spcBef>
              <a:spcAft>
                <a:spcPts val="0"/>
              </a:spcAft>
              <a:buNone/>
            </a:pPr>
            <a:r>
              <a:rPr sz="1100" b="1">
                <a:solidFill>
                  <a:srgbClr val="9F1239"/>
                </a:solidFill>
                <a:latin typeface="Arial"/>
                <a:ea typeface="Arial"/>
                <a:cs typeface="Arial"/>
              </a:rPr>
              <a:t>42.20 / 38.47%</a:t>
            </a:r>
          </a:p>
        </p:txBody>
      </p:sp>
      <p:sp>
        <p:nvSpPr>
          <p:cNvPr id="164" name="Google Shape;164;p7">
            <a:extLst>
              <a:ext uri="{FF2B5EF4-FFF2-40B4-BE49-F238E27FC236}">
                <a16:creationId xmlns:a16="http://schemas.microsoft.com/office/drawing/2014/main" id="{37703292-23A3-435C-B573-A0C0AF7909A9}"/>
              </a:ext>
            </a:extLst>
          </p:cNvPr>
          <p:cNvSpPr>
            <a:spLocks noGrp="1"/>
          </p:cNvSpPr>
          <p:nvPr/>
        </p:nvSpPr>
        <p:spPr>
          <a:xfrm>
            <a:off x="8394192" y="3840480"/>
            <a:ext cx="256032" cy="256032"/>
          </a:xfrm>
          <a:prstGeom prst="ellipse">
            <a:avLst/>
          </a:prstGeom>
          <a:solidFill>
            <a:srgbClr val="6B7280"/>
          </a:solidFill>
          <a:ln w="12700" cmpd="sng">
            <a:solidFill>
              <a:srgbClr val="6B7280"/>
            </a:solidFill>
            <a:prstDash val="solid"/>
            <a:headEnd type="none" w="sm" len="sm"/>
            <a:tailEnd type="none" w="sm" len="sm"/>
          </a:ln>
        </p:spPr>
        <p:txBody>
          <a:bodyPr spcFirstLastPara="1" wrap="square" lIns="91425" tIns="45700" rIns="91425" bIns="45700" anchor="t">
            <a:noAutofit/>
          </a:bodyPr>
          <a:lstStyle/>
          <a:p>
            <a:pPr marL="0" indent="0" algn="l">
              <a:spcBef>
                <a:spcPts val="0"/>
              </a:spcBef>
              <a:spcAft>
                <a:spcPts val="0"/>
              </a:spcAft>
              <a:buNone/>
            </a:pPr>
            <a:endParaRPr/>
          </a:p>
        </p:txBody>
      </p:sp>
      <p:sp>
        <p:nvSpPr>
          <p:cNvPr id="165" name="Google Shape;165;p7">
            <a:extLst>
              <a:ext uri="{FF2B5EF4-FFF2-40B4-BE49-F238E27FC236}">
                <a16:creationId xmlns:a16="http://schemas.microsoft.com/office/drawing/2014/main" id="{CCEDA26D-0C7F-499C-A93D-71C5901F0836}"/>
              </a:ext>
            </a:extLst>
          </p:cNvPr>
          <p:cNvSpPr>
            <a:spLocks noGrp="1"/>
          </p:cNvSpPr>
          <p:nvPr/>
        </p:nvSpPr>
        <p:spPr>
          <a:xfrm>
            <a:off x="8394192" y="3890772"/>
            <a:ext cx="256032" cy="109728"/>
          </a:xfrm>
          <a:prstGeom prst="rect">
            <a:avLst/>
          </a:prstGeom>
          <a:noFill/>
          <a:ln>
            <a:noFill/>
          </a:ln>
        </p:spPr>
        <p:txBody>
          <a:bodyPr spcFirstLastPara="1" wrap="square" lIns="0" tIns="0" rIns="0" bIns="0" anchor="ctr">
            <a:noAutofit/>
          </a:bodyPr>
          <a:lstStyle/>
          <a:p>
            <a:pPr marL="0" indent="0" algn="ctr">
              <a:spcBef>
                <a:spcPts val="0"/>
              </a:spcBef>
              <a:spcAft>
                <a:spcPts val="0"/>
              </a:spcAft>
              <a:buNone/>
            </a:pPr>
            <a:endParaRPr/>
          </a:p>
        </p:txBody>
      </p:sp>
      <p:sp>
        <p:nvSpPr>
          <p:cNvPr id="166" name="Google Shape;166;p7">
            <a:extLst>
              <a:ext uri="{FF2B5EF4-FFF2-40B4-BE49-F238E27FC236}">
                <a16:creationId xmlns:a16="http://schemas.microsoft.com/office/drawing/2014/main" id="{B03D9E3B-68FB-4961-81C8-FE3B9134CE1E}"/>
              </a:ext>
            </a:extLst>
          </p:cNvPr>
          <p:cNvSpPr>
            <a:spLocks noGrp="1"/>
          </p:cNvSpPr>
          <p:nvPr/>
        </p:nvSpPr>
        <p:spPr>
          <a:xfrm>
            <a:off x="8759952" y="3867912"/>
            <a:ext cx="1645920" cy="146304"/>
          </a:xfrm>
          <a:prstGeom prst="rect">
            <a:avLst/>
          </a:prstGeom>
          <a:noFill/>
          <a:ln>
            <a:noFill/>
          </a:ln>
        </p:spPr>
        <p:txBody>
          <a:bodyPr spcFirstLastPara="1" wrap="square" lIns="0" tIns="0" rIns="0" bIns="0" anchor="ctr">
            <a:noAutofit/>
          </a:bodyPr>
          <a:lstStyle/>
          <a:p>
            <a:pPr marL="0" indent="0" algn="l">
              <a:spcBef>
                <a:spcPts val="0"/>
              </a:spcBef>
              <a:spcAft>
                <a:spcPts val="0"/>
              </a:spcAft>
              <a:buNone/>
            </a:pPr>
            <a:r>
              <a:rPr sz="1100">
                <a:solidFill>
                  <a:srgbClr val="111827"/>
                </a:solidFill>
                <a:latin typeface="Arial"/>
                <a:ea typeface="Arial"/>
                <a:cs typeface="Arial"/>
              </a:rPr>
              <a:t>Uncertainty</a:t>
            </a:r>
          </a:p>
        </p:txBody>
      </p:sp>
      <p:sp>
        <p:nvSpPr>
          <p:cNvPr id="167" name="Google Shape;167;p7">
            <a:extLst>
              <a:ext uri="{FF2B5EF4-FFF2-40B4-BE49-F238E27FC236}">
                <a16:creationId xmlns:a16="http://schemas.microsoft.com/office/drawing/2014/main" id="{86A5F43E-5BCE-4F9B-8DCE-209294D4F530}"/>
              </a:ext>
            </a:extLst>
          </p:cNvPr>
          <p:cNvSpPr>
            <a:spLocks noGrp="1"/>
          </p:cNvSpPr>
          <p:nvPr/>
        </p:nvSpPr>
        <p:spPr>
          <a:xfrm>
            <a:off x="10652760" y="3867912"/>
            <a:ext cx="685800" cy="146304"/>
          </a:xfrm>
          <a:prstGeom prst="rect">
            <a:avLst/>
          </a:prstGeom>
          <a:noFill/>
          <a:ln>
            <a:noFill/>
          </a:ln>
        </p:spPr>
        <p:txBody>
          <a:bodyPr spcFirstLastPara="1" wrap="square" lIns="0" tIns="0" rIns="0" bIns="0" anchor="ctr">
            <a:noAutofit/>
          </a:bodyPr>
          <a:lstStyle/>
          <a:p>
            <a:pPr marL="0" indent="0" algn="r">
              <a:spcBef>
                <a:spcPts val="0"/>
              </a:spcBef>
              <a:spcAft>
                <a:spcPts val="0"/>
              </a:spcAft>
              <a:buNone/>
            </a:pPr>
            <a:r>
              <a:rPr sz="1100" b="1">
                <a:solidFill>
                  <a:srgbClr val="6B7280"/>
                </a:solidFill>
                <a:latin typeface="Arial"/>
                <a:ea typeface="Arial"/>
                <a:cs typeface="Arial"/>
              </a:rPr>
              <a:t>often lower</a:t>
            </a:r>
          </a:p>
        </p:txBody>
      </p:sp>
      <p:sp>
        <p:nvSpPr>
          <p:cNvPr id="168" name="Google Shape;168;p7">
            <a:extLst>
              <a:ext uri="{FF2B5EF4-FFF2-40B4-BE49-F238E27FC236}">
                <a16:creationId xmlns:a16="http://schemas.microsoft.com/office/drawing/2014/main" id="{145F9010-7029-495B-B7DB-19DB1E0C0348}"/>
              </a:ext>
            </a:extLst>
          </p:cNvPr>
          <p:cNvSpPr>
            <a:spLocks noGrp="1"/>
          </p:cNvSpPr>
          <p:nvPr/>
        </p:nvSpPr>
        <p:spPr>
          <a:xfrm>
            <a:off x="8348472" y="4572000"/>
            <a:ext cx="2907792" cy="731520"/>
          </a:xfrm>
          <a:prstGeom prst="roundRect">
            <a:avLst>
              <a:gd name="adj" fmla="val 11250"/>
            </a:avLst>
          </a:prstGeom>
          <a:solidFill>
            <a:srgbClr val="FFF7ED"/>
          </a:solidFill>
          <a:ln w="10150" cmpd="sng">
            <a:solidFill>
              <a:srgbClr val="FED7AA"/>
            </a:solidFill>
            <a:prstDash val="solid"/>
            <a:headEnd type="none" w="sm" len="sm"/>
            <a:tailEnd type="none" w="sm" len="sm"/>
          </a:ln>
        </p:spPr>
        <p:txBody>
          <a:bodyPr spcFirstLastPara="1" wrap="square" lIns="91425" tIns="45700" rIns="91425" bIns="45700" anchor="t">
            <a:noAutofit/>
          </a:bodyPr>
          <a:lstStyle/>
          <a:p>
            <a:pPr marL="0" indent="0" algn="l">
              <a:spcBef>
                <a:spcPts val="0"/>
              </a:spcBef>
              <a:spcAft>
                <a:spcPts val="0"/>
              </a:spcAft>
              <a:buNone/>
            </a:pPr>
            <a:endParaRPr/>
          </a:p>
        </p:txBody>
      </p:sp>
      <p:sp>
        <p:nvSpPr>
          <p:cNvPr id="169" name="Google Shape;169;p7">
            <a:extLst>
              <a:ext uri="{FF2B5EF4-FFF2-40B4-BE49-F238E27FC236}">
                <a16:creationId xmlns:a16="http://schemas.microsoft.com/office/drawing/2014/main" id="{5E225263-EFAB-4A3D-8ACB-A210C3D77A46}"/>
              </a:ext>
            </a:extLst>
          </p:cNvPr>
          <p:cNvSpPr>
            <a:spLocks noGrp="1"/>
          </p:cNvSpPr>
          <p:nvPr/>
        </p:nvSpPr>
        <p:spPr>
          <a:xfrm>
            <a:off x="8549640" y="4709160"/>
            <a:ext cx="1188720" cy="137160"/>
          </a:xfrm>
          <a:prstGeom prst="rect">
            <a:avLst/>
          </a:prstGeom>
          <a:noFill/>
          <a:ln>
            <a:noFill/>
          </a:ln>
        </p:spPr>
        <p:txBody>
          <a:bodyPr spcFirstLastPara="1" wrap="square" lIns="0" tIns="0" rIns="0" bIns="0" anchor="ctr">
            <a:noAutofit/>
          </a:bodyPr>
          <a:lstStyle/>
          <a:p>
            <a:pPr marL="0" indent="0" algn="l">
              <a:spcBef>
                <a:spcPts val="0"/>
              </a:spcBef>
              <a:spcAft>
                <a:spcPts val="0"/>
              </a:spcAft>
              <a:buNone/>
            </a:pPr>
            <a:r>
              <a:rPr sz="1100" b="1">
                <a:solidFill>
                  <a:srgbClr val="B7791F"/>
                </a:solidFill>
                <a:latin typeface="Arial"/>
                <a:ea typeface="Arial"/>
                <a:cs typeface="Arial"/>
              </a:rPr>
              <a:t>Safe wording</a:t>
            </a:r>
          </a:p>
        </p:txBody>
      </p:sp>
      <p:sp>
        <p:nvSpPr>
          <p:cNvPr id="170" name="Google Shape;170;p7">
            <a:extLst>
              <a:ext uri="{FF2B5EF4-FFF2-40B4-BE49-F238E27FC236}">
                <a16:creationId xmlns:a16="http://schemas.microsoft.com/office/drawing/2014/main" id="{DA9C74D6-3B3A-426C-914F-703AA59F43CF}"/>
              </a:ext>
            </a:extLst>
          </p:cNvPr>
          <p:cNvSpPr>
            <a:spLocks noGrp="1"/>
          </p:cNvSpPr>
          <p:nvPr/>
        </p:nvSpPr>
        <p:spPr>
          <a:xfrm>
            <a:off x="8549640" y="4956048"/>
            <a:ext cx="2514600" cy="173736"/>
          </a:xfrm>
          <a:prstGeom prst="rect">
            <a:avLst/>
          </a:prstGeom>
          <a:noFill/>
          <a:ln>
            <a:noFill/>
          </a:ln>
        </p:spPr>
        <p:txBody>
          <a:bodyPr spcFirstLastPara="1" wrap="square" lIns="0" tIns="0" rIns="0" bIns="0" anchor="ctr">
            <a:noAutofit/>
          </a:bodyPr>
          <a:lstStyle/>
          <a:p>
            <a:pPr marL="0" indent="0" algn="l">
              <a:spcBef>
                <a:spcPts val="0"/>
              </a:spcBef>
              <a:spcAft>
                <a:spcPts val="0"/>
              </a:spcAft>
              <a:buNone/>
            </a:pPr>
            <a:r>
              <a:rPr sz="1100">
                <a:solidFill>
                  <a:srgbClr val="4B5563"/>
                </a:solidFill>
                <a:latin typeface="Arial"/>
                <a:ea typeface="Arial"/>
                <a:cs typeface="Arial"/>
              </a:rPr>
              <a:t>Lower latent uncertainty can mean confident wrongness, so it cannot define success alone.</a:t>
            </a:r>
          </a:p>
        </p:txBody>
      </p:sp>
      <p:cxnSp>
        <p:nvCxnSpPr>
          <p:cNvPr id="236" name="Google Shape;171;p7"/>
          <p:cNvCxnSpPr/>
          <p:nvPr/>
        </p:nvCxnSpPr>
        <p:spPr>
          <a:xfrm>
            <a:off x="502920" y="6446520"/>
            <a:ext cx="11201400" cy="0"/>
          </a:xfrm>
          <a:prstGeom prst="straightConnector1">
            <a:avLst/>
          </a:prstGeom>
          <a:ln w="9525" cap="flat">
            <a:solidFill>
              <a:srgbClr val="D9DEE8"/>
            </a:solidFill>
            <a:prstDash val="solid"/>
            <a:round/>
            <a:headEnd type="none" w="sm" len="sm"/>
            <a:tailEnd type="none" w="sm" len="sm"/>
          </a:ln>
        </p:spPr>
      </p:cxnSp>
      <p:sp>
        <p:nvSpPr>
          <p:cNvPr id="172" name="Google Shape;172;p7">
            <a:extLst>
              <a:ext uri="{FF2B5EF4-FFF2-40B4-BE49-F238E27FC236}">
                <a16:creationId xmlns:a16="http://schemas.microsoft.com/office/drawing/2014/main" id="{17CE0911-0117-4194-9C8E-3BA8EF3775EE}"/>
              </a:ext>
            </a:extLst>
          </p:cNvPr>
          <p:cNvSpPr>
            <a:spLocks noGrp="1"/>
          </p:cNvSpPr>
          <p:nvPr/>
        </p:nvSpPr>
        <p:spPr>
          <a:xfrm>
            <a:off x="502920" y="6519672"/>
            <a:ext cx="8961120" cy="164592"/>
          </a:xfrm>
          <a:prstGeom prst="rect">
            <a:avLst/>
          </a:prstGeom>
          <a:noFill/>
          <a:ln>
            <a:noFill/>
          </a:ln>
        </p:spPr>
        <p:txBody>
          <a:bodyPr spcFirstLastPara="1" wrap="square" lIns="0" tIns="0" rIns="0" bIns="0" anchor="ctr">
            <a:noAutofit/>
          </a:bodyPr>
          <a:lstStyle/>
          <a:p>
            <a:pPr marL="0" indent="0" algn="l">
              <a:spcBef>
                <a:spcPts val="0"/>
              </a:spcBef>
              <a:spcAft>
                <a:spcPts val="0"/>
              </a:spcAft>
              <a:buNone/>
            </a:pPr>
            <a:r>
              <a:rPr sz="780">
                <a:solidFill>
                  <a:srgbClr val="6B7280"/>
                </a:solidFill>
                <a:latin typeface="Arial"/>
                <a:ea typeface="Arial"/>
                <a:cs typeface="Arial"/>
              </a:rPr>
              <a:t>Week 3 extended update - Sample-Efficient Active Level-Set Estimation - 11</a:t>
            </a:r>
          </a:p>
        </p:txBody>
      </p:sp>
      <p:sp>
        <p:nvSpPr>
          <p:cNvPr id="173" name="Google Shape;173;p7">
            <a:extLst>
              <a:ext uri="{FF2B5EF4-FFF2-40B4-BE49-F238E27FC236}">
                <a16:creationId xmlns:a16="http://schemas.microsoft.com/office/drawing/2014/main" id="{7E348F6B-B4F5-4DD9-851B-450FC1334BE5}"/>
              </a:ext>
            </a:extLst>
          </p:cNvPr>
          <p:cNvSpPr>
            <a:spLocks noGrp="1"/>
          </p:cNvSpPr>
          <p:nvPr/>
        </p:nvSpPr>
        <p:spPr>
          <a:xfrm>
            <a:off x="11521440" y="6492240"/>
            <a:ext cx="228600" cy="164592"/>
          </a:xfrm>
          <a:prstGeom prst="rect">
            <a:avLst/>
          </a:prstGeom>
          <a:noFill/>
          <a:ln>
            <a:noFill/>
          </a:ln>
        </p:spPr>
        <p:txBody>
          <a:bodyPr spcFirstLastPara="1" wrap="square" lIns="0" tIns="0" rIns="0" bIns="0" anchor="ctr">
            <a:noAutofit/>
          </a:bodyPr>
          <a:lstStyle/>
          <a:p>
            <a:pPr marL="0" indent="0" algn="r">
              <a:spcBef>
                <a:spcPts val="0"/>
              </a:spcBef>
              <a:spcAft>
                <a:spcPts val="0"/>
              </a:spcAft>
              <a:buNone/>
            </a:pPr>
            <a:r>
              <a:rPr sz="780">
                <a:solidFill>
                  <a:srgbClr val="6B7280"/>
                </a:solidFill>
                <a:latin typeface="Arial"/>
                <a:ea typeface="Arial"/>
                <a:cs typeface="Arial"/>
              </a:rPr>
              <a:t>11</a:t>
            </a:r>
          </a:p>
        </p:txBody>
      </p:sp>
      <p:graphicFrame>
        <p:nvGraphicFramePr>
          <p:cNvPr id="239" name="Chart"/>
          <p:cNvGraphicFramePr/>
          <p:nvPr/>
        </p:nvGraphicFramePr>
        <p:xfrm>
          <a:off x="502920" y="1319022"/>
          <a:ext cx="7406640" cy="4402836"/>
        </p:xfrm>
        <a:graphic>
          <a:graphicData uri="http://schemas.openxmlformats.org/drawingml/2006/chart">
            <c:chart xmlns:c="http://schemas.openxmlformats.org/drawingml/2006/chart" xmlns:r="http://schemas.openxmlformats.org/officeDocument/2006/relationships" r:id="rId4"/>
          </a:graphicData>
        </a:graphic>
      </p:graphicFrame>
    </p:spTree>
    <p:extLst>
      <p:ext uri="{BB962C8B-B14F-4D97-AF65-F5344CB8AC3E}">
        <p14:creationId xmlns:p14="http://schemas.microsoft.com/office/powerpoint/2010/main" val="1479111479"/>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rgbClr val="F6F8FC"/>
        </a:solidFill>
        <a:effectLst/>
      </p:bgPr>
    </p:bg>
    <p:spTree>
      <p:nvGrpSpPr>
        <p:cNvPr id="1" name=""/>
        <p:cNvGrpSpPr/>
        <p:nvPr/>
      </p:nvGrpSpPr>
      <p:grpSpPr>
        <a:xfrm>
          <a:off x="0" y="0"/>
          <a:ext cx="0" cy="0"/>
          <a:chOff x="0" y="0"/>
          <a:chExt cx="0" cy="0"/>
        </a:xfrm>
      </p:grpSpPr>
      <p:sp>
        <p:nvSpPr>
          <p:cNvPr id="266" name="Google Shape;266;p12">
            <a:extLst>
              <a:ext uri="{FF2B5EF4-FFF2-40B4-BE49-F238E27FC236}">
                <a16:creationId xmlns:a16="http://schemas.microsoft.com/office/drawing/2014/main" id="{2FC110D4-64C9-4E0C-BC7E-BE8083E4CDC0}"/>
              </a:ext>
            </a:extLst>
          </p:cNvPr>
          <p:cNvSpPr>
            <a:spLocks noGrp="1"/>
          </p:cNvSpPr>
          <p:nvPr/>
        </p:nvSpPr>
        <p:spPr>
          <a:xfrm>
            <a:off x="502920" y="329184"/>
            <a:ext cx="10789920" cy="320040"/>
          </a:xfrm>
          <a:prstGeom prst="rect">
            <a:avLst/>
          </a:prstGeom>
          <a:noFill/>
          <a:ln>
            <a:noFill/>
          </a:ln>
        </p:spPr>
        <p:txBody>
          <a:bodyPr spcFirstLastPara="1" wrap="square" lIns="0" tIns="0" rIns="0" bIns="0" anchor="ctr">
            <a:noAutofit/>
          </a:bodyPr>
          <a:lstStyle/>
          <a:p>
            <a:pPr marL="0" indent="0" algn="l">
              <a:spcBef>
                <a:spcPts val="0"/>
              </a:spcBef>
              <a:spcAft>
                <a:spcPts val="0"/>
              </a:spcAft>
              <a:buNone/>
            </a:pPr>
            <a:r>
              <a:rPr sz="2200" b="1">
                <a:solidFill>
                  <a:srgbClr val="1F2A44"/>
                </a:solidFill>
                <a:latin typeface="Play"/>
                <a:ea typeface="Play"/>
                <a:cs typeface="Play"/>
              </a:rPr>
              <a:t>Acquisition variants taught a conservative lesson</a:t>
            </a:r>
          </a:p>
        </p:txBody>
      </p:sp>
      <p:sp>
        <p:nvSpPr>
          <p:cNvPr id="267" name="Google Shape;267;p12">
            <a:extLst>
              <a:ext uri="{FF2B5EF4-FFF2-40B4-BE49-F238E27FC236}">
                <a16:creationId xmlns:a16="http://schemas.microsoft.com/office/drawing/2014/main" id="{5E6B99FE-0056-455A-BFB8-73B492228F9D}"/>
              </a:ext>
            </a:extLst>
          </p:cNvPr>
          <p:cNvSpPr>
            <a:spLocks noGrp="1"/>
          </p:cNvSpPr>
          <p:nvPr/>
        </p:nvSpPr>
        <p:spPr>
          <a:xfrm>
            <a:off x="521208" y="713232"/>
            <a:ext cx="10515600" cy="237744"/>
          </a:xfrm>
          <a:prstGeom prst="rect">
            <a:avLst/>
          </a:prstGeom>
          <a:noFill/>
          <a:ln>
            <a:noFill/>
          </a:ln>
        </p:spPr>
        <p:txBody>
          <a:bodyPr spcFirstLastPara="1" wrap="square" lIns="0" tIns="0" rIns="0" bIns="0" anchor="ctr">
            <a:noAutofit/>
          </a:bodyPr>
          <a:lstStyle/>
          <a:p>
            <a:pPr marL="0" indent="0" algn="l">
              <a:spcBef>
                <a:spcPts val="0"/>
              </a:spcBef>
              <a:spcAft>
                <a:spcPts val="0"/>
              </a:spcAft>
              <a:buNone/>
            </a:pPr>
            <a:r>
              <a:rPr sz="1100">
                <a:solidFill>
                  <a:srgbClr val="4B5563"/>
                </a:solidFill>
                <a:latin typeface="Arial"/>
                <a:ea typeface="Arial"/>
                <a:cs typeface="Arial"/>
              </a:rPr>
              <a:t>The new acquisition ideas were useful because they clarified what does not generalize.</a:t>
            </a:r>
          </a:p>
        </p:txBody>
      </p:sp>
      <p:sp>
        <p:nvSpPr>
          <p:cNvPr id="268" name="Google Shape;268;p12">
            <a:extLst>
              <a:ext uri="{FF2B5EF4-FFF2-40B4-BE49-F238E27FC236}">
                <a16:creationId xmlns:a16="http://schemas.microsoft.com/office/drawing/2014/main" id="{FFE2D9A2-71E6-430C-93E8-91826C9E89B3}"/>
              </a:ext>
            </a:extLst>
          </p:cNvPr>
          <p:cNvSpPr>
            <a:spLocks noGrp="1"/>
          </p:cNvSpPr>
          <p:nvPr/>
        </p:nvSpPr>
        <p:spPr>
          <a:xfrm>
            <a:off x="914400" y="1417320"/>
            <a:ext cx="5394960" cy="4297680"/>
          </a:xfrm>
          <a:prstGeom prst="roundRect">
            <a:avLst>
              <a:gd name="adj" fmla="val 1915"/>
            </a:avLst>
          </a:prstGeom>
          <a:solidFill>
            <a:srgbClr val="FFFFFF"/>
          </a:solidFill>
          <a:ln w="10150" cmpd="sng">
            <a:solidFill>
              <a:srgbClr val="D9DEE8"/>
            </a:solidFill>
            <a:prstDash val="solid"/>
            <a:headEnd type="none" w="sm" len="sm"/>
            <a:tailEnd type="none" w="sm" len="sm"/>
          </a:ln>
          <a:effectLst>
            <a:outerShdw blurRad="15240" dist="50800" dir="2700000" algn="bl" rotWithShape="0">
              <a:srgbClr val="000000">
                <a:alpha val="7843"/>
              </a:srgbClr>
            </a:outerShdw>
          </a:effectLst>
        </p:spPr>
        <p:txBody>
          <a:bodyPr spcFirstLastPara="1" wrap="square" lIns="91425" tIns="45700" rIns="91425" bIns="45700" anchor="t">
            <a:noAutofit/>
          </a:bodyPr>
          <a:lstStyle/>
          <a:p>
            <a:pPr marL="0" indent="0" algn="l">
              <a:spcBef>
                <a:spcPts val="0"/>
              </a:spcBef>
              <a:spcAft>
                <a:spcPts val="0"/>
              </a:spcAft>
              <a:buNone/>
            </a:pPr>
            <a:endParaRPr/>
          </a:p>
        </p:txBody>
      </p:sp>
      <p:sp>
        <p:nvSpPr>
          <p:cNvPr id="269" name="Google Shape;269;p12">
            <a:extLst>
              <a:ext uri="{FF2B5EF4-FFF2-40B4-BE49-F238E27FC236}">
                <a16:creationId xmlns:a16="http://schemas.microsoft.com/office/drawing/2014/main" id="{E5FFB68F-3CFB-4608-9121-839097C64A88}"/>
              </a:ext>
            </a:extLst>
          </p:cNvPr>
          <p:cNvSpPr>
            <a:spLocks noGrp="1"/>
          </p:cNvSpPr>
          <p:nvPr/>
        </p:nvSpPr>
        <p:spPr>
          <a:xfrm>
            <a:off x="1188720" y="1691640"/>
            <a:ext cx="1371600" cy="164592"/>
          </a:xfrm>
          <a:prstGeom prst="rect">
            <a:avLst/>
          </a:prstGeom>
          <a:noFill/>
          <a:ln>
            <a:noFill/>
          </a:ln>
        </p:spPr>
        <p:txBody>
          <a:bodyPr spcFirstLastPara="1" wrap="square" lIns="0" tIns="0" rIns="0" bIns="0" anchor="ctr">
            <a:noAutofit/>
          </a:bodyPr>
          <a:lstStyle/>
          <a:p>
            <a:pPr marL="0" indent="0" algn="l">
              <a:spcBef>
                <a:spcPts val="0"/>
              </a:spcBef>
              <a:spcAft>
                <a:spcPts val="0"/>
              </a:spcAft>
              <a:buNone/>
            </a:pPr>
            <a:r>
              <a:rPr sz="1400" b="1">
                <a:solidFill>
                  <a:srgbClr val="1F2A44"/>
                </a:solidFill>
                <a:latin typeface="Arial"/>
                <a:ea typeface="Arial"/>
                <a:cs typeface="Arial"/>
              </a:rPr>
              <a:t>Learned so far</a:t>
            </a:r>
          </a:p>
        </p:txBody>
      </p:sp>
      <p:sp>
        <p:nvSpPr>
          <p:cNvPr id="270" name="Google Shape;270;p12">
            <a:extLst>
              <a:ext uri="{FF2B5EF4-FFF2-40B4-BE49-F238E27FC236}">
                <a16:creationId xmlns:a16="http://schemas.microsoft.com/office/drawing/2014/main" id="{EE593B50-BC87-4F4A-9340-FFEF2B2B0995}"/>
              </a:ext>
            </a:extLst>
          </p:cNvPr>
          <p:cNvSpPr>
            <a:spLocks noGrp="1"/>
          </p:cNvSpPr>
          <p:nvPr/>
        </p:nvSpPr>
        <p:spPr>
          <a:xfrm>
            <a:off x="1188720" y="2148840"/>
            <a:ext cx="164592" cy="146304"/>
          </a:xfrm>
          <a:prstGeom prst="rect">
            <a:avLst/>
          </a:prstGeom>
          <a:noFill/>
          <a:ln>
            <a:noFill/>
          </a:ln>
        </p:spPr>
        <p:txBody>
          <a:bodyPr spcFirstLastPara="1" wrap="square" lIns="0" tIns="0" rIns="0" bIns="0" anchor="ctr">
            <a:noAutofit/>
          </a:bodyPr>
          <a:lstStyle/>
          <a:p>
            <a:pPr marL="0" indent="0" algn="l">
              <a:spcBef>
                <a:spcPts val="0"/>
              </a:spcBef>
              <a:spcAft>
                <a:spcPts val="0"/>
              </a:spcAft>
              <a:buNone/>
            </a:pPr>
            <a:r>
              <a:rPr sz="1000" b="1">
                <a:solidFill>
                  <a:srgbClr val="16A34A"/>
                </a:solidFill>
                <a:latin typeface="Arial"/>
                <a:ea typeface="Arial"/>
                <a:cs typeface="Arial"/>
              </a:rPr>
              <a:t>✓</a:t>
            </a:r>
          </a:p>
        </p:txBody>
      </p:sp>
      <p:sp>
        <p:nvSpPr>
          <p:cNvPr id="271" name="Google Shape;271;p12">
            <a:extLst>
              <a:ext uri="{FF2B5EF4-FFF2-40B4-BE49-F238E27FC236}">
                <a16:creationId xmlns:a16="http://schemas.microsoft.com/office/drawing/2014/main" id="{1CFEB90E-D387-41A6-A1F0-043E7A8CDC9E}"/>
              </a:ext>
            </a:extLst>
          </p:cNvPr>
          <p:cNvSpPr>
            <a:spLocks noGrp="1"/>
          </p:cNvSpPr>
          <p:nvPr/>
        </p:nvSpPr>
        <p:spPr>
          <a:xfrm>
            <a:off x="1417320" y="2153412"/>
            <a:ext cx="4480560" cy="164592"/>
          </a:xfrm>
          <a:prstGeom prst="rect">
            <a:avLst/>
          </a:prstGeom>
          <a:noFill/>
          <a:ln>
            <a:noFill/>
          </a:ln>
        </p:spPr>
        <p:txBody>
          <a:bodyPr spcFirstLastPara="1" wrap="square" lIns="0" tIns="0" rIns="0" bIns="0" anchor="ctr">
            <a:noAutofit/>
          </a:bodyPr>
          <a:lstStyle/>
          <a:p>
            <a:pPr marL="0" indent="0" algn="l">
              <a:spcBef>
                <a:spcPts val="0"/>
              </a:spcBef>
              <a:spcAft>
                <a:spcPts val="0"/>
              </a:spcAft>
              <a:buNone/>
            </a:pPr>
            <a:r>
              <a:rPr sz="1200">
                <a:solidFill>
                  <a:srgbClr val="111827"/>
                </a:solidFill>
                <a:latin typeface="Arial"/>
                <a:ea typeface="Arial"/>
                <a:cs typeface="Arial"/>
              </a:rPr>
              <a:t>Ackley4 is a defensible named 4D bridge benchmark.</a:t>
            </a:r>
          </a:p>
        </p:txBody>
      </p:sp>
      <p:sp>
        <p:nvSpPr>
          <p:cNvPr id="272" name="Google Shape;272;p12">
            <a:extLst>
              <a:ext uri="{FF2B5EF4-FFF2-40B4-BE49-F238E27FC236}">
                <a16:creationId xmlns:a16="http://schemas.microsoft.com/office/drawing/2014/main" id="{492FAF73-5457-44E3-AE22-F9BED7BD268C}"/>
              </a:ext>
            </a:extLst>
          </p:cNvPr>
          <p:cNvSpPr>
            <a:spLocks noGrp="1"/>
          </p:cNvSpPr>
          <p:nvPr/>
        </p:nvSpPr>
        <p:spPr>
          <a:xfrm>
            <a:off x="1188720" y="2514600"/>
            <a:ext cx="164592" cy="146304"/>
          </a:xfrm>
          <a:prstGeom prst="rect">
            <a:avLst/>
          </a:prstGeom>
          <a:noFill/>
          <a:ln>
            <a:noFill/>
          </a:ln>
        </p:spPr>
        <p:txBody>
          <a:bodyPr spcFirstLastPara="1" wrap="square" lIns="0" tIns="0" rIns="0" bIns="0" anchor="ctr">
            <a:noAutofit/>
          </a:bodyPr>
          <a:lstStyle/>
          <a:p>
            <a:pPr marL="0" indent="0" algn="l">
              <a:spcBef>
                <a:spcPts val="0"/>
              </a:spcBef>
              <a:spcAft>
                <a:spcPts val="0"/>
              </a:spcAft>
              <a:buNone/>
            </a:pPr>
            <a:r>
              <a:rPr sz="1000" b="1">
                <a:solidFill>
                  <a:srgbClr val="16A34A"/>
                </a:solidFill>
                <a:latin typeface="Arial"/>
                <a:ea typeface="Arial"/>
                <a:cs typeface="Arial"/>
              </a:rPr>
              <a:t>✓</a:t>
            </a:r>
          </a:p>
        </p:txBody>
      </p:sp>
      <p:sp>
        <p:nvSpPr>
          <p:cNvPr id="273" name="Google Shape;273;p12">
            <a:extLst>
              <a:ext uri="{FF2B5EF4-FFF2-40B4-BE49-F238E27FC236}">
                <a16:creationId xmlns:a16="http://schemas.microsoft.com/office/drawing/2014/main" id="{84C9DABF-2C6C-46E6-A59A-6C5AB0276D5E}"/>
              </a:ext>
            </a:extLst>
          </p:cNvPr>
          <p:cNvSpPr>
            <a:spLocks noGrp="1"/>
          </p:cNvSpPr>
          <p:nvPr/>
        </p:nvSpPr>
        <p:spPr>
          <a:xfrm>
            <a:off x="1417320" y="2519172"/>
            <a:ext cx="4480560" cy="164592"/>
          </a:xfrm>
          <a:prstGeom prst="rect">
            <a:avLst/>
          </a:prstGeom>
          <a:noFill/>
          <a:ln>
            <a:noFill/>
          </a:ln>
        </p:spPr>
        <p:txBody>
          <a:bodyPr spcFirstLastPara="1" wrap="square" lIns="0" tIns="0" rIns="0" bIns="0" anchor="ctr">
            <a:noAutofit/>
          </a:bodyPr>
          <a:lstStyle/>
          <a:p>
            <a:pPr marL="0" indent="0" algn="l">
              <a:spcBef>
                <a:spcPts val="0"/>
              </a:spcBef>
              <a:spcAft>
                <a:spcPts val="0"/>
              </a:spcAft>
              <a:buNone/>
            </a:pPr>
            <a:r>
              <a:rPr sz="1200">
                <a:solidFill>
                  <a:srgbClr val="111827"/>
                </a:solidFill>
                <a:latin typeface="Arial"/>
                <a:ea typeface="Arial"/>
                <a:cs typeface="Arial"/>
              </a:rPr>
              <a:t>Boundary metrics are necessary; global error alone is misleading.</a:t>
            </a:r>
          </a:p>
        </p:txBody>
      </p:sp>
      <p:sp>
        <p:nvSpPr>
          <p:cNvPr id="274" name="Google Shape;274;p12">
            <a:extLst>
              <a:ext uri="{FF2B5EF4-FFF2-40B4-BE49-F238E27FC236}">
                <a16:creationId xmlns:a16="http://schemas.microsoft.com/office/drawing/2014/main" id="{F06167CC-EF23-4C9B-BFC6-12210FEDA443}"/>
              </a:ext>
            </a:extLst>
          </p:cNvPr>
          <p:cNvSpPr>
            <a:spLocks noGrp="1"/>
          </p:cNvSpPr>
          <p:nvPr/>
        </p:nvSpPr>
        <p:spPr>
          <a:xfrm>
            <a:off x="1188720" y="2880360"/>
            <a:ext cx="164592" cy="146304"/>
          </a:xfrm>
          <a:prstGeom prst="rect">
            <a:avLst/>
          </a:prstGeom>
          <a:noFill/>
          <a:ln>
            <a:noFill/>
          </a:ln>
        </p:spPr>
        <p:txBody>
          <a:bodyPr spcFirstLastPara="1" wrap="square" lIns="0" tIns="0" rIns="0" bIns="0" anchor="ctr">
            <a:noAutofit/>
          </a:bodyPr>
          <a:lstStyle/>
          <a:p>
            <a:pPr marL="0" indent="0" algn="l">
              <a:spcBef>
                <a:spcPts val="0"/>
              </a:spcBef>
              <a:spcAft>
                <a:spcPts val="0"/>
              </a:spcAft>
              <a:buNone/>
            </a:pPr>
            <a:r>
              <a:rPr sz="1000" b="1">
                <a:solidFill>
                  <a:srgbClr val="16A34A"/>
                </a:solidFill>
                <a:latin typeface="Arial"/>
                <a:ea typeface="Arial"/>
                <a:cs typeface="Arial"/>
              </a:rPr>
              <a:t>✓</a:t>
            </a:r>
          </a:p>
        </p:txBody>
      </p:sp>
      <p:sp>
        <p:nvSpPr>
          <p:cNvPr id="275" name="Google Shape;275;p12">
            <a:extLst>
              <a:ext uri="{FF2B5EF4-FFF2-40B4-BE49-F238E27FC236}">
                <a16:creationId xmlns:a16="http://schemas.microsoft.com/office/drawing/2014/main" id="{CFCB0D07-AD5C-41B6-96DC-358D8A06C64E}"/>
              </a:ext>
            </a:extLst>
          </p:cNvPr>
          <p:cNvSpPr>
            <a:spLocks noGrp="1"/>
          </p:cNvSpPr>
          <p:nvPr/>
        </p:nvSpPr>
        <p:spPr>
          <a:xfrm>
            <a:off x="1417320" y="2884932"/>
            <a:ext cx="4480560" cy="164592"/>
          </a:xfrm>
          <a:prstGeom prst="rect">
            <a:avLst/>
          </a:prstGeom>
          <a:noFill/>
          <a:ln>
            <a:noFill/>
          </a:ln>
        </p:spPr>
        <p:txBody>
          <a:bodyPr spcFirstLastPara="1" wrap="square" lIns="0" tIns="0" rIns="0" bIns="0" anchor="ctr">
            <a:noAutofit/>
          </a:bodyPr>
          <a:lstStyle/>
          <a:p>
            <a:pPr marL="0" indent="0" algn="l">
              <a:spcBef>
                <a:spcPts val="0"/>
              </a:spcBef>
              <a:spcAft>
                <a:spcPts val="0"/>
              </a:spcAft>
              <a:buNone/>
            </a:pPr>
            <a:r>
              <a:rPr sz="1200">
                <a:solidFill>
                  <a:srgbClr val="111827"/>
                </a:solidFill>
                <a:latin typeface="Arial"/>
                <a:ea typeface="Arial"/>
                <a:cs typeface="Arial"/>
              </a:rPr>
              <a:t>Simple baselines remain hard to beat, especially randomized straddle.</a:t>
            </a:r>
          </a:p>
        </p:txBody>
      </p:sp>
      <p:sp>
        <p:nvSpPr>
          <p:cNvPr id="276" name="Google Shape;276;p12">
            <a:extLst>
              <a:ext uri="{FF2B5EF4-FFF2-40B4-BE49-F238E27FC236}">
                <a16:creationId xmlns:a16="http://schemas.microsoft.com/office/drawing/2014/main" id="{DE8FBADC-DC3D-4275-8553-3C73FBA9B3B7}"/>
              </a:ext>
            </a:extLst>
          </p:cNvPr>
          <p:cNvSpPr>
            <a:spLocks noGrp="1"/>
          </p:cNvSpPr>
          <p:nvPr/>
        </p:nvSpPr>
        <p:spPr>
          <a:xfrm>
            <a:off x="1188720" y="3246120"/>
            <a:ext cx="164592" cy="146304"/>
          </a:xfrm>
          <a:prstGeom prst="rect">
            <a:avLst/>
          </a:prstGeom>
          <a:noFill/>
          <a:ln>
            <a:noFill/>
          </a:ln>
        </p:spPr>
        <p:txBody>
          <a:bodyPr spcFirstLastPara="1" wrap="square" lIns="0" tIns="0" rIns="0" bIns="0" anchor="ctr">
            <a:noAutofit/>
          </a:bodyPr>
          <a:lstStyle/>
          <a:p>
            <a:pPr marL="0" indent="0" algn="l">
              <a:spcBef>
                <a:spcPts val="0"/>
              </a:spcBef>
              <a:spcAft>
                <a:spcPts val="0"/>
              </a:spcAft>
              <a:buNone/>
            </a:pPr>
            <a:r>
              <a:rPr sz="1000" b="1">
                <a:solidFill>
                  <a:srgbClr val="16A34A"/>
                </a:solidFill>
                <a:latin typeface="Arial"/>
                <a:ea typeface="Arial"/>
                <a:cs typeface="Arial"/>
              </a:rPr>
              <a:t>✓</a:t>
            </a:r>
          </a:p>
        </p:txBody>
      </p:sp>
      <p:sp>
        <p:nvSpPr>
          <p:cNvPr id="277" name="Google Shape;277;p12">
            <a:extLst>
              <a:ext uri="{FF2B5EF4-FFF2-40B4-BE49-F238E27FC236}">
                <a16:creationId xmlns:a16="http://schemas.microsoft.com/office/drawing/2014/main" id="{274E0BC4-FABD-4A58-AFF3-8FC2F22742CC}"/>
              </a:ext>
            </a:extLst>
          </p:cNvPr>
          <p:cNvSpPr>
            <a:spLocks noGrp="1"/>
          </p:cNvSpPr>
          <p:nvPr/>
        </p:nvSpPr>
        <p:spPr>
          <a:xfrm>
            <a:off x="1417320" y="3250692"/>
            <a:ext cx="4480560" cy="164592"/>
          </a:xfrm>
          <a:prstGeom prst="rect">
            <a:avLst/>
          </a:prstGeom>
          <a:noFill/>
          <a:ln>
            <a:noFill/>
          </a:ln>
        </p:spPr>
        <p:txBody>
          <a:bodyPr spcFirstLastPara="1" wrap="square" lIns="0" tIns="0" rIns="0" bIns="0" anchor="ctr">
            <a:noAutofit/>
          </a:bodyPr>
          <a:lstStyle/>
          <a:p>
            <a:pPr marL="0" indent="0" algn="l">
              <a:spcBef>
                <a:spcPts val="0"/>
              </a:spcBef>
              <a:spcAft>
                <a:spcPts val="0"/>
              </a:spcAft>
              <a:buNone/>
            </a:pPr>
            <a:r>
              <a:rPr sz="1200">
                <a:solidFill>
                  <a:srgbClr val="111827"/>
                </a:solidFill>
                <a:latin typeface="Arial"/>
                <a:ea typeface="Arial"/>
                <a:cs typeface="Arial"/>
              </a:rPr>
              <a:t>Lookahead is interesting on Branin but not reliable on Ackley4.</a:t>
            </a:r>
          </a:p>
        </p:txBody>
      </p:sp>
      <p:sp>
        <p:nvSpPr>
          <p:cNvPr id="278" name="Google Shape;278;p12">
            <a:extLst>
              <a:ext uri="{FF2B5EF4-FFF2-40B4-BE49-F238E27FC236}">
                <a16:creationId xmlns:a16="http://schemas.microsoft.com/office/drawing/2014/main" id="{F5C5F1EE-1B71-4C40-9E8A-71C5D79EB2D0}"/>
              </a:ext>
            </a:extLst>
          </p:cNvPr>
          <p:cNvSpPr>
            <a:spLocks noGrp="1"/>
          </p:cNvSpPr>
          <p:nvPr/>
        </p:nvSpPr>
        <p:spPr>
          <a:xfrm>
            <a:off x="1188720" y="3611880"/>
            <a:ext cx="164592" cy="146304"/>
          </a:xfrm>
          <a:prstGeom prst="rect">
            <a:avLst/>
          </a:prstGeom>
          <a:noFill/>
          <a:ln>
            <a:noFill/>
          </a:ln>
        </p:spPr>
        <p:txBody>
          <a:bodyPr spcFirstLastPara="1" wrap="square" lIns="0" tIns="0" rIns="0" bIns="0" anchor="ctr">
            <a:noAutofit/>
          </a:bodyPr>
          <a:lstStyle/>
          <a:p>
            <a:pPr marL="0" indent="0" algn="l">
              <a:spcBef>
                <a:spcPts val="0"/>
              </a:spcBef>
              <a:spcAft>
                <a:spcPts val="0"/>
              </a:spcAft>
              <a:buNone/>
            </a:pPr>
            <a:r>
              <a:rPr sz="1000" b="1">
                <a:solidFill>
                  <a:srgbClr val="16A34A"/>
                </a:solidFill>
                <a:latin typeface="Arial"/>
                <a:ea typeface="Arial"/>
                <a:cs typeface="Arial"/>
              </a:rPr>
              <a:t>✓</a:t>
            </a:r>
          </a:p>
        </p:txBody>
      </p:sp>
      <p:sp>
        <p:nvSpPr>
          <p:cNvPr id="279" name="Google Shape;279;p12">
            <a:extLst>
              <a:ext uri="{FF2B5EF4-FFF2-40B4-BE49-F238E27FC236}">
                <a16:creationId xmlns:a16="http://schemas.microsoft.com/office/drawing/2014/main" id="{65D201EB-46C5-4FC5-B8F2-2280E4D35F90}"/>
              </a:ext>
            </a:extLst>
          </p:cNvPr>
          <p:cNvSpPr>
            <a:spLocks noGrp="1"/>
          </p:cNvSpPr>
          <p:nvPr/>
        </p:nvSpPr>
        <p:spPr>
          <a:xfrm>
            <a:off x="1417320" y="3616452"/>
            <a:ext cx="4480560" cy="164592"/>
          </a:xfrm>
          <a:prstGeom prst="rect">
            <a:avLst/>
          </a:prstGeom>
          <a:noFill/>
          <a:ln>
            <a:noFill/>
          </a:ln>
        </p:spPr>
        <p:txBody>
          <a:bodyPr spcFirstLastPara="1" wrap="square" lIns="0" tIns="0" rIns="0" bIns="0" anchor="ctr">
            <a:noAutofit/>
          </a:bodyPr>
          <a:lstStyle/>
          <a:p>
            <a:pPr marL="0" indent="0" algn="l">
              <a:spcBef>
                <a:spcPts val="0"/>
              </a:spcBef>
              <a:spcAft>
                <a:spcPts val="0"/>
              </a:spcAft>
              <a:buNone/>
            </a:pPr>
            <a:r>
              <a:rPr sz="1200">
                <a:solidFill>
                  <a:srgbClr val="111827"/>
                </a:solidFill>
                <a:latin typeface="Arial"/>
                <a:ea typeface="Arial"/>
                <a:cs typeface="Arial"/>
              </a:rPr>
              <a:t>Uncertainty-region contraction is a diagnostic, not a correctness metric.</a:t>
            </a:r>
          </a:p>
        </p:txBody>
      </p:sp>
      <p:sp>
        <p:nvSpPr>
          <p:cNvPr id="280" name="Google Shape;280;p12">
            <a:extLst>
              <a:ext uri="{FF2B5EF4-FFF2-40B4-BE49-F238E27FC236}">
                <a16:creationId xmlns:a16="http://schemas.microsoft.com/office/drawing/2014/main" id="{4E43A0F8-FF7D-4D5F-B4AC-733E5088D856}"/>
              </a:ext>
            </a:extLst>
          </p:cNvPr>
          <p:cNvSpPr>
            <a:spLocks noGrp="1"/>
          </p:cNvSpPr>
          <p:nvPr/>
        </p:nvSpPr>
        <p:spPr>
          <a:xfrm>
            <a:off x="1188720" y="3977640"/>
            <a:ext cx="164592" cy="146304"/>
          </a:xfrm>
          <a:prstGeom prst="rect">
            <a:avLst/>
          </a:prstGeom>
          <a:noFill/>
          <a:ln>
            <a:noFill/>
          </a:ln>
        </p:spPr>
        <p:txBody>
          <a:bodyPr spcFirstLastPara="1" wrap="square" lIns="0" tIns="0" rIns="0" bIns="0" anchor="ctr">
            <a:noAutofit/>
          </a:bodyPr>
          <a:lstStyle/>
          <a:p>
            <a:pPr marL="0" indent="0" algn="l">
              <a:spcBef>
                <a:spcPts val="0"/>
              </a:spcBef>
              <a:spcAft>
                <a:spcPts val="0"/>
              </a:spcAft>
              <a:buNone/>
            </a:pPr>
            <a:r>
              <a:rPr sz="1000" b="1">
                <a:solidFill>
                  <a:srgbClr val="16A34A"/>
                </a:solidFill>
                <a:latin typeface="Arial"/>
                <a:ea typeface="Arial"/>
                <a:cs typeface="Arial"/>
              </a:rPr>
              <a:t>✓</a:t>
            </a:r>
          </a:p>
        </p:txBody>
      </p:sp>
      <p:sp>
        <p:nvSpPr>
          <p:cNvPr id="281" name="Google Shape;281;p12">
            <a:extLst>
              <a:ext uri="{FF2B5EF4-FFF2-40B4-BE49-F238E27FC236}">
                <a16:creationId xmlns:a16="http://schemas.microsoft.com/office/drawing/2014/main" id="{B6000917-2138-43F3-A4FD-198B490DB61B}"/>
              </a:ext>
            </a:extLst>
          </p:cNvPr>
          <p:cNvSpPr>
            <a:spLocks noGrp="1"/>
          </p:cNvSpPr>
          <p:nvPr/>
        </p:nvSpPr>
        <p:spPr>
          <a:xfrm>
            <a:off x="1417320" y="3982212"/>
            <a:ext cx="4480560" cy="164592"/>
          </a:xfrm>
          <a:prstGeom prst="rect">
            <a:avLst/>
          </a:prstGeom>
          <a:noFill/>
          <a:ln>
            <a:noFill/>
          </a:ln>
        </p:spPr>
        <p:txBody>
          <a:bodyPr spcFirstLastPara="1" wrap="square" lIns="0" tIns="0" rIns="0" bIns="0" anchor="ctr">
            <a:noAutofit/>
          </a:bodyPr>
          <a:lstStyle/>
          <a:p>
            <a:pPr marL="0" indent="0" algn="l">
              <a:spcBef>
                <a:spcPts val="0"/>
              </a:spcBef>
              <a:spcAft>
                <a:spcPts val="0"/>
              </a:spcAft>
              <a:buNone/>
            </a:pPr>
            <a:r>
              <a:rPr sz="1200">
                <a:solidFill>
                  <a:srgbClr val="111827"/>
                </a:solidFill>
                <a:latin typeface="Arial"/>
                <a:ea typeface="Arial"/>
                <a:cs typeface="Arial"/>
              </a:rPr>
              <a:t>This motivates testing the surrogate model itself, not only acquisitions.</a:t>
            </a:r>
          </a:p>
        </p:txBody>
      </p:sp>
      <p:cxnSp>
        <p:nvCxnSpPr>
          <p:cNvPr id="318" name="Google Shape;282;p12"/>
          <p:cNvCxnSpPr/>
          <p:nvPr/>
        </p:nvCxnSpPr>
        <p:spPr>
          <a:xfrm>
            <a:off x="502920" y="6446520"/>
            <a:ext cx="11201400" cy="0"/>
          </a:xfrm>
          <a:prstGeom prst="straightConnector1">
            <a:avLst/>
          </a:prstGeom>
          <a:ln w="9525" cap="flat">
            <a:solidFill>
              <a:srgbClr val="D9DEE8"/>
            </a:solidFill>
            <a:prstDash val="solid"/>
            <a:round/>
            <a:headEnd type="none" w="sm" len="sm"/>
            <a:tailEnd type="none" w="sm" len="sm"/>
          </a:ln>
        </p:spPr>
      </p:cxnSp>
      <p:sp>
        <p:nvSpPr>
          <p:cNvPr id="283" name="Google Shape;283;p12">
            <a:extLst>
              <a:ext uri="{FF2B5EF4-FFF2-40B4-BE49-F238E27FC236}">
                <a16:creationId xmlns:a16="http://schemas.microsoft.com/office/drawing/2014/main" id="{ED9CBF21-6731-44A1-824C-967B06133530}"/>
              </a:ext>
            </a:extLst>
          </p:cNvPr>
          <p:cNvSpPr>
            <a:spLocks noGrp="1"/>
          </p:cNvSpPr>
          <p:nvPr/>
        </p:nvSpPr>
        <p:spPr>
          <a:xfrm>
            <a:off x="502920" y="6519672"/>
            <a:ext cx="8961120" cy="164592"/>
          </a:xfrm>
          <a:prstGeom prst="rect">
            <a:avLst/>
          </a:prstGeom>
          <a:noFill/>
          <a:ln>
            <a:noFill/>
          </a:ln>
        </p:spPr>
        <p:txBody>
          <a:bodyPr spcFirstLastPara="1" wrap="square" lIns="0" tIns="0" rIns="0" bIns="0" anchor="ctr">
            <a:noAutofit/>
          </a:bodyPr>
          <a:lstStyle/>
          <a:p>
            <a:pPr marL="0" indent="0" algn="l">
              <a:spcBef>
                <a:spcPts val="0"/>
              </a:spcBef>
              <a:spcAft>
                <a:spcPts val="0"/>
              </a:spcAft>
              <a:buNone/>
            </a:pPr>
            <a:r>
              <a:rPr sz="780">
                <a:solidFill>
                  <a:srgbClr val="6B7280"/>
                </a:solidFill>
                <a:latin typeface="Arial"/>
                <a:ea typeface="Arial"/>
                <a:cs typeface="Arial"/>
              </a:rPr>
              <a:t>Week 3 extended update - Sample-Efficient Active Level-Set Estimation - 12</a:t>
            </a:r>
          </a:p>
        </p:txBody>
      </p:sp>
      <p:sp>
        <p:nvSpPr>
          <p:cNvPr id="284" name="Google Shape;284;p12">
            <a:extLst>
              <a:ext uri="{FF2B5EF4-FFF2-40B4-BE49-F238E27FC236}">
                <a16:creationId xmlns:a16="http://schemas.microsoft.com/office/drawing/2014/main" id="{4385F976-7178-4F02-A197-F7B128F76999}"/>
              </a:ext>
            </a:extLst>
          </p:cNvPr>
          <p:cNvSpPr>
            <a:spLocks noGrp="1"/>
          </p:cNvSpPr>
          <p:nvPr/>
        </p:nvSpPr>
        <p:spPr>
          <a:xfrm>
            <a:off x="11521440" y="6492240"/>
            <a:ext cx="228600" cy="164592"/>
          </a:xfrm>
          <a:prstGeom prst="rect">
            <a:avLst/>
          </a:prstGeom>
          <a:noFill/>
          <a:ln>
            <a:noFill/>
          </a:ln>
        </p:spPr>
        <p:txBody>
          <a:bodyPr spcFirstLastPara="1" wrap="square" lIns="0" tIns="0" rIns="0" bIns="0" anchor="ctr">
            <a:noAutofit/>
          </a:bodyPr>
          <a:lstStyle/>
          <a:p>
            <a:pPr marL="0" indent="0" algn="r">
              <a:spcBef>
                <a:spcPts val="0"/>
              </a:spcBef>
              <a:spcAft>
                <a:spcPts val="0"/>
              </a:spcAft>
              <a:buNone/>
            </a:pPr>
            <a:r>
              <a:rPr sz="780">
                <a:solidFill>
                  <a:srgbClr val="6B7280"/>
                </a:solidFill>
                <a:latin typeface="Arial"/>
                <a:ea typeface="Arial"/>
                <a:cs typeface="Arial"/>
              </a:rPr>
              <a:t>12</a:t>
            </a:r>
          </a:p>
        </p:txBody>
      </p:sp>
    </p:spTree>
    <p:extLst>
      <p:ext uri="{BB962C8B-B14F-4D97-AF65-F5344CB8AC3E}">
        <p14:creationId xmlns:p14="http://schemas.microsoft.com/office/powerpoint/2010/main" val="587659668"/>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solidFill>
          <a:srgbClr val="F6F8FC"/>
        </a:solidFill>
        <a:effectLst/>
      </p:bgPr>
    </p:bg>
    <p:spTree>
      <p:nvGrpSpPr>
        <p:cNvPr id="1" name=""/>
        <p:cNvGrpSpPr/>
        <p:nvPr/>
      </p:nvGrpSpPr>
      <p:grpSpPr>
        <a:xfrm>
          <a:off x="0" y="0"/>
          <a:ext cx="0" cy="0"/>
          <a:chOff x="0" y="0"/>
          <a:chExt cx="0" cy="0"/>
        </a:xfrm>
      </p:grpSpPr>
      <p:sp>
        <p:nvSpPr>
          <p:cNvPr id="86" name="Google Shape;86;p5">
            <a:extLst>
              <a:ext uri="{FF2B5EF4-FFF2-40B4-BE49-F238E27FC236}">
                <a16:creationId xmlns:a16="http://schemas.microsoft.com/office/drawing/2014/main" id="{21C8C200-2262-4E09-940E-215F3AE756F5}"/>
              </a:ext>
            </a:extLst>
          </p:cNvPr>
          <p:cNvSpPr>
            <a:spLocks noGrp="1"/>
          </p:cNvSpPr>
          <p:nvPr/>
        </p:nvSpPr>
        <p:spPr>
          <a:xfrm>
            <a:off x="502920" y="329184"/>
            <a:ext cx="10789920" cy="320040"/>
          </a:xfrm>
          <a:prstGeom prst="rect">
            <a:avLst/>
          </a:prstGeom>
          <a:noFill/>
          <a:ln>
            <a:noFill/>
          </a:ln>
        </p:spPr>
        <p:txBody>
          <a:bodyPr spcFirstLastPara="1" wrap="square" lIns="0" tIns="0" rIns="0" bIns="0" anchor="ctr">
            <a:noAutofit/>
          </a:bodyPr>
          <a:lstStyle/>
          <a:p>
            <a:pPr marL="0" indent="0" algn="l">
              <a:spcBef>
                <a:spcPts val="0"/>
              </a:spcBef>
              <a:spcAft>
                <a:spcPts val="0"/>
              </a:spcAft>
              <a:buNone/>
            </a:pPr>
            <a:r>
              <a:rPr sz="2200" b="1">
                <a:solidFill>
                  <a:srgbClr val="1F2A44"/>
                </a:solidFill>
                <a:latin typeface="Play"/>
                <a:ea typeface="Play"/>
                <a:cs typeface="Play"/>
              </a:rPr>
              <a:t>Switch from GP regressor to GP classifier</a:t>
            </a:r>
          </a:p>
        </p:txBody>
      </p:sp>
      <p:sp>
        <p:nvSpPr>
          <p:cNvPr id="87" name="Google Shape;87;p5">
            <a:extLst>
              <a:ext uri="{FF2B5EF4-FFF2-40B4-BE49-F238E27FC236}">
                <a16:creationId xmlns:a16="http://schemas.microsoft.com/office/drawing/2014/main" id="{38456BF3-49E5-44C1-83E7-EEB09F780601}"/>
              </a:ext>
            </a:extLst>
          </p:cNvPr>
          <p:cNvSpPr>
            <a:spLocks noGrp="1"/>
          </p:cNvSpPr>
          <p:nvPr/>
        </p:nvSpPr>
        <p:spPr>
          <a:xfrm>
            <a:off x="521208" y="713232"/>
            <a:ext cx="10515600" cy="237744"/>
          </a:xfrm>
          <a:prstGeom prst="rect">
            <a:avLst/>
          </a:prstGeom>
          <a:noFill/>
          <a:ln>
            <a:noFill/>
          </a:ln>
        </p:spPr>
        <p:txBody>
          <a:bodyPr spcFirstLastPara="1" wrap="square" lIns="0" tIns="0" rIns="0" bIns="0" anchor="ctr">
            <a:noAutofit/>
          </a:bodyPr>
          <a:lstStyle/>
          <a:p>
            <a:pPr marL="0" indent="0" algn="l">
              <a:spcBef>
                <a:spcPts val="0"/>
              </a:spcBef>
              <a:spcAft>
                <a:spcPts val="0"/>
              </a:spcAft>
              <a:buNone/>
            </a:pPr>
            <a:r>
              <a:rPr sz="1100">
                <a:solidFill>
                  <a:srgbClr val="4B5563"/>
                </a:solidFill>
                <a:latin typeface="Arial"/>
                <a:ea typeface="Arial"/>
                <a:cs typeface="Arial"/>
              </a:rPr>
              <a:t>We stopped reusing latent mu/sigma rules and used classifier-native probability scores.</a:t>
            </a:r>
          </a:p>
        </p:txBody>
      </p:sp>
      <p:sp>
        <p:nvSpPr>
          <p:cNvPr id="88" name="Google Shape;88;p5">
            <a:extLst>
              <a:ext uri="{FF2B5EF4-FFF2-40B4-BE49-F238E27FC236}">
                <a16:creationId xmlns:a16="http://schemas.microsoft.com/office/drawing/2014/main" id="{3D08A1E3-615E-4825-8C75-62B5CAA6D0F8}"/>
              </a:ext>
            </a:extLst>
          </p:cNvPr>
          <p:cNvSpPr>
            <a:spLocks noGrp="1"/>
          </p:cNvSpPr>
          <p:nvPr/>
        </p:nvSpPr>
        <p:spPr>
          <a:xfrm>
            <a:off x="685800" y="1143000"/>
            <a:ext cx="5074920" cy="1078992"/>
          </a:xfrm>
          <a:prstGeom prst="roundRect">
            <a:avLst>
              <a:gd name="adj" fmla="val 7627"/>
            </a:avLst>
          </a:prstGeom>
          <a:solidFill>
            <a:srgbClr val="FFFFFF"/>
          </a:solidFill>
          <a:ln w="10150" cmpd="sng">
            <a:solidFill>
              <a:srgbClr val="6B7280"/>
            </a:solidFill>
            <a:prstDash val="solid"/>
            <a:headEnd type="none" w="sm" len="sm"/>
            <a:tailEnd type="none" w="sm" len="sm"/>
          </a:ln>
        </p:spPr>
        <p:txBody>
          <a:bodyPr spcFirstLastPara="1" wrap="square" lIns="91425" tIns="45700" rIns="91425" bIns="45700" anchor="t">
            <a:noAutofit/>
          </a:bodyPr>
          <a:lstStyle/>
          <a:p>
            <a:pPr marL="0" indent="0" algn="l">
              <a:spcBef>
                <a:spcPts val="0"/>
              </a:spcBef>
              <a:spcAft>
                <a:spcPts val="0"/>
              </a:spcAft>
              <a:buNone/>
            </a:pPr>
            <a:endParaRPr/>
          </a:p>
        </p:txBody>
      </p:sp>
      <p:sp>
        <p:nvSpPr>
          <p:cNvPr id="89" name="Google Shape;89;p5">
            <a:extLst>
              <a:ext uri="{FF2B5EF4-FFF2-40B4-BE49-F238E27FC236}">
                <a16:creationId xmlns:a16="http://schemas.microsoft.com/office/drawing/2014/main" id="{4F23AE5D-F756-4BE9-8C6E-B9717B552324}"/>
              </a:ext>
            </a:extLst>
          </p:cNvPr>
          <p:cNvSpPr>
            <a:spLocks noGrp="1"/>
          </p:cNvSpPr>
          <p:nvPr/>
        </p:nvSpPr>
        <p:spPr>
          <a:xfrm>
            <a:off x="850392" y="1280160"/>
            <a:ext cx="2011680" cy="164592"/>
          </a:xfrm>
          <a:prstGeom prst="rect">
            <a:avLst/>
          </a:prstGeom>
          <a:noFill/>
          <a:ln>
            <a:noFill/>
          </a:ln>
        </p:spPr>
        <p:txBody>
          <a:bodyPr spcFirstLastPara="1" wrap="square" lIns="0" tIns="0" rIns="0" bIns="0" anchor="ctr">
            <a:noAutofit/>
          </a:bodyPr>
          <a:lstStyle/>
          <a:p>
            <a:pPr marL="0" indent="0" algn="l">
              <a:spcBef>
                <a:spcPts val="0"/>
              </a:spcBef>
              <a:spcAft>
                <a:spcPts val="0"/>
              </a:spcAft>
              <a:buNone/>
            </a:pPr>
            <a:r>
              <a:rPr sz="1100" b="1">
                <a:solidFill>
                  <a:srgbClr val="6B7280"/>
                </a:solidFill>
                <a:latin typeface="Arial"/>
                <a:ea typeface="Arial"/>
                <a:cs typeface="Arial"/>
              </a:rPr>
              <a:t>GPC</a:t>
            </a:r>
          </a:p>
        </p:txBody>
      </p:sp>
      <p:sp>
        <p:nvSpPr>
          <p:cNvPr id="90" name="Google Shape;90;p5">
            <a:extLst>
              <a:ext uri="{FF2B5EF4-FFF2-40B4-BE49-F238E27FC236}">
                <a16:creationId xmlns:a16="http://schemas.microsoft.com/office/drawing/2014/main" id="{CA1A4BB2-F370-4162-A481-BEA25705AD0A}"/>
              </a:ext>
            </a:extLst>
          </p:cNvPr>
          <p:cNvSpPr>
            <a:spLocks noGrp="1"/>
          </p:cNvSpPr>
          <p:nvPr/>
        </p:nvSpPr>
        <p:spPr>
          <a:xfrm>
            <a:off x="850392" y="1563624"/>
            <a:ext cx="4745736" cy="182880"/>
          </a:xfrm>
          <a:prstGeom prst="rect">
            <a:avLst/>
          </a:prstGeom>
          <a:noFill/>
          <a:ln>
            <a:noFill/>
          </a:ln>
        </p:spPr>
        <p:txBody>
          <a:bodyPr spcFirstLastPara="1" wrap="square" lIns="0" tIns="0" rIns="0" bIns="0" anchor="ctr">
            <a:noAutofit/>
          </a:bodyPr>
          <a:lstStyle/>
          <a:p>
            <a:pPr marL="0" indent="0" algn="l">
              <a:spcBef>
                <a:spcPts val="0"/>
              </a:spcBef>
              <a:spcAft>
                <a:spcPts val="0"/>
              </a:spcAft>
              <a:buNone/>
            </a:pPr>
            <a:r>
              <a:rPr sz="1000" b="1">
                <a:solidFill>
                  <a:srgbClr val="1F2A44"/>
                </a:solidFill>
                <a:latin typeface="Arial"/>
                <a:ea typeface="Arial"/>
                <a:cs typeface="Arial"/>
              </a:rPr>
              <a:t>Gaussian Process Classifier</a:t>
            </a:r>
          </a:p>
        </p:txBody>
      </p:sp>
      <p:sp>
        <p:nvSpPr>
          <p:cNvPr id="91" name="Google Shape;91;p5">
            <a:extLst>
              <a:ext uri="{FF2B5EF4-FFF2-40B4-BE49-F238E27FC236}">
                <a16:creationId xmlns:a16="http://schemas.microsoft.com/office/drawing/2014/main" id="{FE3A580B-D4CC-40F6-8529-BA35255430F0}"/>
              </a:ext>
            </a:extLst>
          </p:cNvPr>
          <p:cNvSpPr>
            <a:spLocks noGrp="1"/>
          </p:cNvSpPr>
          <p:nvPr/>
        </p:nvSpPr>
        <p:spPr>
          <a:xfrm>
            <a:off x="850392" y="1856232"/>
            <a:ext cx="4745736" cy="201168"/>
          </a:xfrm>
          <a:prstGeom prst="rect">
            <a:avLst/>
          </a:prstGeom>
          <a:noFill/>
          <a:ln>
            <a:noFill/>
          </a:ln>
        </p:spPr>
        <p:txBody>
          <a:bodyPr spcFirstLastPara="1" wrap="square" lIns="0" tIns="0" rIns="0" bIns="0" anchor="ctr">
            <a:noAutofit/>
          </a:bodyPr>
          <a:lstStyle/>
          <a:p>
            <a:pPr marL="0" indent="0" algn="l">
              <a:spcBef>
                <a:spcPts val="0"/>
              </a:spcBef>
              <a:spcAft>
                <a:spcPts val="0"/>
              </a:spcAft>
              <a:buNone/>
            </a:pPr>
            <a:r>
              <a:rPr sz="1050">
                <a:solidFill>
                  <a:srgbClr val="4B5563"/>
                </a:solidFill>
                <a:latin typeface="Arial"/>
                <a:ea typeface="Arial"/>
                <a:cs typeface="Arial"/>
              </a:rPr>
              <a:t>Models p(y=+1 | x) for binary labels.</a:t>
            </a:r>
          </a:p>
        </p:txBody>
      </p:sp>
      <p:sp>
        <p:nvSpPr>
          <p:cNvPr id="92" name="Google Shape;92;p5">
            <a:extLst>
              <a:ext uri="{FF2B5EF4-FFF2-40B4-BE49-F238E27FC236}">
                <a16:creationId xmlns:a16="http://schemas.microsoft.com/office/drawing/2014/main" id="{3F901FB6-3614-4CA8-8BEA-952CEE136113}"/>
              </a:ext>
            </a:extLst>
          </p:cNvPr>
          <p:cNvSpPr>
            <a:spLocks noGrp="1"/>
          </p:cNvSpPr>
          <p:nvPr/>
        </p:nvSpPr>
        <p:spPr>
          <a:xfrm>
            <a:off x="6217920" y="1143000"/>
            <a:ext cx="5074920" cy="1078992"/>
          </a:xfrm>
          <a:prstGeom prst="roundRect">
            <a:avLst>
              <a:gd name="adj" fmla="val 7627"/>
            </a:avLst>
          </a:prstGeom>
          <a:solidFill>
            <a:srgbClr val="EEF4FF"/>
          </a:solidFill>
          <a:ln w="10150" cmpd="sng">
            <a:solidFill>
              <a:srgbClr val="2B6CB0"/>
            </a:solidFill>
            <a:prstDash val="solid"/>
            <a:headEnd type="none" w="sm" len="sm"/>
            <a:tailEnd type="none" w="sm" len="sm"/>
          </a:ln>
        </p:spPr>
        <p:txBody>
          <a:bodyPr spcFirstLastPara="1" wrap="square" lIns="91425" tIns="45700" rIns="91425" bIns="45700" anchor="t">
            <a:noAutofit/>
          </a:bodyPr>
          <a:lstStyle/>
          <a:p>
            <a:pPr marL="0" indent="0" algn="l">
              <a:spcBef>
                <a:spcPts val="0"/>
              </a:spcBef>
              <a:spcAft>
                <a:spcPts val="0"/>
              </a:spcAft>
              <a:buNone/>
            </a:pPr>
            <a:endParaRPr/>
          </a:p>
        </p:txBody>
      </p:sp>
      <p:sp>
        <p:nvSpPr>
          <p:cNvPr id="93" name="Google Shape;93;p5">
            <a:extLst>
              <a:ext uri="{FF2B5EF4-FFF2-40B4-BE49-F238E27FC236}">
                <a16:creationId xmlns:a16="http://schemas.microsoft.com/office/drawing/2014/main" id="{3D65413E-90DA-4154-94C3-B2D5E69621CC}"/>
              </a:ext>
            </a:extLst>
          </p:cNvPr>
          <p:cNvSpPr>
            <a:spLocks noGrp="1"/>
          </p:cNvSpPr>
          <p:nvPr/>
        </p:nvSpPr>
        <p:spPr>
          <a:xfrm>
            <a:off x="6382512" y="1280160"/>
            <a:ext cx="2011680" cy="164592"/>
          </a:xfrm>
          <a:prstGeom prst="rect">
            <a:avLst/>
          </a:prstGeom>
          <a:noFill/>
          <a:ln>
            <a:noFill/>
          </a:ln>
        </p:spPr>
        <p:txBody>
          <a:bodyPr spcFirstLastPara="1" wrap="square" lIns="0" tIns="0" rIns="0" bIns="0" anchor="ctr">
            <a:noAutofit/>
          </a:bodyPr>
          <a:lstStyle/>
          <a:p>
            <a:pPr marL="0" indent="0" algn="l">
              <a:spcBef>
                <a:spcPts val="0"/>
              </a:spcBef>
              <a:spcAft>
                <a:spcPts val="0"/>
              </a:spcAft>
              <a:buNone/>
            </a:pPr>
            <a:r>
              <a:rPr sz="1100" b="1">
                <a:solidFill>
                  <a:srgbClr val="2B6CB0"/>
                </a:solidFill>
                <a:latin typeface="Arial"/>
                <a:ea typeface="Arial"/>
                <a:cs typeface="Arial"/>
              </a:rPr>
              <a:t>GPR</a:t>
            </a:r>
          </a:p>
        </p:txBody>
      </p:sp>
      <p:sp>
        <p:nvSpPr>
          <p:cNvPr id="94" name="Google Shape;94;p5">
            <a:extLst>
              <a:ext uri="{FF2B5EF4-FFF2-40B4-BE49-F238E27FC236}">
                <a16:creationId xmlns:a16="http://schemas.microsoft.com/office/drawing/2014/main" id="{8113698C-6356-44FE-92B9-75FE445F27BC}"/>
              </a:ext>
            </a:extLst>
          </p:cNvPr>
          <p:cNvSpPr>
            <a:spLocks noGrp="1"/>
          </p:cNvSpPr>
          <p:nvPr/>
        </p:nvSpPr>
        <p:spPr>
          <a:xfrm>
            <a:off x="6382512" y="1563624"/>
            <a:ext cx="4745736" cy="182880"/>
          </a:xfrm>
          <a:prstGeom prst="rect">
            <a:avLst/>
          </a:prstGeom>
          <a:noFill/>
          <a:ln>
            <a:noFill/>
          </a:ln>
        </p:spPr>
        <p:txBody>
          <a:bodyPr spcFirstLastPara="1" wrap="square" lIns="0" tIns="0" rIns="0" bIns="0" anchor="ctr">
            <a:noAutofit/>
          </a:bodyPr>
          <a:lstStyle/>
          <a:p>
            <a:pPr marL="0" indent="0" algn="l">
              <a:spcBef>
                <a:spcPts val="0"/>
              </a:spcBef>
              <a:spcAft>
                <a:spcPts val="0"/>
              </a:spcAft>
              <a:buNone/>
            </a:pPr>
            <a:r>
              <a:rPr sz="1000" b="1">
                <a:solidFill>
                  <a:srgbClr val="1F2A44"/>
                </a:solidFill>
                <a:latin typeface="Arial"/>
                <a:ea typeface="Arial"/>
                <a:cs typeface="Arial"/>
              </a:rPr>
              <a:t>Gaussian Process Regressor</a:t>
            </a:r>
          </a:p>
        </p:txBody>
      </p:sp>
      <p:sp>
        <p:nvSpPr>
          <p:cNvPr id="95" name="Google Shape;95;p5">
            <a:extLst>
              <a:ext uri="{FF2B5EF4-FFF2-40B4-BE49-F238E27FC236}">
                <a16:creationId xmlns:a16="http://schemas.microsoft.com/office/drawing/2014/main" id="{98C8B8DD-BD7B-45A6-8DAB-128D2DBEB716}"/>
              </a:ext>
            </a:extLst>
          </p:cNvPr>
          <p:cNvSpPr>
            <a:spLocks noGrp="1"/>
          </p:cNvSpPr>
          <p:nvPr/>
        </p:nvSpPr>
        <p:spPr>
          <a:xfrm>
            <a:off x="6382512" y="1856232"/>
            <a:ext cx="4745736" cy="201168"/>
          </a:xfrm>
          <a:prstGeom prst="rect">
            <a:avLst/>
          </a:prstGeom>
          <a:noFill/>
          <a:ln>
            <a:noFill/>
          </a:ln>
        </p:spPr>
        <p:txBody>
          <a:bodyPr spcFirstLastPara="1" wrap="square" lIns="0" tIns="0" rIns="0" bIns="0" anchor="ctr">
            <a:noAutofit/>
          </a:bodyPr>
          <a:lstStyle/>
          <a:p>
            <a:pPr marL="0" indent="0" algn="l">
              <a:spcBef>
                <a:spcPts val="0"/>
              </a:spcBef>
              <a:spcAft>
                <a:spcPts val="0"/>
              </a:spcAft>
              <a:buNone/>
            </a:pPr>
            <a:r>
              <a:rPr sz="1050">
                <a:solidFill>
                  <a:srgbClr val="4B5563"/>
                </a:solidFill>
                <a:latin typeface="Arial"/>
                <a:ea typeface="Arial"/>
                <a:cs typeface="Arial"/>
              </a:rPr>
              <a:t>Models latent mu/sigma boundary surface.</a:t>
            </a:r>
          </a:p>
        </p:txBody>
      </p:sp>
      <p:sp>
        <p:nvSpPr>
          <p:cNvPr id="96" name="Google Shape;96;p5">
            <a:extLst>
              <a:ext uri="{FF2B5EF4-FFF2-40B4-BE49-F238E27FC236}">
                <a16:creationId xmlns:a16="http://schemas.microsoft.com/office/drawing/2014/main" id="{CAE310D4-17EF-4D84-BD6B-754E1F666866}"/>
              </a:ext>
            </a:extLst>
          </p:cNvPr>
          <p:cNvSpPr>
            <a:spLocks noGrp="1"/>
          </p:cNvSpPr>
          <p:nvPr/>
        </p:nvSpPr>
        <p:spPr>
          <a:xfrm>
            <a:off x="685800" y="2496312"/>
            <a:ext cx="5074920" cy="1078992"/>
          </a:xfrm>
          <a:prstGeom prst="roundRect">
            <a:avLst>
              <a:gd name="adj" fmla="val 7627"/>
            </a:avLst>
          </a:prstGeom>
          <a:solidFill>
            <a:srgbClr val="ECFDF5"/>
          </a:solidFill>
          <a:ln w="10150" cmpd="sng">
            <a:solidFill>
              <a:srgbClr val="0F8B61"/>
            </a:solidFill>
            <a:prstDash val="solid"/>
            <a:headEnd type="none" w="sm" len="sm"/>
            <a:tailEnd type="none" w="sm" len="sm"/>
          </a:ln>
        </p:spPr>
        <p:txBody>
          <a:bodyPr spcFirstLastPara="1" wrap="square" lIns="91425" tIns="45700" rIns="91425" bIns="45700" anchor="t">
            <a:noAutofit/>
          </a:bodyPr>
          <a:lstStyle/>
          <a:p>
            <a:pPr marL="0" indent="0" algn="l">
              <a:spcBef>
                <a:spcPts val="0"/>
              </a:spcBef>
              <a:spcAft>
                <a:spcPts val="0"/>
              </a:spcAft>
              <a:buNone/>
            </a:pPr>
            <a:endParaRPr/>
          </a:p>
        </p:txBody>
      </p:sp>
      <p:sp>
        <p:nvSpPr>
          <p:cNvPr id="97" name="Google Shape;97;p5">
            <a:extLst>
              <a:ext uri="{FF2B5EF4-FFF2-40B4-BE49-F238E27FC236}">
                <a16:creationId xmlns:a16="http://schemas.microsoft.com/office/drawing/2014/main" id="{0910705E-0C6A-44CD-B3B7-4992648176E3}"/>
              </a:ext>
            </a:extLst>
          </p:cNvPr>
          <p:cNvSpPr>
            <a:spLocks noGrp="1"/>
          </p:cNvSpPr>
          <p:nvPr/>
        </p:nvSpPr>
        <p:spPr>
          <a:xfrm>
            <a:off x="850392" y="2633472"/>
            <a:ext cx="2011680" cy="164592"/>
          </a:xfrm>
          <a:prstGeom prst="rect">
            <a:avLst/>
          </a:prstGeom>
          <a:noFill/>
          <a:ln>
            <a:noFill/>
          </a:ln>
        </p:spPr>
        <p:txBody>
          <a:bodyPr spcFirstLastPara="1" wrap="square" lIns="0" tIns="0" rIns="0" bIns="0" anchor="ctr">
            <a:noAutofit/>
          </a:bodyPr>
          <a:lstStyle/>
          <a:p>
            <a:pPr marL="0" indent="0" algn="l">
              <a:spcBef>
                <a:spcPts val="0"/>
              </a:spcBef>
              <a:spcAft>
                <a:spcPts val="0"/>
              </a:spcAft>
              <a:buNone/>
            </a:pPr>
            <a:r>
              <a:rPr sz="1100" b="1">
                <a:solidFill>
                  <a:srgbClr val="0F8B61"/>
                </a:solidFill>
                <a:latin typeface="Arial"/>
                <a:ea typeface="Arial"/>
                <a:cs typeface="Arial"/>
              </a:rPr>
              <a:t>Margin</a:t>
            </a:r>
          </a:p>
        </p:txBody>
      </p:sp>
      <p:sp>
        <p:nvSpPr>
          <p:cNvPr id="98" name="Google Shape;98;p5">
            <a:extLst>
              <a:ext uri="{FF2B5EF4-FFF2-40B4-BE49-F238E27FC236}">
                <a16:creationId xmlns:a16="http://schemas.microsoft.com/office/drawing/2014/main" id="{7EAA1501-C90C-4994-B0C2-33C943391546}"/>
              </a:ext>
            </a:extLst>
          </p:cNvPr>
          <p:cNvSpPr>
            <a:spLocks noGrp="1"/>
          </p:cNvSpPr>
          <p:nvPr/>
        </p:nvSpPr>
        <p:spPr>
          <a:xfrm>
            <a:off x="850392" y="2916936"/>
            <a:ext cx="4745736" cy="182880"/>
          </a:xfrm>
          <a:prstGeom prst="rect">
            <a:avLst/>
          </a:prstGeom>
          <a:noFill/>
          <a:ln>
            <a:noFill/>
          </a:ln>
        </p:spPr>
        <p:txBody>
          <a:bodyPr spcFirstLastPara="1" wrap="square" lIns="0" tIns="0" rIns="0" bIns="0" anchor="ctr">
            <a:noAutofit/>
          </a:bodyPr>
          <a:lstStyle/>
          <a:p>
            <a:pPr marL="0" indent="0" algn="l">
              <a:spcBef>
                <a:spcPts val="0"/>
              </a:spcBef>
              <a:spcAft>
                <a:spcPts val="0"/>
              </a:spcAft>
              <a:buNone/>
            </a:pPr>
            <a:r>
              <a:rPr sz="1000" b="1">
                <a:solidFill>
                  <a:srgbClr val="1F2A44"/>
                </a:solidFill>
                <a:latin typeface="Arial"/>
                <a:ea typeface="Arial"/>
                <a:cs typeface="Arial"/>
              </a:rPr>
              <a:t>score = -abs(p - 0.5)</a:t>
            </a:r>
          </a:p>
        </p:txBody>
      </p:sp>
      <p:sp>
        <p:nvSpPr>
          <p:cNvPr id="99" name="Google Shape;99;p5">
            <a:extLst>
              <a:ext uri="{FF2B5EF4-FFF2-40B4-BE49-F238E27FC236}">
                <a16:creationId xmlns:a16="http://schemas.microsoft.com/office/drawing/2014/main" id="{CAAB4CFC-0E42-48D3-8DA6-4CAC2C32769C}"/>
              </a:ext>
            </a:extLst>
          </p:cNvPr>
          <p:cNvSpPr>
            <a:spLocks noGrp="1"/>
          </p:cNvSpPr>
          <p:nvPr/>
        </p:nvSpPr>
        <p:spPr>
          <a:xfrm>
            <a:off x="850392" y="3209544"/>
            <a:ext cx="4745736" cy="201168"/>
          </a:xfrm>
          <a:prstGeom prst="rect">
            <a:avLst/>
          </a:prstGeom>
          <a:noFill/>
          <a:ln>
            <a:noFill/>
          </a:ln>
        </p:spPr>
        <p:txBody>
          <a:bodyPr spcFirstLastPara="1" wrap="square" lIns="0" tIns="0" rIns="0" bIns="0" anchor="ctr">
            <a:noAutofit/>
          </a:bodyPr>
          <a:lstStyle/>
          <a:p>
            <a:pPr marL="0" indent="0" algn="l">
              <a:spcBef>
                <a:spcPts val="0"/>
              </a:spcBef>
              <a:spcAft>
                <a:spcPts val="0"/>
              </a:spcAft>
              <a:buNone/>
            </a:pPr>
            <a:r>
              <a:rPr sz="1050">
                <a:solidFill>
                  <a:srgbClr val="4B5563"/>
                </a:solidFill>
                <a:latin typeface="Arial"/>
                <a:ea typeface="Arial"/>
                <a:cs typeface="Arial"/>
              </a:rPr>
              <a:t>Queries near class probability 0.5.</a:t>
            </a:r>
          </a:p>
        </p:txBody>
      </p:sp>
      <p:sp>
        <p:nvSpPr>
          <p:cNvPr id="100" name="Google Shape;100;p5">
            <a:extLst>
              <a:ext uri="{FF2B5EF4-FFF2-40B4-BE49-F238E27FC236}">
                <a16:creationId xmlns:a16="http://schemas.microsoft.com/office/drawing/2014/main" id="{A6B1E0ED-FE05-4936-B4B4-BC1C77C7D4E1}"/>
              </a:ext>
            </a:extLst>
          </p:cNvPr>
          <p:cNvSpPr>
            <a:spLocks noGrp="1"/>
          </p:cNvSpPr>
          <p:nvPr/>
        </p:nvSpPr>
        <p:spPr>
          <a:xfrm>
            <a:off x="6217920" y="2496312"/>
            <a:ext cx="5074920" cy="1078992"/>
          </a:xfrm>
          <a:prstGeom prst="roundRect">
            <a:avLst>
              <a:gd name="adj" fmla="val 7627"/>
            </a:avLst>
          </a:prstGeom>
          <a:solidFill>
            <a:srgbClr val="FFF7ED"/>
          </a:solidFill>
          <a:ln w="10150" cmpd="sng">
            <a:solidFill>
              <a:srgbClr val="B7791F"/>
            </a:solidFill>
            <a:prstDash val="solid"/>
            <a:headEnd type="none" w="sm" len="sm"/>
            <a:tailEnd type="none" w="sm" len="sm"/>
          </a:ln>
        </p:spPr>
        <p:txBody>
          <a:bodyPr spcFirstLastPara="1" wrap="square" lIns="91425" tIns="45700" rIns="91425" bIns="45700" anchor="t">
            <a:noAutofit/>
          </a:bodyPr>
          <a:lstStyle/>
          <a:p>
            <a:pPr marL="0" indent="0" algn="l">
              <a:spcBef>
                <a:spcPts val="0"/>
              </a:spcBef>
              <a:spcAft>
                <a:spcPts val="0"/>
              </a:spcAft>
              <a:buNone/>
            </a:pPr>
            <a:endParaRPr/>
          </a:p>
        </p:txBody>
      </p:sp>
      <p:sp>
        <p:nvSpPr>
          <p:cNvPr id="101" name="Google Shape;101;p5">
            <a:extLst>
              <a:ext uri="{FF2B5EF4-FFF2-40B4-BE49-F238E27FC236}">
                <a16:creationId xmlns:a16="http://schemas.microsoft.com/office/drawing/2014/main" id="{20FB2D6E-08DB-42DA-A51A-195FC28A7535}"/>
              </a:ext>
            </a:extLst>
          </p:cNvPr>
          <p:cNvSpPr>
            <a:spLocks noGrp="1"/>
          </p:cNvSpPr>
          <p:nvPr/>
        </p:nvSpPr>
        <p:spPr>
          <a:xfrm>
            <a:off x="6382512" y="2633472"/>
            <a:ext cx="2011680" cy="164592"/>
          </a:xfrm>
          <a:prstGeom prst="rect">
            <a:avLst/>
          </a:prstGeom>
          <a:noFill/>
          <a:ln>
            <a:noFill/>
          </a:ln>
        </p:spPr>
        <p:txBody>
          <a:bodyPr spcFirstLastPara="1" wrap="square" lIns="0" tIns="0" rIns="0" bIns="0" anchor="ctr">
            <a:noAutofit/>
          </a:bodyPr>
          <a:lstStyle/>
          <a:p>
            <a:pPr marL="0" indent="0" algn="l">
              <a:spcBef>
                <a:spcPts val="0"/>
              </a:spcBef>
              <a:spcAft>
                <a:spcPts val="0"/>
              </a:spcAft>
              <a:buNone/>
            </a:pPr>
            <a:r>
              <a:rPr sz="1100" b="1">
                <a:solidFill>
                  <a:srgbClr val="B7791F"/>
                </a:solidFill>
                <a:latin typeface="Arial"/>
                <a:ea typeface="Arial"/>
                <a:cs typeface="Arial"/>
              </a:rPr>
              <a:t>Entropy</a:t>
            </a:r>
          </a:p>
        </p:txBody>
      </p:sp>
      <p:sp>
        <p:nvSpPr>
          <p:cNvPr id="102" name="Google Shape;102;p5">
            <a:extLst>
              <a:ext uri="{FF2B5EF4-FFF2-40B4-BE49-F238E27FC236}">
                <a16:creationId xmlns:a16="http://schemas.microsoft.com/office/drawing/2014/main" id="{467C5FEC-836A-4936-9D21-6A15F057DA94}"/>
              </a:ext>
            </a:extLst>
          </p:cNvPr>
          <p:cNvSpPr>
            <a:spLocks noGrp="1"/>
          </p:cNvSpPr>
          <p:nvPr/>
        </p:nvSpPr>
        <p:spPr>
          <a:xfrm>
            <a:off x="6382512" y="2916936"/>
            <a:ext cx="4745736" cy="182880"/>
          </a:xfrm>
          <a:prstGeom prst="rect">
            <a:avLst/>
          </a:prstGeom>
          <a:noFill/>
          <a:ln>
            <a:noFill/>
          </a:ln>
        </p:spPr>
        <p:txBody>
          <a:bodyPr spcFirstLastPara="1" wrap="square" lIns="0" tIns="0" rIns="0" bIns="0" anchor="ctr">
            <a:noAutofit/>
          </a:bodyPr>
          <a:lstStyle/>
          <a:p>
            <a:pPr marL="0" indent="0" algn="l">
              <a:spcBef>
                <a:spcPts val="0"/>
              </a:spcBef>
              <a:spcAft>
                <a:spcPts val="0"/>
              </a:spcAft>
              <a:buNone/>
            </a:pPr>
            <a:r>
              <a:rPr sz="1000" b="1">
                <a:solidFill>
                  <a:srgbClr val="1F2A44"/>
                </a:solidFill>
                <a:latin typeface="Arial"/>
                <a:ea typeface="Arial"/>
                <a:cs typeface="Arial"/>
              </a:rPr>
              <a:t>-p log p - (1-p) log(1-p)</a:t>
            </a:r>
          </a:p>
        </p:txBody>
      </p:sp>
      <p:sp>
        <p:nvSpPr>
          <p:cNvPr id="103" name="Google Shape;103;p5">
            <a:extLst>
              <a:ext uri="{FF2B5EF4-FFF2-40B4-BE49-F238E27FC236}">
                <a16:creationId xmlns:a16="http://schemas.microsoft.com/office/drawing/2014/main" id="{8A25AEC7-C1D1-4280-871D-59AC458040B0}"/>
              </a:ext>
            </a:extLst>
          </p:cNvPr>
          <p:cNvSpPr>
            <a:spLocks noGrp="1"/>
          </p:cNvSpPr>
          <p:nvPr/>
        </p:nvSpPr>
        <p:spPr>
          <a:xfrm>
            <a:off x="6382512" y="3209544"/>
            <a:ext cx="4745736" cy="201168"/>
          </a:xfrm>
          <a:prstGeom prst="rect">
            <a:avLst/>
          </a:prstGeom>
          <a:noFill/>
          <a:ln>
            <a:noFill/>
          </a:ln>
        </p:spPr>
        <p:txBody>
          <a:bodyPr spcFirstLastPara="1" wrap="square" lIns="0" tIns="0" rIns="0" bIns="0" anchor="ctr">
            <a:noAutofit/>
          </a:bodyPr>
          <a:lstStyle/>
          <a:p>
            <a:pPr marL="0" indent="0" algn="l">
              <a:spcBef>
                <a:spcPts val="0"/>
              </a:spcBef>
              <a:spcAft>
                <a:spcPts val="0"/>
              </a:spcAft>
              <a:buNone/>
            </a:pPr>
            <a:r>
              <a:rPr sz="1050">
                <a:solidFill>
                  <a:srgbClr val="4B5563"/>
                </a:solidFill>
                <a:latin typeface="Arial"/>
                <a:ea typeface="Arial"/>
                <a:cs typeface="Arial"/>
              </a:rPr>
              <a:t>Highest at p=0.5; sanity-check uncertainty rule.</a:t>
            </a:r>
          </a:p>
        </p:txBody>
      </p:sp>
      <p:sp>
        <p:nvSpPr>
          <p:cNvPr id="104" name="Google Shape;104;p5">
            <a:extLst>
              <a:ext uri="{FF2B5EF4-FFF2-40B4-BE49-F238E27FC236}">
                <a16:creationId xmlns:a16="http://schemas.microsoft.com/office/drawing/2014/main" id="{4FD3BF2C-ADEB-466B-8D26-16F09BA33CDA}"/>
              </a:ext>
            </a:extLst>
          </p:cNvPr>
          <p:cNvSpPr>
            <a:spLocks noGrp="1"/>
          </p:cNvSpPr>
          <p:nvPr/>
        </p:nvSpPr>
        <p:spPr>
          <a:xfrm>
            <a:off x="685800" y="3849624"/>
            <a:ext cx="11064240" cy="1078992"/>
          </a:xfrm>
          <a:prstGeom prst="roundRect">
            <a:avLst>
              <a:gd name="adj" fmla="val 7627"/>
            </a:avLst>
          </a:prstGeom>
          <a:solidFill>
            <a:srgbClr val="FFF1F2"/>
          </a:solidFill>
          <a:ln w="10150" cmpd="sng">
            <a:solidFill>
              <a:srgbClr val="9F1239"/>
            </a:solidFill>
            <a:prstDash val="solid"/>
            <a:headEnd type="none" w="sm" len="sm"/>
            <a:tailEnd type="none" w="sm" len="sm"/>
          </a:ln>
        </p:spPr>
        <p:txBody>
          <a:bodyPr spcFirstLastPara="1" wrap="square" lIns="91425" tIns="45700" rIns="91425" bIns="45700" anchor="t">
            <a:noAutofit/>
          </a:bodyPr>
          <a:lstStyle/>
          <a:p>
            <a:pPr marL="0" indent="0" algn="l">
              <a:spcBef>
                <a:spcPts val="0"/>
              </a:spcBef>
              <a:spcAft>
                <a:spcPts val="0"/>
              </a:spcAft>
              <a:buNone/>
            </a:pPr>
            <a:endParaRPr/>
          </a:p>
        </p:txBody>
      </p:sp>
      <p:sp>
        <p:nvSpPr>
          <p:cNvPr id="105" name="Google Shape;105;p5">
            <a:extLst>
              <a:ext uri="{FF2B5EF4-FFF2-40B4-BE49-F238E27FC236}">
                <a16:creationId xmlns:a16="http://schemas.microsoft.com/office/drawing/2014/main" id="{A053C947-5D6B-4D7E-B4A5-F8854FBD7E3F}"/>
              </a:ext>
            </a:extLst>
          </p:cNvPr>
          <p:cNvSpPr>
            <a:spLocks noGrp="1"/>
          </p:cNvSpPr>
          <p:nvPr/>
        </p:nvSpPr>
        <p:spPr>
          <a:xfrm>
            <a:off x="850392" y="3986784"/>
            <a:ext cx="2011680" cy="164592"/>
          </a:xfrm>
          <a:prstGeom prst="rect">
            <a:avLst/>
          </a:prstGeom>
          <a:noFill/>
          <a:ln>
            <a:noFill/>
          </a:ln>
        </p:spPr>
        <p:txBody>
          <a:bodyPr spcFirstLastPara="1" wrap="square" lIns="0" tIns="0" rIns="0" bIns="0" anchor="ctr">
            <a:noAutofit/>
          </a:bodyPr>
          <a:lstStyle/>
          <a:p>
            <a:pPr marL="0" indent="0" algn="l">
              <a:spcBef>
                <a:spcPts val="0"/>
              </a:spcBef>
              <a:spcAft>
                <a:spcPts val="0"/>
              </a:spcAft>
              <a:buNone/>
            </a:pPr>
            <a:r>
              <a:rPr sz="1100" b="1">
                <a:solidFill>
                  <a:srgbClr val="9F1239"/>
                </a:solidFill>
                <a:latin typeface="Arial"/>
                <a:ea typeface="Arial"/>
                <a:cs typeface="Arial"/>
              </a:rPr>
              <a:t>Repulsion</a:t>
            </a:r>
          </a:p>
        </p:txBody>
      </p:sp>
      <p:sp>
        <p:nvSpPr>
          <p:cNvPr id="106" name="Google Shape;106;p5">
            <a:extLst>
              <a:ext uri="{FF2B5EF4-FFF2-40B4-BE49-F238E27FC236}">
                <a16:creationId xmlns:a16="http://schemas.microsoft.com/office/drawing/2014/main" id="{BB4C1F66-F85C-4746-9EBB-269E7BD1339C}"/>
              </a:ext>
            </a:extLst>
          </p:cNvPr>
          <p:cNvSpPr>
            <a:spLocks noGrp="1"/>
          </p:cNvSpPr>
          <p:nvPr/>
        </p:nvSpPr>
        <p:spPr>
          <a:xfrm>
            <a:off x="850392" y="4270248"/>
            <a:ext cx="10735056" cy="182880"/>
          </a:xfrm>
          <a:prstGeom prst="rect">
            <a:avLst/>
          </a:prstGeom>
          <a:noFill/>
          <a:ln>
            <a:noFill/>
          </a:ln>
        </p:spPr>
        <p:txBody>
          <a:bodyPr spcFirstLastPara="1" wrap="square" lIns="0" tIns="0" rIns="0" bIns="0" anchor="ctr">
            <a:noAutofit/>
          </a:bodyPr>
          <a:lstStyle/>
          <a:p>
            <a:pPr marL="0" indent="0" algn="l">
              <a:spcBef>
                <a:spcPts val="0"/>
              </a:spcBef>
              <a:spcAft>
                <a:spcPts val="0"/>
              </a:spcAft>
              <a:buNone/>
            </a:pPr>
            <a:r>
              <a:rPr sz="1000" b="1">
                <a:solidFill>
                  <a:srgbClr val="1F2A44"/>
                </a:solidFill>
                <a:latin typeface="Arial"/>
                <a:ea typeface="Arial"/>
                <a:cs typeface="Arial"/>
              </a:rPr>
              <a:t>uncertainty + distance from labels</a:t>
            </a:r>
          </a:p>
        </p:txBody>
      </p:sp>
      <p:sp>
        <p:nvSpPr>
          <p:cNvPr id="107" name="Google Shape;107;p5">
            <a:extLst>
              <a:ext uri="{FF2B5EF4-FFF2-40B4-BE49-F238E27FC236}">
                <a16:creationId xmlns:a16="http://schemas.microsoft.com/office/drawing/2014/main" id="{3BDE594B-07D6-4284-B73C-599454728605}"/>
              </a:ext>
            </a:extLst>
          </p:cNvPr>
          <p:cNvSpPr>
            <a:spLocks noGrp="1"/>
          </p:cNvSpPr>
          <p:nvPr/>
        </p:nvSpPr>
        <p:spPr>
          <a:xfrm>
            <a:off x="850392" y="4562856"/>
            <a:ext cx="10735056" cy="201168"/>
          </a:xfrm>
          <a:prstGeom prst="rect">
            <a:avLst/>
          </a:prstGeom>
          <a:noFill/>
          <a:ln>
            <a:noFill/>
          </a:ln>
        </p:spPr>
        <p:txBody>
          <a:bodyPr spcFirstLastPara="1" wrap="square" lIns="0" tIns="0" rIns="0" bIns="0" anchor="ctr">
            <a:noAutofit/>
          </a:bodyPr>
          <a:lstStyle/>
          <a:p>
            <a:pPr marL="0" indent="0" algn="l">
              <a:spcBef>
                <a:spcPts val="0"/>
              </a:spcBef>
              <a:spcAft>
                <a:spcPts val="0"/>
              </a:spcAft>
              <a:buNone/>
            </a:pPr>
            <a:r>
              <a:rPr sz="1050">
                <a:solidFill>
                  <a:srgbClr val="4B5563"/>
                </a:solidFill>
                <a:latin typeface="Arial"/>
                <a:ea typeface="Arial"/>
                <a:cs typeface="Arial"/>
              </a:rPr>
              <a:t>Avoids repeated clustered uncertain samples.</a:t>
            </a:r>
          </a:p>
        </p:txBody>
      </p:sp>
      <p:sp>
        <p:nvSpPr>
          <p:cNvPr id="108" name="Google Shape;108;p5">
            <a:extLst>
              <a:ext uri="{FF2B5EF4-FFF2-40B4-BE49-F238E27FC236}">
                <a16:creationId xmlns:a16="http://schemas.microsoft.com/office/drawing/2014/main" id="{F6EF6D84-3636-42A8-9481-F098211756EE}"/>
              </a:ext>
            </a:extLst>
          </p:cNvPr>
          <p:cNvSpPr>
            <a:spLocks noGrp="1"/>
          </p:cNvSpPr>
          <p:nvPr/>
        </p:nvSpPr>
        <p:spPr>
          <a:xfrm>
            <a:off x="685800" y="5504688"/>
            <a:ext cx="11064240" cy="566928"/>
          </a:xfrm>
          <a:prstGeom prst="roundRect">
            <a:avLst>
              <a:gd name="adj" fmla="val 14516"/>
            </a:avLst>
          </a:prstGeom>
          <a:solidFill>
            <a:srgbClr val="FFFFFF"/>
          </a:solidFill>
          <a:ln w="10150" cmpd="sng">
            <a:solidFill>
              <a:srgbClr val="D9DEE8"/>
            </a:solidFill>
            <a:prstDash val="solid"/>
            <a:headEnd type="none" w="sm" len="sm"/>
            <a:tailEnd type="none" w="sm" len="sm"/>
          </a:ln>
        </p:spPr>
        <p:txBody>
          <a:bodyPr spcFirstLastPara="1" wrap="square" lIns="91425" tIns="45700" rIns="91425" bIns="45700" anchor="t">
            <a:noAutofit/>
          </a:bodyPr>
          <a:lstStyle/>
          <a:p>
            <a:pPr marL="0" indent="0" algn="l">
              <a:spcBef>
                <a:spcPts val="0"/>
              </a:spcBef>
              <a:spcAft>
                <a:spcPts val="0"/>
              </a:spcAft>
              <a:buNone/>
            </a:pPr>
            <a:endParaRPr/>
          </a:p>
        </p:txBody>
      </p:sp>
      <p:sp>
        <p:nvSpPr>
          <p:cNvPr id="109" name="Google Shape;109;p5">
            <a:extLst>
              <a:ext uri="{FF2B5EF4-FFF2-40B4-BE49-F238E27FC236}">
                <a16:creationId xmlns:a16="http://schemas.microsoft.com/office/drawing/2014/main" id="{9752D25C-8166-4A31-8D78-E854BC4FD981}"/>
              </a:ext>
            </a:extLst>
          </p:cNvPr>
          <p:cNvSpPr>
            <a:spLocks noGrp="1"/>
          </p:cNvSpPr>
          <p:nvPr/>
        </p:nvSpPr>
        <p:spPr>
          <a:xfrm>
            <a:off x="896112" y="5696712"/>
            <a:ext cx="10607040" cy="146304"/>
          </a:xfrm>
          <a:prstGeom prst="rect">
            <a:avLst/>
          </a:prstGeom>
          <a:noFill/>
          <a:ln>
            <a:noFill/>
          </a:ln>
        </p:spPr>
        <p:txBody>
          <a:bodyPr spcFirstLastPara="1" wrap="square" lIns="0" tIns="0" rIns="0" bIns="0" anchor="ctr">
            <a:noAutofit/>
          </a:bodyPr>
          <a:lstStyle/>
          <a:p>
            <a:pPr marL="0" indent="0" algn="l">
              <a:spcBef>
                <a:spcPts val="0"/>
              </a:spcBef>
              <a:spcAft>
                <a:spcPts val="0"/>
              </a:spcAft>
              <a:buNone/>
            </a:pPr>
            <a:r>
              <a:rPr sz="1050">
                <a:solidFill>
                  <a:srgbClr val="4B5563"/>
                </a:solidFill>
                <a:latin typeface="Arial"/>
                <a:ea typeface="Arial"/>
                <a:cs typeface="Arial"/>
              </a:rPr>
              <a:t>Important: classifier rows and regressor rows change the surrogate family, so comparisons are not acquisition-only.</a:t>
            </a:r>
          </a:p>
        </p:txBody>
      </p:sp>
      <p:cxnSp>
        <p:nvCxnSpPr>
          <p:cNvPr id="162" name="Google Shape;110;p5"/>
          <p:cNvCxnSpPr/>
          <p:nvPr/>
        </p:nvCxnSpPr>
        <p:spPr>
          <a:xfrm>
            <a:off x="502920" y="6446520"/>
            <a:ext cx="11201400" cy="0"/>
          </a:xfrm>
          <a:prstGeom prst="straightConnector1">
            <a:avLst/>
          </a:prstGeom>
          <a:ln w="9525" cap="flat">
            <a:solidFill>
              <a:srgbClr val="D9DEE8"/>
            </a:solidFill>
            <a:prstDash val="solid"/>
            <a:round/>
            <a:headEnd type="none" w="sm" len="sm"/>
            <a:tailEnd type="none" w="sm" len="sm"/>
          </a:ln>
        </p:spPr>
      </p:cxnSp>
      <p:sp>
        <p:nvSpPr>
          <p:cNvPr id="111" name="Google Shape;111;p5">
            <a:extLst>
              <a:ext uri="{FF2B5EF4-FFF2-40B4-BE49-F238E27FC236}">
                <a16:creationId xmlns:a16="http://schemas.microsoft.com/office/drawing/2014/main" id="{61D88CEB-DE56-4A79-A0BB-DA9BE8110C9B}"/>
              </a:ext>
            </a:extLst>
          </p:cNvPr>
          <p:cNvSpPr>
            <a:spLocks noGrp="1"/>
          </p:cNvSpPr>
          <p:nvPr/>
        </p:nvSpPr>
        <p:spPr>
          <a:xfrm>
            <a:off x="502920" y="6519672"/>
            <a:ext cx="8961120" cy="164592"/>
          </a:xfrm>
          <a:prstGeom prst="rect">
            <a:avLst/>
          </a:prstGeom>
          <a:noFill/>
          <a:ln>
            <a:noFill/>
          </a:ln>
        </p:spPr>
        <p:txBody>
          <a:bodyPr spcFirstLastPara="1" wrap="square" lIns="0" tIns="0" rIns="0" bIns="0" anchor="ctr">
            <a:noAutofit/>
          </a:bodyPr>
          <a:lstStyle/>
          <a:p>
            <a:pPr marL="0" indent="0" algn="l">
              <a:spcBef>
                <a:spcPts val="0"/>
              </a:spcBef>
              <a:spcAft>
                <a:spcPts val="0"/>
              </a:spcAft>
              <a:buNone/>
            </a:pPr>
            <a:r>
              <a:rPr sz="780">
                <a:solidFill>
                  <a:srgbClr val="6B7280"/>
                </a:solidFill>
                <a:latin typeface="Arial"/>
                <a:ea typeface="Arial"/>
                <a:cs typeface="Arial"/>
              </a:rPr>
              <a:t>Week 3 extended update - Sample-Efficient Active Level-Set Estimation - 13</a:t>
            </a:r>
          </a:p>
        </p:txBody>
      </p:sp>
      <p:sp>
        <p:nvSpPr>
          <p:cNvPr id="112" name="Google Shape;112;p5">
            <a:extLst>
              <a:ext uri="{FF2B5EF4-FFF2-40B4-BE49-F238E27FC236}">
                <a16:creationId xmlns:a16="http://schemas.microsoft.com/office/drawing/2014/main" id="{5B9AD59B-E5D2-4800-8C4E-D3D8D97D07BC}"/>
              </a:ext>
            </a:extLst>
          </p:cNvPr>
          <p:cNvSpPr>
            <a:spLocks noGrp="1"/>
          </p:cNvSpPr>
          <p:nvPr/>
        </p:nvSpPr>
        <p:spPr>
          <a:xfrm>
            <a:off x="11521440" y="6492240"/>
            <a:ext cx="228600" cy="164592"/>
          </a:xfrm>
          <a:prstGeom prst="rect">
            <a:avLst/>
          </a:prstGeom>
          <a:noFill/>
          <a:ln>
            <a:noFill/>
          </a:ln>
        </p:spPr>
        <p:txBody>
          <a:bodyPr spcFirstLastPara="1" wrap="square" lIns="0" tIns="0" rIns="0" bIns="0" anchor="ctr">
            <a:noAutofit/>
          </a:bodyPr>
          <a:lstStyle/>
          <a:p>
            <a:pPr marL="0" indent="0" algn="r">
              <a:spcBef>
                <a:spcPts val="0"/>
              </a:spcBef>
              <a:spcAft>
                <a:spcPts val="0"/>
              </a:spcAft>
              <a:buNone/>
            </a:pPr>
            <a:r>
              <a:rPr sz="780">
                <a:solidFill>
                  <a:srgbClr val="6B7280"/>
                </a:solidFill>
                <a:latin typeface="Arial"/>
                <a:ea typeface="Arial"/>
                <a:cs typeface="Arial"/>
              </a:rPr>
              <a:t>13</a:t>
            </a:r>
          </a:p>
        </p:txBody>
      </p:sp>
    </p:spTree>
    <p:extLst>
      <p:ext uri="{BB962C8B-B14F-4D97-AF65-F5344CB8AC3E}">
        <p14:creationId xmlns:p14="http://schemas.microsoft.com/office/powerpoint/2010/main" val="560878052"/>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bg>
      <p:bgPr>
        <a:solidFill>
          <a:srgbClr val="F6F8FC"/>
        </a:solidFill>
        <a:effectLst/>
      </p:bgPr>
    </p:bg>
    <p:spTree>
      <p:nvGrpSpPr>
        <p:cNvPr id="1" name=""/>
        <p:cNvGrpSpPr/>
        <p:nvPr/>
      </p:nvGrpSpPr>
      <p:grpSpPr>
        <a:xfrm>
          <a:off x="0" y="0"/>
          <a:ext cx="0" cy="0"/>
          <a:chOff x="0" y="0"/>
          <a:chExt cx="0" cy="0"/>
        </a:xfrm>
      </p:grpSpPr>
      <p:sp>
        <p:nvSpPr>
          <p:cNvPr id="142" name="Google Shape;142;p7">
            <a:extLst>
              <a:ext uri="{FF2B5EF4-FFF2-40B4-BE49-F238E27FC236}">
                <a16:creationId xmlns:a16="http://schemas.microsoft.com/office/drawing/2014/main" id="{81BA9912-BDB9-4CBD-807E-05E773527849}"/>
              </a:ext>
            </a:extLst>
          </p:cNvPr>
          <p:cNvSpPr>
            <a:spLocks noGrp="1"/>
          </p:cNvSpPr>
          <p:nvPr/>
        </p:nvSpPr>
        <p:spPr>
          <a:xfrm>
            <a:off x="502920" y="329184"/>
            <a:ext cx="10789920" cy="320040"/>
          </a:xfrm>
          <a:prstGeom prst="rect">
            <a:avLst/>
          </a:prstGeom>
          <a:noFill/>
          <a:ln>
            <a:noFill/>
          </a:ln>
        </p:spPr>
        <p:txBody>
          <a:bodyPr spcFirstLastPara="1" wrap="square" lIns="0" tIns="0" rIns="0" bIns="0" anchor="ctr">
            <a:noAutofit/>
          </a:bodyPr>
          <a:lstStyle/>
          <a:p>
            <a:pPr marL="0" indent="0" algn="l">
              <a:spcBef>
                <a:spcPts val="0"/>
              </a:spcBef>
              <a:spcAft>
                <a:spcPts val="0"/>
              </a:spcAft>
              <a:buNone/>
            </a:pPr>
            <a:r>
              <a:rPr sz="2200" b="1">
                <a:solidFill>
                  <a:srgbClr val="1F2A44"/>
                </a:solidFill>
                <a:latin typeface="Play"/>
                <a:ea typeface="Play"/>
                <a:cs typeface="Play"/>
              </a:rPr>
              <a:t>Fixed GPC gives cleaner probabilities, not better results</a:t>
            </a:r>
          </a:p>
        </p:txBody>
      </p:sp>
      <p:sp>
        <p:nvSpPr>
          <p:cNvPr id="143" name="Google Shape;143;p7">
            <a:extLst>
              <a:ext uri="{FF2B5EF4-FFF2-40B4-BE49-F238E27FC236}">
                <a16:creationId xmlns:a16="http://schemas.microsoft.com/office/drawing/2014/main" id="{5DECCD09-421D-4E02-AD30-9E681AA6585B}"/>
              </a:ext>
            </a:extLst>
          </p:cNvPr>
          <p:cNvSpPr>
            <a:spLocks noGrp="1"/>
          </p:cNvSpPr>
          <p:nvPr/>
        </p:nvSpPr>
        <p:spPr>
          <a:xfrm>
            <a:off x="521208" y="713232"/>
            <a:ext cx="10515600" cy="237744"/>
          </a:xfrm>
          <a:prstGeom prst="rect">
            <a:avLst/>
          </a:prstGeom>
          <a:noFill/>
          <a:ln>
            <a:noFill/>
          </a:ln>
        </p:spPr>
        <p:txBody>
          <a:bodyPr spcFirstLastPara="1" wrap="square" lIns="0" tIns="0" rIns="0" bIns="0" anchor="ctr">
            <a:noAutofit/>
          </a:bodyPr>
          <a:lstStyle/>
          <a:p>
            <a:pPr marL="0" indent="0" algn="l">
              <a:spcBef>
                <a:spcPts val="0"/>
              </a:spcBef>
              <a:spcAft>
                <a:spcPts val="0"/>
              </a:spcAft>
              <a:buNone/>
            </a:pPr>
            <a:r>
              <a:rPr sz="1050">
                <a:solidFill>
                  <a:srgbClr val="4B5563"/>
                </a:solidFill>
                <a:latin typeface="Arial"/>
                <a:ea typeface="Arial"/>
                <a:cs typeface="Arial"/>
              </a:rPr>
              <a:t>Classifier uncertainty repulsion was the best fixed-GPC method on both benchmarks.</a:t>
            </a:r>
          </a:p>
        </p:txBody>
      </p:sp>
      <p:sp>
        <p:nvSpPr>
          <p:cNvPr id="144" name="Google Shape;144;p7">
            <a:extLst>
              <a:ext uri="{FF2B5EF4-FFF2-40B4-BE49-F238E27FC236}">
                <a16:creationId xmlns:a16="http://schemas.microsoft.com/office/drawing/2014/main" id="{9D89FC33-07A9-4D22-BB7C-0AD9052EA6ED}"/>
              </a:ext>
            </a:extLst>
          </p:cNvPr>
          <p:cNvSpPr>
            <a:spLocks noGrp="1"/>
          </p:cNvSpPr>
          <p:nvPr/>
        </p:nvSpPr>
        <p:spPr>
          <a:xfrm>
            <a:off x="502920" y="1051560"/>
            <a:ext cx="7406640" cy="4937760"/>
          </a:xfrm>
          <a:prstGeom prst="roundRect">
            <a:avLst>
              <a:gd name="adj" fmla="val 1667"/>
            </a:avLst>
          </a:prstGeom>
          <a:solidFill>
            <a:srgbClr val="FFFFFF"/>
          </a:solidFill>
          <a:ln w="10150" cmpd="sng">
            <a:solidFill>
              <a:srgbClr val="D9DEE8"/>
            </a:solidFill>
            <a:prstDash val="solid"/>
            <a:headEnd type="none" w="sm" len="sm"/>
            <a:tailEnd type="none" w="sm" len="sm"/>
          </a:ln>
        </p:spPr>
        <p:txBody>
          <a:bodyPr spcFirstLastPara="1" wrap="square" lIns="91425" tIns="45700" rIns="91425" bIns="45700" anchor="t">
            <a:noAutofit/>
          </a:bodyPr>
          <a:lstStyle/>
          <a:p>
            <a:pPr marL="0" indent="0" algn="l">
              <a:spcBef>
                <a:spcPts val="0"/>
              </a:spcBef>
              <a:spcAft>
                <a:spcPts val="0"/>
              </a:spcAft>
              <a:buNone/>
            </a:pPr>
            <a:endParaRPr/>
          </a:p>
        </p:txBody>
      </p:sp>
      <p:pic>
        <p:nvPicPr>
          <p:cNvPr id="210" name="Google Shape;145;p7"/>
          <p:cNvPicPr>
            <a:picLocks noChangeAspect="1"/>
          </p:cNvPicPr>
          <p:nvPr/>
        </p:nvPicPr>
        <p:blipFill rotWithShape="1">
          <a:blip r:embed="rId3">
            <a:alphaModFix/>
          </a:blip>
          <a:srcRect t="20278" b="20278"/>
          <a:stretch>
            <a:fillRect/>
          </a:stretch>
        </p:blipFill>
        <p:spPr>
          <a:xfrm>
            <a:off x="502920" y="1319022"/>
            <a:ext cx="7406640" cy="4402836"/>
          </a:xfrm>
          <a:prstGeom prst="rect">
            <a:avLst/>
          </a:prstGeom>
          <a:ln>
            <a:noFill/>
          </a:ln>
        </p:spPr>
      </p:pic>
      <p:sp>
        <p:nvSpPr>
          <p:cNvPr id="146" name="Google Shape;146;p7">
            <a:extLst>
              <a:ext uri="{FF2B5EF4-FFF2-40B4-BE49-F238E27FC236}">
                <a16:creationId xmlns:a16="http://schemas.microsoft.com/office/drawing/2014/main" id="{53A6A1D4-98A3-4627-9A37-EB28651795A5}"/>
              </a:ext>
            </a:extLst>
          </p:cNvPr>
          <p:cNvSpPr>
            <a:spLocks noGrp="1"/>
          </p:cNvSpPr>
          <p:nvPr/>
        </p:nvSpPr>
        <p:spPr>
          <a:xfrm>
            <a:off x="8156448" y="1051560"/>
            <a:ext cx="3456432" cy="4937760"/>
          </a:xfrm>
          <a:prstGeom prst="roundRect">
            <a:avLst>
              <a:gd name="adj" fmla="val 2381"/>
            </a:avLst>
          </a:prstGeom>
          <a:solidFill>
            <a:srgbClr val="FFFFFF"/>
          </a:solidFill>
          <a:ln w="10150" cmpd="sng">
            <a:solidFill>
              <a:srgbClr val="D9DEE8"/>
            </a:solidFill>
            <a:prstDash val="solid"/>
            <a:headEnd type="none" w="sm" len="sm"/>
            <a:tailEnd type="none" w="sm" len="sm"/>
          </a:ln>
          <a:effectLst>
            <a:outerShdw blurRad="15240" dist="50800" dir="2700000" algn="bl" rotWithShape="0">
              <a:srgbClr val="000000">
                <a:alpha val="7843"/>
              </a:srgbClr>
            </a:outerShdw>
          </a:effectLst>
        </p:spPr>
        <p:txBody>
          <a:bodyPr spcFirstLastPara="1" wrap="square" lIns="91425" tIns="45700" rIns="91425" bIns="45700" anchor="t">
            <a:noAutofit/>
          </a:bodyPr>
          <a:lstStyle/>
          <a:p>
            <a:pPr marL="0" indent="0" algn="l">
              <a:spcBef>
                <a:spcPts val="0"/>
              </a:spcBef>
              <a:spcAft>
                <a:spcPts val="0"/>
              </a:spcAft>
              <a:buNone/>
            </a:pPr>
            <a:endParaRPr/>
          </a:p>
        </p:txBody>
      </p:sp>
      <p:sp>
        <p:nvSpPr>
          <p:cNvPr id="147" name="Google Shape;147;p7">
            <a:extLst>
              <a:ext uri="{FF2B5EF4-FFF2-40B4-BE49-F238E27FC236}">
                <a16:creationId xmlns:a16="http://schemas.microsoft.com/office/drawing/2014/main" id="{92266219-070C-46E7-84F9-B10E52F98B86}"/>
              </a:ext>
            </a:extLst>
          </p:cNvPr>
          <p:cNvSpPr>
            <a:spLocks noGrp="1"/>
          </p:cNvSpPr>
          <p:nvPr/>
        </p:nvSpPr>
        <p:spPr>
          <a:xfrm>
            <a:off x="8394192" y="1307592"/>
            <a:ext cx="2651760" cy="164592"/>
          </a:xfrm>
          <a:prstGeom prst="rect">
            <a:avLst/>
          </a:prstGeom>
          <a:noFill/>
          <a:ln>
            <a:noFill/>
          </a:ln>
        </p:spPr>
        <p:txBody>
          <a:bodyPr spcFirstLastPara="1" wrap="square" lIns="0" tIns="0" rIns="0" bIns="0" anchor="ctr">
            <a:noAutofit/>
          </a:bodyPr>
          <a:lstStyle/>
          <a:p>
            <a:pPr marL="0" indent="0" algn="l">
              <a:spcBef>
                <a:spcPts val="0"/>
              </a:spcBef>
              <a:spcAft>
                <a:spcPts val="0"/>
              </a:spcAft>
              <a:buNone/>
            </a:pPr>
            <a:r>
              <a:rPr sz="1400" b="1">
                <a:solidFill>
                  <a:srgbClr val="1F2A44"/>
                </a:solidFill>
                <a:latin typeface="Arial"/>
                <a:ea typeface="Arial"/>
                <a:cs typeface="Arial"/>
              </a:rPr>
              <a:t>Best fixed-GPC result</a:t>
            </a:r>
          </a:p>
        </p:txBody>
      </p:sp>
      <p:sp>
        <p:nvSpPr>
          <p:cNvPr id="148" name="Google Shape;148;p7">
            <a:extLst>
              <a:ext uri="{FF2B5EF4-FFF2-40B4-BE49-F238E27FC236}">
                <a16:creationId xmlns:a16="http://schemas.microsoft.com/office/drawing/2014/main" id="{22182E4C-2E3E-4F0D-BA22-C266022CB68F}"/>
              </a:ext>
            </a:extLst>
          </p:cNvPr>
          <p:cNvSpPr>
            <a:spLocks noGrp="1"/>
          </p:cNvSpPr>
          <p:nvPr/>
        </p:nvSpPr>
        <p:spPr>
          <a:xfrm>
            <a:off x="8394192" y="1719072"/>
            <a:ext cx="256032" cy="256032"/>
          </a:xfrm>
          <a:prstGeom prst="ellipse">
            <a:avLst/>
          </a:prstGeom>
          <a:solidFill>
            <a:srgbClr val="B7791F"/>
          </a:solidFill>
          <a:ln w="12700" cmpd="sng">
            <a:solidFill>
              <a:srgbClr val="B7791F"/>
            </a:solidFill>
            <a:prstDash val="solid"/>
            <a:headEnd type="none" w="sm" len="sm"/>
            <a:tailEnd type="none" w="sm" len="sm"/>
          </a:ln>
        </p:spPr>
        <p:txBody>
          <a:bodyPr spcFirstLastPara="1" wrap="square" lIns="91425" tIns="45700" rIns="91425" bIns="45700" anchor="t">
            <a:noAutofit/>
          </a:bodyPr>
          <a:lstStyle/>
          <a:p>
            <a:pPr marL="0" indent="0" algn="l">
              <a:spcBef>
                <a:spcPts val="0"/>
              </a:spcBef>
              <a:spcAft>
                <a:spcPts val="0"/>
              </a:spcAft>
              <a:buNone/>
            </a:pPr>
            <a:endParaRPr/>
          </a:p>
        </p:txBody>
      </p:sp>
      <p:sp>
        <p:nvSpPr>
          <p:cNvPr id="149" name="Google Shape;149;p7">
            <a:extLst>
              <a:ext uri="{FF2B5EF4-FFF2-40B4-BE49-F238E27FC236}">
                <a16:creationId xmlns:a16="http://schemas.microsoft.com/office/drawing/2014/main" id="{83374358-80A8-4BBC-8CEF-3FEE18F3A67E}"/>
              </a:ext>
            </a:extLst>
          </p:cNvPr>
          <p:cNvSpPr>
            <a:spLocks noGrp="1"/>
          </p:cNvSpPr>
          <p:nvPr/>
        </p:nvSpPr>
        <p:spPr>
          <a:xfrm>
            <a:off x="8394192" y="1769364"/>
            <a:ext cx="256032" cy="109728"/>
          </a:xfrm>
          <a:prstGeom prst="rect">
            <a:avLst/>
          </a:prstGeom>
          <a:noFill/>
          <a:ln>
            <a:noFill/>
          </a:ln>
        </p:spPr>
        <p:txBody>
          <a:bodyPr spcFirstLastPara="1" wrap="square" lIns="0" tIns="0" rIns="0" bIns="0" anchor="ctr">
            <a:noAutofit/>
          </a:bodyPr>
          <a:lstStyle/>
          <a:p>
            <a:pPr marL="0" indent="0" algn="ctr">
              <a:spcBef>
                <a:spcPts val="0"/>
              </a:spcBef>
              <a:spcAft>
                <a:spcPts val="0"/>
              </a:spcAft>
              <a:buNone/>
            </a:pPr>
            <a:endParaRPr/>
          </a:p>
        </p:txBody>
      </p:sp>
      <p:sp>
        <p:nvSpPr>
          <p:cNvPr id="150" name="Google Shape;150;p7">
            <a:extLst>
              <a:ext uri="{FF2B5EF4-FFF2-40B4-BE49-F238E27FC236}">
                <a16:creationId xmlns:a16="http://schemas.microsoft.com/office/drawing/2014/main" id="{16738B45-3CB2-4551-9E66-950A18456CF2}"/>
              </a:ext>
            </a:extLst>
          </p:cNvPr>
          <p:cNvSpPr>
            <a:spLocks noGrp="1"/>
          </p:cNvSpPr>
          <p:nvPr/>
        </p:nvSpPr>
        <p:spPr>
          <a:xfrm>
            <a:off x="8759952" y="1746504"/>
            <a:ext cx="1645920" cy="146304"/>
          </a:xfrm>
          <a:prstGeom prst="rect">
            <a:avLst/>
          </a:prstGeom>
          <a:noFill/>
          <a:ln>
            <a:noFill/>
          </a:ln>
        </p:spPr>
        <p:txBody>
          <a:bodyPr spcFirstLastPara="1" wrap="square" lIns="0" tIns="0" rIns="0" bIns="0" anchor="ctr">
            <a:noAutofit/>
          </a:bodyPr>
          <a:lstStyle/>
          <a:p>
            <a:pPr marL="0" indent="0" algn="l">
              <a:spcBef>
                <a:spcPts val="0"/>
              </a:spcBef>
              <a:spcAft>
                <a:spcPts val="0"/>
              </a:spcAft>
              <a:buNone/>
            </a:pPr>
            <a:r>
              <a:rPr sz="1100">
                <a:solidFill>
                  <a:srgbClr val="111827"/>
                </a:solidFill>
                <a:latin typeface="Arial"/>
                <a:ea typeface="Arial"/>
                <a:cs typeface="Arial"/>
              </a:rPr>
              <a:t>Branin global</a:t>
            </a:r>
          </a:p>
        </p:txBody>
      </p:sp>
      <p:sp>
        <p:nvSpPr>
          <p:cNvPr id="151" name="Google Shape;151;p7">
            <a:extLst>
              <a:ext uri="{FF2B5EF4-FFF2-40B4-BE49-F238E27FC236}">
                <a16:creationId xmlns:a16="http://schemas.microsoft.com/office/drawing/2014/main" id="{21764C4C-4E11-40D0-9CFC-959CCFB59BD4}"/>
              </a:ext>
            </a:extLst>
          </p:cNvPr>
          <p:cNvSpPr>
            <a:spLocks noGrp="1"/>
          </p:cNvSpPr>
          <p:nvPr/>
        </p:nvSpPr>
        <p:spPr>
          <a:xfrm>
            <a:off x="10652760" y="1746504"/>
            <a:ext cx="685800" cy="146304"/>
          </a:xfrm>
          <a:prstGeom prst="rect">
            <a:avLst/>
          </a:prstGeom>
          <a:noFill/>
          <a:ln>
            <a:noFill/>
          </a:ln>
        </p:spPr>
        <p:txBody>
          <a:bodyPr spcFirstLastPara="1" wrap="square" lIns="0" tIns="0" rIns="0" bIns="0" anchor="ctr">
            <a:noAutofit/>
          </a:bodyPr>
          <a:lstStyle/>
          <a:p>
            <a:pPr marL="0" indent="0" algn="r">
              <a:spcBef>
                <a:spcPts val="0"/>
              </a:spcBef>
              <a:spcAft>
                <a:spcPts val="0"/>
              </a:spcAft>
              <a:buNone/>
            </a:pPr>
            <a:r>
              <a:rPr sz="1100" b="1">
                <a:solidFill>
                  <a:srgbClr val="B7791F"/>
                </a:solidFill>
                <a:latin typeface="Arial"/>
                <a:ea typeface="Arial"/>
                <a:cs typeface="Arial"/>
              </a:rPr>
              <a:t>8.04%</a:t>
            </a:r>
          </a:p>
        </p:txBody>
      </p:sp>
      <p:sp>
        <p:nvSpPr>
          <p:cNvPr id="152" name="Google Shape;152;p7">
            <a:extLst>
              <a:ext uri="{FF2B5EF4-FFF2-40B4-BE49-F238E27FC236}">
                <a16:creationId xmlns:a16="http://schemas.microsoft.com/office/drawing/2014/main" id="{7419CD7D-D776-4075-97E2-52C7E9F7D61F}"/>
              </a:ext>
            </a:extLst>
          </p:cNvPr>
          <p:cNvSpPr>
            <a:spLocks noGrp="1"/>
          </p:cNvSpPr>
          <p:nvPr/>
        </p:nvSpPr>
        <p:spPr>
          <a:xfrm>
            <a:off x="8394192" y="2249424"/>
            <a:ext cx="256032" cy="256032"/>
          </a:xfrm>
          <a:prstGeom prst="ellipse">
            <a:avLst/>
          </a:prstGeom>
          <a:solidFill>
            <a:srgbClr val="0F8B61"/>
          </a:solidFill>
          <a:ln w="12700" cmpd="sng">
            <a:solidFill>
              <a:srgbClr val="0F8B61"/>
            </a:solidFill>
            <a:prstDash val="solid"/>
            <a:headEnd type="none" w="sm" len="sm"/>
            <a:tailEnd type="none" w="sm" len="sm"/>
          </a:ln>
        </p:spPr>
        <p:txBody>
          <a:bodyPr spcFirstLastPara="1" wrap="square" lIns="91425" tIns="45700" rIns="91425" bIns="45700" anchor="t">
            <a:noAutofit/>
          </a:bodyPr>
          <a:lstStyle/>
          <a:p>
            <a:pPr marL="0" indent="0" algn="l">
              <a:spcBef>
                <a:spcPts val="0"/>
              </a:spcBef>
              <a:spcAft>
                <a:spcPts val="0"/>
              </a:spcAft>
              <a:buNone/>
            </a:pPr>
            <a:endParaRPr/>
          </a:p>
        </p:txBody>
      </p:sp>
      <p:sp>
        <p:nvSpPr>
          <p:cNvPr id="153" name="Google Shape;153;p7">
            <a:extLst>
              <a:ext uri="{FF2B5EF4-FFF2-40B4-BE49-F238E27FC236}">
                <a16:creationId xmlns:a16="http://schemas.microsoft.com/office/drawing/2014/main" id="{FB1F0EE9-FC0F-47C6-984E-CC3D0DACE893}"/>
              </a:ext>
            </a:extLst>
          </p:cNvPr>
          <p:cNvSpPr>
            <a:spLocks noGrp="1"/>
          </p:cNvSpPr>
          <p:nvPr/>
        </p:nvSpPr>
        <p:spPr>
          <a:xfrm>
            <a:off x="8394192" y="2299716"/>
            <a:ext cx="256032" cy="109728"/>
          </a:xfrm>
          <a:prstGeom prst="rect">
            <a:avLst/>
          </a:prstGeom>
          <a:noFill/>
          <a:ln>
            <a:noFill/>
          </a:ln>
        </p:spPr>
        <p:txBody>
          <a:bodyPr spcFirstLastPara="1" wrap="square" lIns="0" tIns="0" rIns="0" bIns="0" anchor="ctr">
            <a:noAutofit/>
          </a:bodyPr>
          <a:lstStyle/>
          <a:p>
            <a:pPr marL="0" indent="0" algn="ctr">
              <a:spcBef>
                <a:spcPts val="0"/>
              </a:spcBef>
              <a:spcAft>
                <a:spcPts val="0"/>
              </a:spcAft>
              <a:buNone/>
            </a:pPr>
            <a:endParaRPr/>
          </a:p>
        </p:txBody>
      </p:sp>
      <p:sp>
        <p:nvSpPr>
          <p:cNvPr id="154" name="Google Shape;154;p7">
            <a:extLst>
              <a:ext uri="{FF2B5EF4-FFF2-40B4-BE49-F238E27FC236}">
                <a16:creationId xmlns:a16="http://schemas.microsoft.com/office/drawing/2014/main" id="{70EC3FD1-AE3D-4D02-92A2-54D41DA802E4}"/>
              </a:ext>
            </a:extLst>
          </p:cNvPr>
          <p:cNvSpPr>
            <a:spLocks noGrp="1"/>
          </p:cNvSpPr>
          <p:nvPr/>
        </p:nvSpPr>
        <p:spPr>
          <a:xfrm>
            <a:off x="8759952" y="2276856"/>
            <a:ext cx="1645920" cy="146304"/>
          </a:xfrm>
          <a:prstGeom prst="rect">
            <a:avLst/>
          </a:prstGeom>
          <a:noFill/>
          <a:ln>
            <a:noFill/>
          </a:ln>
        </p:spPr>
        <p:txBody>
          <a:bodyPr spcFirstLastPara="1" wrap="square" lIns="0" tIns="0" rIns="0" bIns="0" anchor="ctr">
            <a:noAutofit/>
          </a:bodyPr>
          <a:lstStyle/>
          <a:p>
            <a:pPr marL="0" indent="0" algn="l">
              <a:spcBef>
                <a:spcPts val="0"/>
              </a:spcBef>
              <a:spcAft>
                <a:spcPts val="0"/>
              </a:spcAft>
              <a:buNone/>
            </a:pPr>
            <a:r>
              <a:rPr sz="1100">
                <a:solidFill>
                  <a:srgbClr val="111827"/>
                </a:solidFill>
                <a:latin typeface="Arial"/>
                <a:ea typeface="Arial"/>
                <a:cs typeface="Arial"/>
              </a:rPr>
              <a:t>Branin q20/q30</a:t>
            </a:r>
          </a:p>
        </p:txBody>
      </p:sp>
      <p:sp>
        <p:nvSpPr>
          <p:cNvPr id="155" name="Google Shape;155;p7">
            <a:extLst>
              <a:ext uri="{FF2B5EF4-FFF2-40B4-BE49-F238E27FC236}">
                <a16:creationId xmlns:a16="http://schemas.microsoft.com/office/drawing/2014/main" id="{11AF2C08-3973-46A0-A1E4-36DDD4834556}"/>
              </a:ext>
            </a:extLst>
          </p:cNvPr>
          <p:cNvSpPr>
            <a:spLocks noGrp="1"/>
          </p:cNvSpPr>
          <p:nvPr/>
        </p:nvSpPr>
        <p:spPr>
          <a:xfrm>
            <a:off x="10652760" y="2276856"/>
            <a:ext cx="685800" cy="146304"/>
          </a:xfrm>
          <a:prstGeom prst="rect">
            <a:avLst/>
          </a:prstGeom>
          <a:noFill/>
          <a:ln>
            <a:noFill/>
          </a:ln>
        </p:spPr>
        <p:txBody>
          <a:bodyPr spcFirstLastPara="1" wrap="square" lIns="0" tIns="0" rIns="0" bIns="0" anchor="ctr">
            <a:noAutofit/>
          </a:bodyPr>
          <a:lstStyle/>
          <a:p>
            <a:pPr marL="0" indent="0" algn="r">
              <a:spcBef>
                <a:spcPts val="0"/>
              </a:spcBef>
              <a:spcAft>
                <a:spcPts val="0"/>
              </a:spcAft>
              <a:buNone/>
            </a:pPr>
            <a:r>
              <a:rPr sz="1100" b="1">
                <a:solidFill>
                  <a:srgbClr val="0F8B61"/>
                </a:solidFill>
                <a:latin typeface="Arial"/>
                <a:ea typeface="Arial"/>
                <a:cs typeface="Arial"/>
              </a:rPr>
              <a:t>26.10 / 19.78%</a:t>
            </a:r>
          </a:p>
        </p:txBody>
      </p:sp>
      <p:sp>
        <p:nvSpPr>
          <p:cNvPr id="156" name="Google Shape;156;p7">
            <a:extLst>
              <a:ext uri="{FF2B5EF4-FFF2-40B4-BE49-F238E27FC236}">
                <a16:creationId xmlns:a16="http://schemas.microsoft.com/office/drawing/2014/main" id="{B87DFDA3-581C-48C6-ABFC-2A79ECAB14C4}"/>
              </a:ext>
            </a:extLst>
          </p:cNvPr>
          <p:cNvSpPr>
            <a:spLocks noGrp="1"/>
          </p:cNvSpPr>
          <p:nvPr/>
        </p:nvSpPr>
        <p:spPr>
          <a:xfrm>
            <a:off x="8394192" y="2779776"/>
            <a:ext cx="256032" cy="256032"/>
          </a:xfrm>
          <a:prstGeom prst="ellipse">
            <a:avLst/>
          </a:prstGeom>
          <a:solidFill>
            <a:srgbClr val="2B6CB0"/>
          </a:solidFill>
          <a:ln w="12700" cmpd="sng">
            <a:solidFill>
              <a:srgbClr val="2B6CB0"/>
            </a:solidFill>
            <a:prstDash val="solid"/>
            <a:headEnd type="none" w="sm" len="sm"/>
            <a:tailEnd type="none" w="sm" len="sm"/>
          </a:ln>
        </p:spPr>
        <p:txBody>
          <a:bodyPr spcFirstLastPara="1" wrap="square" lIns="91425" tIns="45700" rIns="91425" bIns="45700" anchor="t">
            <a:noAutofit/>
          </a:bodyPr>
          <a:lstStyle/>
          <a:p>
            <a:pPr marL="0" indent="0" algn="l">
              <a:spcBef>
                <a:spcPts val="0"/>
              </a:spcBef>
              <a:spcAft>
                <a:spcPts val="0"/>
              </a:spcAft>
              <a:buNone/>
            </a:pPr>
            <a:endParaRPr/>
          </a:p>
        </p:txBody>
      </p:sp>
      <p:sp>
        <p:nvSpPr>
          <p:cNvPr id="157" name="Google Shape;157;p7">
            <a:extLst>
              <a:ext uri="{FF2B5EF4-FFF2-40B4-BE49-F238E27FC236}">
                <a16:creationId xmlns:a16="http://schemas.microsoft.com/office/drawing/2014/main" id="{AB7A27D0-9A25-4193-8B4C-6864650E586B}"/>
              </a:ext>
            </a:extLst>
          </p:cNvPr>
          <p:cNvSpPr>
            <a:spLocks noGrp="1"/>
          </p:cNvSpPr>
          <p:nvPr/>
        </p:nvSpPr>
        <p:spPr>
          <a:xfrm>
            <a:off x="8394192" y="2830068"/>
            <a:ext cx="256032" cy="109728"/>
          </a:xfrm>
          <a:prstGeom prst="rect">
            <a:avLst/>
          </a:prstGeom>
          <a:noFill/>
          <a:ln>
            <a:noFill/>
          </a:ln>
        </p:spPr>
        <p:txBody>
          <a:bodyPr spcFirstLastPara="1" wrap="square" lIns="0" tIns="0" rIns="0" bIns="0" anchor="ctr">
            <a:noAutofit/>
          </a:bodyPr>
          <a:lstStyle/>
          <a:p>
            <a:pPr marL="0" indent="0" algn="ctr">
              <a:spcBef>
                <a:spcPts val="0"/>
              </a:spcBef>
              <a:spcAft>
                <a:spcPts val="0"/>
              </a:spcAft>
              <a:buNone/>
            </a:pPr>
            <a:endParaRPr/>
          </a:p>
        </p:txBody>
      </p:sp>
      <p:sp>
        <p:nvSpPr>
          <p:cNvPr id="158" name="Google Shape;158;p7">
            <a:extLst>
              <a:ext uri="{FF2B5EF4-FFF2-40B4-BE49-F238E27FC236}">
                <a16:creationId xmlns:a16="http://schemas.microsoft.com/office/drawing/2014/main" id="{E9701341-0856-4F78-B4B9-247E0C5E4FDA}"/>
              </a:ext>
            </a:extLst>
          </p:cNvPr>
          <p:cNvSpPr>
            <a:spLocks noGrp="1"/>
          </p:cNvSpPr>
          <p:nvPr/>
        </p:nvSpPr>
        <p:spPr>
          <a:xfrm>
            <a:off x="8759952" y="2807208"/>
            <a:ext cx="1645920" cy="146304"/>
          </a:xfrm>
          <a:prstGeom prst="rect">
            <a:avLst/>
          </a:prstGeom>
          <a:noFill/>
          <a:ln>
            <a:noFill/>
          </a:ln>
        </p:spPr>
        <p:txBody>
          <a:bodyPr spcFirstLastPara="1" wrap="square" lIns="0" tIns="0" rIns="0" bIns="0" anchor="ctr">
            <a:noAutofit/>
          </a:bodyPr>
          <a:lstStyle/>
          <a:p>
            <a:pPr marL="0" indent="0" algn="l">
              <a:spcBef>
                <a:spcPts val="0"/>
              </a:spcBef>
              <a:spcAft>
                <a:spcPts val="0"/>
              </a:spcAft>
              <a:buNone/>
            </a:pPr>
            <a:r>
              <a:rPr sz="1100">
                <a:solidFill>
                  <a:srgbClr val="111827"/>
                </a:solidFill>
                <a:latin typeface="Arial"/>
                <a:ea typeface="Arial"/>
                <a:cs typeface="Arial"/>
              </a:rPr>
              <a:t>Ackley global</a:t>
            </a:r>
          </a:p>
        </p:txBody>
      </p:sp>
      <p:sp>
        <p:nvSpPr>
          <p:cNvPr id="159" name="Google Shape;159;p7">
            <a:extLst>
              <a:ext uri="{FF2B5EF4-FFF2-40B4-BE49-F238E27FC236}">
                <a16:creationId xmlns:a16="http://schemas.microsoft.com/office/drawing/2014/main" id="{F95B15A3-A8D8-454A-B209-1D7389E982E8}"/>
              </a:ext>
            </a:extLst>
          </p:cNvPr>
          <p:cNvSpPr>
            <a:spLocks noGrp="1"/>
          </p:cNvSpPr>
          <p:nvPr/>
        </p:nvSpPr>
        <p:spPr>
          <a:xfrm>
            <a:off x="10652760" y="2807208"/>
            <a:ext cx="685800" cy="146304"/>
          </a:xfrm>
          <a:prstGeom prst="rect">
            <a:avLst/>
          </a:prstGeom>
          <a:noFill/>
          <a:ln>
            <a:noFill/>
          </a:ln>
        </p:spPr>
        <p:txBody>
          <a:bodyPr spcFirstLastPara="1" wrap="square" lIns="0" tIns="0" rIns="0" bIns="0" anchor="ctr">
            <a:noAutofit/>
          </a:bodyPr>
          <a:lstStyle/>
          <a:p>
            <a:pPr marL="0" indent="0" algn="r">
              <a:spcBef>
                <a:spcPts val="0"/>
              </a:spcBef>
              <a:spcAft>
                <a:spcPts val="0"/>
              </a:spcAft>
              <a:buNone/>
            </a:pPr>
            <a:r>
              <a:rPr sz="1100" b="1">
                <a:solidFill>
                  <a:srgbClr val="2B6CB0"/>
                </a:solidFill>
                <a:latin typeface="Arial"/>
                <a:ea typeface="Arial"/>
                <a:cs typeface="Arial"/>
              </a:rPr>
              <a:t>17.59%</a:t>
            </a:r>
          </a:p>
        </p:txBody>
      </p:sp>
      <p:sp>
        <p:nvSpPr>
          <p:cNvPr id="160" name="Google Shape;160;p7">
            <a:extLst>
              <a:ext uri="{FF2B5EF4-FFF2-40B4-BE49-F238E27FC236}">
                <a16:creationId xmlns:a16="http://schemas.microsoft.com/office/drawing/2014/main" id="{E5E03697-6340-46A6-8DF4-DFA6818BBF51}"/>
              </a:ext>
            </a:extLst>
          </p:cNvPr>
          <p:cNvSpPr>
            <a:spLocks noGrp="1"/>
          </p:cNvSpPr>
          <p:nvPr/>
        </p:nvSpPr>
        <p:spPr>
          <a:xfrm>
            <a:off x="8394192" y="3310128"/>
            <a:ext cx="256032" cy="256032"/>
          </a:xfrm>
          <a:prstGeom prst="ellipse">
            <a:avLst/>
          </a:prstGeom>
          <a:solidFill>
            <a:srgbClr val="9F1239"/>
          </a:solidFill>
          <a:ln w="12700" cmpd="sng">
            <a:solidFill>
              <a:srgbClr val="9F1239"/>
            </a:solidFill>
            <a:prstDash val="solid"/>
            <a:headEnd type="none" w="sm" len="sm"/>
            <a:tailEnd type="none" w="sm" len="sm"/>
          </a:ln>
        </p:spPr>
        <p:txBody>
          <a:bodyPr spcFirstLastPara="1" wrap="square" lIns="91425" tIns="45700" rIns="91425" bIns="45700" anchor="t">
            <a:noAutofit/>
          </a:bodyPr>
          <a:lstStyle/>
          <a:p>
            <a:pPr marL="0" indent="0" algn="l">
              <a:spcBef>
                <a:spcPts val="0"/>
              </a:spcBef>
              <a:spcAft>
                <a:spcPts val="0"/>
              </a:spcAft>
              <a:buNone/>
            </a:pPr>
            <a:endParaRPr/>
          </a:p>
        </p:txBody>
      </p:sp>
      <p:sp>
        <p:nvSpPr>
          <p:cNvPr id="161" name="Google Shape;161;p7">
            <a:extLst>
              <a:ext uri="{FF2B5EF4-FFF2-40B4-BE49-F238E27FC236}">
                <a16:creationId xmlns:a16="http://schemas.microsoft.com/office/drawing/2014/main" id="{A5148F75-34CC-44D7-93B8-B4B7A16B144F}"/>
              </a:ext>
            </a:extLst>
          </p:cNvPr>
          <p:cNvSpPr>
            <a:spLocks noGrp="1"/>
          </p:cNvSpPr>
          <p:nvPr/>
        </p:nvSpPr>
        <p:spPr>
          <a:xfrm>
            <a:off x="8394192" y="3360420"/>
            <a:ext cx="256032" cy="109728"/>
          </a:xfrm>
          <a:prstGeom prst="rect">
            <a:avLst/>
          </a:prstGeom>
          <a:noFill/>
          <a:ln>
            <a:noFill/>
          </a:ln>
        </p:spPr>
        <p:txBody>
          <a:bodyPr spcFirstLastPara="1" wrap="square" lIns="0" tIns="0" rIns="0" bIns="0" anchor="ctr">
            <a:noAutofit/>
          </a:bodyPr>
          <a:lstStyle/>
          <a:p>
            <a:pPr marL="0" indent="0" algn="ctr">
              <a:spcBef>
                <a:spcPts val="0"/>
              </a:spcBef>
              <a:spcAft>
                <a:spcPts val="0"/>
              </a:spcAft>
              <a:buNone/>
            </a:pPr>
            <a:endParaRPr/>
          </a:p>
        </p:txBody>
      </p:sp>
      <p:sp>
        <p:nvSpPr>
          <p:cNvPr id="162" name="Google Shape;162;p7">
            <a:extLst>
              <a:ext uri="{FF2B5EF4-FFF2-40B4-BE49-F238E27FC236}">
                <a16:creationId xmlns:a16="http://schemas.microsoft.com/office/drawing/2014/main" id="{DF3D2CE1-3B88-44FC-A57D-FD41D3DE463C}"/>
              </a:ext>
            </a:extLst>
          </p:cNvPr>
          <p:cNvSpPr>
            <a:spLocks noGrp="1"/>
          </p:cNvSpPr>
          <p:nvPr/>
        </p:nvSpPr>
        <p:spPr>
          <a:xfrm>
            <a:off x="8759952" y="3337560"/>
            <a:ext cx="1645920" cy="146304"/>
          </a:xfrm>
          <a:prstGeom prst="rect">
            <a:avLst/>
          </a:prstGeom>
          <a:noFill/>
          <a:ln>
            <a:noFill/>
          </a:ln>
        </p:spPr>
        <p:txBody>
          <a:bodyPr spcFirstLastPara="1" wrap="square" lIns="0" tIns="0" rIns="0" bIns="0" anchor="ctr">
            <a:noAutofit/>
          </a:bodyPr>
          <a:lstStyle/>
          <a:p>
            <a:pPr marL="0" indent="0" algn="l">
              <a:spcBef>
                <a:spcPts val="0"/>
              </a:spcBef>
              <a:spcAft>
                <a:spcPts val="0"/>
              </a:spcAft>
              <a:buNone/>
            </a:pPr>
            <a:r>
              <a:rPr sz="1100">
                <a:solidFill>
                  <a:srgbClr val="111827"/>
                </a:solidFill>
                <a:latin typeface="Arial"/>
                <a:ea typeface="Arial"/>
                <a:cs typeface="Arial"/>
              </a:rPr>
              <a:t>Ackley q20/q30</a:t>
            </a:r>
          </a:p>
        </p:txBody>
      </p:sp>
      <p:sp>
        <p:nvSpPr>
          <p:cNvPr id="163" name="Google Shape;163;p7">
            <a:extLst>
              <a:ext uri="{FF2B5EF4-FFF2-40B4-BE49-F238E27FC236}">
                <a16:creationId xmlns:a16="http://schemas.microsoft.com/office/drawing/2014/main" id="{B12A205E-D8DE-41F3-9E43-CCD44B8E2290}"/>
              </a:ext>
            </a:extLst>
          </p:cNvPr>
          <p:cNvSpPr>
            <a:spLocks noGrp="1"/>
          </p:cNvSpPr>
          <p:nvPr/>
        </p:nvSpPr>
        <p:spPr>
          <a:xfrm>
            <a:off x="10652760" y="3337560"/>
            <a:ext cx="685800" cy="146304"/>
          </a:xfrm>
          <a:prstGeom prst="rect">
            <a:avLst/>
          </a:prstGeom>
          <a:noFill/>
          <a:ln>
            <a:noFill/>
          </a:ln>
        </p:spPr>
        <p:txBody>
          <a:bodyPr spcFirstLastPara="1" wrap="square" lIns="0" tIns="0" rIns="0" bIns="0" anchor="ctr">
            <a:noAutofit/>
          </a:bodyPr>
          <a:lstStyle/>
          <a:p>
            <a:pPr marL="0" indent="0" algn="r">
              <a:spcBef>
                <a:spcPts val="0"/>
              </a:spcBef>
              <a:spcAft>
                <a:spcPts val="0"/>
              </a:spcAft>
              <a:buNone/>
            </a:pPr>
            <a:r>
              <a:rPr sz="1100" b="1">
                <a:solidFill>
                  <a:srgbClr val="9F1239"/>
                </a:solidFill>
                <a:latin typeface="Arial"/>
                <a:ea typeface="Arial"/>
                <a:cs typeface="Arial"/>
              </a:rPr>
              <a:t>41.75 / 37.97%</a:t>
            </a:r>
          </a:p>
        </p:txBody>
      </p:sp>
      <p:sp>
        <p:nvSpPr>
          <p:cNvPr id="164" name="Google Shape;164;p7">
            <a:extLst>
              <a:ext uri="{FF2B5EF4-FFF2-40B4-BE49-F238E27FC236}">
                <a16:creationId xmlns:a16="http://schemas.microsoft.com/office/drawing/2014/main" id="{37703292-23A3-435C-B573-A0C0AF7909A9}"/>
              </a:ext>
            </a:extLst>
          </p:cNvPr>
          <p:cNvSpPr>
            <a:spLocks noGrp="1"/>
          </p:cNvSpPr>
          <p:nvPr/>
        </p:nvSpPr>
        <p:spPr>
          <a:xfrm>
            <a:off x="8394192" y="3840480"/>
            <a:ext cx="256032" cy="256032"/>
          </a:xfrm>
          <a:prstGeom prst="ellipse">
            <a:avLst/>
          </a:prstGeom>
          <a:solidFill>
            <a:srgbClr val="6B7280"/>
          </a:solidFill>
          <a:ln w="12700" cmpd="sng">
            <a:solidFill>
              <a:srgbClr val="6B7280"/>
            </a:solidFill>
            <a:prstDash val="solid"/>
            <a:headEnd type="none" w="sm" len="sm"/>
            <a:tailEnd type="none" w="sm" len="sm"/>
          </a:ln>
        </p:spPr>
        <p:txBody>
          <a:bodyPr spcFirstLastPara="1" wrap="square" lIns="91425" tIns="45700" rIns="91425" bIns="45700" anchor="t">
            <a:noAutofit/>
          </a:bodyPr>
          <a:lstStyle/>
          <a:p>
            <a:pPr marL="0" indent="0" algn="l">
              <a:spcBef>
                <a:spcPts val="0"/>
              </a:spcBef>
              <a:spcAft>
                <a:spcPts val="0"/>
              </a:spcAft>
              <a:buNone/>
            </a:pPr>
            <a:endParaRPr/>
          </a:p>
        </p:txBody>
      </p:sp>
      <p:sp>
        <p:nvSpPr>
          <p:cNvPr id="165" name="Google Shape;165;p7">
            <a:extLst>
              <a:ext uri="{FF2B5EF4-FFF2-40B4-BE49-F238E27FC236}">
                <a16:creationId xmlns:a16="http://schemas.microsoft.com/office/drawing/2014/main" id="{CCEDA26D-0C7F-499C-A93D-71C5901F0836}"/>
              </a:ext>
            </a:extLst>
          </p:cNvPr>
          <p:cNvSpPr>
            <a:spLocks noGrp="1"/>
          </p:cNvSpPr>
          <p:nvPr/>
        </p:nvSpPr>
        <p:spPr>
          <a:xfrm>
            <a:off x="8394192" y="3890772"/>
            <a:ext cx="256032" cy="109728"/>
          </a:xfrm>
          <a:prstGeom prst="rect">
            <a:avLst/>
          </a:prstGeom>
          <a:noFill/>
          <a:ln>
            <a:noFill/>
          </a:ln>
        </p:spPr>
        <p:txBody>
          <a:bodyPr spcFirstLastPara="1" wrap="square" lIns="0" tIns="0" rIns="0" bIns="0" anchor="ctr">
            <a:noAutofit/>
          </a:bodyPr>
          <a:lstStyle/>
          <a:p>
            <a:pPr marL="0" indent="0" algn="ctr">
              <a:spcBef>
                <a:spcPts val="0"/>
              </a:spcBef>
              <a:spcAft>
                <a:spcPts val="0"/>
              </a:spcAft>
              <a:buNone/>
            </a:pPr>
            <a:endParaRPr/>
          </a:p>
        </p:txBody>
      </p:sp>
      <p:sp>
        <p:nvSpPr>
          <p:cNvPr id="166" name="Google Shape;166;p7">
            <a:extLst>
              <a:ext uri="{FF2B5EF4-FFF2-40B4-BE49-F238E27FC236}">
                <a16:creationId xmlns:a16="http://schemas.microsoft.com/office/drawing/2014/main" id="{B03D9E3B-68FB-4961-81C8-FE3B9134CE1E}"/>
              </a:ext>
            </a:extLst>
          </p:cNvPr>
          <p:cNvSpPr>
            <a:spLocks noGrp="1"/>
          </p:cNvSpPr>
          <p:nvPr/>
        </p:nvSpPr>
        <p:spPr>
          <a:xfrm>
            <a:off x="8759952" y="3867912"/>
            <a:ext cx="1645920" cy="146304"/>
          </a:xfrm>
          <a:prstGeom prst="rect">
            <a:avLst/>
          </a:prstGeom>
          <a:noFill/>
          <a:ln>
            <a:noFill/>
          </a:ln>
        </p:spPr>
        <p:txBody>
          <a:bodyPr spcFirstLastPara="1" wrap="square" lIns="0" tIns="0" rIns="0" bIns="0" anchor="ctr">
            <a:noAutofit/>
          </a:bodyPr>
          <a:lstStyle/>
          <a:p>
            <a:pPr marL="0" indent="0" algn="l">
              <a:spcBef>
                <a:spcPts val="0"/>
              </a:spcBef>
              <a:spcAft>
                <a:spcPts val="0"/>
              </a:spcAft>
              <a:buNone/>
            </a:pPr>
            <a:r>
              <a:rPr sz="1100">
                <a:solidFill>
                  <a:srgbClr val="111827"/>
                </a:solidFill>
                <a:latin typeface="Arial"/>
                <a:ea typeface="Arial"/>
                <a:cs typeface="Arial"/>
              </a:rPr>
              <a:t>Regressor refs</a:t>
            </a:r>
          </a:p>
        </p:txBody>
      </p:sp>
      <p:sp>
        <p:nvSpPr>
          <p:cNvPr id="167" name="Google Shape;167;p7">
            <a:extLst>
              <a:ext uri="{FF2B5EF4-FFF2-40B4-BE49-F238E27FC236}">
                <a16:creationId xmlns:a16="http://schemas.microsoft.com/office/drawing/2014/main" id="{86A5F43E-5BCE-4F9B-8DCE-209294D4F530}"/>
              </a:ext>
            </a:extLst>
          </p:cNvPr>
          <p:cNvSpPr>
            <a:spLocks noGrp="1"/>
          </p:cNvSpPr>
          <p:nvPr/>
        </p:nvSpPr>
        <p:spPr>
          <a:xfrm>
            <a:off x="10652760" y="3867912"/>
            <a:ext cx="685800" cy="146304"/>
          </a:xfrm>
          <a:prstGeom prst="rect">
            <a:avLst/>
          </a:prstGeom>
          <a:noFill/>
          <a:ln>
            <a:noFill/>
          </a:ln>
        </p:spPr>
        <p:txBody>
          <a:bodyPr spcFirstLastPara="1" wrap="square" lIns="0" tIns="0" rIns="0" bIns="0" anchor="ctr">
            <a:noAutofit/>
          </a:bodyPr>
          <a:lstStyle/>
          <a:p>
            <a:pPr marL="0" indent="0" algn="r">
              <a:spcBef>
                <a:spcPts val="0"/>
              </a:spcBef>
              <a:spcAft>
                <a:spcPts val="0"/>
              </a:spcAft>
              <a:buNone/>
            </a:pPr>
            <a:r>
              <a:rPr sz="1100" b="1">
                <a:solidFill>
                  <a:srgbClr val="6B7280"/>
                </a:solidFill>
                <a:latin typeface="Arial"/>
                <a:ea typeface="Arial"/>
                <a:cs typeface="Arial"/>
              </a:rPr>
              <a:t>still better</a:t>
            </a:r>
          </a:p>
        </p:txBody>
      </p:sp>
      <p:sp>
        <p:nvSpPr>
          <p:cNvPr id="168" name="Google Shape;168;p7">
            <a:extLst>
              <a:ext uri="{FF2B5EF4-FFF2-40B4-BE49-F238E27FC236}">
                <a16:creationId xmlns:a16="http://schemas.microsoft.com/office/drawing/2014/main" id="{145F9010-7029-495B-B7DB-19DB1E0C0348}"/>
              </a:ext>
            </a:extLst>
          </p:cNvPr>
          <p:cNvSpPr>
            <a:spLocks noGrp="1"/>
          </p:cNvSpPr>
          <p:nvPr/>
        </p:nvSpPr>
        <p:spPr>
          <a:xfrm>
            <a:off x="8348472" y="4572000"/>
            <a:ext cx="2907792" cy="731520"/>
          </a:xfrm>
          <a:prstGeom prst="roundRect">
            <a:avLst>
              <a:gd name="adj" fmla="val 11250"/>
            </a:avLst>
          </a:prstGeom>
          <a:solidFill>
            <a:srgbClr val="FFF7ED"/>
          </a:solidFill>
          <a:ln w="10150" cmpd="sng">
            <a:solidFill>
              <a:srgbClr val="FED7AA"/>
            </a:solidFill>
            <a:prstDash val="solid"/>
            <a:headEnd type="none" w="sm" len="sm"/>
            <a:tailEnd type="none" w="sm" len="sm"/>
          </a:ln>
        </p:spPr>
        <p:txBody>
          <a:bodyPr spcFirstLastPara="1" wrap="square" lIns="91425" tIns="45700" rIns="91425" bIns="45700" anchor="t">
            <a:noAutofit/>
          </a:bodyPr>
          <a:lstStyle/>
          <a:p>
            <a:pPr marL="0" indent="0" algn="l">
              <a:spcBef>
                <a:spcPts val="0"/>
              </a:spcBef>
              <a:spcAft>
                <a:spcPts val="0"/>
              </a:spcAft>
              <a:buNone/>
            </a:pPr>
            <a:endParaRPr/>
          </a:p>
        </p:txBody>
      </p:sp>
      <p:sp>
        <p:nvSpPr>
          <p:cNvPr id="169" name="Google Shape;169;p7">
            <a:extLst>
              <a:ext uri="{FF2B5EF4-FFF2-40B4-BE49-F238E27FC236}">
                <a16:creationId xmlns:a16="http://schemas.microsoft.com/office/drawing/2014/main" id="{5E225263-EFAB-4A3D-8ACB-A210C3D77A46}"/>
              </a:ext>
            </a:extLst>
          </p:cNvPr>
          <p:cNvSpPr>
            <a:spLocks noGrp="1"/>
          </p:cNvSpPr>
          <p:nvPr/>
        </p:nvSpPr>
        <p:spPr>
          <a:xfrm>
            <a:off x="8549640" y="4709160"/>
            <a:ext cx="1188720" cy="137160"/>
          </a:xfrm>
          <a:prstGeom prst="rect">
            <a:avLst/>
          </a:prstGeom>
          <a:noFill/>
          <a:ln>
            <a:noFill/>
          </a:ln>
        </p:spPr>
        <p:txBody>
          <a:bodyPr spcFirstLastPara="1" wrap="square" lIns="0" tIns="0" rIns="0" bIns="0" anchor="ctr">
            <a:noAutofit/>
          </a:bodyPr>
          <a:lstStyle/>
          <a:p>
            <a:pPr marL="0" indent="0" algn="l">
              <a:spcBef>
                <a:spcPts val="0"/>
              </a:spcBef>
              <a:spcAft>
                <a:spcPts val="0"/>
              </a:spcAft>
              <a:buNone/>
            </a:pPr>
            <a:r>
              <a:rPr sz="1100" b="1">
                <a:solidFill>
                  <a:srgbClr val="B7791F"/>
                </a:solidFill>
                <a:latin typeface="Arial"/>
                <a:ea typeface="Arial"/>
                <a:cs typeface="Arial"/>
              </a:rPr>
              <a:t>Safe wording</a:t>
            </a:r>
          </a:p>
        </p:txBody>
      </p:sp>
      <p:sp>
        <p:nvSpPr>
          <p:cNvPr id="170" name="Google Shape;170;p7">
            <a:extLst>
              <a:ext uri="{FF2B5EF4-FFF2-40B4-BE49-F238E27FC236}">
                <a16:creationId xmlns:a16="http://schemas.microsoft.com/office/drawing/2014/main" id="{DA9C74D6-3B3A-426C-914F-703AA59F43CF}"/>
              </a:ext>
            </a:extLst>
          </p:cNvPr>
          <p:cNvSpPr>
            <a:spLocks noGrp="1"/>
          </p:cNvSpPr>
          <p:nvPr/>
        </p:nvSpPr>
        <p:spPr>
          <a:xfrm>
            <a:off x="8549640" y="4956048"/>
            <a:ext cx="2514600" cy="173736"/>
          </a:xfrm>
          <a:prstGeom prst="rect">
            <a:avLst/>
          </a:prstGeom>
          <a:noFill/>
          <a:ln>
            <a:noFill/>
          </a:ln>
        </p:spPr>
        <p:txBody>
          <a:bodyPr spcFirstLastPara="1" wrap="square" lIns="0" tIns="0" rIns="0" bIns="0" anchor="ctr">
            <a:noAutofit/>
          </a:bodyPr>
          <a:lstStyle/>
          <a:p>
            <a:pPr marL="0" indent="0" algn="l">
              <a:spcBef>
                <a:spcPts val="0"/>
              </a:spcBef>
              <a:spcAft>
                <a:spcPts val="0"/>
              </a:spcAft>
              <a:buNone/>
            </a:pPr>
            <a:r>
              <a:rPr sz="1100">
                <a:solidFill>
                  <a:srgbClr val="4B5563"/>
                </a:solidFill>
                <a:latin typeface="Arial"/>
                <a:ea typeface="Arial"/>
                <a:cs typeface="Arial"/>
              </a:rPr>
              <a:t>Surrogate choice alone did not solve boundary learning under the fixed kernel.</a:t>
            </a:r>
          </a:p>
        </p:txBody>
      </p:sp>
      <p:cxnSp>
        <p:nvCxnSpPr>
          <p:cNvPr id="236" name="Google Shape;171;p7"/>
          <p:cNvCxnSpPr/>
          <p:nvPr/>
        </p:nvCxnSpPr>
        <p:spPr>
          <a:xfrm>
            <a:off x="502920" y="6446520"/>
            <a:ext cx="11201400" cy="0"/>
          </a:xfrm>
          <a:prstGeom prst="straightConnector1">
            <a:avLst/>
          </a:prstGeom>
          <a:ln w="9525" cap="flat">
            <a:solidFill>
              <a:srgbClr val="D9DEE8"/>
            </a:solidFill>
            <a:prstDash val="solid"/>
            <a:round/>
            <a:headEnd type="none" w="sm" len="sm"/>
            <a:tailEnd type="none" w="sm" len="sm"/>
          </a:ln>
        </p:spPr>
      </p:cxnSp>
      <p:sp>
        <p:nvSpPr>
          <p:cNvPr id="172" name="Google Shape;172;p7">
            <a:extLst>
              <a:ext uri="{FF2B5EF4-FFF2-40B4-BE49-F238E27FC236}">
                <a16:creationId xmlns:a16="http://schemas.microsoft.com/office/drawing/2014/main" id="{17CE0911-0117-4194-9C8E-3BA8EF3775EE}"/>
              </a:ext>
            </a:extLst>
          </p:cNvPr>
          <p:cNvSpPr>
            <a:spLocks noGrp="1"/>
          </p:cNvSpPr>
          <p:nvPr/>
        </p:nvSpPr>
        <p:spPr>
          <a:xfrm>
            <a:off x="502920" y="6519672"/>
            <a:ext cx="8961120" cy="164592"/>
          </a:xfrm>
          <a:prstGeom prst="rect">
            <a:avLst/>
          </a:prstGeom>
          <a:noFill/>
          <a:ln>
            <a:noFill/>
          </a:ln>
        </p:spPr>
        <p:txBody>
          <a:bodyPr spcFirstLastPara="1" wrap="square" lIns="0" tIns="0" rIns="0" bIns="0" anchor="ctr">
            <a:noAutofit/>
          </a:bodyPr>
          <a:lstStyle/>
          <a:p>
            <a:pPr marL="0" indent="0" algn="l">
              <a:spcBef>
                <a:spcPts val="0"/>
              </a:spcBef>
              <a:spcAft>
                <a:spcPts val="0"/>
              </a:spcAft>
              <a:buNone/>
            </a:pPr>
            <a:r>
              <a:rPr sz="780">
                <a:solidFill>
                  <a:srgbClr val="6B7280"/>
                </a:solidFill>
                <a:latin typeface="Arial"/>
                <a:ea typeface="Arial"/>
                <a:cs typeface="Arial"/>
              </a:rPr>
              <a:t>Week 3 extended update - Sample-Efficient Active Level-Set Estimation - 14</a:t>
            </a:r>
          </a:p>
        </p:txBody>
      </p:sp>
      <p:sp>
        <p:nvSpPr>
          <p:cNvPr id="173" name="Google Shape;173;p7">
            <a:extLst>
              <a:ext uri="{FF2B5EF4-FFF2-40B4-BE49-F238E27FC236}">
                <a16:creationId xmlns:a16="http://schemas.microsoft.com/office/drawing/2014/main" id="{7E348F6B-B4F5-4DD9-851B-450FC1334BE5}"/>
              </a:ext>
            </a:extLst>
          </p:cNvPr>
          <p:cNvSpPr>
            <a:spLocks noGrp="1"/>
          </p:cNvSpPr>
          <p:nvPr/>
        </p:nvSpPr>
        <p:spPr>
          <a:xfrm>
            <a:off x="11521440" y="6492240"/>
            <a:ext cx="228600" cy="164592"/>
          </a:xfrm>
          <a:prstGeom prst="rect">
            <a:avLst/>
          </a:prstGeom>
          <a:noFill/>
          <a:ln>
            <a:noFill/>
          </a:ln>
        </p:spPr>
        <p:txBody>
          <a:bodyPr spcFirstLastPara="1" wrap="square" lIns="0" tIns="0" rIns="0" bIns="0" anchor="ctr">
            <a:noAutofit/>
          </a:bodyPr>
          <a:lstStyle/>
          <a:p>
            <a:pPr marL="0" indent="0" algn="r">
              <a:spcBef>
                <a:spcPts val="0"/>
              </a:spcBef>
              <a:spcAft>
                <a:spcPts val="0"/>
              </a:spcAft>
              <a:buNone/>
            </a:pPr>
            <a:r>
              <a:rPr sz="780">
                <a:solidFill>
                  <a:srgbClr val="6B7280"/>
                </a:solidFill>
                <a:latin typeface="Arial"/>
                <a:ea typeface="Arial"/>
                <a:cs typeface="Arial"/>
              </a:rPr>
              <a:t>14</a:t>
            </a:r>
          </a:p>
        </p:txBody>
      </p:sp>
      <p:graphicFrame>
        <p:nvGraphicFramePr>
          <p:cNvPr id="239" name="Chart"/>
          <p:cNvGraphicFramePr/>
          <p:nvPr/>
        </p:nvGraphicFramePr>
        <p:xfrm>
          <a:off x="502920" y="1319022"/>
          <a:ext cx="7406640" cy="4402836"/>
        </p:xfrm>
        <a:graphic>
          <a:graphicData uri="http://schemas.openxmlformats.org/drawingml/2006/chart">
            <c:chart xmlns:c="http://schemas.openxmlformats.org/drawingml/2006/chart" xmlns:r="http://schemas.openxmlformats.org/officeDocument/2006/relationships" r:id="rId4"/>
          </a:graphicData>
        </a:graphic>
      </p:graphicFrame>
    </p:spTree>
    <p:extLst>
      <p:ext uri="{BB962C8B-B14F-4D97-AF65-F5344CB8AC3E}">
        <p14:creationId xmlns:p14="http://schemas.microsoft.com/office/powerpoint/2010/main" val="1479111479"/>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bg>
      <p:bgPr>
        <a:solidFill>
          <a:srgbClr val="F6F8FC"/>
        </a:solidFill>
        <a:effectLst/>
      </p:bgPr>
    </p:bg>
    <p:spTree>
      <p:nvGrpSpPr>
        <p:cNvPr id="1" name=""/>
        <p:cNvGrpSpPr/>
        <p:nvPr/>
      </p:nvGrpSpPr>
      <p:grpSpPr>
        <a:xfrm>
          <a:off x="0" y="0"/>
          <a:ext cx="0" cy="0"/>
          <a:chOff x="0" y="0"/>
          <a:chExt cx="0" cy="0"/>
        </a:xfrm>
      </p:grpSpPr>
      <p:sp>
        <p:nvSpPr>
          <p:cNvPr id="142" name="Google Shape;142;p7">
            <a:extLst>
              <a:ext uri="{FF2B5EF4-FFF2-40B4-BE49-F238E27FC236}">
                <a16:creationId xmlns:a16="http://schemas.microsoft.com/office/drawing/2014/main" id="{81BA9912-BDB9-4CBD-807E-05E773527849}"/>
              </a:ext>
            </a:extLst>
          </p:cNvPr>
          <p:cNvSpPr>
            <a:spLocks noGrp="1"/>
          </p:cNvSpPr>
          <p:nvPr/>
        </p:nvSpPr>
        <p:spPr>
          <a:xfrm>
            <a:off x="502920" y="329184"/>
            <a:ext cx="10789920" cy="320040"/>
          </a:xfrm>
          <a:prstGeom prst="rect">
            <a:avLst/>
          </a:prstGeom>
          <a:noFill/>
          <a:ln>
            <a:noFill/>
          </a:ln>
        </p:spPr>
        <p:txBody>
          <a:bodyPr spcFirstLastPara="1" wrap="square" lIns="0" tIns="0" rIns="0" bIns="0" anchor="ctr">
            <a:noAutofit/>
          </a:bodyPr>
          <a:lstStyle/>
          <a:p>
            <a:pPr marL="0" indent="0" algn="l">
              <a:spcBef>
                <a:spcPts val="0"/>
              </a:spcBef>
              <a:spcAft>
                <a:spcPts val="0"/>
              </a:spcAft>
              <a:buNone/>
            </a:pPr>
            <a:r>
              <a:rPr sz="2200" b="1">
                <a:solidFill>
                  <a:srgbClr val="1F2A44"/>
                </a:solidFill>
                <a:latin typeface="Play"/>
                <a:ea typeface="Play"/>
                <a:cs typeface="Play"/>
              </a:rPr>
              <a:t>Optimized GPC helps Branin, not Ackley4</a:t>
            </a:r>
          </a:p>
        </p:txBody>
      </p:sp>
      <p:sp>
        <p:nvSpPr>
          <p:cNvPr id="143" name="Google Shape;143;p7">
            <a:extLst>
              <a:ext uri="{FF2B5EF4-FFF2-40B4-BE49-F238E27FC236}">
                <a16:creationId xmlns:a16="http://schemas.microsoft.com/office/drawing/2014/main" id="{5DECCD09-421D-4E02-AD30-9E681AA6585B}"/>
              </a:ext>
            </a:extLst>
          </p:cNvPr>
          <p:cNvSpPr>
            <a:spLocks noGrp="1"/>
          </p:cNvSpPr>
          <p:nvPr/>
        </p:nvSpPr>
        <p:spPr>
          <a:xfrm>
            <a:off x="521208" y="713232"/>
            <a:ext cx="10515600" cy="237744"/>
          </a:xfrm>
          <a:prstGeom prst="rect">
            <a:avLst/>
          </a:prstGeom>
          <a:noFill/>
          <a:ln>
            <a:noFill/>
          </a:ln>
        </p:spPr>
        <p:txBody>
          <a:bodyPr spcFirstLastPara="1" wrap="square" lIns="0" tIns="0" rIns="0" bIns="0" anchor="ctr">
            <a:noAutofit/>
          </a:bodyPr>
          <a:lstStyle/>
          <a:p>
            <a:pPr marL="0" indent="0" algn="l">
              <a:spcBef>
                <a:spcPts val="0"/>
              </a:spcBef>
              <a:spcAft>
                <a:spcPts val="0"/>
              </a:spcAft>
              <a:buNone/>
            </a:pPr>
            <a:r>
              <a:rPr sz="1050">
                <a:solidFill>
                  <a:srgbClr val="4B5563"/>
                </a:solidFill>
                <a:latin typeface="Arial"/>
                <a:ea typeface="Arial"/>
                <a:cs typeface="Arial"/>
              </a:rPr>
              <a:t>Kernel learning changed the classifier story, but the improvement did not transfer to the hard 4D benchmark.</a:t>
            </a:r>
          </a:p>
        </p:txBody>
      </p:sp>
      <p:sp>
        <p:nvSpPr>
          <p:cNvPr id="144" name="Google Shape;144;p7">
            <a:extLst>
              <a:ext uri="{FF2B5EF4-FFF2-40B4-BE49-F238E27FC236}">
                <a16:creationId xmlns:a16="http://schemas.microsoft.com/office/drawing/2014/main" id="{9D89FC33-07A9-4D22-BB7C-0AD9052EA6ED}"/>
              </a:ext>
            </a:extLst>
          </p:cNvPr>
          <p:cNvSpPr>
            <a:spLocks noGrp="1"/>
          </p:cNvSpPr>
          <p:nvPr/>
        </p:nvSpPr>
        <p:spPr>
          <a:xfrm>
            <a:off x="502920" y="1051560"/>
            <a:ext cx="7406640" cy="4937760"/>
          </a:xfrm>
          <a:prstGeom prst="roundRect">
            <a:avLst>
              <a:gd name="adj" fmla="val 1667"/>
            </a:avLst>
          </a:prstGeom>
          <a:solidFill>
            <a:srgbClr val="FFFFFF"/>
          </a:solidFill>
          <a:ln w="10150" cmpd="sng">
            <a:solidFill>
              <a:srgbClr val="D9DEE8"/>
            </a:solidFill>
            <a:prstDash val="solid"/>
            <a:headEnd type="none" w="sm" len="sm"/>
            <a:tailEnd type="none" w="sm" len="sm"/>
          </a:ln>
        </p:spPr>
        <p:txBody>
          <a:bodyPr spcFirstLastPara="1" wrap="square" lIns="91425" tIns="45700" rIns="91425" bIns="45700" anchor="t">
            <a:noAutofit/>
          </a:bodyPr>
          <a:lstStyle/>
          <a:p>
            <a:pPr marL="0" indent="0" algn="l">
              <a:spcBef>
                <a:spcPts val="0"/>
              </a:spcBef>
              <a:spcAft>
                <a:spcPts val="0"/>
              </a:spcAft>
              <a:buNone/>
            </a:pPr>
            <a:endParaRPr/>
          </a:p>
        </p:txBody>
      </p:sp>
      <p:pic>
        <p:nvPicPr>
          <p:cNvPr id="210" name="Google Shape;145;p7"/>
          <p:cNvPicPr>
            <a:picLocks noChangeAspect="1"/>
          </p:cNvPicPr>
          <p:nvPr/>
        </p:nvPicPr>
        <p:blipFill rotWithShape="1">
          <a:blip r:embed="rId3">
            <a:alphaModFix/>
          </a:blip>
          <a:srcRect t="20278" b="20278"/>
          <a:stretch>
            <a:fillRect/>
          </a:stretch>
        </p:blipFill>
        <p:spPr>
          <a:xfrm>
            <a:off x="502920" y="1319022"/>
            <a:ext cx="7406640" cy="4402836"/>
          </a:xfrm>
          <a:prstGeom prst="rect">
            <a:avLst/>
          </a:prstGeom>
          <a:ln>
            <a:noFill/>
          </a:ln>
        </p:spPr>
      </p:pic>
      <p:sp>
        <p:nvSpPr>
          <p:cNvPr id="146" name="Google Shape;146;p7">
            <a:extLst>
              <a:ext uri="{FF2B5EF4-FFF2-40B4-BE49-F238E27FC236}">
                <a16:creationId xmlns:a16="http://schemas.microsoft.com/office/drawing/2014/main" id="{53A6A1D4-98A3-4627-9A37-EB28651795A5}"/>
              </a:ext>
            </a:extLst>
          </p:cNvPr>
          <p:cNvSpPr>
            <a:spLocks noGrp="1"/>
          </p:cNvSpPr>
          <p:nvPr/>
        </p:nvSpPr>
        <p:spPr>
          <a:xfrm>
            <a:off x="8156448" y="1051560"/>
            <a:ext cx="3456432" cy="4937760"/>
          </a:xfrm>
          <a:prstGeom prst="roundRect">
            <a:avLst>
              <a:gd name="adj" fmla="val 2381"/>
            </a:avLst>
          </a:prstGeom>
          <a:solidFill>
            <a:srgbClr val="FFFFFF"/>
          </a:solidFill>
          <a:ln w="10150" cmpd="sng">
            <a:solidFill>
              <a:srgbClr val="D9DEE8"/>
            </a:solidFill>
            <a:prstDash val="solid"/>
            <a:headEnd type="none" w="sm" len="sm"/>
            <a:tailEnd type="none" w="sm" len="sm"/>
          </a:ln>
          <a:effectLst>
            <a:outerShdw blurRad="15240" dist="50800" dir="2700000" algn="bl" rotWithShape="0">
              <a:srgbClr val="000000">
                <a:alpha val="7843"/>
              </a:srgbClr>
            </a:outerShdw>
          </a:effectLst>
        </p:spPr>
        <p:txBody>
          <a:bodyPr spcFirstLastPara="1" wrap="square" lIns="91425" tIns="45700" rIns="91425" bIns="45700" anchor="t">
            <a:noAutofit/>
          </a:bodyPr>
          <a:lstStyle/>
          <a:p>
            <a:pPr marL="0" indent="0" algn="l">
              <a:spcBef>
                <a:spcPts val="0"/>
              </a:spcBef>
              <a:spcAft>
                <a:spcPts val="0"/>
              </a:spcAft>
              <a:buNone/>
            </a:pPr>
            <a:endParaRPr/>
          </a:p>
        </p:txBody>
      </p:sp>
      <p:sp>
        <p:nvSpPr>
          <p:cNvPr id="147" name="Google Shape;147;p7">
            <a:extLst>
              <a:ext uri="{FF2B5EF4-FFF2-40B4-BE49-F238E27FC236}">
                <a16:creationId xmlns:a16="http://schemas.microsoft.com/office/drawing/2014/main" id="{92266219-070C-46E7-84F9-B10E52F98B86}"/>
              </a:ext>
            </a:extLst>
          </p:cNvPr>
          <p:cNvSpPr>
            <a:spLocks noGrp="1"/>
          </p:cNvSpPr>
          <p:nvPr/>
        </p:nvSpPr>
        <p:spPr>
          <a:xfrm>
            <a:off x="8394192" y="1307592"/>
            <a:ext cx="2651760" cy="164592"/>
          </a:xfrm>
          <a:prstGeom prst="rect">
            <a:avLst/>
          </a:prstGeom>
          <a:noFill/>
          <a:ln>
            <a:noFill/>
          </a:ln>
        </p:spPr>
        <p:txBody>
          <a:bodyPr spcFirstLastPara="1" wrap="square" lIns="0" tIns="0" rIns="0" bIns="0" anchor="ctr">
            <a:noAutofit/>
          </a:bodyPr>
          <a:lstStyle/>
          <a:p>
            <a:pPr marL="0" indent="0" algn="l">
              <a:spcBef>
                <a:spcPts val="0"/>
              </a:spcBef>
              <a:spcAft>
                <a:spcPts val="0"/>
              </a:spcAft>
              <a:buNone/>
            </a:pPr>
            <a:r>
              <a:rPr sz="1400" b="1">
                <a:solidFill>
                  <a:srgbClr val="1F2A44"/>
                </a:solidFill>
                <a:latin typeface="Arial"/>
                <a:ea typeface="Arial"/>
                <a:cs typeface="Arial"/>
              </a:rPr>
              <a:t>Best classifier variant</a:t>
            </a:r>
          </a:p>
        </p:txBody>
      </p:sp>
      <p:sp>
        <p:nvSpPr>
          <p:cNvPr id="148" name="Google Shape;148;p7">
            <a:extLst>
              <a:ext uri="{FF2B5EF4-FFF2-40B4-BE49-F238E27FC236}">
                <a16:creationId xmlns:a16="http://schemas.microsoft.com/office/drawing/2014/main" id="{22182E4C-2E3E-4F0D-BA22-C266022CB68F}"/>
              </a:ext>
            </a:extLst>
          </p:cNvPr>
          <p:cNvSpPr>
            <a:spLocks noGrp="1"/>
          </p:cNvSpPr>
          <p:nvPr/>
        </p:nvSpPr>
        <p:spPr>
          <a:xfrm>
            <a:off x="8394192" y="1719072"/>
            <a:ext cx="256032" cy="256032"/>
          </a:xfrm>
          <a:prstGeom prst="ellipse">
            <a:avLst/>
          </a:prstGeom>
          <a:solidFill>
            <a:srgbClr val="B7791F"/>
          </a:solidFill>
          <a:ln w="12700" cmpd="sng">
            <a:solidFill>
              <a:srgbClr val="B7791F"/>
            </a:solidFill>
            <a:prstDash val="solid"/>
            <a:headEnd type="none" w="sm" len="sm"/>
            <a:tailEnd type="none" w="sm" len="sm"/>
          </a:ln>
        </p:spPr>
        <p:txBody>
          <a:bodyPr spcFirstLastPara="1" wrap="square" lIns="91425" tIns="45700" rIns="91425" bIns="45700" anchor="t">
            <a:noAutofit/>
          </a:bodyPr>
          <a:lstStyle/>
          <a:p>
            <a:pPr marL="0" indent="0" algn="l">
              <a:spcBef>
                <a:spcPts val="0"/>
              </a:spcBef>
              <a:spcAft>
                <a:spcPts val="0"/>
              </a:spcAft>
              <a:buNone/>
            </a:pPr>
            <a:endParaRPr/>
          </a:p>
        </p:txBody>
      </p:sp>
      <p:sp>
        <p:nvSpPr>
          <p:cNvPr id="149" name="Google Shape;149;p7">
            <a:extLst>
              <a:ext uri="{FF2B5EF4-FFF2-40B4-BE49-F238E27FC236}">
                <a16:creationId xmlns:a16="http://schemas.microsoft.com/office/drawing/2014/main" id="{83374358-80A8-4BBC-8CEF-3FEE18F3A67E}"/>
              </a:ext>
            </a:extLst>
          </p:cNvPr>
          <p:cNvSpPr>
            <a:spLocks noGrp="1"/>
          </p:cNvSpPr>
          <p:nvPr/>
        </p:nvSpPr>
        <p:spPr>
          <a:xfrm>
            <a:off x="8394192" y="1769364"/>
            <a:ext cx="256032" cy="109728"/>
          </a:xfrm>
          <a:prstGeom prst="rect">
            <a:avLst/>
          </a:prstGeom>
          <a:noFill/>
          <a:ln>
            <a:noFill/>
          </a:ln>
        </p:spPr>
        <p:txBody>
          <a:bodyPr spcFirstLastPara="1" wrap="square" lIns="0" tIns="0" rIns="0" bIns="0" anchor="ctr">
            <a:noAutofit/>
          </a:bodyPr>
          <a:lstStyle/>
          <a:p>
            <a:pPr marL="0" indent="0" algn="ctr">
              <a:spcBef>
                <a:spcPts val="0"/>
              </a:spcBef>
              <a:spcAft>
                <a:spcPts val="0"/>
              </a:spcAft>
              <a:buNone/>
            </a:pPr>
            <a:endParaRPr/>
          </a:p>
        </p:txBody>
      </p:sp>
      <p:sp>
        <p:nvSpPr>
          <p:cNvPr id="150" name="Google Shape;150;p7">
            <a:extLst>
              <a:ext uri="{FF2B5EF4-FFF2-40B4-BE49-F238E27FC236}">
                <a16:creationId xmlns:a16="http://schemas.microsoft.com/office/drawing/2014/main" id="{16738B45-3CB2-4551-9E66-950A18456CF2}"/>
              </a:ext>
            </a:extLst>
          </p:cNvPr>
          <p:cNvSpPr>
            <a:spLocks noGrp="1"/>
          </p:cNvSpPr>
          <p:nvPr/>
        </p:nvSpPr>
        <p:spPr>
          <a:xfrm>
            <a:off x="8759952" y="1746504"/>
            <a:ext cx="1645920" cy="146304"/>
          </a:xfrm>
          <a:prstGeom prst="rect">
            <a:avLst/>
          </a:prstGeom>
          <a:noFill/>
          <a:ln>
            <a:noFill/>
          </a:ln>
        </p:spPr>
        <p:txBody>
          <a:bodyPr spcFirstLastPara="1" wrap="square" lIns="0" tIns="0" rIns="0" bIns="0" anchor="ctr">
            <a:noAutofit/>
          </a:bodyPr>
          <a:lstStyle/>
          <a:p>
            <a:pPr marL="0" indent="0" algn="l">
              <a:spcBef>
                <a:spcPts val="0"/>
              </a:spcBef>
              <a:spcAft>
                <a:spcPts val="0"/>
              </a:spcAft>
              <a:buNone/>
            </a:pPr>
            <a:r>
              <a:rPr sz="1100">
                <a:solidFill>
                  <a:srgbClr val="111827"/>
                </a:solidFill>
                <a:latin typeface="Arial"/>
                <a:ea typeface="Arial"/>
                <a:cs typeface="Arial"/>
              </a:rPr>
              <a:t>Branin ARD global</a:t>
            </a:r>
          </a:p>
        </p:txBody>
      </p:sp>
      <p:sp>
        <p:nvSpPr>
          <p:cNvPr id="151" name="Google Shape;151;p7">
            <a:extLst>
              <a:ext uri="{FF2B5EF4-FFF2-40B4-BE49-F238E27FC236}">
                <a16:creationId xmlns:a16="http://schemas.microsoft.com/office/drawing/2014/main" id="{21764C4C-4E11-40D0-9CFC-959CCFB59BD4}"/>
              </a:ext>
            </a:extLst>
          </p:cNvPr>
          <p:cNvSpPr>
            <a:spLocks noGrp="1"/>
          </p:cNvSpPr>
          <p:nvPr/>
        </p:nvSpPr>
        <p:spPr>
          <a:xfrm>
            <a:off x="10652760" y="1746504"/>
            <a:ext cx="685800" cy="146304"/>
          </a:xfrm>
          <a:prstGeom prst="rect">
            <a:avLst/>
          </a:prstGeom>
          <a:noFill/>
          <a:ln>
            <a:noFill/>
          </a:ln>
        </p:spPr>
        <p:txBody>
          <a:bodyPr spcFirstLastPara="1" wrap="square" lIns="0" tIns="0" rIns="0" bIns="0" anchor="ctr">
            <a:noAutofit/>
          </a:bodyPr>
          <a:lstStyle/>
          <a:p>
            <a:pPr marL="0" indent="0" algn="r">
              <a:spcBef>
                <a:spcPts val="0"/>
              </a:spcBef>
              <a:spcAft>
                <a:spcPts val="0"/>
              </a:spcAft>
              <a:buNone/>
            </a:pPr>
            <a:r>
              <a:rPr sz="1100" b="1">
                <a:solidFill>
                  <a:srgbClr val="B7791F"/>
                </a:solidFill>
                <a:latin typeface="Arial"/>
                <a:ea typeface="Arial"/>
                <a:cs typeface="Arial"/>
              </a:rPr>
              <a:t>3.52%</a:t>
            </a:r>
          </a:p>
        </p:txBody>
      </p:sp>
      <p:sp>
        <p:nvSpPr>
          <p:cNvPr id="152" name="Google Shape;152;p7">
            <a:extLst>
              <a:ext uri="{FF2B5EF4-FFF2-40B4-BE49-F238E27FC236}">
                <a16:creationId xmlns:a16="http://schemas.microsoft.com/office/drawing/2014/main" id="{7419CD7D-D776-4075-97E2-52C7E9F7D61F}"/>
              </a:ext>
            </a:extLst>
          </p:cNvPr>
          <p:cNvSpPr>
            <a:spLocks noGrp="1"/>
          </p:cNvSpPr>
          <p:nvPr/>
        </p:nvSpPr>
        <p:spPr>
          <a:xfrm>
            <a:off x="8394192" y="2249424"/>
            <a:ext cx="256032" cy="256032"/>
          </a:xfrm>
          <a:prstGeom prst="ellipse">
            <a:avLst/>
          </a:prstGeom>
          <a:solidFill>
            <a:srgbClr val="0F8B61"/>
          </a:solidFill>
          <a:ln w="12700" cmpd="sng">
            <a:solidFill>
              <a:srgbClr val="0F8B61"/>
            </a:solidFill>
            <a:prstDash val="solid"/>
            <a:headEnd type="none" w="sm" len="sm"/>
            <a:tailEnd type="none" w="sm" len="sm"/>
          </a:ln>
        </p:spPr>
        <p:txBody>
          <a:bodyPr spcFirstLastPara="1" wrap="square" lIns="91425" tIns="45700" rIns="91425" bIns="45700" anchor="t">
            <a:noAutofit/>
          </a:bodyPr>
          <a:lstStyle/>
          <a:p>
            <a:pPr marL="0" indent="0" algn="l">
              <a:spcBef>
                <a:spcPts val="0"/>
              </a:spcBef>
              <a:spcAft>
                <a:spcPts val="0"/>
              </a:spcAft>
              <a:buNone/>
            </a:pPr>
            <a:endParaRPr/>
          </a:p>
        </p:txBody>
      </p:sp>
      <p:sp>
        <p:nvSpPr>
          <p:cNvPr id="153" name="Google Shape;153;p7">
            <a:extLst>
              <a:ext uri="{FF2B5EF4-FFF2-40B4-BE49-F238E27FC236}">
                <a16:creationId xmlns:a16="http://schemas.microsoft.com/office/drawing/2014/main" id="{FB1F0EE9-FC0F-47C6-984E-CC3D0DACE893}"/>
              </a:ext>
            </a:extLst>
          </p:cNvPr>
          <p:cNvSpPr>
            <a:spLocks noGrp="1"/>
          </p:cNvSpPr>
          <p:nvPr/>
        </p:nvSpPr>
        <p:spPr>
          <a:xfrm>
            <a:off x="8394192" y="2299716"/>
            <a:ext cx="256032" cy="109728"/>
          </a:xfrm>
          <a:prstGeom prst="rect">
            <a:avLst/>
          </a:prstGeom>
          <a:noFill/>
          <a:ln>
            <a:noFill/>
          </a:ln>
        </p:spPr>
        <p:txBody>
          <a:bodyPr spcFirstLastPara="1" wrap="square" lIns="0" tIns="0" rIns="0" bIns="0" anchor="ctr">
            <a:noAutofit/>
          </a:bodyPr>
          <a:lstStyle/>
          <a:p>
            <a:pPr marL="0" indent="0" algn="ctr">
              <a:spcBef>
                <a:spcPts val="0"/>
              </a:spcBef>
              <a:spcAft>
                <a:spcPts val="0"/>
              </a:spcAft>
              <a:buNone/>
            </a:pPr>
            <a:endParaRPr/>
          </a:p>
        </p:txBody>
      </p:sp>
      <p:sp>
        <p:nvSpPr>
          <p:cNvPr id="154" name="Google Shape;154;p7">
            <a:extLst>
              <a:ext uri="{FF2B5EF4-FFF2-40B4-BE49-F238E27FC236}">
                <a16:creationId xmlns:a16="http://schemas.microsoft.com/office/drawing/2014/main" id="{70EC3FD1-AE3D-4D02-92A2-54D41DA802E4}"/>
              </a:ext>
            </a:extLst>
          </p:cNvPr>
          <p:cNvSpPr>
            <a:spLocks noGrp="1"/>
          </p:cNvSpPr>
          <p:nvPr/>
        </p:nvSpPr>
        <p:spPr>
          <a:xfrm>
            <a:off x="8759952" y="2276856"/>
            <a:ext cx="1645920" cy="146304"/>
          </a:xfrm>
          <a:prstGeom prst="rect">
            <a:avLst/>
          </a:prstGeom>
          <a:noFill/>
          <a:ln>
            <a:noFill/>
          </a:ln>
        </p:spPr>
        <p:txBody>
          <a:bodyPr spcFirstLastPara="1" wrap="square" lIns="0" tIns="0" rIns="0" bIns="0" anchor="ctr">
            <a:noAutofit/>
          </a:bodyPr>
          <a:lstStyle/>
          <a:p>
            <a:pPr marL="0" indent="0" algn="l">
              <a:spcBef>
                <a:spcPts val="0"/>
              </a:spcBef>
              <a:spcAft>
                <a:spcPts val="0"/>
              </a:spcAft>
              <a:buNone/>
            </a:pPr>
            <a:r>
              <a:rPr sz="1100">
                <a:solidFill>
                  <a:srgbClr val="111827"/>
                </a:solidFill>
                <a:latin typeface="Arial"/>
                <a:ea typeface="Arial"/>
                <a:cs typeface="Arial"/>
              </a:rPr>
              <a:t>Branin ARD q20</a:t>
            </a:r>
          </a:p>
        </p:txBody>
      </p:sp>
      <p:sp>
        <p:nvSpPr>
          <p:cNvPr id="155" name="Google Shape;155;p7">
            <a:extLst>
              <a:ext uri="{FF2B5EF4-FFF2-40B4-BE49-F238E27FC236}">
                <a16:creationId xmlns:a16="http://schemas.microsoft.com/office/drawing/2014/main" id="{11AF2C08-3973-46A0-A1E4-36DDD4834556}"/>
              </a:ext>
            </a:extLst>
          </p:cNvPr>
          <p:cNvSpPr>
            <a:spLocks noGrp="1"/>
          </p:cNvSpPr>
          <p:nvPr/>
        </p:nvSpPr>
        <p:spPr>
          <a:xfrm>
            <a:off x="10652760" y="2276856"/>
            <a:ext cx="685800" cy="146304"/>
          </a:xfrm>
          <a:prstGeom prst="rect">
            <a:avLst/>
          </a:prstGeom>
          <a:noFill/>
          <a:ln>
            <a:noFill/>
          </a:ln>
        </p:spPr>
        <p:txBody>
          <a:bodyPr spcFirstLastPara="1" wrap="square" lIns="0" tIns="0" rIns="0" bIns="0" anchor="ctr">
            <a:noAutofit/>
          </a:bodyPr>
          <a:lstStyle/>
          <a:p>
            <a:pPr marL="0" indent="0" algn="r">
              <a:spcBef>
                <a:spcPts val="0"/>
              </a:spcBef>
              <a:spcAft>
                <a:spcPts val="0"/>
              </a:spcAft>
              <a:buNone/>
            </a:pPr>
            <a:r>
              <a:rPr sz="1100" b="1">
                <a:solidFill>
                  <a:srgbClr val="0F8B61"/>
                </a:solidFill>
                <a:latin typeface="Arial"/>
                <a:ea typeface="Arial"/>
                <a:cs typeface="Arial"/>
              </a:rPr>
              <a:t>16.38%</a:t>
            </a:r>
          </a:p>
        </p:txBody>
      </p:sp>
      <p:sp>
        <p:nvSpPr>
          <p:cNvPr id="156" name="Google Shape;156;p7">
            <a:extLst>
              <a:ext uri="{FF2B5EF4-FFF2-40B4-BE49-F238E27FC236}">
                <a16:creationId xmlns:a16="http://schemas.microsoft.com/office/drawing/2014/main" id="{B87DFDA3-581C-48C6-ABFC-2A79ECAB14C4}"/>
              </a:ext>
            </a:extLst>
          </p:cNvPr>
          <p:cNvSpPr>
            <a:spLocks noGrp="1"/>
          </p:cNvSpPr>
          <p:nvPr/>
        </p:nvSpPr>
        <p:spPr>
          <a:xfrm>
            <a:off x="8394192" y="2779776"/>
            <a:ext cx="256032" cy="256032"/>
          </a:xfrm>
          <a:prstGeom prst="ellipse">
            <a:avLst/>
          </a:prstGeom>
          <a:solidFill>
            <a:srgbClr val="2B6CB0"/>
          </a:solidFill>
          <a:ln w="12700" cmpd="sng">
            <a:solidFill>
              <a:srgbClr val="2B6CB0"/>
            </a:solidFill>
            <a:prstDash val="solid"/>
            <a:headEnd type="none" w="sm" len="sm"/>
            <a:tailEnd type="none" w="sm" len="sm"/>
          </a:ln>
        </p:spPr>
        <p:txBody>
          <a:bodyPr spcFirstLastPara="1" wrap="square" lIns="91425" tIns="45700" rIns="91425" bIns="45700" anchor="t">
            <a:noAutofit/>
          </a:bodyPr>
          <a:lstStyle/>
          <a:p>
            <a:pPr marL="0" indent="0" algn="l">
              <a:spcBef>
                <a:spcPts val="0"/>
              </a:spcBef>
              <a:spcAft>
                <a:spcPts val="0"/>
              </a:spcAft>
              <a:buNone/>
            </a:pPr>
            <a:endParaRPr/>
          </a:p>
        </p:txBody>
      </p:sp>
      <p:sp>
        <p:nvSpPr>
          <p:cNvPr id="157" name="Google Shape;157;p7">
            <a:extLst>
              <a:ext uri="{FF2B5EF4-FFF2-40B4-BE49-F238E27FC236}">
                <a16:creationId xmlns:a16="http://schemas.microsoft.com/office/drawing/2014/main" id="{AB7A27D0-9A25-4193-8B4C-6864650E586B}"/>
              </a:ext>
            </a:extLst>
          </p:cNvPr>
          <p:cNvSpPr>
            <a:spLocks noGrp="1"/>
          </p:cNvSpPr>
          <p:nvPr/>
        </p:nvSpPr>
        <p:spPr>
          <a:xfrm>
            <a:off x="8394192" y="2830068"/>
            <a:ext cx="256032" cy="109728"/>
          </a:xfrm>
          <a:prstGeom prst="rect">
            <a:avLst/>
          </a:prstGeom>
          <a:noFill/>
          <a:ln>
            <a:noFill/>
          </a:ln>
        </p:spPr>
        <p:txBody>
          <a:bodyPr spcFirstLastPara="1" wrap="square" lIns="0" tIns="0" rIns="0" bIns="0" anchor="ctr">
            <a:noAutofit/>
          </a:bodyPr>
          <a:lstStyle/>
          <a:p>
            <a:pPr marL="0" indent="0" algn="ctr">
              <a:spcBef>
                <a:spcPts val="0"/>
              </a:spcBef>
              <a:spcAft>
                <a:spcPts val="0"/>
              </a:spcAft>
              <a:buNone/>
            </a:pPr>
            <a:endParaRPr/>
          </a:p>
        </p:txBody>
      </p:sp>
      <p:sp>
        <p:nvSpPr>
          <p:cNvPr id="158" name="Google Shape;158;p7">
            <a:extLst>
              <a:ext uri="{FF2B5EF4-FFF2-40B4-BE49-F238E27FC236}">
                <a16:creationId xmlns:a16="http://schemas.microsoft.com/office/drawing/2014/main" id="{E9701341-0856-4F78-B4B9-247E0C5E4FDA}"/>
              </a:ext>
            </a:extLst>
          </p:cNvPr>
          <p:cNvSpPr>
            <a:spLocks noGrp="1"/>
          </p:cNvSpPr>
          <p:nvPr/>
        </p:nvSpPr>
        <p:spPr>
          <a:xfrm>
            <a:off x="8759952" y="2807208"/>
            <a:ext cx="1645920" cy="146304"/>
          </a:xfrm>
          <a:prstGeom prst="rect">
            <a:avLst/>
          </a:prstGeom>
          <a:noFill/>
          <a:ln>
            <a:noFill/>
          </a:ln>
        </p:spPr>
        <p:txBody>
          <a:bodyPr spcFirstLastPara="1" wrap="square" lIns="0" tIns="0" rIns="0" bIns="0" anchor="ctr">
            <a:noAutofit/>
          </a:bodyPr>
          <a:lstStyle/>
          <a:p>
            <a:pPr marL="0" indent="0" algn="l">
              <a:spcBef>
                <a:spcPts val="0"/>
              </a:spcBef>
              <a:spcAft>
                <a:spcPts val="0"/>
              </a:spcAft>
              <a:buNone/>
            </a:pPr>
            <a:r>
              <a:rPr sz="1100">
                <a:solidFill>
                  <a:srgbClr val="111827"/>
                </a:solidFill>
                <a:latin typeface="Arial"/>
                <a:ea typeface="Arial"/>
                <a:cs typeface="Arial"/>
              </a:rPr>
              <a:t>Branin ARD q30</a:t>
            </a:r>
          </a:p>
        </p:txBody>
      </p:sp>
      <p:sp>
        <p:nvSpPr>
          <p:cNvPr id="159" name="Google Shape;159;p7">
            <a:extLst>
              <a:ext uri="{FF2B5EF4-FFF2-40B4-BE49-F238E27FC236}">
                <a16:creationId xmlns:a16="http://schemas.microsoft.com/office/drawing/2014/main" id="{F95B15A3-A8D8-454A-B209-1D7389E982E8}"/>
              </a:ext>
            </a:extLst>
          </p:cNvPr>
          <p:cNvSpPr>
            <a:spLocks noGrp="1"/>
          </p:cNvSpPr>
          <p:nvPr/>
        </p:nvSpPr>
        <p:spPr>
          <a:xfrm>
            <a:off x="10652760" y="2807208"/>
            <a:ext cx="685800" cy="146304"/>
          </a:xfrm>
          <a:prstGeom prst="rect">
            <a:avLst/>
          </a:prstGeom>
          <a:noFill/>
          <a:ln>
            <a:noFill/>
          </a:ln>
        </p:spPr>
        <p:txBody>
          <a:bodyPr spcFirstLastPara="1" wrap="square" lIns="0" tIns="0" rIns="0" bIns="0" anchor="ctr">
            <a:noAutofit/>
          </a:bodyPr>
          <a:lstStyle/>
          <a:p>
            <a:pPr marL="0" indent="0" algn="r">
              <a:spcBef>
                <a:spcPts val="0"/>
              </a:spcBef>
              <a:spcAft>
                <a:spcPts val="0"/>
              </a:spcAft>
              <a:buNone/>
            </a:pPr>
            <a:r>
              <a:rPr sz="1100" b="1">
                <a:solidFill>
                  <a:srgbClr val="2B6CB0"/>
                </a:solidFill>
                <a:latin typeface="Arial"/>
                <a:ea typeface="Arial"/>
                <a:cs typeface="Arial"/>
              </a:rPr>
              <a:t>11.43%</a:t>
            </a:r>
          </a:p>
        </p:txBody>
      </p:sp>
      <p:sp>
        <p:nvSpPr>
          <p:cNvPr id="160" name="Google Shape;160;p7">
            <a:extLst>
              <a:ext uri="{FF2B5EF4-FFF2-40B4-BE49-F238E27FC236}">
                <a16:creationId xmlns:a16="http://schemas.microsoft.com/office/drawing/2014/main" id="{E5E03697-6340-46A6-8DF4-DFA6818BBF51}"/>
              </a:ext>
            </a:extLst>
          </p:cNvPr>
          <p:cNvSpPr>
            <a:spLocks noGrp="1"/>
          </p:cNvSpPr>
          <p:nvPr/>
        </p:nvSpPr>
        <p:spPr>
          <a:xfrm>
            <a:off x="8394192" y="3310128"/>
            <a:ext cx="256032" cy="256032"/>
          </a:xfrm>
          <a:prstGeom prst="ellipse">
            <a:avLst/>
          </a:prstGeom>
          <a:solidFill>
            <a:srgbClr val="9F1239"/>
          </a:solidFill>
          <a:ln w="12700" cmpd="sng">
            <a:solidFill>
              <a:srgbClr val="9F1239"/>
            </a:solidFill>
            <a:prstDash val="solid"/>
            <a:headEnd type="none" w="sm" len="sm"/>
            <a:tailEnd type="none" w="sm" len="sm"/>
          </a:ln>
        </p:spPr>
        <p:txBody>
          <a:bodyPr spcFirstLastPara="1" wrap="square" lIns="91425" tIns="45700" rIns="91425" bIns="45700" anchor="t">
            <a:noAutofit/>
          </a:bodyPr>
          <a:lstStyle/>
          <a:p>
            <a:pPr marL="0" indent="0" algn="l">
              <a:spcBef>
                <a:spcPts val="0"/>
              </a:spcBef>
              <a:spcAft>
                <a:spcPts val="0"/>
              </a:spcAft>
              <a:buNone/>
            </a:pPr>
            <a:endParaRPr/>
          </a:p>
        </p:txBody>
      </p:sp>
      <p:sp>
        <p:nvSpPr>
          <p:cNvPr id="161" name="Google Shape;161;p7">
            <a:extLst>
              <a:ext uri="{FF2B5EF4-FFF2-40B4-BE49-F238E27FC236}">
                <a16:creationId xmlns:a16="http://schemas.microsoft.com/office/drawing/2014/main" id="{A5148F75-34CC-44D7-93B8-B4B7A16B144F}"/>
              </a:ext>
            </a:extLst>
          </p:cNvPr>
          <p:cNvSpPr>
            <a:spLocks noGrp="1"/>
          </p:cNvSpPr>
          <p:nvPr/>
        </p:nvSpPr>
        <p:spPr>
          <a:xfrm>
            <a:off x="8394192" y="3360420"/>
            <a:ext cx="256032" cy="109728"/>
          </a:xfrm>
          <a:prstGeom prst="rect">
            <a:avLst/>
          </a:prstGeom>
          <a:noFill/>
          <a:ln>
            <a:noFill/>
          </a:ln>
        </p:spPr>
        <p:txBody>
          <a:bodyPr spcFirstLastPara="1" wrap="square" lIns="0" tIns="0" rIns="0" bIns="0" anchor="ctr">
            <a:noAutofit/>
          </a:bodyPr>
          <a:lstStyle/>
          <a:p>
            <a:pPr marL="0" indent="0" algn="ctr">
              <a:spcBef>
                <a:spcPts val="0"/>
              </a:spcBef>
              <a:spcAft>
                <a:spcPts val="0"/>
              </a:spcAft>
              <a:buNone/>
            </a:pPr>
            <a:endParaRPr/>
          </a:p>
        </p:txBody>
      </p:sp>
      <p:sp>
        <p:nvSpPr>
          <p:cNvPr id="162" name="Google Shape;162;p7">
            <a:extLst>
              <a:ext uri="{FF2B5EF4-FFF2-40B4-BE49-F238E27FC236}">
                <a16:creationId xmlns:a16="http://schemas.microsoft.com/office/drawing/2014/main" id="{DF3D2CE1-3B88-44FC-A57D-FD41D3DE463C}"/>
              </a:ext>
            </a:extLst>
          </p:cNvPr>
          <p:cNvSpPr>
            <a:spLocks noGrp="1"/>
          </p:cNvSpPr>
          <p:nvPr/>
        </p:nvSpPr>
        <p:spPr>
          <a:xfrm>
            <a:off x="8759952" y="3337560"/>
            <a:ext cx="1645920" cy="146304"/>
          </a:xfrm>
          <a:prstGeom prst="rect">
            <a:avLst/>
          </a:prstGeom>
          <a:noFill/>
          <a:ln>
            <a:noFill/>
          </a:ln>
        </p:spPr>
        <p:txBody>
          <a:bodyPr spcFirstLastPara="1" wrap="square" lIns="0" tIns="0" rIns="0" bIns="0" anchor="ctr">
            <a:noAutofit/>
          </a:bodyPr>
          <a:lstStyle/>
          <a:p>
            <a:pPr marL="0" indent="0" algn="l">
              <a:spcBef>
                <a:spcPts val="0"/>
              </a:spcBef>
              <a:spcAft>
                <a:spcPts val="0"/>
              </a:spcAft>
              <a:buNone/>
            </a:pPr>
            <a:r>
              <a:rPr sz="1100">
                <a:solidFill>
                  <a:srgbClr val="111827"/>
                </a:solidFill>
                <a:latin typeface="Arial"/>
                <a:ea typeface="Arial"/>
                <a:cs typeface="Arial"/>
              </a:rPr>
              <a:t>Ackley best global</a:t>
            </a:r>
          </a:p>
        </p:txBody>
      </p:sp>
      <p:sp>
        <p:nvSpPr>
          <p:cNvPr id="163" name="Google Shape;163;p7">
            <a:extLst>
              <a:ext uri="{FF2B5EF4-FFF2-40B4-BE49-F238E27FC236}">
                <a16:creationId xmlns:a16="http://schemas.microsoft.com/office/drawing/2014/main" id="{B12A205E-D8DE-41F3-9E43-CCD44B8E2290}"/>
              </a:ext>
            </a:extLst>
          </p:cNvPr>
          <p:cNvSpPr>
            <a:spLocks noGrp="1"/>
          </p:cNvSpPr>
          <p:nvPr/>
        </p:nvSpPr>
        <p:spPr>
          <a:xfrm>
            <a:off x="10652760" y="3337560"/>
            <a:ext cx="685800" cy="146304"/>
          </a:xfrm>
          <a:prstGeom prst="rect">
            <a:avLst/>
          </a:prstGeom>
          <a:noFill/>
          <a:ln>
            <a:noFill/>
          </a:ln>
        </p:spPr>
        <p:txBody>
          <a:bodyPr spcFirstLastPara="1" wrap="square" lIns="0" tIns="0" rIns="0" bIns="0" anchor="ctr">
            <a:noAutofit/>
          </a:bodyPr>
          <a:lstStyle/>
          <a:p>
            <a:pPr marL="0" indent="0" algn="r">
              <a:spcBef>
                <a:spcPts val="0"/>
              </a:spcBef>
              <a:spcAft>
                <a:spcPts val="0"/>
              </a:spcAft>
              <a:buNone/>
            </a:pPr>
            <a:r>
              <a:rPr sz="1100" b="1">
                <a:solidFill>
                  <a:srgbClr val="9F1239"/>
                </a:solidFill>
                <a:latin typeface="Arial"/>
                <a:ea typeface="Arial"/>
                <a:cs typeface="Arial"/>
              </a:rPr>
              <a:t>17.59% fixed</a:t>
            </a:r>
          </a:p>
        </p:txBody>
      </p:sp>
      <p:sp>
        <p:nvSpPr>
          <p:cNvPr id="164" name="Google Shape;164;p7">
            <a:extLst>
              <a:ext uri="{FF2B5EF4-FFF2-40B4-BE49-F238E27FC236}">
                <a16:creationId xmlns:a16="http://schemas.microsoft.com/office/drawing/2014/main" id="{37703292-23A3-435C-B573-A0C0AF7909A9}"/>
              </a:ext>
            </a:extLst>
          </p:cNvPr>
          <p:cNvSpPr>
            <a:spLocks noGrp="1"/>
          </p:cNvSpPr>
          <p:nvPr/>
        </p:nvSpPr>
        <p:spPr>
          <a:xfrm>
            <a:off x="8394192" y="3840480"/>
            <a:ext cx="256032" cy="256032"/>
          </a:xfrm>
          <a:prstGeom prst="ellipse">
            <a:avLst/>
          </a:prstGeom>
          <a:solidFill>
            <a:srgbClr val="6B7280"/>
          </a:solidFill>
          <a:ln w="12700" cmpd="sng">
            <a:solidFill>
              <a:srgbClr val="6B7280"/>
            </a:solidFill>
            <a:prstDash val="solid"/>
            <a:headEnd type="none" w="sm" len="sm"/>
            <a:tailEnd type="none" w="sm" len="sm"/>
          </a:ln>
        </p:spPr>
        <p:txBody>
          <a:bodyPr spcFirstLastPara="1" wrap="square" lIns="91425" tIns="45700" rIns="91425" bIns="45700" anchor="t">
            <a:noAutofit/>
          </a:bodyPr>
          <a:lstStyle/>
          <a:p>
            <a:pPr marL="0" indent="0" algn="l">
              <a:spcBef>
                <a:spcPts val="0"/>
              </a:spcBef>
              <a:spcAft>
                <a:spcPts val="0"/>
              </a:spcAft>
              <a:buNone/>
            </a:pPr>
            <a:endParaRPr/>
          </a:p>
        </p:txBody>
      </p:sp>
      <p:sp>
        <p:nvSpPr>
          <p:cNvPr id="165" name="Google Shape;165;p7">
            <a:extLst>
              <a:ext uri="{FF2B5EF4-FFF2-40B4-BE49-F238E27FC236}">
                <a16:creationId xmlns:a16="http://schemas.microsoft.com/office/drawing/2014/main" id="{CCEDA26D-0C7F-499C-A93D-71C5901F0836}"/>
              </a:ext>
            </a:extLst>
          </p:cNvPr>
          <p:cNvSpPr>
            <a:spLocks noGrp="1"/>
          </p:cNvSpPr>
          <p:nvPr/>
        </p:nvSpPr>
        <p:spPr>
          <a:xfrm>
            <a:off x="8394192" y="3890772"/>
            <a:ext cx="256032" cy="109728"/>
          </a:xfrm>
          <a:prstGeom prst="rect">
            <a:avLst/>
          </a:prstGeom>
          <a:noFill/>
          <a:ln>
            <a:noFill/>
          </a:ln>
        </p:spPr>
        <p:txBody>
          <a:bodyPr spcFirstLastPara="1" wrap="square" lIns="0" tIns="0" rIns="0" bIns="0" anchor="ctr">
            <a:noAutofit/>
          </a:bodyPr>
          <a:lstStyle/>
          <a:p>
            <a:pPr marL="0" indent="0" algn="ctr">
              <a:spcBef>
                <a:spcPts val="0"/>
              </a:spcBef>
              <a:spcAft>
                <a:spcPts val="0"/>
              </a:spcAft>
              <a:buNone/>
            </a:pPr>
            <a:endParaRPr/>
          </a:p>
        </p:txBody>
      </p:sp>
      <p:sp>
        <p:nvSpPr>
          <p:cNvPr id="166" name="Google Shape;166;p7">
            <a:extLst>
              <a:ext uri="{FF2B5EF4-FFF2-40B4-BE49-F238E27FC236}">
                <a16:creationId xmlns:a16="http://schemas.microsoft.com/office/drawing/2014/main" id="{B03D9E3B-68FB-4961-81C8-FE3B9134CE1E}"/>
              </a:ext>
            </a:extLst>
          </p:cNvPr>
          <p:cNvSpPr>
            <a:spLocks noGrp="1"/>
          </p:cNvSpPr>
          <p:nvPr/>
        </p:nvSpPr>
        <p:spPr>
          <a:xfrm>
            <a:off x="8759952" y="3867912"/>
            <a:ext cx="1645920" cy="146304"/>
          </a:xfrm>
          <a:prstGeom prst="rect">
            <a:avLst/>
          </a:prstGeom>
          <a:noFill/>
          <a:ln>
            <a:noFill/>
          </a:ln>
        </p:spPr>
        <p:txBody>
          <a:bodyPr spcFirstLastPara="1" wrap="square" lIns="0" tIns="0" rIns="0" bIns="0" anchor="ctr">
            <a:noAutofit/>
          </a:bodyPr>
          <a:lstStyle/>
          <a:p>
            <a:pPr marL="0" indent="0" algn="l">
              <a:spcBef>
                <a:spcPts val="0"/>
              </a:spcBef>
              <a:spcAft>
                <a:spcPts val="0"/>
              </a:spcAft>
              <a:buNone/>
            </a:pPr>
            <a:r>
              <a:rPr sz="1100">
                <a:solidFill>
                  <a:srgbClr val="111827"/>
                </a:solidFill>
                <a:latin typeface="Arial"/>
                <a:ea typeface="Arial"/>
                <a:cs typeface="Arial"/>
              </a:rPr>
              <a:t>Ackley q20/q30</a:t>
            </a:r>
          </a:p>
        </p:txBody>
      </p:sp>
      <p:sp>
        <p:nvSpPr>
          <p:cNvPr id="167" name="Google Shape;167;p7">
            <a:extLst>
              <a:ext uri="{FF2B5EF4-FFF2-40B4-BE49-F238E27FC236}">
                <a16:creationId xmlns:a16="http://schemas.microsoft.com/office/drawing/2014/main" id="{86A5F43E-5BCE-4F9B-8DCE-209294D4F530}"/>
              </a:ext>
            </a:extLst>
          </p:cNvPr>
          <p:cNvSpPr>
            <a:spLocks noGrp="1"/>
          </p:cNvSpPr>
          <p:nvPr/>
        </p:nvSpPr>
        <p:spPr>
          <a:xfrm>
            <a:off x="10652760" y="3867912"/>
            <a:ext cx="685800" cy="146304"/>
          </a:xfrm>
          <a:prstGeom prst="rect">
            <a:avLst/>
          </a:prstGeom>
          <a:noFill/>
          <a:ln>
            <a:noFill/>
          </a:ln>
        </p:spPr>
        <p:txBody>
          <a:bodyPr spcFirstLastPara="1" wrap="square" lIns="0" tIns="0" rIns="0" bIns="0" anchor="ctr">
            <a:noAutofit/>
          </a:bodyPr>
          <a:lstStyle/>
          <a:p>
            <a:pPr marL="0" indent="0" algn="r">
              <a:spcBef>
                <a:spcPts val="0"/>
              </a:spcBef>
              <a:spcAft>
                <a:spcPts val="0"/>
              </a:spcAft>
              <a:buNone/>
            </a:pPr>
            <a:r>
              <a:rPr sz="1100" b="1">
                <a:solidFill>
                  <a:srgbClr val="6B7280"/>
                </a:solidFill>
                <a:latin typeface="Arial"/>
                <a:ea typeface="Arial"/>
                <a:cs typeface="Arial"/>
              </a:rPr>
              <a:t>41.75 / 37.97% fixed</a:t>
            </a:r>
          </a:p>
        </p:txBody>
      </p:sp>
      <p:sp>
        <p:nvSpPr>
          <p:cNvPr id="168" name="Google Shape;168;p7">
            <a:extLst>
              <a:ext uri="{FF2B5EF4-FFF2-40B4-BE49-F238E27FC236}">
                <a16:creationId xmlns:a16="http://schemas.microsoft.com/office/drawing/2014/main" id="{145F9010-7029-495B-B7DB-19DB1E0C0348}"/>
              </a:ext>
            </a:extLst>
          </p:cNvPr>
          <p:cNvSpPr>
            <a:spLocks noGrp="1"/>
          </p:cNvSpPr>
          <p:nvPr/>
        </p:nvSpPr>
        <p:spPr>
          <a:xfrm>
            <a:off x="8348472" y="4572000"/>
            <a:ext cx="2907792" cy="731520"/>
          </a:xfrm>
          <a:prstGeom prst="roundRect">
            <a:avLst>
              <a:gd name="adj" fmla="val 11250"/>
            </a:avLst>
          </a:prstGeom>
          <a:solidFill>
            <a:srgbClr val="FFF7ED"/>
          </a:solidFill>
          <a:ln w="10150" cmpd="sng">
            <a:solidFill>
              <a:srgbClr val="FED7AA"/>
            </a:solidFill>
            <a:prstDash val="solid"/>
            <a:headEnd type="none" w="sm" len="sm"/>
            <a:tailEnd type="none" w="sm" len="sm"/>
          </a:ln>
        </p:spPr>
        <p:txBody>
          <a:bodyPr spcFirstLastPara="1" wrap="square" lIns="91425" tIns="45700" rIns="91425" bIns="45700" anchor="t">
            <a:noAutofit/>
          </a:bodyPr>
          <a:lstStyle/>
          <a:p>
            <a:pPr marL="0" indent="0" algn="l">
              <a:spcBef>
                <a:spcPts val="0"/>
              </a:spcBef>
              <a:spcAft>
                <a:spcPts val="0"/>
              </a:spcAft>
              <a:buNone/>
            </a:pPr>
            <a:endParaRPr/>
          </a:p>
        </p:txBody>
      </p:sp>
      <p:sp>
        <p:nvSpPr>
          <p:cNvPr id="169" name="Google Shape;169;p7">
            <a:extLst>
              <a:ext uri="{FF2B5EF4-FFF2-40B4-BE49-F238E27FC236}">
                <a16:creationId xmlns:a16="http://schemas.microsoft.com/office/drawing/2014/main" id="{5E225263-EFAB-4A3D-8ACB-A210C3D77A46}"/>
              </a:ext>
            </a:extLst>
          </p:cNvPr>
          <p:cNvSpPr>
            <a:spLocks noGrp="1"/>
          </p:cNvSpPr>
          <p:nvPr/>
        </p:nvSpPr>
        <p:spPr>
          <a:xfrm>
            <a:off x="8549640" y="4709160"/>
            <a:ext cx="1188720" cy="137160"/>
          </a:xfrm>
          <a:prstGeom prst="rect">
            <a:avLst/>
          </a:prstGeom>
          <a:noFill/>
          <a:ln>
            <a:noFill/>
          </a:ln>
        </p:spPr>
        <p:txBody>
          <a:bodyPr spcFirstLastPara="1" wrap="square" lIns="0" tIns="0" rIns="0" bIns="0" anchor="ctr">
            <a:noAutofit/>
          </a:bodyPr>
          <a:lstStyle/>
          <a:p>
            <a:pPr marL="0" indent="0" algn="l">
              <a:spcBef>
                <a:spcPts val="0"/>
              </a:spcBef>
              <a:spcAft>
                <a:spcPts val="0"/>
              </a:spcAft>
              <a:buNone/>
            </a:pPr>
            <a:r>
              <a:rPr sz="1100" b="1">
                <a:solidFill>
                  <a:srgbClr val="B7791F"/>
                </a:solidFill>
                <a:latin typeface="Arial"/>
                <a:ea typeface="Arial"/>
                <a:cs typeface="Arial"/>
              </a:rPr>
              <a:t>Safe wording</a:t>
            </a:r>
          </a:p>
        </p:txBody>
      </p:sp>
      <p:sp>
        <p:nvSpPr>
          <p:cNvPr id="170" name="Google Shape;170;p7">
            <a:extLst>
              <a:ext uri="{FF2B5EF4-FFF2-40B4-BE49-F238E27FC236}">
                <a16:creationId xmlns:a16="http://schemas.microsoft.com/office/drawing/2014/main" id="{DA9C74D6-3B3A-426C-914F-703AA59F43CF}"/>
              </a:ext>
            </a:extLst>
          </p:cNvPr>
          <p:cNvSpPr>
            <a:spLocks noGrp="1"/>
          </p:cNvSpPr>
          <p:nvPr/>
        </p:nvSpPr>
        <p:spPr>
          <a:xfrm>
            <a:off x="8549640" y="4956048"/>
            <a:ext cx="2514600" cy="173736"/>
          </a:xfrm>
          <a:prstGeom prst="rect">
            <a:avLst/>
          </a:prstGeom>
          <a:noFill/>
          <a:ln>
            <a:noFill/>
          </a:ln>
        </p:spPr>
        <p:txBody>
          <a:bodyPr spcFirstLastPara="1" wrap="square" lIns="0" tIns="0" rIns="0" bIns="0" anchor="ctr">
            <a:noAutofit/>
          </a:bodyPr>
          <a:lstStyle/>
          <a:p>
            <a:pPr marL="0" indent="0" algn="l">
              <a:spcBef>
                <a:spcPts val="0"/>
              </a:spcBef>
              <a:spcAft>
                <a:spcPts val="0"/>
              </a:spcAft>
              <a:buNone/>
            </a:pPr>
            <a:r>
              <a:rPr sz="1100">
                <a:solidFill>
                  <a:srgbClr val="4B5563"/>
                </a:solidFill>
                <a:latin typeface="Arial"/>
                <a:ea typeface="Arial"/>
                <a:cs typeface="Arial"/>
              </a:rPr>
              <a:t>Kernel optimization is important, but ARD is not automatically a 4D solution.</a:t>
            </a:r>
          </a:p>
        </p:txBody>
      </p:sp>
      <p:cxnSp>
        <p:nvCxnSpPr>
          <p:cNvPr id="236" name="Google Shape;171;p7"/>
          <p:cNvCxnSpPr/>
          <p:nvPr/>
        </p:nvCxnSpPr>
        <p:spPr>
          <a:xfrm>
            <a:off x="502920" y="6446520"/>
            <a:ext cx="11201400" cy="0"/>
          </a:xfrm>
          <a:prstGeom prst="straightConnector1">
            <a:avLst/>
          </a:prstGeom>
          <a:ln w="9525" cap="flat">
            <a:solidFill>
              <a:srgbClr val="D9DEE8"/>
            </a:solidFill>
            <a:prstDash val="solid"/>
            <a:round/>
            <a:headEnd type="none" w="sm" len="sm"/>
            <a:tailEnd type="none" w="sm" len="sm"/>
          </a:ln>
        </p:spPr>
      </p:cxnSp>
      <p:sp>
        <p:nvSpPr>
          <p:cNvPr id="172" name="Google Shape;172;p7">
            <a:extLst>
              <a:ext uri="{FF2B5EF4-FFF2-40B4-BE49-F238E27FC236}">
                <a16:creationId xmlns:a16="http://schemas.microsoft.com/office/drawing/2014/main" id="{17CE0911-0117-4194-9C8E-3BA8EF3775EE}"/>
              </a:ext>
            </a:extLst>
          </p:cNvPr>
          <p:cNvSpPr>
            <a:spLocks noGrp="1"/>
          </p:cNvSpPr>
          <p:nvPr/>
        </p:nvSpPr>
        <p:spPr>
          <a:xfrm>
            <a:off x="502920" y="6519672"/>
            <a:ext cx="8961120" cy="164592"/>
          </a:xfrm>
          <a:prstGeom prst="rect">
            <a:avLst/>
          </a:prstGeom>
          <a:noFill/>
          <a:ln>
            <a:noFill/>
          </a:ln>
        </p:spPr>
        <p:txBody>
          <a:bodyPr spcFirstLastPara="1" wrap="square" lIns="0" tIns="0" rIns="0" bIns="0" anchor="ctr">
            <a:noAutofit/>
          </a:bodyPr>
          <a:lstStyle/>
          <a:p>
            <a:pPr marL="0" indent="0" algn="l">
              <a:spcBef>
                <a:spcPts val="0"/>
              </a:spcBef>
              <a:spcAft>
                <a:spcPts val="0"/>
              </a:spcAft>
              <a:buNone/>
            </a:pPr>
            <a:r>
              <a:rPr sz="780">
                <a:solidFill>
                  <a:srgbClr val="6B7280"/>
                </a:solidFill>
                <a:latin typeface="Arial"/>
                <a:ea typeface="Arial"/>
                <a:cs typeface="Arial"/>
              </a:rPr>
              <a:t>Week 3 extended update - Sample-Efficient Active Level-Set Estimation - 15</a:t>
            </a:r>
          </a:p>
        </p:txBody>
      </p:sp>
      <p:sp>
        <p:nvSpPr>
          <p:cNvPr id="173" name="Google Shape;173;p7">
            <a:extLst>
              <a:ext uri="{FF2B5EF4-FFF2-40B4-BE49-F238E27FC236}">
                <a16:creationId xmlns:a16="http://schemas.microsoft.com/office/drawing/2014/main" id="{7E348F6B-B4F5-4DD9-851B-450FC1334BE5}"/>
              </a:ext>
            </a:extLst>
          </p:cNvPr>
          <p:cNvSpPr>
            <a:spLocks noGrp="1"/>
          </p:cNvSpPr>
          <p:nvPr/>
        </p:nvSpPr>
        <p:spPr>
          <a:xfrm>
            <a:off x="11521440" y="6492240"/>
            <a:ext cx="228600" cy="164592"/>
          </a:xfrm>
          <a:prstGeom prst="rect">
            <a:avLst/>
          </a:prstGeom>
          <a:noFill/>
          <a:ln>
            <a:noFill/>
          </a:ln>
        </p:spPr>
        <p:txBody>
          <a:bodyPr spcFirstLastPara="1" wrap="square" lIns="0" tIns="0" rIns="0" bIns="0" anchor="ctr">
            <a:noAutofit/>
          </a:bodyPr>
          <a:lstStyle/>
          <a:p>
            <a:pPr marL="0" indent="0" algn="r">
              <a:spcBef>
                <a:spcPts val="0"/>
              </a:spcBef>
              <a:spcAft>
                <a:spcPts val="0"/>
              </a:spcAft>
              <a:buNone/>
            </a:pPr>
            <a:r>
              <a:rPr sz="780">
                <a:solidFill>
                  <a:srgbClr val="6B7280"/>
                </a:solidFill>
                <a:latin typeface="Arial"/>
                <a:ea typeface="Arial"/>
                <a:cs typeface="Arial"/>
              </a:rPr>
              <a:t>15</a:t>
            </a:r>
          </a:p>
        </p:txBody>
      </p:sp>
      <p:graphicFrame>
        <p:nvGraphicFramePr>
          <p:cNvPr id="239" name="Chart"/>
          <p:cNvGraphicFramePr/>
          <p:nvPr/>
        </p:nvGraphicFramePr>
        <p:xfrm>
          <a:off x="502920" y="1319022"/>
          <a:ext cx="7406640" cy="4402836"/>
        </p:xfrm>
        <a:graphic>
          <a:graphicData uri="http://schemas.openxmlformats.org/drawingml/2006/chart">
            <c:chart xmlns:c="http://schemas.openxmlformats.org/drawingml/2006/chart" xmlns:r="http://schemas.openxmlformats.org/officeDocument/2006/relationships" r:id="rId4"/>
          </a:graphicData>
        </a:graphic>
      </p:graphicFrame>
    </p:spTree>
    <p:extLst>
      <p:ext uri="{BB962C8B-B14F-4D97-AF65-F5344CB8AC3E}">
        <p14:creationId xmlns:p14="http://schemas.microsoft.com/office/powerpoint/2010/main" val="1479111479"/>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bg>
      <p:bgPr>
        <a:solidFill>
          <a:srgbClr val="F6F8FC"/>
        </a:solidFill>
        <a:effectLst/>
      </p:bgPr>
    </p:bg>
    <p:spTree>
      <p:nvGrpSpPr>
        <p:cNvPr id="1" name=""/>
        <p:cNvGrpSpPr/>
        <p:nvPr/>
      </p:nvGrpSpPr>
      <p:grpSpPr>
        <a:xfrm>
          <a:off x="0" y="0"/>
          <a:ext cx="0" cy="0"/>
          <a:chOff x="0" y="0"/>
          <a:chExt cx="0" cy="0"/>
        </a:xfrm>
      </p:grpSpPr>
      <p:sp>
        <p:nvSpPr>
          <p:cNvPr id="86" name="Google Shape;86;p5">
            <a:extLst>
              <a:ext uri="{FF2B5EF4-FFF2-40B4-BE49-F238E27FC236}">
                <a16:creationId xmlns:a16="http://schemas.microsoft.com/office/drawing/2014/main" id="{21C8C200-2262-4E09-940E-215F3AE756F5}"/>
              </a:ext>
            </a:extLst>
          </p:cNvPr>
          <p:cNvSpPr>
            <a:spLocks noGrp="1"/>
          </p:cNvSpPr>
          <p:nvPr/>
        </p:nvSpPr>
        <p:spPr>
          <a:xfrm>
            <a:off x="502920" y="329184"/>
            <a:ext cx="10789920" cy="320040"/>
          </a:xfrm>
          <a:prstGeom prst="rect">
            <a:avLst/>
          </a:prstGeom>
          <a:noFill/>
          <a:ln>
            <a:noFill/>
          </a:ln>
        </p:spPr>
        <p:txBody>
          <a:bodyPr spcFirstLastPara="1" wrap="square" lIns="0" tIns="0" rIns="0" bIns="0" anchor="ctr">
            <a:noAutofit/>
          </a:bodyPr>
          <a:lstStyle/>
          <a:p>
            <a:pPr marL="0" indent="0" algn="l">
              <a:spcBef>
                <a:spcPts val="0"/>
              </a:spcBef>
              <a:spcAft>
                <a:spcPts val="0"/>
              </a:spcAft>
              <a:buNone/>
            </a:pPr>
            <a:r>
              <a:rPr sz="2200" b="1">
                <a:solidFill>
                  <a:srgbClr val="1F2A44"/>
                </a:solidFill>
                <a:latin typeface="Play"/>
                <a:ea typeface="Play"/>
                <a:cs typeface="Play"/>
              </a:rPr>
              <a:t>Boundary-weighted IVR and SUR connect to the literature</a:t>
            </a:r>
          </a:p>
        </p:txBody>
      </p:sp>
      <p:sp>
        <p:nvSpPr>
          <p:cNvPr id="87" name="Google Shape;87;p5">
            <a:extLst>
              <a:ext uri="{FF2B5EF4-FFF2-40B4-BE49-F238E27FC236}">
                <a16:creationId xmlns:a16="http://schemas.microsoft.com/office/drawing/2014/main" id="{38456BF3-49E5-44C1-83E7-EEB09F780601}"/>
              </a:ext>
            </a:extLst>
          </p:cNvPr>
          <p:cNvSpPr>
            <a:spLocks noGrp="1"/>
          </p:cNvSpPr>
          <p:nvPr/>
        </p:nvSpPr>
        <p:spPr>
          <a:xfrm>
            <a:off x="521208" y="713232"/>
            <a:ext cx="10515600" cy="237744"/>
          </a:xfrm>
          <a:prstGeom prst="rect">
            <a:avLst/>
          </a:prstGeom>
          <a:noFill/>
          <a:ln>
            <a:noFill/>
          </a:ln>
        </p:spPr>
        <p:txBody>
          <a:bodyPr spcFirstLastPara="1" wrap="square" lIns="0" tIns="0" rIns="0" bIns="0" anchor="ctr">
            <a:noAutofit/>
          </a:bodyPr>
          <a:lstStyle/>
          <a:p>
            <a:pPr marL="0" indent="0" algn="l">
              <a:spcBef>
                <a:spcPts val="0"/>
              </a:spcBef>
              <a:spcAft>
                <a:spcPts val="0"/>
              </a:spcAft>
              <a:buNone/>
            </a:pPr>
            <a:r>
              <a:rPr sz="1100">
                <a:solidFill>
                  <a:srgbClr val="4B5563"/>
                </a:solidFill>
                <a:latin typeface="Arial"/>
                <a:ea typeface="Arial"/>
                <a:cs typeface="Arial"/>
              </a:rPr>
              <a:t>We tested literature-inspired uncertainty-reduction objectives and added Hartmann4.</a:t>
            </a:r>
          </a:p>
        </p:txBody>
      </p:sp>
      <p:sp>
        <p:nvSpPr>
          <p:cNvPr id="88" name="Google Shape;88;p5">
            <a:extLst>
              <a:ext uri="{FF2B5EF4-FFF2-40B4-BE49-F238E27FC236}">
                <a16:creationId xmlns:a16="http://schemas.microsoft.com/office/drawing/2014/main" id="{3D08A1E3-615E-4825-8C75-62B5CAA6D0F8}"/>
              </a:ext>
            </a:extLst>
          </p:cNvPr>
          <p:cNvSpPr>
            <a:spLocks noGrp="1"/>
          </p:cNvSpPr>
          <p:nvPr/>
        </p:nvSpPr>
        <p:spPr>
          <a:xfrm>
            <a:off x="685800" y="1143000"/>
            <a:ext cx="5074920" cy="1078992"/>
          </a:xfrm>
          <a:prstGeom prst="roundRect">
            <a:avLst>
              <a:gd name="adj" fmla="val 7627"/>
            </a:avLst>
          </a:prstGeom>
          <a:solidFill>
            <a:srgbClr val="FFFFFF"/>
          </a:solidFill>
          <a:ln w="10150" cmpd="sng">
            <a:solidFill>
              <a:srgbClr val="6B7280"/>
            </a:solidFill>
            <a:prstDash val="solid"/>
            <a:headEnd type="none" w="sm" len="sm"/>
            <a:tailEnd type="none" w="sm" len="sm"/>
          </a:ln>
        </p:spPr>
        <p:txBody>
          <a:bodyPr spcFirstLastPara="1" wrap="square" lIns="91425" tIns="45700" rIns="91425" bIns="45700" anchor="t">
            <a:noAutofit/>
          </a:bodyPr>
          <a:lstStyle/>
          <a:p>
            <a:pPr marL="0" indent="0" algn="l">
              <a:spcBef>
                <a:spcPts val="0"/>
              </a:spcBef>
              <a:spcAft>
                <a:spcPts val="0"/>
              </a:spcAft>
              <a:buNone/>
            </a:pPr>
            <a:endParaRPr/>
          </a:p>
        </p:txBody>
      </p:sp>
      <p:sp>
        <p:nvSpPr>
          <p:cNvPr id="89" name="Google Shape;89;p5">
            <a:extLst>
              <a:ext uri="{FF2B5EF4-FFF2-40B4-BE49-F238E27FC236}">
                <a16:creationId xmlns:a16="http://schemas.microsoft.com/office/drawing/2014/main" id="{4F23AE5D-F756-4BE9-8C6E-B9717B552324}"/>
              </a:ext>
            </a:extLst>
          </p:cNvPr>
          <p:cNvSpPr>
            <a:spLocks noGrp="1"/>
          </p:cNvSpPr>
          <p:nvPr/>
        </p:nvSpPr>
        <p:spPr>
          <a:xfrm>
            <a:off x="850392" y="1280160"/>
            <a:ext cx="2011680" cy="164592"/>
          </a:xfrm>
          <a:prstGeom prst="rect">
            <a:avLst/>
          </a:prstGeom>
          <a:noFill/>
          <a:ln>
            <a:noFill/>
          </a:ln>
        </p:spPr>
        <p:txBody>
          <a:bodyPr spcFirstLastPara="1" wrap="square" lIns="0" tIns="0" rIns="0" bIns="0" anchor="ctr">
            <a:noAutofit/>
          </a:bodyPr>
          <a:lstStyle/>
          <a:p>
            <a:pPr marL="0" indent="0" algn="l">
              <a:spcBef>
                <a:spcPts val="0"/>
              </a:spcBef>
              <a:spcAft>
                <a:spcPts val="0"/>
              </a:spcAft>
              <a:buNone/>
            </a:pPr>
            <a:r>
              <a:rPr sz="1100" b="1">
                <a:solidFill>
                  <a:srgbClr val="6B7280"/>
                </a:solidFill>
                <a:latin typeface="Arial"/>
                <a:ea typeface="Arial"/>
                <a:cs typeface="Arial"/>
              </a:rPr>
              <a:t>Hartmann4</a:t>
            </a:r>
          </a:p>
        </p:txBody>
      </p:sp>
      <p:sp>
        <p:nvSpPr>
          <p:cNvPr id="90" name="Google Shape;90;p5">
            <a:extLst>
              <a:ext uri="{FF2B5EF4-FFF2-40B4-BE49-F238E27FC236}">
                <a16:creationId xmlns:a16="http://schemas.microsoft.com/office/drawing/2014/main" id="{CA1A4BB2-F370-4162-A481-BEA25705AD0A}"/>
              </a:ext>
            </a:extLst>
          </p:cNvPr>
          <p:cNvSpPr>
            <a:spLocks noGrp="1"/>
          </p:cNvSpPr>
          <p:nvPr/>
        </p:nvSpPr>
        <p:spPr>
          <a:xfrm>
            <a:off x="850392" y="1563624"/>
            <a:ext cx="4745736" cy="182880"/>
          </a:xfrm>
          <a:prstGeom prst="rect">
            <a:avLst/>
          </a:prstGeom>
          <a:noFill/>
          <a:ln>
            <a:noFill/>
          </a:ln>
        </p:spPr>
        <p:txBody>
          <a:bodyPr spcFirstLastPara="1" wrap="square" lIns="0" tIns="0" rIns="0" bIns="0" anchor="ctr">
            <a:noAutofit/>
          </a:bodyPr>
          <a:lstStyle/>
          <a:p>
            <a:pPr marL="0" indent="0" algn="l">
              <a:spcBef>
                <a:spcPts val="0"/>
              </a:spcBef>
              <a:spcAft>
                <a:spcPts val="0"/>
              </a:spcAft>
              <a:buNone/>
            </a:pPr>
            <a:r>
              <a:rPr sz="1000" b="1">
                <a:solidFill>
                  <a:srgbClr val="1F2A44"/>
                </a:solidFill>
                <a:latin typeface="Arial"/>
                <a:ea typeface="Arial"/>
                <a:cs typeface="Arial"/>
              </a:rPr>
              <a:t>standard 4D benchmark</a:t>
            </a:r>
          </a:p>
        </p:txBody>
      </p:sp>
      <p:sp>
        <p:nvSpPr>
          <p:cNvPr id="91" name="Google Shape;91;p5">
            <a:extLst>
              <a:ext uri="{FF2B5EF4-FFF2-40B4-BE49-F238E27FC236}">
                <a16:creationId xmlns:a16="http://schemas.microsoft.com/office/drawing/2014/main" id="{FE3A580B-D4CC-40F6-8529-BA35255430F0}"/>
              </a:ext>
            </a:extLst>
          </p:cNvPr>
          <p:cNvSpPr>
            <a:spLocks noGrp="1"/>
          </p:cNvSpPr>
          <p:nvPr/>
        </p:nvSpPr>
        <p:spPr>
          <a:xfrm>
            <a:off x="850392" y="1856232"/>
            <a:ext cx="4745736" cy="201168"/>
          </a:xfrm>
          <a:prstGeom prst="rect">
            <a:avLst/>
          </a:prstGeom>
          <a:noFill/>
          <a:ln>
            <a:noFill/>
          </a:ln>
        </p:spPr>
        <p:txBody>
          <a:bodyPr spcFirstLastPara="1" wrap="square" lIns="0" tIns="0" rIns="0" bIns="0" anchor="ctr">
            <a:noAutofit/>
          </a:bodyPr>
          <a:lstStyle/>
          <a:p>
            <a:pPr marL="0" indent="0" algn="l">
              <a:spcBef>
                <a:spcPts val="0"/>
              </a:spcBef>
              <a:spcAft>
                <a:spcPts val="0"/>
              </a:spcAft>
              <a:buNone/>
            </a:pPr>
            <a:r>
              <a:rPr sz="1050">
                <a:solidFill>
                  <a:srgbClr val="4B5563"/>
                </a:solidFill>
                <a:latin typeface="Arial"/>
                <a:ea typeface="Arial"/>
                <a:cs typeface="Arial"/>
              </a:rPr>
              <a:t>A second named 4D stress test beyond Ackley.</a:t>
            </a:r>
          </a:p>
        </p:txBody>
      </p:sp>
      <p:sp>
        <p:nvSpPr>
          <p:cNvPr id="92" name="Google Shape;92;p5">
            <a:extLst>
              <a:ext uri="{FF2B5EF4-FFF2-40B4-BE49-F238E27FC236}">
                <a16:creationId xmlns:a16="http://schemas.microsoft.com/office/drawing/2014/main" id="{3F901FB6-3614-4CA8-8BEA-952CEE136113}"/>
              </a:ext>
            </a:extLst>
          </p:cNvPr>
          <p:cNvSpPr>
            <a:spLocks noGrp="1"/>
          </p:cNvSpPr>
          <p:nvPr/>
        </p:nvSpPr>
        <p:spPr>
          <a:xfrm>
            <a:off x="6217920" y="1143000"/>
            <a:ext cx="5074920" cy="1078992"/>
          </a:xfrm>
          <a:prstGeom prst="roundRect">
            <a:avLst>
              <a:gd name="adj" fmla="val 7627"/>
            </a:avLst>
          </a:prstGeom>
          <a:solidFill>
            <a:srgbClr val="EEF4FF"/>
          </a:solidFill>
          <a:ln w="10150" cmpd="sng">
            <a:solidFill>
              <a:srgbClr val="2B6CB0"/>
            </a:solidFill>
            <a:prstDash val="solid"/>
            <a:headEnd type="none" w="sm" len="sm"/>
            <a:tailEnd type="none" w="sm" len="sm"/>
          </a:ln>
        </p:spPr>
        <p:txBody>
          <a:bodyPr spcFirstLastPara="1" wrap="square" lIns="91425" tIns="45700" rIns="91425" bIns="45700" anchor="t">
            <a:noAutofit/>
          </a:bodyPr>
          <a:lstStyle/>
          <a:p>
            <a:pPr marL="0" indent="0" algn="l">
              <a:spcBef>
                <a:spcPts val="0"/>
              </a:spcBef>
              <a:spcAft>
                <a:spcPts val="0"/>
              </a:spcAft>
              <a:buNone/>
            </a:pPr>
            <a:endParaRPr/>
          </a:p>
        </p:txBody>
      </p:sp>
      <p:sp>
        <p:nvSpPr>
          <p:cNvPr id="93" name="Google Shape;93;p5">
            <a:extLst>
              <a:ext uri="{FF2B5EF4-FFF2-40B4-BE49-F238E27FC236}">
                <a16:creationId xmlns:a16="http://schemas.microsoft.com/office/drawing/2014/main" id="{3D65413E-90DA-4154-94C3-B2D5E69621CC}"/>
              </a:ext>
            </a:extLst>
          </p:cNvPr>
          <p:cNvSpPr>
            <a:spLocks noGrp="1"/>
          </p:cNvSpPr>
          <p:nvPr/>
        </p:nvSpPr>
        <p:spPr>
          <a:xfrm>
            <a:off x="6382512" y="1280160"/>
            <a:ext cx="2011680" cy="164592"/>
          </a:xfrm>
          <a:prstGeom prst="rect">
            <a:avLst/>
          </a:prstGeom>
          <a:noFill/>
          <a:ln>
            <a:noFill/>
          </a:ln>
        </p:spPr>
        <p:txBody>
          <a:bodyPr spcFirstLastPara="1" wrap="square" lIns="0" tIns="0" rIns="0" bIns="0" anchor="ctr">
            <a:noAutofit/>
          </a:bodyPr>
          <a:lstStyle/>
          <a:p>
            <a:pPr marL="0" indent="0" algn="l">
              <a:spcBef>
                <a:spcPts val="0"/>
              </a:spcBef>
              <a:spcAft>
                <a:spcPts val="0"/>
              </a:spcAft>
              <a:buNone/>
            </a:pPr>
            <a:r>
              <a:rPr sz="1100" b="1">
                <a:solidFill>
                  <a:srgbClr val="2B6CB0"/>
                </a:solidFill>
                <a:latin typeface="Arial"/>
                <a:ea typeface="Arial"/>
                <a:cs typeface="Arial"/>
              </a:rPr>
              <a:t>IVR</a:t>
            </a:r>
          </a:p>
        </p:txBody>
      </p:sp>
      <p:sp>
        <p:nvSpPr>
          <p:cNvPr id="94" name="Google Shape;94;p5">
            <a:extLst>
              <a:ext uri="{FF2B5EF4-FFF2-40B4-BE49-F238E27FC236}">
                <a16:creationId xmlns:a16="http://schemas.microsoft.com/office/drawing/2014/main" id="{8113698C-6356-44FE-92B9-75FE445F27BC}"/>
              </a:ext>
            </a:extLst>
          </p:cNvPr>
          <p:cNvSpPr>
            <a:spLocks noGrp="1"/>
          </p:cNvSpPr>
          <p:nvPr/>
        </p:nvSpPr>
        <p:spPr>
          <a:xfrm>
            <a:off x="6382512" y="1563624"/>
            <a:ext cx="4745736" cy="182880"/>
          </a:xfrm>
          <a:prstGeom prst="rect">
            <a:avLst/>
          </a:prstGeom>
          <a:noFill/>
          <a:ln>
            <a:noFill/>
          </a:ln>
        </p:spPr>
        <p:txBody>
          <a:bodyPr spcFirstLastPara="1" wrap="square" lIns="0" tIns="0" rIns="0" bIns="0" anchor="ctr">
            <a:noAutofit/>
          </a:bodyPr>
          <a:lstStyle/>
          <a:p>
            <a:pPr marL="0" indent="0" algn="l">
              <a:spcBef>
                <a:spcPts val="0"/>
              </a:spcBef>
              <a:spcAft>
                <a:spcPts val="0"/>
              </a:spcAft>
              <a:buNone/>
            </a:pPr>
            <a:r>
              <a:rPr sz="1000" b="1">
                <a:solidFill>
                  <a:srgbClr val="1F2A44"/>
                </a:solidFill>
                <a:latin typeface="Arial"/>
                <a:ea typeface="Arial"/>
                <a:cs typeface="Arial"/>
              </a:rPr>
              <a:t>Integrated Variance Reduction</a:t>
            </a:r>
          </a:p>
        </p:txBody>
      </p:sp>
      <p:sp>
        <p:nvSpPr>
          <p:cNvPr id="95" name="Google Shape;95;p5">
            <a:extLst>
              <a:ext uri="{FF2B5EF4-FFF2-40B4-BE49-F238E27FC236}">
                <a16:creationId xmlns:a16="http://schemas.microsoft.com/office/drawing/2014/main" id="{98C8B8DD-BD7B-45A6-8DAB-128D2DBEB716}"/>
              </a:ext>
            </a:extLst>
          </p:cNvPr>
          <p:cNvSpPr>
            <a:spLocks noGrp="1"/>
          </p:cNvSpPr>
          <p:nvPr/>
        </p:nvSpPr>
        <p:spPr>
          <a:xfrm>
            <a:off x="6382512" y="1856232"/>
            <a:ext cx="4745736" cy="201168"/>
          </a:xfrm>
          <a:prstGeom prst="rect">
            <a:avLst/>
          </a:prstGeom>
          <a:noFill/>
          <a:ln>
            <a:noFill/>
          </a:ln>
        </p:spPr>
        <p:txBody>
          <a:bodyPr spcFirstLastPara="1" wrap="square" lIns="0" tIns="0" rIns="0" bIns="0" anchor="ctr">
            <a:noAutofit/>
          </a:bodyPr>
          <a:lstStyle/>
          <a:p>
            <a:pPr marL="0" indent="0" algn="l">
              <a:spcBef>
                <a:spcPts val="0"/>
              </a:spcBef>
              <a:spcAft>
                <a:spcPts val="0"/>
              </a:spcAft>
              <a:buNone/>
            </a:pPr>
            <a:r>
              <a:rPr sz="1050">
                <a:solidFill>
                  <a:srgbClr val="4B5563"/>
                </a:solidFill>
                <a:latin typeface="Arial"/>
                <a:ea typeface="Arial"/>
                <a:cs typeface="Arial"/>
              </a:rPr>
              <a:t>Reduce posterior variance over boundary-relevant points.</a:t>
            </a:r>
          </a:p>
        </p:txBody>
      </p:sp>
      <p:sp>
        <p:nvSpPr>
          <p:cNvPr id="96" name="Google Shape;96;p5">
            <a:extLst>
              <a:ext uri="{FF2B5EF4-FFF2-40B4-BE49-F238E27FC236}">
                <a16:creationId xmlns:a16="http://schemas.microsoft.com/office/drawing/2014/main" id="{CAE310D4-17EF-4D84-BD6B-754E1F666866}"/>
              </a:ext>
            </a:extLst>
          </p:cNvPr>
          <p:cNvSpPr>
            <a:spLocks noGrp="1"/>
          </p:cNvSpPr>
          <p:nvPr/>
        </p:nvSpPr>
        <p:spPr>
          <a:xfrm>
            <a:off x="685800" y="2496312"/>
            <a:ext cx="5074920" cy="1078992"/>
          </a:xfrm>
          <a:prstGeom prst="roundRect">
            <a:avLst>
              <a:gd name="adj" fmla="val 7627"/>
            </a:avLst>
          </a:prstGeom>
          <a:solidFill>
            <a:srgbClr val="ECFDF5"/>
          </a:solidFill>
          <a:ln w="10150" cmpd="sng">
            <a:solidFill>
              <a:srgbClr val="0F8B61"/>
            </a:solidFill>
            <a:prstDash val="solid"/>
            <a:headEnd type="none" w="sm" len="sm"/>
            <a:tailEnd type="none" w="sm" len="sm"/>
          </a:ln>
        </p:spPr>
        <p:txBody>
          <a:bodyPr spcFirstLastPara="1" wrap="square" lIns="91425" tIns="45700" rIns="91425" bIns="45700" anchor="t">
            <a:noAutofit/>
          </a:bodyPr>
          <a:lstStyle/>
          <a:p>
            <a:pPr marL="0" indent="0" algn="l">
              <a:spcBef>
                <a:spcPts val="0"/>
              </a:spcBef>
              <a:spcAft>
                <a:spcPts val="0"/>
              </a:spcAft>
              <a:buNone/>
            </a:pPr>
            <a:endParaRPr/>
          </a:p>
        </p:txBody>
      </p:sp>
      <p:sp>
        <p:nvSpPr>
          <p:cNvPr id="97" name="Google Shape;97;p5">
            <a:extLst>
              <a:ext uri="{FF2B5EF4-FFF2-40B4-BE49-F238E27FC236}">
                <a16:creationId xmlns:a16="http://schemas.microsoft.com/office/drawing/2014/main" id="{0910705E-0C6A-44CD-B3B7-4992648176E3}"/>
              </a:ext>
            </a:extLst>
          </p:cNvPr>
          <p:cNvSpPr>
            <a:spLocks noGrp="1"/>
          </p:cNvSpPr>
          <p:nvPr/>
        </p:nvSpPr>
        <p:spPr>
          <a:xfrm>
            <a:off x="850392" y="2633472"/>
            <a:ext cx="2011680" cy="164592"/>
          </a:xfrm>
          <a:prstGeom prst="rect">
            <a:avLst/>
          </a:prstGeom>
          <a:noFill/>
          <a:ln>
            <a:noFill/>
          </a:ln>
        </p:spPr>
        <p:txBody>
          <a:bodyPr spcFirstLastPara="1" wrap="square" lIns="0" tIns="0" rIns="0" bIns="0" anchor="ctr">
            <a:noAutofit/>
          </a:bodyPr>
          <a:lstStyle/>
          <a:p>
            <a:pPr marL="0" indent="0" algn="l">
              <a:spcBef>
                <a:spcPts val="0"/>
              </a:spcBef>
              <a:spcAft>
                <a:spcPts val="0"/>
              </a:spcAft>
              <a:buNone/>
            </a:pPr>
            <a:r>
              <a:rPr sz="1100" b="1">
                <a:solidFill>
                  <a:srgbClr val="0F8B61"/>
                </a:solidFill>
                <a:latin typeface="Arial"/>
                <a:ea typeface="Arial"/>
                <a:cs typeface="Arial"/>
              </a:rPr>
              <a:t>SUR</a:t>
            </a:r>
          </a:p>
        </p:txBody>
      </p:sp>
      <p:sp>
        <p:nvSpPr>
          <p:cNvPr id="98" name="Google Shape;98;p5">
            <a:extLst>
              <a:ext uri="{FF2B5EF4-FFF2-40B4-BE49-F238E27FC236}">
                <a16:creationId xmlns:a16="http://schemas.microsoft.com/office/drawing/2014/main" id="{7EAA1501-C90C-4994-B0C2-33C943391546}"/>
              </a:ext>
            </a:extLst>
          </p:cNvPr>
          <p:cNvSpPr>
            <a:spLocks noGrp="1"/>
          </p:cNvSpPr>
          <p:nvPr/>
        </p:nvSpPr>
        <p:spPr>
          <a:xfrm>
            <a:off x="850392" y="2916936"/>
            <a:ext cx="4745736" cy="182880"/>
          </a:xfrm>
          <a:prstGeom prst="rect">
            <a:avLst/>
          </a:prstGeom>
          <a:noFill/>
          <a:ln>
            <a:noFill/>
          </a:ln>
        </p:spPr>
        <p:txBody>
          <a:bodyPr spcFirstLastPara="1" wrap="square" lIns="0" tIns="0" rIns="0" bIns="0" anchor="ctr">
            <a:noAutofit/>
          </a:bodyPr>
          <a:lstStyle/>
          <a:p>
            <a:pPr marL="0" indent="0" algn="l">
              <a:spcBef>
                <a:spcPts val="0"/>
              </a:spcBef>
              <a:spcAft>
                <a:spcPts val="0"/>
              </a:spcAft>
              <a:buNone/>
            </a:pPr>
            <a:r>
              <a:rPr sz="1000" b="1">
                <a:solidFill>
                  <a:srgbClr val="1F2A44"/>
                </a:solidFill>
                <a:latin typeface="Arial"/>
                <a:ea typeface="Arial"/>
                <a:cs typeface="Arial"/>
              </a:rPr>
              <a:t>Stepwise Uncertainty Reduction</a:t>
            </a:r>
          </a:p>
        </p:txBody>
      </p:sp>
      <p:sp>
        <p:nvSpPr>
          <p:cNvPr id="99" name="Google Shape;99;p5">
            <a:extLst>
              <a:ext uri="{FF2B5EF4-FFF2-40B4-BE49-F238E27FC236}">
                <a16:creationId xmlns:a16="http://schemas.microsoft.com/office/drawing/2014/main" id="{CAAB4CFC-0E42-48D3-8DA6-4CAC2C32769C}"/>
              </a:ext>
            </a:extLst>
          </p:cNvPr>
          <p:cNvSpPr>
            <a:spLocks noGrp="1"/>
          </p:cNvSpPr>
          <p:nvPr/>
        </p:nvSpPr>
        <p:spPr>
          <a:xfrm>
            <a:off x="850392" y="3209544"/>
            <a:ext cx="4745736" cy="201168"/>
          </a:xfrm>
          <a:prstGeom prst="rect">
            <a:avLst/>
          </a:prstGeom>
          <a:noFill/>
          <a:ln>
            <a:noFill/>
          </a:ln>
        </p:spPr>
        <p:txBody>
          <a:bodyPr spcFirstLastPara="1" wrap="square" lIns="0" tIns="0" rIns="0" bIns="0" anchor="ctr">
            <a:noAutofit/>
          </a:bodyPr>
          <a:lstStyle/>
          <a:p>
            <a:pPr marL="0" indent="0" algn="l">
              <a:spcBef>
                <a:spcPts val="0"/>
              </a:spcBef>
              <a:spcAft>
                <a:spcPts val="0"/>
              </a:spcAft>
              <a:buNone/>
            </a:pPr>
            <a:r>
              <a:rPr sz="1050">
                <a:solidFill>
                  <a:srgbClr val="4B5563"/>
                </a:solidFill>
                <a:latin typeface="Arial"/>
                <a:ea typeface="Arial"/>
                <a:cs typeface="Arial"/>
              </a:rPr>
              <a:t>Use fantasy labels to reduce expected future uncertainty.</a:t>
            </a:r>
          </a:p>
        </p:txBody>
      </p:sp>
      <p:sp>
        <p:nvSpPr>
          <p:cNvPr id="100" name="Google Shape;100;p5">
            <a:extLst>
              <a:ext uri="{FF2B5EF4-FFF2-40B4-BE49-F238E27FC236}">
                <a16:creationId xmlns:a16="http://schemas.microsoft.com/office/drawing/2014/main" id="{A6B1E0ED-FE05-4936-B4B4-BC1C77C7D4E1}"/>
              </a:ext>
            </a:extLst>
          </p:cNvPr>
          <p:cNvSpPr>
            <a:spLocks noGrp="1"/>
          </p:cNvSpPr>
          <p:nvPr/>
        </p:nvSpPr>
        <p:spPr>
          <a:xfrm>
            <a:off x="6217920" y="2496312"/>
            <a:ext cx="5074920" cy="1078992"/>
          </a:xfrm>
          <a:prstGeom prst="roundRect">
            <a:avLst>
              <a:gd name="adj" fmla="val 7627"/>
            </a:avLst>
          </a:prstGeom>
          <a:solidFill>
            <a:srgbClr val="FFF7ED"/>
          </a:solidFill>
          <a:ln w="10150" cmpd="sng">
            <a:solidFill>
              <a:srgbClr val="B7791F"/>
            </a:solidFill>
            <a:prstDash val="solid"/>
            <a:headEnd type="none" w="sm" len="sm"/>
            <a:tailEnd type="none" w="sm" len="sm"/>
          </a:ln>
        </p:spPr>
        <p:txBody>
          <a:bodyPr spcFirstLastPara="1" wrap="square" lIns="91425" tIns="45700" rIns="91425" bIns="45700" anchor="t">
            <a:noAutofit/>
          </a:bodyPr>
          <a:lstStyle/>
          <a:p>
            <a:pPr marL="0" indent="0" algn="l">
              <a:spcBef>
                <a:spcPts val="0"/>
              </a:spcBef>
              <a:spcAft>
                <a:spcPts val="0"/>
              </a:spcAft>
              <a:buNone/>
            </a:pPr>
            <a:endParaRPr/>
          </a:p>
        </p:txBody>
      </p:sp>
      <p:sp>
        <p:nvSpPr>
          <p:cNvPr id="101" name="Google Shape;101;p5">
            <a:extLst>
              <a:ext uri="{FF2B5EF4-FFF2-40B4-BE49-F238E27FC236}">
                <a16:creationId xmlns:a16="http://schemas.microsoft.com/office/drawing/2014/main" id="{20FB2D6E-08DB-42DA-A51A-195FC28A7535}"/>
              </a:ext>
            </a:extLst>
          </p:cNvPr>
          <p:cNvSpPr>
            <a:spLocks noGrp="1"/>
          </p:cNvSpPr>
          <p:nvPr/>
        </p:nvSpPr>
        <p:spPr>
          <a:xfrm>
            <a:off x="6382512" y="2633472"/>
            <a:ext cx="2011680" cy="164592"/>
          </a:xfrm>
          <a:prstGeom prst="rect">
            <a:avLst/>
          </a:prstGeom>
          <a:noFill/>
          <a:ln>
            <a:noFill/>
          </a:ln>
        </p:spPr>
        <p:txBody>
          <a:bodyPr spcFirstLastPara="1" wrap="square" lIns="0" tIns="0" rIns="0" bIns="0" anchor="ctr">
            <a:noAutofit/>
          </a:bodyPr>
          <a:lstStyle/>
          <a:p>
            <a:pPr marL="0" indent="0" algn="l">
              <a:spcBef>
                <a:spcPts val="0"/>
              </a:spcBef>
              <a:spcAft>
                <a:spcPts val="0"/>
              </a:spcAft>
              <a:buNone/>
            </a:pPr>
            <a:r>
              <a:rPr sz="1100" b="1">
                <a:solidFill>
                  <a:srgbClr val="B7791F"/>
                </a:solidFill>
                <a:latin typeface="Arial"/>
                <a:ea typeface="Arial"/>
                <a:cs typeface="Arial"/>
              </a:rPr>
              <a:t>GPC-SUR</a:t>
            </a:r>
          </a:p>
        </p:txBody>
      </p:sp>
      <p:sp>
        <p:nvSpPr>
          <p:cNvPr id="102" name="Google Shape;102;p5">
            <a:extLst>
              <a:ext uri="{FF2B5EF4-FFF2-40B4-BE49-F238E27FC236}">
                <a16:creationId xmlns:a16="http://schemas.microsoft.com/office/drawing/2014/main" id="{467C5FEC-836A-4936-9D21-6A15F057DA94}"/>
              </a:ext>
            </a:extLst>
          </p:cNvPr>
          <p:cNvSpPr>
            <a:spLocks noGrp="1"/>
          </p:cNvSpPr>
          <p:nvPr/>
        </p:nvSpPr>
        <p:spPr>
          <a:xfrm>
            <a:off x="6382512" y="2916936"/>
            <a:ext cx="4745736" cy="182880"/>
          </a:xfrm>
          <a:prstGeom prst="rect">
            <a:avLst/>
          </a:prstGeom>
          <a:noFill/>
          <a:ln>
            <a:noFill/>
          </a:ln>
        </p:spPr>
        <p:txBody>
          <a:bodyPr spcFirstLastPara="1" wrap="square" lIns="0" tIns="0" rIns="0" bIns="0" anchor="ctr">
            <a:noAutofit/>
          </a:bodyPr>
          <a:lstStyle/>
          <a:p>
            <a:pPr marL="0" indent="0" algn="l">
              <a:spcBef>
                <a:spcPts val="0"/>
              </a:spcBef>
              <a:spcAft>
                <a:spcPts val="0"/>
              </a:spcAft>
              <a:buNone/>
            </a:pPr>
            <a:r>
              <a:rPr sz="1000" b="1">
                <a:solidFill>
                  <a:srgbClr val="1F2A44"/>
                </a:solidFill>
                <a:latin typeface="Arial"/>
                <a:ea typeface="Arial"/>
                <a:cs typeface="Arial"/>
              </a:rPr>
              <a:t>classifier fantasy refit</a:t>
            </a:r>
          </a:p>
        </p:txBody>
      </p:sp>
      <p:sp>
        <p:nvSpPr>
          <p:cNvPr id="103" name="Google Shape;103;p5">
            <a:extLst>
              <a:ext uri="{FF2B5EF4-FFF2-40B4-BE49-F238E27FC236}">
                <a16:creationId xmlns:a16="http://schemas.microsoft.com/office/drawing/2014/main" id="{8A25AEC7-C1D1-4280-871D-59AC458040B0}"/>
              </a:ext>
            </a:extLst>
          </p:cNvPr>
          <p:cNvSpPr>
            <a:spLocks noGrp="1"/>
          </p:cNvSpPr>
          <p:nvPr/>
        </p:nvSpPr>
        <p:spPr>
          <a:xfrm>
            <a:off x="6382512" y="3209544"/>
            <a:ext cx="4745736" cy="201168"/>
          </a:xfrm>
          <a:prstGeom prst="rect">
            <a:avLst/>
          </a:prstGeom>
          <a:noFill/>
          <a:ln>
            <a:noFill/>
          </a:ln>
        </p:spPr>
        <p:txBody>
          <a:bodyPr spcFirstLastPara="1" wrap="square" lIns="0" tIns="0" rIns="0" bIns="0" anchor="ctr">
            <a:noAutofit/>
          </a:bodyPr>
          <a:lstStyle/>
          <a:p>
            <a:pPr marL="0" indent="0" algn="l">
              <a:spcBef>
                <a:spcPts val="0"/>
              </a:spcBef>
              <a:spcAft>
                <a:spcPts val="0"/>
              </a:spcAft>
              <a:buNone/>
            </a:pPr>
            <a:r>
              <a:rPr sz="1050">
                <a:solidFill>
                  <a:srgbClr val="4B5563"/>
                </a:solidFill>
                <a:latin typeface="Arial"/>
                <a:ea typeface="Arial"/>
                <a:cs typeface="Arial"/>
              </a:rPr>
              <a:t>Uses predict_proba and Bernoulli uncertainty p(1-p).</a:t>
            </a:r>
          </a:p>
        </p:txBody>
      </p:sp>
      <p:sp>
        <p:nvSpPr>
          <p:cNvPr id="104" name="Google Shape;104;p5">
            <a:extLst>
              <a:ext uri="{FF2B5EF4-FFF2-40B4-BE49-F238E27FC236}">
                <a16:creationId xmlns:a16="http://schemas.microsoft.com/office/drawing/2014/main" id="{4FD3BF2C-ADEB-466B-8D26-16F09BA33CDA}"/>
              </a:ext>
            </a:extLst>
          </p:cNvPr>
          <p:cNvSpPr>
            <a:spLocks noGrp="1"/>
          </p:cNvSpPr>
          <p:nvPr/>
        </p:nvSpPr>
        <p:spPr>
          <a:xfrm>
            <a:off x="685800" y="3849624"/>
            <a:ext cx="11064240" cy="1078992"/>
          </a:xfrm>
          <a:prstGeom prst="roundRect">
            <a:avLst>
              <a:gd name="adj" fmla="val 7627"/>
            </a:avLst>
          </a:prstGeom>
          <a:solidFill>
            <a:srgbClr val="FFF1F2"/>
          </a:solidFill>
          <a:ln w="10150" cmpd="sng">
            <a:solidFill>
              <a:srgbClr val="9F1239"/>
            </a:solidFill>
            <a:prstDash val="solid"/>
            <a:headEnd type="none" w="sm" len="sm"/>
            <a:tailEnd type="none" w="sm" len="sm"/>
          </a:ln>
        </p:spPr>
        <p:txBody>
          <a:bodyPr spcFirstLastPara="1" wrap="square" lIns="91425" tIns="45700" rIns="91425" bIns="45700" anchor="t">
            <a:noAutofit/>
          </a:bodyPr>
          <a:lstStyle/>
          <a:p>
            <a:pPr marL="0" indent="0" algn="l">
              <a:spcBef>
                <a:spcPts val="0"/>
              </a:spcBef>
              <a:spcAft>
                <a:spcPts val="0"/>
              </a:spcAft>
              <a:buNone/>
            </a:pPr>
            <a:endParaRPr/>
          </a:p>
        </p:txBody>
      </p:sp>
      <p:sp>
        <p:nvSpPr>
          <p:cNvPr id="105" name="Google Shape;105;p5">
            <a:extLst>
              <a:ext uri="{FF2B5EF4-FFF2-40B4-BE49-F238E27FC236}">
                <a16:creationId xmlns:a16="http://schemas.microsoft.com/office/drawing/2014/main" id="{A053C947-5D6B-4D7E-B4A5-F8854FBD7E3F}"/>
              </a:ext>
            </a:extLst>
          </p:cNvPr>
          <p:cNvSpPr>
            <a:spLocks noGrp="1"/>
          </p:cNvSpPr>
          <p:nvPr/>
        </p:nvSpPr>
        <p:spPr>
          <a:xfrm>
            <a:off x="850392" y="3986784"/>
            <a:ext cx="2011680" cy="164592"/>
          </a:xfrm>
          <a:prstGeom prst="rect">
            <a:avLst/>
          </a:prstGeom>
          <a:noFill/>
          <a:ln>
            <a:noFill/>
          </a:ln>
        </p:spPr>
        <p:txBody>
          <a:bodyPr spcFirstLastPara="1" wrap="square" lIns="0" tIns="0" rIns="0" bIns="0" anchor="ctr">
            <a:noAutofit/>
          </a:bodyPr>
          <a:lstStyle/>
          <a:p>
            <a:pPr marL="0" indent="0" algn="l">
              <a:spcBef>
                <a:spcPts val="0"/>
              </a:spcBef>
              <a:spcAft>
                <a:spcPts val="0"/>
              </a:spcAft>
              <a:buNone/>
            </a:pPr>
            <a:r>
              <a:rPr sz="1100" b="1">
                <a:solidFill>
                  <a:srgbClr val="9F1239"/>
                </a:solidFill>
                <a:latin typeface="Arial"/>
                <a:ea typeface="Arial"/>
                <a:cs typeface="Arial"/>
              </a:rPr>
              <a:t>Question</a:t>
            </a:r>
          </a:p>
        </p:txBody>
      </p:sp>
      <p:sp>
        <p:nvSpPr>
          <p:cNvPr id="106" name="Google Shape;106;p5">
            <a:extLst>
              <a:ext uri="{FF2B5EF4-FFF2-40B4-BE49-F238E27FC236}">
                <a16:creationId xmlns:a16="http://schemas.microsoft.com/office/drawing/2014/main" id="{BB4C1F66-F85C-4746-9EBB-269E7BD1339C}"/>
              </a:ext>
            </a:extLst>
          </p:cNvPr>
          <p:cNvSpPr>
            <a:spLocks noGrp="1"/>
          </p:cNvSpPr>
          <p:nvPr/>
        </p:nvSpPr>
        <p:spPr>
          <a:xfrm>
            <a:off x="850392" y="4270248"/>
            <a:ext cx="10735056" cy="182880"/>
          </a:xfrm>
          <a:prstGeom prst="rect">
            <a:avLst/>
          </a:prstGeom>
          <a:noFill/>
          <a:ln>
            <a:noFill/>
          </a:ln>
        </p:spPr>
        <p:txBody>
          <a:bodyPr spcFirstLastPara="1" wrap="square" lIns="0" tIns="0" rIns="0" bIns="0" anchor="ctr">
            <a:noAutofit/>
          </a:bodyPr>
          <a:lstStyle/>
          <a:p>
            <a:pPr marL="0" indent="0" algn="l">
              <a:spcBef>
                <a:spcPts val="0"/>
              </a:spcBef>
              <a:spcAft>
                <a:spcPts val="0"/>
              </a:spcAft>
              <a:buNone/>
            </a:pPr>
            <a:r>
              <a:rPr sz="1000" b="1">
                <a:solidFill>
                  <a:srgbClr val="1F2A44"/>
                </a:solidFill>
                <a:latin typeface="Arial"/>
                <a:ea typeface="Arial"/>
                <a:cs typeface="Arial"/>
              </a:rPr>
              <a:t>does lower integrated uncertainty mean better boundary error?</a:t>
            </a:r>
          </a:p>
        </p:txBody>
      </p:sp>
      <p:sp>
        <p:nvSpPr>
          <p:cNvPr id="107" name="Google Shape;107;p5">
            <a:extLst>
              <a:ext uri="{FF2B5EF4-FFF2-40B4-BE49-F238E27FC236}">
                <a16:creationId xmlns:a16="http://schemas.microsoft.com/office/drawing/2014/main" id="{3BDE594B-07D6-4284-B73C-599454728605}"/>
              </a:ext>
            </a:extLst>
          </p:cNvPr>
          <p:cNvSpPr>
            <a:spLocks noGrp="1"/>
          </p:cNvSpPr>
          <p:nvPr/>
        </p:nvSpPr>
        <p:spPr>
          <a:xfrm>
            <a:off x="850392" y="4562856"/>
            <a:ext cx="10735056" cy="201168"/>
          </a:xfrm>
          <a:prstGeom prst="rect">
            <a:avLst/>
          </a:prstGeom>
          <a:noFill/>
          <a:ln>
            <a:noFill/>
          </a:ln>
        </p:spPr>
        <p:txBody>
          <a:bodyPr spcFirstLastPara="1" wrap="square" lIns="0" tIns="0" rIns="0" bIns="0" anchor="ctr">
            <a:noAutofit/>
          </a:bodyPr>
          <a:lstStyle/>
          <a:p>
            <a:pPr marL="0" indent="0" algn="l">
              <a:spcBef>
                <a:spcPts val="0"/>
              </a:spcBef>
              <a:spcAft>
                <a:spcPts val="0"/>
              </a:spcAft>
              <a:buNone/>
            </a:pPr>
            <a:r>
              <a:rPr sz="1050">
                <a:solidFill>
                  <a:srgbClr val="4B5563"/>
                </a:solidFill>
                <a:latin typeface="Arial"/>
                <a:ea typeface="Arial"/>
                <a:cs typeface="Arial"/>
              </a:rPr>
              <a:t>The answer is benchmark-dependent.</a:t>
            </a:r>
          </a:p>
        </p:txBody>
      </p:sp>
      <p:sp>
        <p:nvSpPr>
          <p:cNvPr id="108" name="Google Shape;108;p5">
            <a:extLst>
              <a:ext uri="{FF2B5EF4-FFF2-40B4-BE49-F238E27FC236}">
                <a16:creationId xmlns:a16="http://schemas.microsoft.com/office/drawing/2014/main" id="{F6EF6D84-3636-42A8-9481-F098211756EE}"/>
              </a:ext>
            </a:extLst>
          </p:cNvPr>
          <p:cNvSpPr>
            <a:spLocks noGrp="1"/>
          </p:cNvSpPr>
          <p:nvPr/>
        </p:nvSpPr>
        <p:spPr>
          <a:xfrm>
            <a:off x="685800" y="5504688"/>
            <a:ext cx="11064240" cy="566928"/>
          </a:xfrm>
          <a:prstGeom prst="roundRect">
            <a:avLst>
              <a:gd name="adj" fmla="val 14516"/>
            </a:avLst>
          </a:prstGeom>
          <a:solidFill>
            <a:srgbClr val="FFFFFF"/>
          </a:solidFill>
          <a:ln w="10150" cmpd="sng">
            <a:solidFill>
              <a:srgbClr val="D9DEE8"/>
            </a:solidFill>
            <a:prstDash val="solid"/>
            <a:headEnd type="none" w="sm" len="sm"/>
            <a:tailEnd type="none" w="sm" len="sm"/>
          </a:ln>
        </p:spPr>
        <p:txBody>
          <a:bodyPr spcFirstLastPara="1" wrap="square" lIns="91425" tIns="45700" rIns="91425" bIns="45700" anchor="t">
            <a:noAutofit/>
          </a:bodyPr>
          <a:lstStyle/>
          <a:p>
            <a:pPr marL="0" indent="0" algn="l">
              <a:spcBef>
                <a:spcPts val="0"/>
              </a:spcBef>
              <a:spcAft>
                <a:spcPts val="0"/>
              </a:spcAft>
              <a:buNone/>
            </a:pPr>
            <a:endParaRPr/>
          </a:p>
        </p:txBody>
      </p:sp>
      <p:sp>
        <p:nvSpPr>
          <p:cNvPr id="109" name="Google Shape;109;p5">
            <a:extLst>
              <a:ext uri="{FF2B5EF4-FFF2-40B4-BE49-F238E27FC236}">
                <a16:creationId xmlns:a16="http://schemas.microsoft.com/office/drawing/2014/main" id="{9752D25C-8166-4A31-8D78-E854BC4FD981}"/>
              </a:ext>
            </a:extLst>
          </p:cNvPr>
          <p:cNvSpPr>
            <a:spLocks noGrp="1"/>
          </p:cNvSpPr>
          <p:nvPr/>
        </p:nvSpPr>
        <p:spPr>
          <a:xfrm>
            <a:off x="896112" y="5696712"/>
            <a:ext cx="10607040" cy="146304"/>
          </a:xfrm>
          <a:prstGeom prst="rect">
            <a:avLst/>
          </a:prstGeom>
          <a:noFill/>
          <a:ln>
            <a:noFill/>
          </a:ln>
        </p:spPr>
        <p:txBody>
          <a:bodyPr spcFirstLastPara="1" wrap="square" lIns="0" tIns="0" rIns="0" bIns="0" anchor="ctr">
            <a:noAutofit/>
          </a:bodyPr>
          <a:lstStyle/>
          <a:p>
            <a:pPr marL="0" indent="0" algn="l">
              <a:spcBef>
                <a:spcPts val="0"/>
              </a:spcBef>
              <a:spcAft>
                <a:spcPts val="0"/>
              </a:spcAft>
              <a:buNone/>
            </a:pPr>
            <a:r>
              <a:rPr sz="1050">
                <a:solidFill>
                  <a:srgbClr val="4B5563"/>
                </a:solidFill>
                <a:latin typeface="Arial"/>
                <a:ea typeface="Arial"/>
                <a:cs typeface="Arial"/>
              </a:rPr>
              <a:t>Important: SUR/IVR connects the work to active level-set literature, but runtime and robustness decide whether it is usable.</a:t>
            </a:r>
          </a:p>
        </p:txBody>
      </p:sp>
      <p:cxnSp>
        <p:nvCxnSpPr>
          <p:cNvPr id="162" name="Google Shape;110;p5"/>
          <p:cNvCxnSpPr/>
          <p:nvPr/>
        </p:nvCxnSpPr>
        <p:spPr>
          <a:xfrm>
            <a:off x="502920" y="6446520"/>
            <a:ext cx="11201400" cy="0"/>
          </a:xfrm>
          <a:prstGeom prst="straightConnector1">
            <a:avLst/>
          </a:prstGeom>
          <a:ln w="9525" cap="flat">
            <a:solidFill>
              <a:srgbClr val="D9DEE8"/>
            </a:solidFill>
            <a:prstDash val="solid"/>
            <a:round/>
            <a:headEnd type="none" w="sm" len="sm"/>
            <a:tailEnd type="none" w="sm" len="sm"/>
          </a:ln>
        </p:spPr>
      </p:cxnSp>
      <p:sp>
        <p:nvSpPr>
          <p:cNvPr id="111" name="Google Shape;111;p5">
            <a:extLst>
              <a:ext uri="{FF2B5EF4-FFF2-40B4-BE49-F238E27FC236}">
                <a16:creationId xmlns:a16="http://schemas.microsoft.com/office/drawing/2014/main" id="{61D88CEB-DE56-4A79-A0BB-DA9BE8110C9B}"/>
              </a:ext>
            </a:extLst>
          </p:cNvPr>
          <p:cNvSpPr>
            <a:spLocks noGrp="1"/>
          </p:cNvSpPr>
          <p:nvPr/>
        </p:nvSpPr>
        <p:spPr>
          <a:xfrm>
            <a:off x="502920" y="6519672"/>
            <a:ext cx="8961120" cy="164592"/>
          </a:xfrm>
          <a:prstGeom prst="rect">
            <a:avLst/>
          </a:prstGeom>
          <a:noFill/>
          <a:ln>
            <a:noFill/>
          </a:ln>
        </p:spPr>
        <p:txBody>
          <a:bodyPr spcFirstLastPara="1" wrap="square" lIns="0" tIns="0" rIns="0" bIns="0" anchor="ctr">
            <a:noAutofit/>
          </a:bodyPr>
          <a:lstStyle/>
          <a:p>
            <a:pPr marL="0" indent="0" algn="l">
              <a:spcBef>
                <a:spcPts val="0"/>
              </a:spcBef>
              <a:spcAft>
                <a:spcPts val="0"/>
              </a:spcAft>
              <a:buNone/>
            </a:pPr>
            <a:r>
              <a:rPr sz="780">
                <a:solidFill>
                  <a:srgbClr val="6B7280"/>
                </a:solidFill>
                <a:latin typeface="Arial"/>
                <a:ea typeface="Arial"/>
                <a:cs typeface="Arial"/>
              </a:rPr>
              <a:t>Week 3 extended update - Sample-Efficient Active Level-Set Estimation - 16</a:t>
            </a:r>
          </a:p>
        </p:txBody>
      </p:sp>
      <p:sp>
        <p:nvSpPr>
          <p:cNvPr id="112" name="Google Shape;112;p5">
            <a:extLst>
              <a:ext uri="{FF2B5EF4-FFF2-40B4-BE49-F238E27FC236}">
                <a16:creationId xmlns:a16="http://schemas.microsoft.com/office/drawing/2014/main" id="{5B9AD59B-E5D2-4800-8C4E-D3D8D97D07BC}"/>
              </a:ext>
            </a:extLst>
          </p:cNvPr>
          <p:cNvSpPr>
            <a:spLocks noGrp="1"/>
          </p:cNvSpPr>
          <p:nvPr/>
        </p:nvSpPr>
        <p:spPr>
          <a:xfrm>
            <a:off x="11521440" y="6492240"/>
            <a:ext cx="228600" cy="164592"/>
          </a:xfrm>
          <a:prstGeom prst="rect">
            <a:avLst/>
          </a:prstGeom>
          <a:noFill/>
          <a:ln>
            <a:noFill/>
          </a:ln>
        </p:spPr>
        <p:txBody>
          <a:bodyPr spcFirstLastPara="1" wrap="square" lIns="0" tIns="0" rIns="0" bIns="0" anchor="ctr">
            <a:noAutofit/>
          </a:bodyPr>
          <a:lstStyle/>
          <a:p>
            <a:pPr marL="0" indent="0" algn="r">
              <a:spcBef>
                <a:spcPts val="0"/>
              </a:spcBef>
              <a:spcAft>
                <a:spcPts val="0"/>
              </a:spcAft>
              <a:buNone/>
            </a:pPr>
            <a:r>
              <a:rPr sz="780">
                <a:solidFill>
                  <a:srgbClr val="6B7280"/>
                </a:solidFill>
                <a:latin typeface="Arial"/>
                <a:ea typeface="Arial"/>
                <a:cs typeface="Arial"/>
              </a:rPr>
              <a:t>16</a:t>
            </a:r>
          </a:p>
        </p:txBody>
      </p:sp>
    </p:spTree>
    <p:extLst>
      <p:ext uri="{BB962C8B-B14F-4D97-AF65-F5344CB8AC3E}">
        <p14:creationId xmlns:p14="http://schemas.microsoft.com/office/powerpoint/2010/main" val="560878052"/>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bg>
      <p:bgPr>
        <a:solidFill>
          <a:srgbClr val="F6F8FC"/>
        </a:solidFill>
        <a:effectLst/>
      </p:bgPr>
    </p:bg>
    <p:spTree>
      <p:nvGrpSpPr>
        <p:cNvPr id="1" name=""/>
        <p:cNvGrpSpPr/>
        <p:nvPr/>
      </p:nvGrpSpPr>
      <p:grpSpPr>
        <a:xfrm>
          <a:off x="0" y="0"/>
          <a:ext cx="0" cy="0"/>
          <a:chOff x="0" y="0"/>
          <a:chExt cx="0" cy="0"/>
        </a:xfrm>
      </p:grpSpPr>
      <p:sp>
        <p:nvSpPr>
          <p:cNvPr id="142" name="Google Shape;142;p7">
            <a:extLst>
              <a:ext uri="{FF2B5EF4-FFF2-40B4-BE49-F238E27FC236}">
                <a16:creationId xmlns:a16="http://schemas.microsoft.com/office/drawing/2014/main" id="{81BA9912-BDB9-4CBD-807E-05E773527849}"/>
              </a:ext>
            </a:extLst>
          </p:cNvPr>
          <p:cNvSpPr>
            <a:spLocks noGrp="1"/>
          </p:cNvSpPr>
          <p:nvPr/>
        </p:nvSpPr>
        <p:spPr>
          <a:xfrm>
            <a:off x="502920" y="329184"/>
            <a:ext cx="10789920" cy="320040"/>
          </a:xfrm>
          <a:prstGeom prst="rect">
            <a:avLst/>
          </a:prstGeom>
          <a:noFill/>
          <a:ln>
            <a:noFill/>
          </a:ln>
        </p:spPr>
        <p:txBody>
          <a:bodyPr spcFirstLastPara="1" wrap="square" lIns="0" tIns="0" rIns="0" bIns="0" anchor="ctr">
            <a:noAutofit/>
          </a:bodyPr>
          <a:lstStyle/>
          <a:p>
            <a:pPr marL="0" indent="0" algn="l">
              <a:spcBef>
                <a:spcPts val="0"/>
              </a:spcBef>
              <a:spcAft>
                <a:spcPts val="0"/>
              </a:spcAft>
              <a:buNone/>
            </a:pPr>
            <a:r>
              <a:rPr sz="2200" b="1">
                <a:solidFill>
                  <a:srgbClr val="1F2A44"/>
                </a:solidFill>
                <a:latin typeface="Play"/>
                <a:ea typeface="Play"/>
                <a:cs typeface="Play"/>
              </a:rPr>
              <a:t>Hartmann4 changes the picture</a:t>
            </a:r>
          </a:p>
        </p:txBody>
      </p:sp>
      <p:sp>
        <p:nvSpPr>
          <p:cNvPr id="143" name="Google Shape;143;p7">
            <a:extLst>
              <a:ext uri="{FF2B5EF4-FFF2-40B4-BE49-F238E27FC236}">
                <a16:creationId xmlns:a16="http://schemas.microsoft.com/office/drawing/2014/main" id="{5DECCD09-421D-4E02-AD30-9E681AA6585B}"/>
              </a:ext>
            </a:extLst>
          </p:cNvPr>
          <p:cNvSpPr>
            <a:spLocks noGrp="1"/>
          </p:cNvSpPr>
          <p:nvPr/>
        </p:nvSpPr>
        <p:spPr>
          <a:xfrm>
            <a:off x="521208" y="713232"/>
            <a:ext cx="10515600" cy="237744"/>
          </a:xfrm>
          <a:prstGeom prst="rect">
            <a:avLst/>
          </a:prstGeom>
          <a:noFill/>
          <a:ln>
            <a:noFill/>
          </a:ln>
        </p:spPr>
        <p:txBody>
          <a:bodyPr spcFirstLastPara="1" wrap="square" lIns="0" tIns="0" rIns="0" bIns="0" anchor="ctr">
            <a:noAutofit/>
          </a:bodyPr>
          <a:lstStyle/>
          <a:p>
            <a:pPr marL="0" indent="0" algn="l">
              <a:spcBef>
                <a:spcPts val="0"/>
              </a:spcBef>
              <a:spcAft>
                <a:spcPts val="0"/>
              </a:spcAft>
              <a:buNone/>
            </a:pPr>
            <a:r>
              <a:rPr sz="1050">
                <a:solidFill>
                  <a:srgbClr val="4B5563"/>
                </a:solidFill>
                <a:latin typeface="Arial"/>
                <a:ea typeface="Arial"/>
                <a:cs typeface="Arial"/>
              </a:rPr>
              <a:t>New GPR uncertainty-reduction methods did not replace simple baselines, but Hartmann4 gave a useful signal.</a:t>
            </a:r>
          </a:p>
        </p:txBody>
      </p:sp>
      <p:sp>
        <p:nvSpPr>
          <p:cNvPr id="144" name="Google Shape;144;p7">
            <a:extLst>
              <a:ext uri="{FF2B5EF4-FFF2-40B4-BE49-F238E27FC236}">
                <a16:creationId xmlns:a16="http://schemas.microsoft.com/office/drawing/2014/main" id="{9D89FC33-07A9-4D22-BB7C-0AD9052EA6ED}"/>
              </a:ext>
            </a:extLst>
          </p:cNvPr>
          <p:cNvSpPr>
            <a:spLocks noGrp="1"/>
          </p:cNvSpPr>
          <p:nvPr/>
        </p:nvSpPr>
        <p:spPr>
          <a:xfrm>
            <a:off x="502920" y="1051560"/>
            <a:ext cx="7406640" cy="4937760"/>
          </a:xfrm>
          <a:prstGeom prst="roundRect">
            <a:avLst>
              <a:gd name="adj" fmla="val 1667"/>
            </a:avLst>
          </a:prstGeom>
          <a:solidFill>
            <a:srgbClr val="FFFFFF"/>
          </a:solidFill>
          <a:ln w="10150" cmpd="sng">
            <a:solidFill>
              <a:srgbClr val="D9DEE8"/>
            </a:solidFill>
            <a:prstDash val="solid"/>
            <a:headEnd type="none" w="sm" len="sm"/>
            <a:tailEnd type="none" w="sm" len="sm"/>
          </a:ln>
        </p:spPr>
        <p:txBody>
          <a:bodyPr spcFirstLastPara="1" wrap="square" lIns="91425" tIns="45700" rIns="91425" bIns="45700" anchor="t">
            <a:noAutofit/>
          </a:bodyPr>
          <a:lstStyle/>
          <a:p>
            <a:pPr marL="0" indent="0" algn="l">
              <a:spcBef>
                <a:spcPts val="0"/>
              </a:spcBef>
              <a:spcAft>
                <a:spcPts val="0"/>
              </a:spcAft>
              <a:buNone/>
            </a:pPr>
            <a:endParaRPr/>
          </a:p>
        </p:txBody>
      </p:sp>
      <p:pic>
        <p:nvPicPr>
          <p:cNvPr id="210" name="Google Shape;145;p7"/>
          <p:cNvPicPr>
            <a:picLocks noChangeAspect="1"/>
          </p:cNvPicPr>
          <p:nvPr/>
        </p:nvPicPr>
        <p:blipFill rotWithShape="1">
          <a:blip r:embed="rId3">
            <a:alphaModFix/>
          </a:blip>
          <a:srcRect t="20278" b="20278"/>
          <a:stretch>
            <a:fillRect/>
          </a:stretch>
        </p:blipFill>
        <p:spPr>
          <a:xfrm>
            <a:off x="502920" y="1319022"/>
            <a:ext cx="7406640" cy="4402836"/>
          </a:xfrm>
          <a:prstGeom prst="rect">
            <a:avLst/>
          </a:prstGeom>
          <a:ln>
            <a:noFill/>
          </a:ln>
        </p:spPr>
      </p:pic>
      <p:sp>
        <p:nvSpPr>
          <p:cNvPr id="146" name="Google Shape;146;p7">
            <a:extLst>
              <a:ext uri="{FF2B5EF4-FFF2-40B4-BE49-F238E27FC236}">
                <a16:creationId xmlns:a16="http://schemas.microsoft.com/office/drawing/2014/main" id="{53A6A1D4-98A3-4627-9A37-EB28651795A5}"/>
              </a:ext>
            </a:extLst>
          </p:cNvPr>
          <p:cNvSpPr>
            <a:spLocks noGrp="1"/>
          </p:cNvSpPr>
          <p:nvPr/>
        </p:nvSpPr>
        <p:spPr>
          <a:xfrm>
            <a:off x="8156448" y="1051560"/>
            <a:ext cx="3456432" cy="4937760"/>
          </a:xfrm>
          <a:prstGeom prst="roundRect">
            <a:avLst>
              <a:gd name="adj" fmla="val 2381"/>
            </a:avLst>
          </a:prstGeom>
          <a:solidFill>
            <a:srgbClr val="FFFFFF"/>
          </a:solidFill>
          <a:ln w="10150" cmpd="sng">
            <a:solidFill>
              <a:srgbClr val="D9DEE8"/>
            </a:solidFill>
            <a:prstDash val="solid"/>
            <a:headEnd type="none" w="sm" len="sm"/>
            <a:tailEnd type="none" w="sm" len="sm"/>
          </a:ln>
          <a:effectLst>
            <a:outerShdw blurRad="15240" dist="50800" dir="2700000" algn="bl" rotWithShape="0">
              <a:srgbClr val="000000">
                <a:alpha val="7843"/>
              </a:srgbClr>
            </a:outerShdw>
          </a:effectLst>
        </p:spPr>
        <p:txBody>
          <a:bodyPr spcFirstLastPara="1" wrap="square" lIns="91425" tIns="45700" rIns="91425" bIns="45700" anchor="t">
            <a:noAutofit/>
          </a:bodyPr>
          <a:lstStyle/>
          <a:p>
            <a:pPr marL="0" indent="0" algn="l">
              <a:spcBef>
                <a:spcPts val="0"/>
              </a:spcBef>
              <a:spcAft>
                <a:spcPts val="0"/>
              </a:spcAft>
              <a:buNone/>
            </a:pPr>
            <a:endParaRPr/>
          </a:p>
        </p:txBody>
      </p:sp>
      <p:sp>
        <p:nvSpPr>
          <p:cNvPr id="147" name="Google Shape;147;p7">
            <a:extLst>
              <a:ext uri="{FF2B5EF4-FFF2-40B4-BE49-F238E27FC236}">
                <a16:creationId xmlns:a16="http://schemas.microsoft.com/office/drawing/2014/main" id="{92266219-070C-46E7-84F9-B10E52F98B86}"/>
              </a:ext>
            </a:extLst>
          </p:cNvPr>
          <p:cNvSpPr>
            <a:spLocks noGrp="1"/>
          </p:cNvSpPr>
          <p:nvPr/>
        </p:nvSpPr>
        <p:spPr>
          <a:xfrm>
            <a:off x="8394192" y="1307592"/>
            <a:ext cx="2651760" cy="164592"/>
          </a:xfrm>
          <a:prstGeom prst="rect">
            <a:avLst/>
          </a:prstGeom>
          <a:noFill/>
          <a:ln>
            <a:noFill/>
          </a:ln>
        </p:spPr>
        <p:txBody>
          <a:bodyPr spcFirstLastPara="1" wrap="square" lIns="0" tIns="0" rIns="0" bIns="0" anchor="ctr">
            <a:noAutofit/>
          </a:bodyPr>
          <a:lstStyle/>
          <a:p>
            <a:pPr marL="0" indent="0" algn="l">
              <a:spcBef>
                <a:spcPts val="0"/>
              </a:spcBef>
              <a:spcAft>
                <a:spcPts val="0"/>
              </a:spcAft>
              <a:buNone/>
            </a:pPr>
            <a:r>
              <a:rPr sz="1400" b="1">
                <a:solidFill>
                  <a:srgbClr val="1F2A44"/>
                </a:solidFill>
                <a:latin typeface="Arial"/>
                <a:ea typeface="Arial"/>
                <a:cs typeface="Arial"/>
              </a:rPr>
              <a:t>Comparable five-seed winners</a:t>
            </a:r>
          </a:p>
        </p:txBody>
      </p:sp>
      <p:sp>
        <p:nvSpPr>
          <p:cNvPr id="148" name="Google Shape;148;p7">
            <a:extLst>
              <a:ext uri="{FF2B5EF4-FFF2-40B4-BE49-F238E27FC236}">
                <a16:creationId xmlns:a16="http://schemas.microsoft.com/office/drawing/2014/main" id="{22182E4C-2E3E-4F0D-BA22-C266022CB68F}"/>
              </a:ext>
            </a:extLst>
          </p:cNvPr>
          <p:cNvSpPr>
            <a:spLocks noGrp="1"/>
          </p:cNvSpPr>
          <p:nvPr/>
        </p:nvSpPr>
        <p:spPr>
          <a:xfrm>
            <a:off x="8394192" y="1719072"/>
            <a:ext cx="256032" cy="256032"/>
          </a:xfrm>
          <a:prstGeom prst="ellipse">
            <a:avLst/>
          </a:prstGeom>
          <a:solidFill>
            <a:srgbClr val="B7791F"/>
          </a:solidFill>
          <a:ln w="12700" cmpd="sng">
            <a:solidFill>
              <a:srgbClr val="B7791F"/>
            </a:solidFill>
            <a:prstDash val="solid"/>
            <a:headEnd type="none" w="sm" len="sm"/>
            <a:tailEnd type="none" w="sm" len="sm"/>
          </a:ln>
        </p:spPr>
        <p:txBody>
          <a:bodyPr spcFirstLastPara="1" wrap="square" lIns="91425" tIns="45700" rIns="91425" bIns="45700" anchor="t">
            <a:noAutofit/>
          </a:bodyPr>
          <a:lstStyle/>
          <a:p>
            <a:pPr marL="0" indent="0" algn="l">
              <a:spcBef>
                <a:spcPts val="0"/>
              </a:spcBef>
              <a:spcAft>
                <a:spcPts val="0"/>
              </a:spcAft>
              <a:buNone/>
            </a:pPr>
            <a:endParaRPr/>
          </a:p>
        </p:txBody>
      </p:sp>
      <p:sp>
        <p:nvSpPr>
          <p:cNvPr id="149" name="Google Shape;149;p7">
            <a:extLst>
              <a:ext uri="{FF2B5EF4-FFF2-40B4-BE49-F238E27FC236}">
                <a16:creationId xmlns:a16="http://schemas.microsoft.com/office/drawing/2014/main" id="{83374358-80A8-4BBC-8CEF-3FEE18F3A67E}"/>
              </a:ext>
            </a:extLst>
          </p:cNvPr>
          <p:cNvSpPr>
            <a:spLocks noGrp="1"/>
          </p:cNvSpPr>
          <p:nvPr/>
        </p:nvSpPr>
        <p:spPr>
          <a:xfrm>
            <a:off x="8394192" y="1769364"/>
            <a:ext cx="256032" cy="109728"/>
          </a:xfrm>
          <a:prstGeom prst="rect">
            <a:avLst/>
          </a:prstGeom>
          <a:noFill/>
          <a:ln>
            <a:noFill/>
          </a:ln>
        </p:spPr>
        <p:txBody>
          <a:bodyPr spcFirstLastPara="1" wrap="square" lIns="0" tIns="0" rIns="0" bIns="0" anchor="ctr">
            <a:noAutofit/>
          </a:bodyPr>
          <a:lstStyle/>
          <a:p>
            <a:pPr marL="0" indent="0" algn="ctr">
              <a:spcBef>
                <a:spcPts val="0"/>
              </a:spcBef>
              <a:spcAft>
                <a:spcPts val="0"/>
              </a:spcAft>
              <a:buNone/>
            </a:pPr>
            <a:endParaRPr/>
          </a:p>
        </p:txBody>
      </p:sp>
      <p:sp>
        <p:nvSpPr>
          <p:cNvPr id="150" name="Google Shape;150;p7">
            <a:extLst>
              <a:ext uri="{FF2B5EF4-FFF2-40B4-BE49-F238E27FC236}">
                <a16:creationId xmlns:a16="http://schemas.microsoft.com/office/drawing/2014/main" id="{16738B45-3CB2-4551-9E66-950A18456CF2}"/>
              </a:ext>
            </a:extLst>
          </p:cNvPr>
          <p:cNvSpPr>
            <a:spLocks noGrp="1"/>
          </p:cNvSpPr>
          <p:nvPr/>
        </p:nvSpPr>
        <p:spPr>
          <a:xfrm>
            <a:off x="8759952" y="1746504"/>
            <a:ext cx="1645920" cy="146304"/>
          </a:xfrm>
          <a:prstGeom prst="rect">
            <a:avLst/>
          </a:prstGeom>
          <a:noFill/>
          <a:ln>
            <a:noFill/>
          </a:ln>
        </p:spPr>
        <p:txBody>
          <a:bodyPr spcFirstLastPara="1" wrap="square" lIns="0" tIns="0" rIns="0" bIns="0" anchor="ctr">
            <a:noAutofit/>
          </a:bodyPr>
          <a:lstStyle/>
          <a:p>
            <a:pPr marL="0" indent="0" algn="l">
              <a:spcBef>
                <a:spcPts val="0"/>
              </a:spcBef>
              <a:spcAft>
                <a:spcPts val="0"/>
              </a:spcAft>
              <a:buNone/>
            </a:pPr>
            <a:r>
              <a:rPr sz="1100">
                <a:solidFill>
                  <a:srgbClr val="111827"/>
                </a:solidFill>
                <a:latin typeface="Arial"/>
                <a:ea typeface="Arial"/>
                <a:cs typeface="Arial"/>
              </a:rPr>
              <a:t>Branin</a:t>
            </a:r>
          </a:p>
        </p:txBody>
      </p:sp>
      <p:sp>
        <p:nvSpPr>
          <p:cNvPr id="151" name="Google Shape;151;p7">
            <a:extLst>
              <a:ext uri="{FF2B5EF4-FFF2-40B4-BE49-F238E27FC236}">
                <a16:creationId xmlns:a16="http://schemas.microsoft.com/office/drawing/2014/main" id="{21764C4C-4E11-40D0-9CFC-959CCFB59BD4}"/>
              </a:ext>
            </a:extLst>
          </p:cNvPr>
          <p:cNvSpPr>
            <a:spLocks noGrp="1"/>
          </p:cNvSpPr>
          <p:nvPr/>
        </p:nvSpPr>
        <p:spPr>
          <a:xfrm>
            <a:off x="10652760" y="1746504"/>
            <a:ext cx="685800" cy="146304"/>
          </a:xfrm>
          <a:prstGeom prst="rect">
            <a:avLst/>
          </a:prstGeom>
          <a:noFill/>
          <a:ln>
            <a:noFill/>
          </a:ln>
        </p:spPr>
        <p:txBody>
          <a:bodyPr spcFirstLastPara="1" wrap="square" lIns="0" tIns="0" rIns="0" bIns="0" anchor="ctr">
            <a:noAutofit/>
          </a:bodyPr>
          <a:lstStyle/>
          <a:p>
            <a:pPr marL="0" indent="0" algn="r">
              <a:spcBef>
                <a:spcPts val="0"/>
              </a:spcBef>
              <a:spcAft>
                <a:spcPts val="0"/>
              </a:spcAft>
              <a:buNone/>
            </a:pPr>
            <a:r>
              <a:rPr sz="1100" b="1">
                <a:solidFill>
                  <a:srgbClr val="B7791F"/>
                </a:solidFill>
                <a:latin typeface="Arial"/>
                <a:ea typeface="Arial"/>
                <a:cs typeface="Arial"/>
              </a:rPr>
              <a:t>mixed baselines</a:t>
            </a:r>
          </a:p>
        </p:txBody>
      </p:sp>
      <p:sp>
        <p:nvSpPr>
          <p:cNvPr id="152" name="Google Shape;152;p7">
            <a:extLst>
              <a:ext uri="{FF2B5EF4-FFF2-40B4-BE49-F238E27FC236}">
                <a16:creationId xmlns:a16="http://schemas.microsoft.com/office/drawing/2014/main" id="{7419CD7D-D776-4075-97E2-52C7E9F7D61F}"/>
              </a:ext>
            </a:extLst>
          </p:cNvPr>
          <p:cNvSpPr>
            <a:spLocks noGrp="1"/>
          </p:cNvSpPr>
          <p:nvPr/>
        </p:nvSpPr>
        <p:spPr>
          <a:xfrm>
            <a:off x="8394192" y="2249424"/>
            <a:ext cx="256032" cy="256032"/>
          </a:xfrm>
          <a:prstGeom prst="ellipse">
            <a:avLst/>
          </a:prstGeom>
          <a:solidFill>
            <a:srgbClr val="0F8B61"/>
          </a:solidFill>
          <a:ln w="12700" cmpd="sng">
            <a:solidFill>
              <a:srgbClr val="0F8B61"/>
            </a:solidFill>
            <a:prstDash val="solid"/>
            <a:headEnd type="none" w="sm" len="sm"/>
            <a:tailEnd type="none" w="sm" len="sm"/>
          </a:ln>
        </p:spPr>
        <p:txBody>
          <a:bodyPr spcFirstLastPara="1" wrap="square" lIns="91425" tIns="45700" rIns="91425" bIns="45700" anchor="t">
            <a:noAutofit/>
          </a:bodyPr>
          <a:lstStyle/>
          <a:p>
            <a:pPr marL="0" indent="0" algn="l">
              <a:spcBef>
                <a:spcPts val="0"/>
              </a:spcBef>
              <a:spcAft>
                <a:spcPts val="0"/>
              </a:spcAft>
              <a:buNone/>
            </a:pPr>
            <a:endParaRPr/>
          </a:p>
        </p:txBody>
      </p:sp>
      <p:sp>
        <p:nvSpPr>
          <p:cNvPr id="153" name="Google Shape;153;p7">
            <a:extLst>
              <a:ext uri="{FF2B5EF4-FFF2-40B4-BE49-F238E27FC236}">
                <a16:creationId xmlns:a16="http://schemas.microsoft.com/office/drawing/2014/main" id="{FB1F0EE9-FC0F-47C6-984E-CC3D0DACE893}"/>
              </a:ext>
            </a:extLst>
          </p:cNvPr>
          <p:cNvSpPr>
            <a:spLocks noGrp="1"/>
          </p:cNvSpPr>
          <p:nvPr/>
        </p:nvSpPr>
        <p:spPr>
          <a:xfrm>
            <a:off x="8394192" y="2299716"/>
            <a:ext cx="256032" cy="109728"/>
          </a:xfrm>
          <a:prstGeom prst="rect">
            <a:avLst/>
          </a:prstGeom>
          <a:noFill/>
          <a:ln>
            <a:noFill/>
          </a:ln>
        </p:spPr>
        <p:txBody>
          <a:bodyPr spcFirstLastPara="1" wrap="square" lIns="0" tIns="0" rIns="0" bIns="0" anchor="ctr">
            <a:noAutofit/>
          </a:bodyPr>
          <a:lstStyle/>
          <a:p>
            <a:pPr marL="0" indent="0" algn="ctr">
              <a:spcBef>
                <a:spcPts val="0"/>
              </a:spcBef>
              <a:spcAft>
                <a:spcPts val="0"/>
              </a:spcAft>
              <a:buNone/>
            </a:pPr>
            <a:endParaRPr/>
          </a:p>
        </p:txBody>
      </p:sp>
      <p:sp>
        <p:nvSpPr>
          <p:cNvPr id="154" name="Google Shape;154;p7">
            <a:extLst>
              <a:ext uri="{FF2B5EF4-FFF2-40B4-BE49-F238E27FC236}">
                <a16:creationId xmlns:a16="http://schemas.microsoft.com/office/drawing/2014/main" id="{70EC3FD1-AE3D-4D02-92A2-54D41DA802E4}"/>
              </a:ext>
            </a:extLst>
          </p:cNvPr>
          <p:cNvSpPr>
            <a:spLocks noGrp="1"/>
          </p:cNvSpPr>
          <p:nvPr/>
        </p:nvSpPr>
        <p:spPr>
          <a:xfrm>
            <a:off x="8759952" y="2276856"/>
            <a:ext cx="1645920" cy="146304"/>
          </a:xfrm>
          <a:prstGeom prst="rect">
            <a:avLst/>
          </a:prstGeom>
          <a:noFill/>
          <a:ln>
            <a:noFill/>
          </a:ln>
        </p:spPr>
        <p:txBody>
          <a:bodyPr spcFirstLastPara="1" wrap="square" lIns="0" tIns="0" rIns="0" bIns="0" anchor="ctr">
            <a:noAutofit/>
          </a:bodyPr>
          <a:lstStyle/>
          <a:p>
            <a:pPr marL="0" indent="0" algn="l">
              <a:spcBef>
                <a:spcPts val="0"/>
              </a:spcBef>
              <a:spcAft>
                <a:spcPts val="0"/>
              </a:spcAft>
              <a:buNone/>
            </a:pPr>
            <a:r>
              <a:rPr sz="1100">
                <a:solidFill>
                  <a:srgbClr val="111827"/>
                </a:solidFill>
                <a:latin typeface="Arial"/>
                <a:ea typeface="Arial"/>
                <a:cs typeface="Arial"/>
              </a:rPr>
              <a:t>Ackley4</a:t>
            </a:r>
          </a:p>
        </p:txBody>
      </p:sp>
      <p:sp>
        <p:nvSpPr>
          <p:cNvPr id="155" name="Google Shape;155;p7">
            <a:extLst>
              <a:ext uri="{FF2B5EF4-FFF2-40B4-BE49-F238E27FC236}">
                <a16:creationId xmlns:a16="http://schemas.microsoft.com/office/drawing/2014/main" id="{11AF2C08-3973-46A0-A1E4-36DDD4834556}"/>
              </a:ext>
            </a:extLst>
          </p:cNvPr>
          <p:cNvSpPr>
            <a:spLocks noGrp="1"/>
          </p:cNvSpPr>
          <p:nvPr/>
        </p:nvSpPr>
        <p:spPr>
          <a:xfrm>
            <a:off x="10652760" y="2276856"/>
            <a:ext cx="685800" cy="146304"/>
          </a:xfrm>
          <a:prstGeom prst="rect">
            <a:avLst/>
          </a:prstGeom>
          <a:noFill/>
          <a:ln>
            <a:noFill/>
          </a:ln>
        </p:spPr>
        <p:txBody>
          <a:bodyPr spcFirstLastPara="1" wrap="square" lIns="0" tIns="0" rIns="0" bIns="0" anchor="ctr">
            <a:noAutofit/>
          </a:bodyPr>
          <a:lstStyle/>
          <a:p>
            <a:pPr marL="0" indent="0" algn="r">
              <a:spcBef>
                <a:spcPts val="0"/>
              </a:spcBef>
              <a:spcAft>
                <a:spcPts val="0"/>
              </a:spcAft>
              <a:buNone/>
            </a:pPr>
            <a:r>
              <a:rPr sz="1100" b="1">
                <a:solidFill>
                  <a:srgbClr val="0F8B61"/>
                </a:solidFill>
                <a:latin typeface="Arial"/>
                <a:ea typeface="Arial"/>
                <a:cs typeface="Arial"/>
              </a:rPr>
              <a:t>straddle family</a:t>
            </a:r>
          </a:p>
        </p:txBody>
      </p:sp>
      <p:sp>
        <p:nvSpPr>
          <p:cNvPr id="156" name="Google Shape;156;p7">
            <a:extLst>
              <a:ext uri="{FF2B5EF4-FFF2-40B4-BE49-F238E27FC236}">
                <a16:creationId xmlns:a16="http://schemas.microsoft.com/office/drawing/2014/main" id="{B87DFDA3-581C-48C6-ABFC-2A79ECAB14C4}"/>
              </a:ext>
            </a:extLst>
          </p:cNvPr>
          <p:cNvSpPr>
            <a:spLocks noGrp="1"/>
          </p:cNvSpPr>
          <p:nvPr/>
        </p:nvSpPr>
        <p:spPr>
          <a:xfrm>
            <a:off x="8394192" y="2779776"/>
            <a:ext cx="256032" cy="256032"/>
          </a:xfrm>
          <a:prstGeom prst="ellipse">
            <a:avLst/>
          </a:prstGeom>
          <a:solidFill>
            <a:srgbClr val="2B6CB0"/>
          </a:solidFill>
          <a:ln w="12700" cmpd="sng">
            <a:solidFill>
              <a:srgbClr val="2B6CB0"/>
            </a:solidFill>
            <a:prstDash val="solid"/>
            <a:headEnd type="none" w="sm" len="sm"/>
            <a:tailEnd type="none" w="sm" len="sm"/>
          </a:ln>
        </p:spPr>
        <p:txBody>
          <a:bodyPr spcFirstLastPara="1" wrap="square" lIns="91425" tIns="45700" rIns="91425" bIns="45700" anchor="t">
            <a:noAutofit/>
          </a:bodyPr>
          <a:lstStyle/>
          <a:p>
            <a:pPr marL="0" indent="0" algn="l">
              <a:spcBef>
                <a:spcPts val="0"/>
              </a:spcBef>
              <a:spcAft>
                <a:spcPts val="0"/>
              </a:spcAft>
              <a:buNone/>
            </a:pPr>
            <a:endParaRPr/>
          </a:p>
        </p:txBody>
      </p:sp>
      <p:sp>
        <p:nvSpPr>
          <p:cNvPr id="157" name="Google Shape;157;p7">
            <a:extLst>
              <a:ext uri="{FF2B5EF4-FFF2-40B4-BE49-F238E27FC236}">
                <a16:creationId xmlns:a16="http://schemas.microsoft.com/office/drawing/2014/main" id="{AB7A27D0-9A25-4193-8B4C-6864650E586B}"/>
              </a:ext>
            </a:extLst>
          </p:cNvPr>
          <p:cNvSpPr>
            <a:spLocks noGrp="1"/>
          </p:cNvSpPr>
          <p:nvPr/>
        </p:nvSpPr>
        <p:spPr>
          <a:xfrm>
            <a:off x="8394192" y="2830068"/>
            <a:ext cx="256032" cy="109728"/>
          </a:xfrm>
          <a:prstGeom prst="rect">
            <a:avLst/>
          </a:prstGeom>
          <a:noFill/>
          <a:ln>
            <a:noFill/>
          </a:ln>
        </p:spPr>
        <p:txBody>
          <a:bodyPr spcFirstLastPara="1" wrap="square" lIns="0" tIns="0" rIns="0" bIns="0" anchor="ctr">
            <a:noAutofit/>
          </a:bodyPr>
          <a:lstStyle/>
          <a:p>
            <a:pPr marL="0" indent="0" algn="ctr">
              <a:spcBef>
                <a:spcPts val="0"/>
              </a:spcBef>
              <a:spcAft>
                <a:spcPts val="0"/>
              </a:spcAft>
              <a:buNone/>
            </a:pPr>
            <a:endParaRPr/>
          </a:p>
        </p:txBody>
      </p:sp>
      <p:sp>
        <p:nvSpPr>
          <p:cNvPr id="158" name="Google Shape;158;p7">
            <a:extLst>
              <a:ext uri="{FF2B5EF4-FFF2-40B4-BE49-F238E27FC236}">
                <a16:creationId xmlns:a16="http://schemas.microsoft.com/office/drawing/2014/main" id="{E9701341-0856-4F78-B4B9-247E0C5E4FDA}"/>
              </a:ext>
            </a:extLst>
          </p:cNvPr>
          <p:cNvSpPr>
            <a:spLocks noGrp="1"/>
          </p:cNvSpPr>
          <p:nvPr/>
        </p:nvSpPr>
        <p:spPr>
          <a:xfrm>
            <a:off x="8759952" y="2807208"/>
            <a:ext cx="1645920" cy="146304"/>
          </a:xfrm>
          <a:prstGeom prst="rect">
            <a:avLst/>
          </a:prstGeom>
          <a:noFill/>
          <a:ln>
            <a:noFill/>
          </a:ln>
        </p:spPr>
        <p:txBody>
          <a:bodyPr spcFirstLastPara="1" wrap="square" lIns="0" tIns="0" rIns="0" bIns="0" anchor="ctr">
            <a:noAutofit/>
          </a:bodyPr>
          <a:lstStyle/>
          <a:p>
            <a:pPr marL="0" indent="0" algn="l">
              <a:spcBef>
                <a:spcPts val="0"/>
              </a:spcBef>
              <a:spcAft>
                <a:spcPts val="0"/>
              </a:spcAft>
              <a:buNone/>
            </a:pPr>
            <a:r>
              <a:rPr sz="1100">
                <a:solidFill>
                  <a:srgbClr val="111827"/>
                </a:solidFill>
                <a:latin typeface="Arial"/>
                <a:ea typeface="Arial"/>
                <a:cs typeface="Arial"/>
              </a:rPr>
              <a:t>Hartmann global</a:t>
            </a:r>
          </a:p>
        </p:txBody>
      </p:sp>
      <p:sp>
        <p:nvSpPr>
          <p:cNvPr id="159" name="Google Shape;159;p7">
            <a:extLst>
              <a:ext uri="{FF2B5EF4-FFF2-40B4-BE49-F238E27FC236}">
                <a16:creationId xmlns:a16="http://schemas.microsoft.com/office/drawing/2014/main" id="{F95B15A3-A8D8-454A-B209-1D7389E982E8}"/>
              </a:ext>
            </a:extLst>
          </p:cNvPr>
          <p:cNvSpPr>
            <a:spLocks noGrp="1"/>
          </p:cNvSpPr>
          <p:nvPr/>
        </p:nvSpPr>
        <p:spPr>
          <a:xfrm>
            <a:off x="10652760" y="2807208"/>
            <a:ext cx="685800" cy="146304"/>
          </a:xfrm>
          <a:prstGeom prst="rect">
            <a:avLst/>
          </a:prstGeom>
          <a:noFill/>
          <a:ln>
            <a:noFill/>
          </a:ln>
        </p:spPr>
        <p:txBody>
          <a:bodyPr spcFirstLastPara="1" wrap="square" lIns="0" tIns="0" rIns="0" bIns="0" anchor="ctr">
            <a:noAutofit/>
          </a:bodyPr>
          <a:lstStyle/>
          <a:p>
            <a:pPr marL="0" indent="0" algn="r">
              <a:spcBef>
                <a:spcPts val="0"/>
              </a:spcBef>
              <a:spcAft>
                <a:spcPts val="0"/>
              </a:spcAft>
              <a:buNone/>
            </a:pPr>
            <a:r>
              <a:rPr sz="1100" b="1">
                <a:solidFill>
                  <a:srgbClr val="2B6CB0"/>
                </a:solidFill>
                <a:latin typeface="Arial"/>
                <a:ea typeface="Arial"/>
                <a:cs typeface="Arial"/>
              </a:rPr>
              <a:t>GPC rep.</a:t>
            </a:r>
          </a:p>
        </p:txBody>
      </p:sp>
      <p:sp>
        <p:nvSpPr>
          <p:cNvPr id="160" name="Google Shape;160;p7">
            <a:extLst>
              <a:ext uri="{FF2B5EF4-FFF2-40B4-BE49-F238E27FC236}">
                <a16:creationId xmlns:a16="http://schemas.microsoft.com/office/drawing/2014/main" id="{E5E03697-6340-46A6-8DF4-DFA6818BBF51}"/>
              </a:ext>
            </a:extLst>
          </p:cNvPr>
          <p:cNvSpPr>
            <a:spLocks noGrp="1"/>
          </p:cNvSpPr>
          <p:nvPr/>
        </p:nvSpPr>
        <p:spPr>
          <a:xfrm>
            <a:off x="8394192" y="3310128"/>
            <a:ext cx="256032" cy="256032"/>
          </a:xfrm>
          <a:prstGeom prst="ellipse">
            <a:avLst/>
          </a:prstGeom>
          <a:solidFill>
            <a:srgbClr val="9F1239"/>
          </a:solidFill>
          <a:ln w="12700" cmpd="sng">
            <a:solidFill>
              <a:srgbClr val="9F1239"/>
            </a:solidFill>
            <a:prstDash val="solid"/>
            <a:headEnd type="none" w="sm" len="sm"/>
            <a:tailEnd type="none" w="sm" len="sm"/>
          </a:ln>
        </p:spPr>
        <p:txBody>
          <a:bodyPr spcFirstLastPara="1" wrap="square" lIns="91425" tIns="45700" rIns="91425" bIns="45700" anchor="t">
            <a:noAutofit/>
          </a:bodyPr>
          <a:lstStyle/>
          <a:p>
            <a:pPr marL="0" indent="0" algn="l">
              <a:spcBef>
                <a:spcPts val="0"/>
              </a:spcBef>
              <a:spcAft>
                <a:spcPts val="0"/>
              </a:spcAft>
              <a:buNone/>
            </a:pPr>
            <a:endParaRPr/>
          </a:p>
        </p:txBody>
      </p:sp>
      <p:sp>
        <p:nvSpPr>
          <p:cNvPr id="161" name="Google Shape;161;p7">
            <a:extLst>
              <a:ext uri="{FF2B5EF4-FFF2-40B4-BE49-F238E27FC236}">
                <a16:creationId xmlns:a16="http://schemas.microsoft.com/office/drawing/2014/main" id="{A5148F75-34CC-44D7-93B8-B4B7A16B144F}"/>
              </a:ext>
            </a:extLst>
          </p:cNvPr>
          <p:cNvSpPr>
            <a:spLocks noGrp="1"/>
          </p:cNvSpPr>
          <p:nvPr/>
        </p:nvSpPr>
        <p:spPr>
          <a:xfrm>
            <a:off x="8394192" y="3360420"/>
            <a:ext cx="256032" cy="109728"/>
          </a:xfrm>
          <a:prstGeom prst="rect">
            <a:avLst/>
          </a:prstGeom>
          <a:noFill/>
          <a:ln>
            <a:noFill/>
          </a:ln>
        </p:spPr>
        <p:txBody>
          <a:bodyPr spcFirstLastPara="1" wrap="square" lIns="0" tIns="0" rIns="0" bIns="0" anchor="ctr">
            <a:noAutofit/>
          </a:bodyPr>
          <a:lstStyle/>
          <a:p>
            <a:pPr marL="0" indent="0" algn="ctr">
              <a:spcBef>
                <a:spcPts val="0"/>
              </a:spcBef>
              <a:spcAft>
                <a:spcPts val="0"/>
              </a:spcAft>
              <a:buNone/>
            </a:pPr>
            <a:endParaRPr/>
          </a:p>
        </p:txBody>
      </p:sp>
      <p:sp>
        <p:nvSpPr>
          <p:cNvPr id="162" name="Google Shape;162;p7">
            <a:extLst>
              <a:ext uri="{FF2B5EF4-FFF2-40B4-BE49-F238E27FC236}">
                <a16:creationId xmlns:a16="http://schemas.microsoft.com/office/drawing/2014/main" id="{DF3D2CE1-3B88-44FC-A57D-FD41D3DE463C}"/>
              </a:ext>
            </a:extLst>
          </p:cNvPr>
          <p:cNvSpPr>
            <a:spLocks noGrp="1"/>
          </p:cNvSpPr>
          <p:nvPr/>
        </p:nvSpPr>
        <p:spPr>
          <a:xfrm>
            <a:off x="8759952" y="3337560"/>
            <a:ext cx="1645920" cy="146304"/>
          </a:xfrm>
          <a:prstGeom prst="rect">
            <a:avLst/>
          </a:prstGeom>
          <a:noFill/>
          <a:ln>
            <a:noFill/>
          </a:ln>
        </p:spPr>
        <p:txBody>
          <a:bodyPr spcFirstLastPara="1" wrap="square" lIns="0" tIns="0" rIns="0" bIns="0" anchor="ctr">
            <a:noAutofit/>
          </a:bodyPr>
          <a:lstStyle/>
          <a:p>
            <a:pPr marL="0" indent="0" algn="l">
              <a:spcBef>
                <a:spcPts val="0"/>
              </a:spcBef>
              <a:spcAft>
                <a:spcPts val="0"/>
              </a:spcAft>
              <a:buNone/>
            </a:pPr>
            <a:r>
              <a:rPr sz="1100">
                <a:solidFill>
                  <a:srgbClr val="111827"/>
                </a:solidFill>
                <a:latin typeface="Arial"/>
                <a:ea typeface="Arial"/>
                <a:cs typeface="Arial"/>
              </a:rPr>
              <a:t>Hartmann q20/q30</a:t>
            </a:r>
          </a:p>
        </p:txBody>
      </p:sp>
      <p:sp>
        <p:nvSpPr>
          <p:cNvPr id="163" name="Google Shape;163;p7">
            <a:extLst>
              <a:ext uri="{FF2B5EF4-FFF2-40B4-BE49-F238E27FC236}">
                <a16:creationId xmlns:a16="http://schemas.microsoft.com/office/drawing/2014/main" id="{B12A205E-D8DE-41F3-9E43-CCD44B8E2290}"/>
              </a:ext>
            </a:extLst>
          </p:cNvPr>
          <p:cNvSpPr>
            <a:spLocks noGrp="1"/>
          </p:cNvSpPr>
          <p:nvPr/>
        </p:nvSpPr>
        <p:spPr>
          <a:xfrm>
            <a:off x="10652760" y="3337560"/>
            <a:ext cx="685800" cy="146304"/>
          </a:xfrm>
          <a:prstGeom prst="rect">
            <a:avLst/>
          </a:prstGeom>
          <a:noFill/>
          <a:ln>
            <a:noFill/>
          </a:ln>
        </p:spPr>
        <p:txBody>
          <a:bodyPr spcFirstLastPara="1" wrap="square" lIns="0" tIns="0" rIns="0" bIns="0" anchor="ctr">
            <a:noAutofit/>
          </a:bodyPr>
          <a:lstStyle/>
          <a:p>
            <a:pPr marL="0" indent="0" algn="r">
              <a:spcBef>
                <a:spcPts val="0"/>
              </a:spcBef>
              <a:spcAft>
                <a:spcPts val="0"/>
              </a:spcAft>
              <a:buNone/>
            </a:pPr>
            <a:r>
              <a:rPr sz="1100" b="1">
                <a:solidFill>
                  <a:srgbClr val="9F1239"/>
                </a:solidFill>
                <a:latin typeface="Arial"/>
                <a:ea typeface="Arial"/>
                <a:cs typeface="Arial"/>
              </a:rPr>
              <a:t>EF</a:t>
            </a:r>
          </a:p>
        </p:txBody>
      </p:sp>
      <p:sp>
        <p:nvSpPr>
          <p:cNvPr id="164" name="Google Shape;164;p7">
            <a:extLst>
              <a:ext uri="{FF2B5EF4-FFF2-40B4-BE49-F238E27FC236}">
                <a16:creationId xmlns:a16="http://schemas.microsoft.com/office/drawing/2014/main" id="{37703292-23A3-435C-B573-A0C0AF7909A9}"/>
              </a:ext>
            </a:extLst>
          </p:cNvPr>
          <p:cNvSpPr>
            <a:spLocks noGrp="1"/>
          </p:cNvSpPr>
          <p:nvPr/>
        </p:nvSpPr>
        <p:spPr>
          <a:xfrm>
            <a:off x="8394192" y="3840480"/>
            <a:ext cx="256032" cy="256032"/>
          </a:xfrm>
          <a:prstGeom prst="ellipse">
            <a:avLst/>
          </a:prstGeom>
          <a:solidFill>
            <a:srgbClr val="6B7280"/>
          </a:solidFill>
          <a:ln w="12700" cmpd="sng">
            <a:solidFill>
              <a:srgbClr val="6B7280"/>
            </a:solidFill>
            <a:prstDash val="solid"/>
            <a:headEnd type="none" w="sm" len="sm"/>
            <a:tailEnd type="none" w="sm" len="sm"/>
          </a:ln>
        </p:spPr>
        <p:txBody>
          <a:bodyPr spcFirstLastPara="1" wrap="square" lIns="91425" tIns="45700" rIns="91425" bIns="45700" anchor="t">
            <a:noAutofit/>
          </a:bodyPr>
          <a:lstStyle/>
          <a:p>
            <a:pPr marL="0" indent="0" algn="l">
              <a:spcBef>
                <a:spcPts val="0"/>
              </a:spcBef>
              <a:spcAft>
                <a:spcPts val="0"/>
              </a:spcAft>
              <a:buNone/>
            </a:pPr>
            <a:endParaRPr/>
          </a:p>
        </p:txBody>
      </p:sp>
      <p:sp>
        <p:nvSpPr>
          <p:cNvPr id="165" name="Google Shape;165;p7">
            <a:extLst>
              <a:ext uri="{FF2B5EF4-FFF2-40B4-BE49-F238E27FC236}">
                <a16:creationId xmlns:a16="http://schemas.microsoft.com/office/drawing/2014/main" id="{CCEDA26D-0C7F-499C-A93D-71C5901F0836}"/>
              </a:ext>
            </a:extLst>
          </p:cNvPr>
          <p:cNvSpPr>
            <a:spLocks noGrp="1"/>
          </p:cNvSpPr>
          <p:nvPr/>
        </p:nvSpPr>
        <p:spPr>
          <a:xfrm>
            <a:off x="8394192" y="3890772"/>
            <a:ext cx="256032" cy="109728"/>
          </a:xfrm>
          <a:prstGeom prst="rect">
            <a:avLst/>
          </a:prstGeom>
          <a:noFill/>
          <a:ln>
            <a:noFill/>
          </a:ln>
        </p:spPr>
        <p:txBody>
          <a:bodyPr spcFirstLastPara="1" wrap="square" lIns="0" tIns="0" rIns="0" bIns="0" anchor="ctr">
            <a:noAutofit/>
          </a:bodyPr>
          <a:lstStyle/>
          <a:p>
            <a:pPr marL="0" indent="0" algn="ctr">
              <a:spcBef>
                <a:spcPts val="0"/>
              </a:spcBef>
              <a:spcAft>
                <a:spcPts val="0"/>
              </a:spcAft>
              <a:buNone/>
            </a:pPr>
            <a:endParaRPr/>
          </a:p>
        </p:txBody>
      </p:sp>
      <p:sp>
        <p:nvSpPr>
          <p:cNvPr id="166" name="Google Shape;166;p7">
            <a:extLst>
              <a:ext uri="{FF2B5EF4-FFF2-40B4-BE49-F238E27FC236}">
                <a16:creationId xmlns:a16="http://schemas.microsoft.com/office/drawing/2014/main" id="{B03D9E3B-68FB-4961-81C8-FE3B9134CE1E}"/>
              </a:ext>
            </a:extLst>
          </p:cNvPr>
          <p:cNvSpPr>
            <a:spLocks noGrp="1"/>
          </p:cNvSpPr>
          <p:nvPr/>
        </p:nvSpPr>
        <p:spPr>
          <a:xfrm>
            <a:off x="8759952" y="3867912"/>
            <a:ext cx="1645920" cy="146304"/>
          </a:xfrm>
          <a:prstGeom prst="rect">
            <a:avLst/>
          </a:prstGeom>
          <a:noFill/>
          <a:ln>
            <a:noFill/>
          </a:ln>
        </p:spPr>
        <p:txBody>
          <a:bodyPr spcFirstLastPara="1" wrap="square" lIns="0" tIns="0" rIns="0" bIns="0" anchor="ctr">
            <a:noAutofit/>
          </a:bodyPr>
          <a:lstStyle/>
          <a:p>
            <a:pPr marL="0" indent="0" algn="l">
              <a:spcBef>
                <a:spcPts val="0"/>
              </a:spcBef>
              <a:spcAft>
                <a:spcPts val="0"/>
              </a:spcAft>
              <a:buNone/>
            </a:pPr>
            <a:r>
              <a:rPr sz="1100">
                <a:solidFill>
                  <a:srgbClr val="111827"/>
                </a:solidFill>
                <a:latin typeface="Arial"/>
                <a:ea typeface="Arial"/>
                <a:cs typeface="Arial"/>
              </a:rPr>
              <a:t>IVR on Hartmann</a:t>
            </a:r>
          </a:p>
        </p:txBody>
      </p:sp>
      <p:sp>
        <p:nvSpPr>
          <p:cNvPr id="167" name="Google Shape;167;p7">
            <a:extLst>
              <a:ext uri="{FF2B5EF4-FFF2-40B4-BE49-F238E27FC236}">
                <a16:creationId xmlns:a16="http://schemas.microsoft.com/office/drawing/2014/main" id="{86A5F43E-5BCE-4F9B-8DCE-209294D4F530}"/>
              </a:ext>
            </a:extLst>
          </p:cNvPr>
          <p:cNvSpPr>
            <a:spLocks noGrp="1"/>
          </p:cNvSpPr>
          <p:nvPr/>
        </p:nvSpPr>
        <p:spPr>
          <a:xfrm>
            <a:off x="10652760" y="3867912"/>
            <a:ext cx="685800" cy="146304"/>
          </a:xfrm>
          <a:prstGeom prst="rect">
            <a:avLst/>
          </a:prstGeom>
          <a:noFill/>
          <a:ln>
            <a:noFill/>
          </a:ln>
        </p:spPr>
        <p:txBody>
          <a:bodyPr spcFirstLastPara="1" wrap="square" lIns="0" tIns="0" rIns="0" bIns="0" anchor="ctr">
            <a:noAutofit/>
          </a:bodyPr>
          <a:lstStyle/>
          <a:p>
            <a:pPr marL="0" indent="0" algn="r">
              <a:spcBef>
                <a:spcPts val="0"/>
              </a:spcBef>
              <a:spcAft>
                <a:spcPts val="0"/>
              </a:spcAft>
              <a:buNone/>
            </a:pPr>
            <a:r>
              <a:rPr sz="1100" b="1">
                <a:solidFill>
                  <a:srgbClr val="6B7280"/>
                </a:solidFill>
                <a:latin typeface="Arial"/>
                <a:ea typeface="Arial"/>
                <a:cs typeface="Arial"/>
              </a:rPr>
              <a:t>helps, not best</a:t>
            </a:r>
          </a:p>
        </p:txBody>
      </p:sp>
      <p:sp>
        <p:nvSpPr>
          <p:cNvPr id="168" name="Google Shape;168;p7">
            <a:extLst>
              <a:ext uri="{FF2B5EF4-FFF2-40B4-BE49-F238E27FC236}">
                <a16:creationId xmlns:a16="http://schemas.microsoft.com/office/drawing/2014/main" id="{145F9010-7029-495B-B7DB-19DB1E0C0348}"/>
              </a:ext>
            </a:extLst>
          </p:cNvPr>
          <p:cNvSpPr>
            <a:spLocks noGrp="1"/>
          </p:cNvSpPr>
          <p:nvPr/>
        </p:nvSpPr>
        <p:spPr>
          <a:xfrm>
            <a:off x="8348472" y="4572000"/>
            <a:ext cx="2907792" cy="731520"/>
          </a:xfrm>
          <a:prstGeom prst="roundRect">
            <a:avLst>
              <a:gd name="adj" fmla="val 11250"/>
            </a:avLst>
          </a:prstGeom>
          <a:solidFill>
            <a:srgbClr val="FFF7ED"/>
          </a:solidFill>
          <a:ln w="10150" cmpd="sng">
            <a:solidFill>
              <a:srgbClr val="FED7AA"/>
            </a:solidFill>
            <a:prstDash val="solid"/>
            <a:headEnd type="none" w="sm" len="sm"/>
            <a:tailEnd type="none" w="sm" len="sm"/>
          </a:ln>
        </p:spPr>
        <p:txBody>
          <a:bodyPr spcFirstLastPara="1" wrap="square" lIns="91425" tIns="45700" rIns="91425" bIns="45700" anchor="t">
            <a:noAutofit/>
          </a:bodyPr>
          <a:lstStyle/>
          <a:p>
            <a:pPr marL="0" indent="0" algn="l">
              <a:spcBef>
                <a:spcPts val="0"/>
              </a:spcBef>
              <a:spcAft>
                <a:spcPts val="0"/>
              </a:spcAft>
              <a:buNone/>
            </a:pPr>
            <a:endParaRPr/>
          </a:p>
        </p:txBody>
      </p:sp>
      <p:sp>
        <p:nvSpPr>
          <p:cNvPr id="169" name="Google Shape;169;p7">
            <a:extLst>
              <a:ext uri="{FF2B5EF4-FFF2-40B4-BE49-F238E27FC236}">
                <a16:creationId xmlns:a16="http://schemas.microsoft.com/office/drawing/2014/main" id="{5E225263-EFAB-4A3D-8ACB-A210C3D77A46}"/>
              </a:ext>
            </a:extLst>
          </p:cNvPr>
          <p:cNvSpPr>
            <a:spLocks noGrp="1"/>
          </p:cNvSpPr>
          <p:nvPr/>
        </p:nvSpPr>
        <p:spPr>
          <a:xfrm>
            <a:off x="8549640" y="4709160"/>
            <a:ext cx="1188720" cy="137160"/>
          </a:xfrm>
          <a:prstGeom prst="rect">
            <a:avLst/>
          </a:prstGeom>
          <a:noFill/>
          <a:ln>
            <a:noFill/>
          </a:ln>
        </p:spPr>
        <p:txBody>
          <a:bodyPr spcFirstLastPara="1" wrap="square" lIns="0" tIns="0" rIns="0" bIns="0" anchor="ctr">
            <a:noAutofit/>
          </a:bodyPr>
          <a:lstStyle/>
          <a:p>
            <a:pPr marL="0" indent="0" algn="l">
              <a:spcBef>
                <a:spcPts val="0"/>
              </a:spcBef>
              <a:spcAft>
                <a:spcPts val="0"/>
              </a:spcAft>
              <a:buNone/>
            </a:pPr>
            <a:r>
              <a:rPr sz="1100" b="1">
                <a:solidFill>
                  <a:srgbClr val="B7791F"/>
                </a:solidFill>
                <a:latin typeface="Arial"/>
                <a:ea typeface="Arial"/>
                <a:cs typeface="Arial"/>
              </a:rPr>
              <a:t>Safe wording</a:t>
            </a:r>
          </a:p>
        </p:txBody>
      </p:sp>
      <p:sp>
        <p:nvSpPr>
          <p:cNvPr id="170" name="Google Shape;170;p7">
            <a:extLst>
              <a:ext uri="{FF2B5EF4-FFF2-40B4-BE49-F238E27FC236}">
                <a16:creationId xmlns:a16="http://schemas.microsoft.com/office/drawing/2014/main" id="{DA9C74D6-3B3A-426C-914F-703AA59F43CF}"/>
              </a:ext>
            </a:extLst>
          </p:cNvPr>
          <p:cNvSpPr>
            <a:spLocks noGrp="1"/>
          </p:cNvSpPr>
          <p:nvPr/>
        </p:nvSpPr>
        <p:spPr>
          <a:xfrm>
            <a:off x="8549640" y="4956048"/>
            <a:ext cx="2514600" cy="173736"/>
          </a:xfrm>
          <a:prstGeom prst="rect">
            <a:avLst/>
          </a:prstGeom>
          <a:noFill/>
          <a:ln>
            <a:noFill/>
          </a:ln>
        </p:spPr>
        <p:txBody>
          <a:bodyPr spcFirstLastPara="1" wrap="square" lIns="0" tIns="0" rIns="0" bIns="0" anchor="ctr">
            <a:noAutofit/>
          </a:bodyPr>
          <a:lstStyle/>
          <a:p>
            <a:pPr marL="0" indent="0" algn="l">
              <a:spcBef>
                <a:spcPts val="0"/>
              </a:spcBef>
              <a:spcAft>
                <a:spcPts val="0"/>
              </a:spcAft>
              <a:buNone/>
            </a:pPr>
            <a:r>
              <a:rPr sz="1100">
                <a:solidFill>
                  <a:srgbClr val="4B5563"/>
                </a:solidFill>
                <a:latin typeface="Arial"/>
                <a:ea typeface="Arial"/>
                <a:cs typeface="Arial"/>
              </a:rPr>
              <a:t>Hartmann suggests the Ackley failure is not universal, but simple baselines still matter.</a:t>
            </a:r>
          </a:p>
        </p:txBody>
      </p:sp>
      <p:cxnSp>
        <p:nvCxnSpPr>
          <p:cNvPr id="236" name="Google Shape;171;p7"/>
          <p:cNvCxnSpPr/>
          <p:nvPr/>
        </p:nvCxnSpPr>
        <p:spPr>
          <a:xfrm>
            <a:off x="502920" y="6446520"/>
            <a:ext cx="11201400" cy="0"/>
          </a:xfrm>
          <a:prstGeom prst="straightConnector1">
            <a:avLst/>
          </a:prstGeom>
          <a:ln w="9525" cap="flat">
            <a:solidFill>
              <a:srgbClr val="D9DEE8"/>
            </a:solidFill>
            <a:prstDash val="solid"/>
            <a:round/>
            <a:headEnd type="none" w="sm" len="sm"/>
            <a:tailEnd type="none" w="sm" len="sm"/>
          </a:ln>
        </p:spPr>
      </p:cxnSp>
      <p:sp>
        <p:nvSpPr>
          <p:cNvPr id="172" name="Google Shape;172;p7">
            <a:extLst>
              <a:ext uri="{FF2B5EF4-FFF2-40B4-BE49-F238E27FC236}">
                <a16:creationId xmlns:a16="http://schemas.microsoft.com/office/drawing/2014/main" id="{17CE0911-0117-4194-9C8E-3BA8EF3775EE}"/>
              </a:ext>
            </a:extLst>
          </p:cNvPr>
          <p:cNvSpPr>
            <a:spLocks noGrp="1"/>
          </p:cNvSpPr>
          <p:nvPr/>
        </p:nvSpPr>
        <p:spPr>
          <a:xfrm>
            <a:off x="502920" y="6519672"/>
            <a:ext cx="8961120" cy="164592"/>
          </a:xfrm>
          <a:prstGeom prst="rect">
            <a:avLst/>
          </a:prstGeom>
          <a:noFill/>
          <a:ln>
            <a:noFill/>
          </a:ln>
        </p:spPr>
        <p:txBody>
          <a:bodyPr spcFirstLastPara="1" wrap="square" lIns="0" tIns="0" rIns="0" bIns="0" anchor="ctr">
            <a:noAutofit/>
          </a:bodyPr>
          <a:lstStyle/>
          <a:p>
            <a:pPr marL="0" indent="0" algn="l">
              <a:spcBef>
                <a:spcPts val="0"/>
              </a:spcBef>
              <a:spcAft>
                <a:spcPts val="0"/>
              </a:spcAft>
              <a:buNone/>
            </a:pPr>
            <a:r>
              <a:rPr sz="780">
                <a:solidFill>
                  <a:srgbClr val="6B7280"/>
                </a:solidFill>
                <a:latin typeface="Arial"/>
                <a:ea typeface="Arial"/>
                <a:cs typeface="Arial"/>
              </a:rPr>
              <a:t>Week 3 extended update - Sample-Efficient Active Level-Set Estimation - 17</a:t>
            </a:r>
          </a:p>
        </p:txBody>
      </p:sp>
      <p:sp>
        <p:nvSpPr>
          <p:cNvPr id="173" name="Google Shape;173;p7">
            <a:extLst>
              <a:ext uri="{FF2B5EF4-FFF2-40B4-BE49-F238E27FC236}">
                <a16:creationId xmlns:a16="http://schemas.microsoft.com/office/drawing/2014/main" id="{7E348F6B-B4F5-4DD9-851B-450FC1334BE5}"/>
              </a:ext>
            </a:extLst>
          </p:cNvPr>
          <p:cNvSpPr>
            <a:spLocks noGrp="1"/>
          </p:cNvSpPr>
          <p:nvPr/>
        </p:nvSpPr>
        <p:spPr>
          <a:xfrm>
            <a:off x="11521440" y="6492240"/>
            <a:ext cx="228600" cy="164592"/>
          </a:xfrm>
          <a:prstGeom prst="rect">
            <a:avLst/>
          </a:prstGeom>
          <a:noFill/>
          <a:ln>
            <a:noFill/>
          </a:ln>
        </p:spPr>
        <p:txBody>
          <a:bodyPr spcFirstLastPara="1" wrap="square" lIns="0" tIns="0" rIns="0" bIns="0" anchor="ctr">
            <a:noAutofit/>
          </a:bodyPr>
          <a:lstStyle/>
          <a:p>
            <a:pPr marL="0" indent="0" algn="r">
              <a:spcBef>
                <a:spcPts val="0"/>
              </a:spcBef>
              <a:spcAft>
                <a:spcPts val="0"/>
              </a:spcAft>
              <a:buNone/>
            </a:pPr>
            <a:r>
              <a:rPr sz="780">
                <a:solidFill>
                  <a:srgbClr val="6B7280"/>
                </a:solidFill>
                <a:latin typeface="Arial"/>
                <a:ea typeface="Arial"/>
                <a:cs typeface="Arial"/>
              </a:rPr>
              <a:t>17</a:t>
            </a:r>
          </a:p>
        </p:txBody>
      </p:sp>
      <p:graphicFrame>
        <p:nvGraphicFramePr>
          <p:cNvPr id="239" name="Chart"/>
          <p:cNvGraphicFramePr/>
          <p:nvPr/>
        </p:nvGraphicFramePr>
        <p:xfrm>
          <a:off x="502920" y="1319022"/>
          <a:ext cx="7406640" cy="4402836"/>
        </p:xfrm>
        <a:graphic>
          <a:graphicData uri="http://schemas.openxmlformats.org/drawingml/2006/chart">
            <c:chart xmlns:c="http://schemas.openxmlformats.org/drawingml/2006/chart" xmlns:r="http://schemas.openxmlformats.org/officeDocument/2006/relationships" r:id="rId4"/>
          </a:graphicData>
        </a:graphic>
      </p:graphicFrame>
    </p:spTree>
    <p:extLst>
      <p:ext uri="{BB962C8B-B14F-4D97-AF65-F5344CB8AC3E}">
        <p14:creationId xmlns:p14="http://schemas.microsoft.com/office/powerpoint/2010/main" val="1479111479"/>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bg>
      <p:bgPr>
        <a:solidFill>
          <a:srgbClr val="F6F8FC"/>
        </a:solidFill>
        <a:effectLst/>
      </p:bgPr>
    </p:bg>
    <p:spTree>
      <p:nvGrpSpPr>
        <p:cNvPr id="1" name=""/>
        <p:cNvGrpSpPr/>
        <p:nvPr/>
      </p:nvGrpSpPr>
      <p:grpSpPr>
        <a:xfrm>
          <a:off x="0" y="0"/>
          <a:ext cx="0" cy="0"/>
          <a:chOff x="0" y="0"/>
          <a:chExt cx="0" cy="0"/>
        </a:xfrm>
      </p:grpSpPr>
      <p:sp>
        <p:nvSpPr>
          <p:cNvPr id="142" name="Google Shape;142;p7">
            <a:extLst>
              <a:ext uri="{FF2B5EF4-FFF2-40B4-BE49-F238E27FC236}">
                <a16:creationId xmlns:a16="http://schemas.microsoft.com/office/drawing/2014/main" id="{81BA9912-BDB9-4CBD-807E-05E773527849}"/>
              </a:ext>
            </a:extLst>
          </p:cNvPr>
          <p:cNvSpPr>
            <a:spLocks noGrp="1"/>
          </p:cNvSpPr>
          <p:nvPr/>
        </p:nvSpPr>
        <p:spPr>
          <a:xfrm>
            <a:off x="502920" y="329184"/>
            <a:ext cx="10789920" cy="320040"/>
          </a:xfrm>
          <a:prstGeom prst="rect">
            <a:avLst/>
          </a:prstGeom>
          <a:noFill/>
          <a:ln>
            <a:noFill/>
          </a:ln>
        </p:spPr>
        <p:txBody>
          <a:bodyPr spcFirstLastPara="1" wrap="square" lIns="0" tIns="0" rIns="0" bIns="0" anchor="ctr">
            <a:noAutofit/>
          </a:bodyPr>
          <a:lstStyle/>
          <a:p>
            <a:pPr marL="0" indent="0" algn="l">
              <a:spcBef>
                <a:spcPts val="0"/>
              </a:spcBef>
              <a:spcAft>
                <a:spcPts val="0"/>
              </a:spcAft>
              <a:buNone/>
            </a:pPr>
            <a:r>
              <a:rPr sz="2200" b="1">
                <a:solidFill>
                  <a:srgbClr val="1F2A44"/>
                </a:solidFill>
                <a:latin typeface="Play"/>
                <a:ea typeface="Play"/>
                <a:cs typeface="Play"/>
              </a:rPr>
              <a:t>Classifier SUR validates only on Hartmann4</a:t>
            </a:r>
          </a:p>
        </p:txBody>
      </p:sp>
      <p:sp>
        <p:nvSpPr>
          <p:cNvPr id="143" name="Google Shape;143;p7">
            <a:extLst>
              <a:ext uri="{FF2B5EF4-FFF2-40B4-BE49-F238E27FC236}">
                <a16:creationId xmlns:a16="http://schemas.microsoft.com/office/drawing/2014/main" id="{5DECCD09-421D-4E02-AD30-9E681AA6585B}"/>
              </a:ext>
            </a:extLst>
          </p:cNvPr>
          <p:cNvSpPr>
            <a:spLocks noGrp="1"/>
          </p:cNvSpPr>
          <p:nvPr/>
        </p:nvSpPr>
        <p:spPr>
          <a:xfrm>
            <a:off x="521208" y="713232"/>
            <a:ext cx="10515600" cy="237744"/>
          </a:xfrm>
          <a:prstGeom prst="rect">
            <a:avLst/>
          </a:prstGeom>
          <a:noFill/>
          <a:ln>
            <a:noFill/>
          </a:ln>
        </p:spPr>
        <p:txBody>
          <a:bodyPr spcFirstLastPara="1" wrap="square" lIns="0" tIns="0" rIns="0" bIns="0" anchor="ctr">
            <a:noAutofit/>
          </a:bodyPr>
          <a:lstStyle/>
          <a:p>
            <a:pPr marL="0" indent="0" algn="l">
              <a:spcBef>
                <a:spcPts val="0"/>
              </a:spcBef>
              <a:spcAft>
                <a:spcPts val="0"/>
              </a:spcAft>
              <a:buNone/>
            </a:pPr>
            <a:r>
              <a:rPr sz="1050">
                <a:solidFill>
                  <a:srgbClr val="4B5563"/>
                </a:solidFill>
                <a:latin typeface="Arial"/>
                <a:ea typeface="Arial"/>
                <a:cs typeface="Arial"/>
              </a:rPr>
              <a:t>The seed-0 GPC-SUR signal generalized on Hartmann4, not on Branin or optional Ackley.</a:t>
            </a:r>
          </a:p>
        </p:txBody>
      </p:sp>
      <p:sp>
        <p:nvSpPr>
          <p:cNvPr id="144" name="Google Shape;144;p7">
            <a:extLst>
              <a:ext uri="{FF2B5EF4-FFF2-40B4-BE49-F238E27FC236}">
                <a16:creationId xmlns:a16="http://schemas.microsoft.com/office/drawing/2014/main" id="{9D89FC33-07A9-4D22-BB7C-0AD9052EA6ED}"/>
              </a:ext>
            </a:extLst>
          </p:cNvPr>
          <p:cNvSpPr>
            <a:spLocks noGrp="1"/>
          </p:cNvSpPr>
          <p:nvPr/>
        </p:nvSpPr>
        <p:spPr>
          <a:xfrm>
            <a:off x="502920" y="1051560"/>
            <a:ext cx="7406640" cy="4937760"/>
          </a:xfrm>
          <a:prstGeom prst="roundRect">
            <a:avLst>
              <a:gd name="adj" fmla="val 1667"/>
            </a:avLst>
          </a:prstGeom>
          <a:solidFill>
            <a:srgbClr val="FFFFFF"/>
          </a:solidFill>
          <a:ln w="10150" cmpd="sng">
            <a:solidFill>
              <a:srgbClr val="D9DEE8"/>
            </a:solidFill>
            <a:prstDash val="solid"/>
            <a:headEnd type="none" w="sm" len="sm"/>
            <a:tailEnd type="none" w="sm" len="sm"/>
          </a:ln>
        </p:spPr>
        <p:txBody>
          <a:bodyPr spcFirstLastPara="1" wrap="square" lIns="91425" tIns="45700" rIns="91425" bIns="45700" anchor="t">
            <a:noAutofit/>
          </a:bodyPr>
          <a:lstStyle/>
          <a:p>
            <a:pPr marL="0" indent="0" algn="l">
              <a:spcBef>
                <a:spcPts val="0"/>
              </a:spcBef>
              <a:spcAft>
                <a:spcPts val="0"/>
              </a:spcAft>
              <a:buNone/>
            </a:pPr>
            <a:endParaRPr/>
          </a:p>
        </p:txBody>
      </p:sp>
      <p:pic>
        <p:nvPicPr>
          <p:cNvPr id="210" name="Google Shape;145;p7"/>
          <p:cNvPicPr>
            <a:picLocks noChangeAspect="1"/>
          </p:cNvPicPr>
          <p:nvPr/>
        </p:nvPicPr>
        <p:blipFill rotWithShape="1">
          <a:blip r:embed="rId3">
            <a:alphaModFix/>
          </a:blip>
          <a:srcRect t="20278" b="20278"/>
          <a:stretch>
            <a:fillRect/>
          </a:stretch>
        </p:blipFill>
        <p:spPr>
          <a:xfrm>
            <a:off x="502920" y="1319022"/>
            <a:ext cx="7406640" cy="4402836"/>
          </a:xfrm>
          <a:prstGeom prst="rect">
            <a:avLst/>
          </a:prstGeom>
          <a:ln>
            <a:noFill/>
          </a:ln>
        </p:spPr>
      </p:pic>
      <p:sp>
        <p:nvSpPr>
          <p:cNvPr id="146" name="Google Shape;146;p7">
            <a:extLst>
              <a:ext uri="{FF2B5EF4-FFF2-40B4-BE49-F238E27FC236}">
                <a16:creationId xmlns:a16="http://schemas.microsoft.com/office/drawing/2014/main" id="{53A6A1D4-98A3-4627-9A37-EB28651795A5}"/>
              </a:ext>
            </a:extLst>
          </p:cNvPr>
          <p:cNvSpPr>
            <a:spLocks noGrp="1"/>
          </p:cNvSpPr>
          <p:nvPr/>
        </p:nvSpPr>
        <p:spPr>
          <a:xfrm>
            <a:off x="8156448" y="1051560"/>
            <a:ext cx="3456432" cy="4937760"/>
          </a:xfrm>
          <a:prstGeom prst="roundRect">
            <a:avLst>
              <a:gd name="adj" fmla="val 2381"/>
            </a:avLst>
          </a:prstGeom>
          <a:solidFill>
            <a:srgbClr val="FFFFFF"/>
          </a:solidFill>
          <a:ln w="10150" cmpd="sng">
            <a:solidFill>
              <a:srgbClr val="D9DEE8"/>
            </a:solidFill>
            <a:prstDash val="solid"/>
            <a:headEnd type="none" w="sm" len="sm"/>
            <a:tailEnd type="none" w="sm" len="sm"/>
          </a:ln>
          <a:effectLst>
            <a:outerShdw blurRad="15240" dist="50800" dir="2700000" algn="bl" rotWithShape="0">
              <a:srgbClr val="000000">
                <a:alpha val="7843"/>
              </a:srgbClr>
            </a:outerShdw>
          </a:effectLst>
        </p:spPr>
        <p:txBody>
          <a:bodyPr spcFirstLastPara="1" wrap="square" lIns="91425" tIns="45700" rIns="91425" bIns="45700" anchor="t">
            <a:noAutofit/>
          </a:bodyPr>
          <a:lstStyle/>
          <a:p>
            <a:pPr marL="0" indent="0" algn="l">
              <a:spcBef>
                <a:spcPts val="0"/>
              </a:spcBef>
              <a:spcAft>
                <a:spcPts val="0"/>
              </a:spcAft>
              <a:buNone/>
            </a:pPr>
            <a:endParaRPr/>
          </a:p>
        </p:txBody>
      </p:sp>
      <p:sp>
        <p:nvSpPr>
          <p:cNvPr id="147" name="Google Shape;147;p7">
            <a:extLst>
              <a:ext uri="{FF2B5EF4-FFF2-40B4-BE49-F238E27FC236}">
                <a16:creationId xmlns:a16="http://schemas.microsoft.com/office/drawing/2014/main" id="{92266219-070C-46E7-84F9-B10E52F98B86}"/>
              </a:ext>
            </a:extLst>
          </p:cNvPr>
          <p:cNvSpPr>
            <a:spLocks noGrp="1"/>
          </p:cNvSpPr>
          <p:nvPr/>
        </p:nvSpPr>
        <p:spPr>
          <a:xfrm>
            <a:off x="8394192" y="1307592"/>
            <a:ext cx="2651760" cy="164592"/>
          </a:xfrm>
          <a:prstGeom prst="rect">
            <a:avLst/>
          </a:prstGeom>
          <a:noFill/>
          <a:ln>
            <a:noFill/>
          </a:ln>
        </p:spPr>
        <p:txBody>
          <a:bodyPr spcFirstLastPara="1" wrap="square" lIns="0" tIns="0" rIns="0" bIns="0" anchor="ctr">
            <a:noAutofit/>
          </a:bodyPr>
          <a:lstStyle/>
          <a:p>
            <a:pPr marL="0" indent="0" algn="l">
              <a:spcBef>
                <a:spcPts val="0"/>
              </a:spcBef>
              <a:spcAft>
                <a:spcPts val="0"/>
              </a:spcAft>
              <a:buNone/>
            </a:pPr>
            <a:r>
              <a:rPr sz="1400" b="1">
                <a:solidFill>
                  <a:srgbClr val="1F2A44"/>
                </a:solidFill>
                <a:latin typeface="Arial"/>
                <a:ea typeface="Arial"/>
                <a:cs typeface="Arial"/>
              </a:rPr>
              <a:t>Fixed-GPC SUR validation</a:t>
            </a:r>
          </a:p>
        </p:txBody>
      </p:sp>
      <p:sp>
        <p:nvSpPr>
          <p:cNvPr id="148" name="Google Shape;148;p7">
            <a:extLst>
              <a:ext uri="{FF2B5EF4-FFF2-40B4-BE49-F238E27FC236}">
                <a16:creationId xmlns:a16="http://schemas.microsoft.com/office/drawing/2014/main" id="{22182E4C-2E3E-4F0D-BA22-C266022CB68F}"/>
              </a:ext>
            </a:extLst>
          </p:cNvPr>
          <p:cNvSpPr>
            <a:spLocks noGrp="1"/>
          </p:cNvSpPr>
          <p:nvPr/>
        </p:nvSpPr>
        <p:spPr>
          <a:xfrm>
            <a:off x="8394192" y="1719072"/>
            <a:ext cx="256032" cy="256032"/>
          </a:xfrm>
          <a:prstGeom prst="ellipse">
            <a:avLst/>
          </a:prstGeom>
          <a:solidFill>
            <a:srgbClr val="B7791F"/>
          </a:solidFill>
          <a:ln w="12700" cmpd="sng">
            <a:solidFill>
              <a:srgbClr val="B7791F"/>
            </a:solidFill>
            <a:prstDash val="solid"/>
            <a:headEnd type="none" w="sm" len="sm"/>
            <a:tailEnd type="none" w="sm" len="sm"/>
          </a:ln>
        </p:spPr>
        <p:txBody>
          <a:bodyPr spcFirstLastPara="1" wrap="square" lIns="91425" tIns="45700" rIns="91425" bIns="45700" anchor="t">
            <a:noAutofit/>
          </a:bodyPr>
          <a:lstStyle/>
          <a:p>
            <a:pPr marL="0" indent="0" algn="l">
              <a:spcBef>
                <a:spcPts val="0"/>
              </a:spcBef>
              <a:spcAft>
                <a:spcPts val="0"/>
              </a:spcAft>
              <a:buNone/>
            </a:pPr>
            <a:endParaRPr/>
          </a:p>
        </p:txBody>
      </p:sp>
      <p:sp>
        <p:nvSpPr>
          <p:cNvPr id="149" name="Google Shape;149;p7">
            <a:extLst>
              <a:ext uri="{FF2B5EF4-FFF2-40B4-BE49-F238E27FC236}">
                <a16:creationId xmlns:a16="http://schemas.microsoft.com/office/drawing/2014/main" id="{83374358-80A8-4BBC-8CEF-3FEE18F3A67E}"/>
              </a:ext>
            </a:extLst>
          </p:cNvPr>
          <p:cNvSpPr>
            <a:spLocks noGrp="1"/>
          </p:cNvSpPr>
          <p:nvPr/>
        </p:nvSpPr>
        <p:spPr>
          <a:xfrm>
            <a:off x="8394192" y="1769364"/>
            <a:ext cx="256032" cy="109728"/>
          </a:xfrm>
          <a:prstGeom prst="rect">
            <a:avLst/>
          </a:prstGeom>
          <a:noFill/>
          <a:ln>
            <a:noFill/>
          </a:ln>
        </p:spPr>
        <p:txBody>
          <a:bodyPr spcFirstLastPara="1" wrap="square" lIns="0" tIns="0" rIns="0" bIns="0" anchor="ctr">
            <a:noAutofit/>
          </a:bodyPr>
          <a:lstStyle/>
          <a:p>
            <a:pPr marL="0" indent="0" algn="ctr">
              <a:spcBef>
                <a:spcPts val="0"/>
              </a:spcBef>
              <a:spcAft>
                <a:spcPts val="0"/>
              </a:spcAft>
              <a:buNone/>
            </a:pPr>
            <a:endParaRPr/>
          </a:p>
        </p:txBody>
      </p:sp>
      <p:sp>
        <p:nvSpPr>
          <p:cNvPr id="150" name="Google Shape;150;p7">
            <a:extLst>
              <a:ext uri="{FF2B5EF4-FFF2-40B4-BE49-F238E27FC236}">
                <a16:creationId xmlns:a16="http://schemas.microsoft.com/office/drawing/2014/main" id="{16738B45-3CB2-4551-9E66-950A18456CF2}"/>
              </a:ext>
            </a:extLst>
          </p:cNvPr>
          <p:cNvSpPr>
            <a:spLocks noGrp="1"/>
          </p:cNvSpPr>
          <p:nvPr/>
        </p:nvSpPr>
        <p:spPr>
          <a:xfrm>
            <a:off x="8759952" y="1746504"/>
            <a:ext cx="1645920" cy="146304"/>
          </a:xfrm>
          <a:prstGeom prst="rect">
            <a:avLst/>
          </a:prstGeom>
          <a:noFill/>
          <a:ln>
            <a:noFill/>
          </a:ln>
        </p:spPr>
        <p:txBody>
          <a:bodyPr spcFirstLastPara="1" wrap="square" lIns="0" tIns="0" rIns="0" bIns="0" anchor="ctr">
            <a:noAutofit/>
          </a:bodyPr>
          <a:lstStyle/>
          <a:p>
            <a:pPr marL="0" indent="0" algn="l">
              <a:spcBef>
                <a:spcPts val="0"/>
              </a:spcBef>
              <a:spcAft>
                <a:spcPts val="0"/>
              </a:spcAft>
              <a:buNone/>
            </a:pPr>
            <a:r>
              <a:rPr sz="1100">
                <a:solidFill>
                  <a:srgbClr val="111827"/>
                </a:solidFill>
                <a:latin typeface="Arial"/>
                <a:ea typeface="Arial"/>
                <a:cs typeface="Arial"/>
              </a:rPr>
              <a:t>Branin best</a:t>
            </a:r>
          </a:p>
        </p:txBody>
      </p:sp>
      <p:sp>
        <p:nvSpPr>
          <p:cNvPr id="151" name="Google Shape;151;p7">
            <a:extLst>
              <a:ext uri="{FF2B5EF4-FFF2-40B4-BE49-F238E27FC236}">
                <a16:creationId xmlns:a16="http://schemas.microsoft.com/office/drawing/2014/main" id="{21764C4C-4E11-40D0-9CFC-959CCFB59BD4}"/>
              </a:ext>
            </a:extLst>
          </p:cNvPr>
          <p:cNvSpPr>
            <a:spLocks noGrp="1"/>
          </p:cNvSpPr>
          <p:nvPr/>
        </p:nvSpPr>
        <p:spPr>
          <a:xfrm>
            <a:off x="10652760" y="1746504"/>
            <a:ext cx="685800" cy="146304"/>
          </a:xfrm>
          <a:prstGeom prst="rect">
            <a:avLst/>
          </a:prstGeom>
          <a:noFill/>
          <a:ln>
            <a:noFill/>
          </a:ln>
        </p:spPr>
        <p:txBody>
          <a:bodyPr spcFirstLastPara="1" wrap="square" lIns="0" tIns="0" rIns="0" bIns="0" anchor="ctr">
            <a:noAutofit/>
          </a:bodyPr>
          <a:lstStyle/>
          <a:p>
            <a:pPr marL="0" indent="0" algn="r">
              <a:spcBef>
                <a:spcPts val="0"/>
              </a:spcBef>
              <a:spcAft>
                <a:spcPts val="0"/>
              </a:spcAft>
              <a:buNone/>
            </a:pPr>
            <a:r>
              <a:rPr sz="1100" b="1">
                <a:solidFill>
                  <a:srgbClr val="B7791F"/>
                </a:solidFill>
                <a:latin typeface="Arial"/>
                <a:ea typeface="Arial"/>
                <a:cs typeface="Arial"/>
              </a:rPr>
              <a:t>repulsion 7.32 / 25.60 / 18.97%</a:t>
            </a:r>
          </a:p>
        </p:txBody>
      </p:sp>
      <p:sp>
        <p:nvSpPr>
          <p:cNvPr id="152" name="Google Shape;152;p7">
            <a:extLst>
              <a:ext uri="{FF2B5EF4-FFF2-40B4-BE49-F238E27FC236}">
                <a16:creationId xmlns:a16="http://schemas.microsoft.com/office/drawing/2014/main" id="{7419CD7D-D776-4075-97E2-52C7E9F7D61F}"/>
              </a:ext>
            </a:extLst>
          </p:cNvPr>
          <p:cNvSpPr>
            <a:spLocks noGrp="1"/>
          </p:cNvSpPr>
          <p:nvPr/>
        </p:nvSpPr>
        <p:spPr>
          <a:xfrm>
            <a:off x="8394192" y="2249424"/>
            <a:ext cx="256032" cy="256032"/>
          </a:xfrm>
          <a:prstGeom prst="ellipse">
            <a:avLst/>
          </a:prstGeom>
          <a:solidFill>
            <a:srgbClr val="0F8B61"/>
          </a:solidFill>
          <a:ln w="12700" cmpd="sng">
            <a:solidFill>
              <a:srgbClr val="0F8B61"/>
            </a:solidFill>
            <a:prstDash val="solid"/>
            <a:headEnd type="none" w="sm" len="sm"/>
            <a:tailEnd type="none" w="sm" len="sm"/>
          </a:ln>
        </p:spPr>
        <p:txBody>
          <a:bodyPr spcFirstLastPara="1" wrap="square" lIns="91425" tIns="45700" rIns="91425" bIns="45700" anchor="t">
            <a:noAutofit/>
          </a:bodyPr>
          <a:lstStyle/>
          <a:p>
            <a:pPr marL="0" indent="0" algn="l">
              <a:spcBef>
                <a:spcPts val="0"/>
              </a:spcBef>
              <a:spcAft>
                <a:spcPts val="0"/>
              </a:spcAft>
              <a:buNone/>
            </a:pPr>
            <a:endParaRPr/>
          </a:p>
        </p:txBody>
      </p:sp>
      <p:sp>
        <p:nvSpPr>
          <p:cNvPr id="153" name="Google Shape;153;p7">
            <a:extLst>
              <a:ext uri="{FF2B5EF4-FFF2-40B4-BE49-F238E27FC236}">
                <a16:creationId xmlns:a16="http://schemas.microsoft.com/office/drawing/2014/main" id="{FB1F0EE9-FC0F-47C6-984E-CC3D0DACE893}"/>
              </a:ext>
            </a:extLst>
          </p:cNvPr>
          <p:cNvSpPr>
            <a:spLocks noGrp="1"/>
          </p:cNvSpPr>
          <p:nvPr/>
        </p:nvSpPr>
        <p:spPr>
          <a:xfrm>
            <a:off x="8394192" y="2299716"/>
            <a:ext cx="256032" cy="109728"/>
          </a:xfrm>
          <a:prstGeom prst="rect">
            <a:avLst/>
          </a:prstGeom>
          <a:noFill/>
          <a:ln>
            <a:noFill/>
          </a:ln>
        </p:spPr>
        <p:txBody>
          <a:bodyPr spcFirstLastPara="1" wrap="square" lIns="0" tIns="0" rIns="0" bIns="0" anchor="ctr">
            <a:noAutofit/>
          </a:bodyPr>
          <a:lstStyle/>
          <a:p>
            <a:pPr marL="0" indent="0" algn="ctr">
              <a:spcBef>
                <a:spcPts val="0"/>
              </a:spcBef>
              <a:spcAft>
                <a:spcPts val="0"/>
              </a:spcAft>
              <a:buNone/>
            </a:pPr>
            <a:endParaRPr/>
          </a:p>
        </p:txBody>
      </p:sp>
      <p:sp>
        <p:nvSpPr>
          <p:cNvPr id="154" name="Google Shape;154;p7">
            <a:extLst>
              <a:ext uri="{FF2B5EF4-FFF2-40B4-BE49-F238E27FC236}">
                <a16:creationId xmlns:a16="http://schemas.microsoft.com/office/drawing/2014/main" id="{70EC3FD1-AE3D-4D02-92A2-54D41DA802E4}"/>
              </a:ext>
            </a:extLst>
          </p:cNvPr>
          <p:cNvSpPr>
            <a:spLocks noGrp="1"/>
          </p:cNvSpPr>
          <p:nvPr/>
        </p:nvSpPr>
        <p:spPr>
          <a:xfrm>
            <a:off x="8759952" y="2276856"/>
            <a:ext cx="1645920" cy="146304"/>
          </a:xfrm>
          <a:prstGeom prst="rect">
            <a:avLst/>
          </a:prstGeom>
          <a:noFill/>
          <a:ln>
            <a:noFill/>
          </a:ln>
        </p:spPr>
        <p:txBody>
          <a:bodyPr spcFirstLastPara="1" wrap="square" lIns="0" tIns="0" rIns="0" bIns="0" anchor="ctr">
            <a:noAutofit/>
          </a:bodyPr>
          <a:lstStyle/>
          <a:p>
            <a:pPr marL="0" indent="0" algn="l">
              <a:spcBef>
                <a:spcPts val="0"/>
              </a:spcBef>
              <a:spcAft>
                <a:spcPts val="0"/>
              </a:spcAft>
              <a:buNone/>
            </a:pPr>
            <a:r>
              <a:rPr sz="1100">
                <a:solidFill>
                  <a:srgbClr val="111827"/>
                </a:solidFill>
                <a:latin typeface="Arial"/>
                <a:ea typeface="Arial"/>
                <a:cs typeface="Arial"/>
              </a:rPr>
              <a:t>Hartmann global</a:t>
            </a:r>
          </a:p>
        </p:txBody>
      </p:sp>
      <p:sp>
        <p:nvSpPr>
          <p:cNvPr id="155" name="Google Shape;155;p7">
            <a:extLst>
              <a:ext uri="{FF2B5EF4-FFF2-40B4-BE49-F238E27FC236}">
                <a16:creationId xmlns:a16="http://schemas.microsoft.com/office/drawing/2014/main" id="{11AF2C08-3973-46A0-A1E4-36DDD4834556}"/>
              </a:ext>
            </a:extLst>
          </p:cNvPr>
          <p:cNvSpPr>
            <a:spLocks noGrp="1"/>
          </p:cNvSpPr>
          <p:nvPr/>
        </p:nvSpPr>
        <p:spPr>
          <a:xfrm>
            <a:off x="10652760" y="2276856"/>
            <a:ext cx="685800" cy="146304"/>
          </a:xfrm>
          <a:prstGeom prst="rect">
            <a:avLst/>
          </a:prstGeom>
          <a:noFill/>
          <a:ln>
            <a:noFill/>
          </a:ln>
        </p:spPr>
        <p:txBody>
          <a:bodyPr spcFirstLastPara="1" wrap="square" lIns="0" tIns="0" rIns="0" bIns="0" anchor="ctr">
            <a:noAutofit/>
          </a:bodyPr>
          <a:lstStyle/>
          <a:p>
            <a:pPr marL="0" indent="0" algn="r">
              <a:spcBef>
                <a:spcPts val="0"/>
              </a:spcBef>
              <a:spcAft>
                <a:spcPts val="0"/>
              </a:spcAft>
              <a:buNone/>
            </a:pPr>
            <a:r>
              <a:rPr sz="1100" b="1">
                <a:solidFill>
                  <a:srgbClr val="0F8B61"/>
                </a:solidFill>
                <a:latin typeface="Arial"/>
                <a:ea typeface="Arial"/>
                <a:cs typeface="Arial"/>
              </a:rPr>
              <a:t>SUR k15 11.60%</a:t>
            </a:r>
          </a:p>
        </p:txBody>
      </p:sp>
      <p:sp>
        <p:nvSpPr>
          <p:cNvPr id="156" name="Google Shape;156;p7">
            <a:extLst>
              <a:ext uri="{FF2B5EF4-FFF2-40B4-BE49-F238E27FC236}">
                <a16:creationId xmlns:a16="http://schemas.microsoft.com/office/drawing/2014/main" id="{B87DFDA3-581C-48C6-ABFC-2A79ECAB14C4}"/>
              </a:ext>
            </a:extLst>
          </p:cNvPr>
          <p:cNvSpPr>
            <a:spLocks noGrp="1"/>
          </p:cNvSpPr>
          <p:nvPr/>
        </p:nvSpPr>
        <p:spPr>
          <a:xfrm>
            <a:off x="8394192" y="2779776"/>
            <a:ext cx="256032" cy="256032"/>
          </a:xfrm>
          <a:prstGeom prst="ellipse">
            <a:avLst/>
          </a:prstGeom>
          <a:solidFill>
            <a:srgbClr val="2B6CB0"/>
          </a:solidFill>
          <a:ln w="12700" cmpd="sng">
            <a:solidFill>
              <a:srgbClr val="2B6CB0"/>
            </a:solidFill>
            <a:prstDash val="solid"/>
            <a:headEnd type="none" w="sm" len="sm"/>
            <a:tailEnd type="none" w="sm" len="sm"/>
          </a:ln>
        </p:spPr>
        <p:txBody>
          <a:bodyPr spcFirstLastPara="1" wrap="square" lIns="91425" tIns="45700" rIns="91425" bIns="45700" anchor="t">
            <a:noAutofit/>
          </a:bodyPr>
          <a:lstStyle/>
          <a:p>
            <a:pPr marL="0" indent="0" algn="l">
              <a:spcBef>
                <a:spcPts val="0"/>
              </a:spcBef>
              <a:spcAft>
                <a:spcPts val="0"/>
              </a:spcAft>
              <a:buNone/>
            </a:pPr>
            <a:endParaRPr/>
          </a:p>
        </p:txBody>
      </p:sp>
      <p:sp>
        <p:nvSpPr>
          <p:cNvPr id="157" name="Google Shape;157;p7">
            <a:extLst>
              <a:ext uri="{FF2B5EF4-FFF2-40B4-BE49-F238E27FC236}">
                <a16:creationId xmlns:a16="http://schemas.microsoft.com/office/drawing/2014/main" id="{AB7A27D0-9A25-4193-8B4C-6864650E586B}"/>
              </a:ext>
            </a:extLst>
          </p:cNvPr>
          <p:cNvSpPr>
            <a:spLocks noGrp="1"/>
          </p:cNvSpPr>
          <p:nvPr/>
        </p:nvSpPr>
        <p:spPr>
          <a:xfrm>
            <a:off x="8394192" y="2830068"/>
            <a:ext cx="256032" cy="109728"/>
          </a:xfrm>
          <a:prstGeom prst="rect">
            <a:avLst/>
          </a:prstGeom>
          <a:noFill/>
          <a:ln>
            <a:noFill/>
          </a:ln>
        </p:spPr>
        <p:txBody>
          <a:bodyPr spcFirstLastPara="1" wrap="square" lIns="0" tIns="0" rIns="0" bIns="0" anchor="ctr">
            <a:noAutofit/>
          </a:bodyPr>
          <a:lstStyle/>
          <a:p>
            <a:pPr marL="0" indent="0" algn="ctr">
              <a:spcBef>
                <a:spcPts val="0"/>
              </a:spcBef>
              <a:spcAft>
                <a:spcPts val="0"/>
              </a:spcAft>
              <a:buNone/>
            </a:pPr>
            <a:endParaRPr/>
          </a:p>
        </p:txBody>
      </p:sp>
      <p:sp>
        <p:nvSpPr>
          <p:cNvPr id="158" name="Google Shape;158;p7">
            <a:extLst>
              <a:ext uri="{FF2B5EF4-FFF2-40B4-BE49-F238E27FC236}">
                <a16:creationId xmlns:a16="http://schemas.microsoft.com/office/drawing/2014/main" id="{E9701341-0856-4F78-B4B9-247E0C5E4FDA}"/>
              </a:ext>
            </a:extLst>
          </p:cNvPr>
          <p:cNvSpPr>
            <a:spLocks noGrp="1"/>
          </p:cNvSpPr>
          <p:nvPr/>
        </p:nvSpPr>
        <p:spPr>
          <a:xfrm>
            <a:off x="8759952" y="2807208"/>
            <a:ext cx="1645920" cy="146304"/>
          </a:xfrm>
          <a:prstGeom prst="rect">
            <a:avLst/>
          </a:prstGeom>
          <a:noFill/>
          <a:ln>
            <a:noFill/>
          </a:ln>
        </p:spPr>
        <p:txBody>
          <a:bodyPr spcFirstLastPara="1" wrap="square" lIns="0" tIns="0" rIns="0" bIns="0" anchor="ctr">
            <a:noAutofit/>
          </a:bodyPr>
          <a:lstStyle/>
          <a:p>
            <a:pPr marL="0" indent="0" algn="l">
              <a:spcBef>
                <a:spcPts val="0"/>
              </a:spcBef>
              <a:spcAft>
                <a:spcPts val="0"/>
              </a:spcAft>
              <a:buNone/>
            </a:pPr>
            <a:r>
              <a:rPr sz="1100">
                <a:solidFill>
                  <a:srgbClr val="111827"/>
                </a:solidFill>
                <a:latin typeface="Arial"/>
                <a:ea typeface="Arial"/>
                <a:cs typeface="Arial"/>
              </a:rPr>
              <a:t>Hartmann q20</a:t>
            </a:r>
          </a:p>
        </p:txBody>
      </p:sp>
      <p:sp>
        <p:nvSpPr>
          <p:cNvPr id="159" name="Google Shape;159;p7">
            <a:extLst>
              <a:ext uri="{FF2B5EF4-FFF2-40B4-BE49-F238E27FC236}">
                <a16:creationId xmlns:a16="http://schemas.microsoft.com/office/drawing/2014/main" id="{F95B15A3-A8D8-454A-B209-1D7389E982E8}"/>
              </a:ext>
            </a:extLst>
          </p:cNvPr>
          <p:cNvSpPr>
            <a:spLocks noGrp="1"/>
          </p:cNvSpPr>
          <p:nvPr/>
        </p:nvSpPr>
        <p:spPr>
          <a:xfrm>
            <a:off x="10652760" y="2807208"/>
            <a:ext cx="685800" cy="146304"/>
          </a:xfrm>
          <a:prstGeom prst="rect">
            <a:avLst/>
          </a:prstGeom>
          <a:noFill/>
          <a:ln>
            <a:noFill/>
          </a:ln>
        </p:spPr>
        <p:txBody>
          <a:bodyPr spcFirstLastPara="1" wrap="square" lIns="0" tIns="0" rIns="0" bIns="0" anchor="ctr">
            <a:noAutofit/>
          </a:bodyPr>
          <a:lstStyle/>
          <a:p>
            <a:pPr marL="0" indent="0" algn="r">
              <a:spcBef>
                <a:spcPts val="0"/>
              </a:spcBef>
              <a:spcAft>
                <a:spcPts val="0"/>
              </a:spcAft>
              <a:buNone/>
            </a:pPr>
            <a:r>
              <a:rPr sz="1100" b="1">
                <a:solidFill>
                  <a:srgbClr val="2B6CB0"/>
                </a:solidFill>
                <a:latin typeface="Arial"/>
                <a:ea typeface="Arial"/>
                <a:cs typeface="Arial"/>
              </a:rPr>
              <a:t>SUR k25 37.30%</a:t>
            </a:r>
          </a:p>
        </p:txBody>
      </p:sp>
      <p:sp>
        <p:nvSpPr>
          <p:cNvPr id="160" name="Google Shape;160;p7">
            <a:extLst>
              <a:ext uri="{FF2B5EF4-FFF2-40B4-BE49-F238E27FC236}">
                <a16:creationId xmlns:a16="http://schemas.microsoft.com/office/drawing/2014/main" id="{E5E03697-6340-46A6-8DF4-DFA6818BBF51}"/>
              </a:ext>
            </a:extLst>
          </p:cNvPr>
          <p:cNvSpPr>
            <a:spLocks noGrp="1"/>
          </p:cNvSpPr>
          <p:nvPr/>
        </p:nvSpPr>
        <p:spPr>
          <a:xfrm>
            <a:off x="8394192" y="3310128"/>
            <a:ext cx="256032" cy="256032"/>
          </a:xfrm>
          <a:prstGeom prst="ellipse">
            <a:avLst/>
          </a:prstGeom>
          <a:solidFill>
            <a:srgbClr val="9F1239"/>
          </a:solidFill>
          <a:ln w="12700" cmpd="sng">
            <a:solidFill>
              <a:srgbClr val="9F1239"/>
            </a:solidFill>
            <a:prstDash val="solid"/>
            <a:headEnd type="none" w="sm" len="sm"/>
            <a:tailEnd type="none" w="sm" len="sm"/>
          </a:ln>
        </p:spPr>
        <p:txBody>
          <a:bodyPr spcFirstLastPara="1" wrap="square" lIns="91425" tIns="45700" rIns="91425" bIns="45700" anchor="t">
            <a:noAutofit/>
          </a:bodyPr>
          <a:lstStyle/>
          <a:p>
            <a:pPr marL="0" indent="0" algn="l">
              <a:spcBef>
                <a:spcPts val="0"/>
              </a:spcBef>
              <a:spcAft>
                <a:spcPts val="0"/>
              </a:spcAft>
              <a:buNone/>
            </a:pPr>
            <a:endParaRPr/>
          </a:p>
        </p:txBody>
      </p:sp>
      <p:sp>
        <p:nvSpPr>
          <p:cNvPr id="161" name="Google Shape;161;p7">
            <a:extLst>
              <a:ext uri="{FF2B5EF4-FFF2-40B4-BE49-F238E27FC236}">
                <a16:creationId xmlns:a16="http://schemas.microsoft.com/office/drawing/2014/main" id="{A5148F75-34CC-44D7-93B8-B4B7A16B144F}"/>
              </a:ext>
            </a:extLst>
          </p:cNvPr>
          <p:cNvSpPr>
            <a:spLocks noGrp="1"/>
          </p:cNvSpPr>
          <p:nvPr/>
        </p:nvSpPr>
        <p:spPr>
          <a:xfrm>
            <a:off x="8394192" y="3360420"/>
            <a:ext cx="256032" cy="109728"/>
          </a:xfrm>
          <a:prstGeom prst="rect">
            <a:avLst/>
          </a:prstGeom>
          <a:noFill/>
          <a:ln>
            <a:noFill/>
          </a:ln>
        </p:spPr>
        <p:txBody>
          <a:bodyPr spcFirstLastPara="1" wrap="square" lIns="0" tIns="0" rIns="0" bIns="0" anchor="ctr">
            <a:noAutofit/>
          </a:bodyPr>
          <a:lstStyle/>
          <a:p>
            <a:pPr marL="0" indent="0" algn="ctr">
              <a:spcBef>
                <a:spcPts val="0"/>
              </a:spcBef>
              <a:spcAft>
                <a:spcPts val="0"/>
              </a:spcAft>
              <a:buNone/>
            </a:pPr>
            <a:endParaRPr/>
          </a:p>
        </p:txBody>
      </p:sp>
      <p:sp>
        <p:nvSpPr>
          <p:cNvPr id="162" name="Google Shape;162;p7">
            <a:extLst>
              <a:ext uri="{FF2B5EF4-FFF2-40B4-BE49-F238E27FC236}">
                <a16:creationId xmlns:a16="http://schemas.microsoft.com/office/drawing/2014/main" id="{DF3D2CE1-3B88-44FC-A57D-FD41D3DE463C}"/>
              </a:ext>
            </a:extLst>
          </p:cNvPr>
          <p:cNvSpPr>
            <a:spLocks noGrp="1"/>
          </p:cNvSpPr>
          <p:nvPr/>
        </p:nvSpPr>
        <p:spPr>
          <a:xfrm>
            <a:off x="8759952" y="3337560"/>
            <a:ext cx="1645920" cy="146304"/>
          </a:xfrm>
          <a:prstGeom prst="rect">
            <a:avLst/>
          </a:prstGeom>
          <a:noFill/>
          <a:ln>
            <a:noFill/>
          </a:ln>
        </p:spPr>
        <p:txBody>
          <a:bodyPr spcFirstLastPara="1" wrap="square" lIns="0" tIns="0" rIns="0" bIns="0" anchor="ctr">
            <a:noAutofit/>
          </a:bodyPr>
          <a:lstStyle/>
          <a:p>
            <a:pPr marL="0" indent="0" algn="l">
              <a:spcBef>
                <a:spcPts val="0"/>
              </a:spcBef>
              <a:spcAft>
                <a:spcPts val="0"/>
              </a:spcAft>
              <a:buNone/>
            </a:pPr>
            <a:r>
              <a:rPr sz="1100">
                <a:solidFill>
                  <a:srgbClr val="111827"/>
                </a:solidFill>
                <a:latin typeface="Arial"/>
                <a:ea typeface="Arial"/>
                <a:cs typeface="Arial"/>
              </a:rPr>
              <a:t>Hartmann q30</a:t>
            </a:r>
          </a:p>
        </p:txBody>
      </p:sp>
      <p:sp>
        <p:nvSpPr>
          <p:cNvPr id="163" name="Google Shape;163;p7">
            <a:extLst>
              <a:ext uri="{FF2B5EF4-FFF2-40B4-BE49-F238E27FC236}">
                <a16:creationId xmlns:a16="http://schemas.microsoft.com/office/drawing/2014/main" id="{B12A205E-D8DE-41F3-9E43-CCD44B8E2290}"/>
              </a:ext>
            </a:extLst>
          </p:cNvPr>
          <p:cNvSpPr>
            <a:spLocks noGrp="1"/>
          </p:cNvSpPr>
          <p:nvPr/>
        </p:nvSpPr>
        <p:spPr>
          <a:xfrm>
            <a:off x="10652760" y="3337560"/>
            <a:ext cx="685800" cy="146304"/>
          </a:xfrm>
          <a:prstGeom prst="rect">
            <a:avLst/>
          </a:prstGeom>
          <a:noFill/>
          <a:ln>
            <a:noFill/>
          </a:ln>
        </p:spPr>
        <p:txBody>
          <a:bodyPr spcFirstLastPara="1" wrap="square" lIns="0" tIns="0" rIns="0" bIns="0" anchor="ctr">
            <a:noAutofit/>
          </a:bodyPr>
          <a:lstStyle/>
          <a:p>
            <a:pPr marL="0" indent="0" algn="r">
              <a:spcBef>
                <a:spcPts val="0"/>
              </a:spcBef>
              <a:spcAft>
                <a:spcPts val="0"/>
              </a:spcAft>
              <a:buNone/>
            </a:pPr>
            <a:r>
              <a:rPr sz="1100" b="1">
                <a:solidFill>
                  <a:srgbClr val="9F1239"/>
                </a:solidFill>
                <a:latin typeface="Arial"/>
                <a:ea typeface="Arial"/>
                <a:cs typeface="Arial"/>
              </a:rPr>
              <a:t>SUR k25 31.55%</a:t>
            </a:r>
          </a:p>
        </p:txBody>
      </p:sp>
      <p:sp>
        <p:nvSpPr>
          <p:cNvPr id="164" name="Google Shape;164;p7">
            <a:extLst>
              <a:ext uri="{FF2B5EF4-FFF2-40B4-BE49-F238E27FC236}">
                <a16:creationId xmlns:a16="http://schemas.microsoft.com/office/drawing/2014/main" id="{37703292-23A3-435C-B573-A0C0AF7909A9}"/>
              </a:ext>
            </a:extLst>
          </p:cNvPr>
          <p:cNvSpPr>
            <a:spLocks noGrp="1"/>
          </p:cNvSpPr>
          <p:nvPr/>
        </p:nvSpPr>
        <p:spPr>
          <a:xfrm>
            <a:off x="8394192" y="3840480"/>
            <a:ext cx="256032" cy="256032"/>
          </a:xfrm>
          <a:prstGeom prst="ellipse">
            <a:avLst/>
          </a:prstGeom>
          <a:solidFill>
            <a:srgbClr val="6B7280"/>
          </a:solidFill>
          <a:ln w="12700" cmpd="sng">
            <a:solidFill>
              <a:srgbClr val="6B7280"/>
            </a:solidFill>
            <a:prstDash val="solid"/>
            <a:headEnd type="none" w="sm" len="sm"/>
            <a:tailEnd type="none" w="sm" len="sm"/>
          </a:ln>
        </p:spPr>
        <p:txBody>
          <a:bodyPr spcFirstLastPara="1" wrap="square" lIns="91425" tIns="45700" rIns="91425" bIns="45700" anchor="t">
            <a:noAutofit/>
          </a:bodyPr>
          <a:lstStyle/>
          <a:p>
            <a:pPr marL="0" indent="0" algn="l">
              <a:spcBef>
                <a:spcPts val="0"/>
              </a:spcBef>
              <a:spcAft>
                <a:spcPts val="0"/>
              </a:spcAft>
              <a:buNone/>
            </a:pPr>
            <a:endParaRPr/>
          </a:p>
        </p:txBody>
      </p:sp>
      <p:sp>
        <p:nvSpPr>
          <p:cNvPr id="165" name="Google Shape;165;p7">
            <a:extLst>
              <a:ext uri="{FF2B5EF4-FFF2-40B4-BE49-F238E27FC236}">
                <a16:creationId xmlns:a16="http://schemas.microsoft.com/office/drawing/2014/main" id="{CCEDA26D-0C7F-499C-A93D-71C5901F0836}"/>
              </a:ext>
            </a:extLst>
          </p:cNvPr>
          <p:cNvSpPr>
            <a:spLocks noGrp="1"/>
          </p:cNvSpPr>
          <p:nvPr/>
        </p:nvSpPr>
        <p:spPr>
          <a:xfrm>
            <a:off x="8394192" y="3890772"/>
            <a:ext cx="256032" cy="109728"/>
          </a:xfrm>
          <a:prstGeom prst="rect">
            <a:avLst/>
          </a:prstGeom>
          <a:noFill/>
          <a:ln>
            <a:noFill/>
          </a:ln>
        </p:spPr>
        <p:txBody>
          <a:bodyPr spcFirstLastPara="1" wrap="square" lIns="0" tIns="0" rIns="0" bIns="0" anchor="ctr">
            <a:noAutofit/>
          </a:bodyPr>
          <a:lstStyle/>
          <a:p>
            <a:pPr marL="0" indent="0" algn="ctr">
              <a:spcBef>
                <a:spcPts val="0"/>
              </a:spcBef>
              <a:spcAft>
                <a:spcPts val="0"/>
              </a:spcAft>
              <a:buNone/>
            </a:pPr>
            <a:endParaRPr/>
          </a:p>
        </p:txBody>
      </p:sp>
      <p:sp>
        <p:nvSpPr>
          <p:cNvPr id="166" name="Google Shape;166;p7">
            <a:extLst>
              <a:ext uri="{FF2B5EF4-FFF2-40B4-BE49-F238E27FC236}">
                <a16:creationId xmlns:a16="http://schemas.microsoft.com/office/drawing/2014/main" id="{B03D9E3B-68FB-4961-81C8-FE3B9134CE1E}"/>
              </a:ext>
            </a:extLst>
          </p:cNvPr>
          <p:cNvSpPr>
            <a:spLocks noGrp="1"/>
          </p:cNvSpPr>
          <p:nvPr/>
        </p:nvSpPr>
        <p:spPr>
          <a:xfrm>
            <a:off x="8759952" y="3867912"/>
            <a:ext cx="1645920" cy="146304"/>
          </a:xfrm>
          <a:prstGeom prst="rect">
            <a:avLst/>
          </a:prstGeom>
          <a:noFill/>
          <a:ln>
            <a:noFill/>
          </a:ln>
        </p:spPr>
        <p:txBody>
          <a:bodyPr spcFirstLastPara="1" wrap="square" lIns="0" tIns="0" rIns="0" bIns="0" anchor="ctr">
            <a:noAutofit/>
          </a:bodyPr>
          <a:lstStyle/>
          <a:p>
            <a:pPr marL="0" indent="0" algn="l">
              <a:spcBef>
                <a:spcPts val="0"/>
              </a:spcBef>
              <a:spcAft>
                <a:spcPts val="0"/>
              </a:spcAft>
              <a:buNone/>
            </a:pPr>
            <a:r>
              <a:rPr sz="1100">
                <a:solidFill>
                  <a:srgbClr val="111827"/>
                </a:solidFill>
                <a:latin typeface="Arial"/>
                <a:ea typeface="Arial"/>
                <a:cs typeface="Arial"/>
              </a:rPr>
              <a:t>Optional Ackley</a:t>
            </a:r>
          </a:p>
        </p:txBody>
      </p:sp>
      <p:sp>
        <p:nvSpPr>
          <p:cNvPr id="167" name="Google Shape;167;p7">
            <a:extLst>
              <a:ext uri="{FF2B5EF4-FFF2-40B4-BE49-F238E27FC236}">
                <a16:creationId xmlns:a16="http://schemas.microsoft.com/office/drawing/2014/main" id="{86A5F43E-5BCE-4F9B-8DCE-209294D4F530}"/>
              </a:ext>
            </a:extLst>
          </p:cNvPr>
          <p:cNvSpPr>
            <a:spLocks noGrp="1"/>
          </p:cNvSpPr>
          <p:nvPr/>
        </p:nvSpPr>
        <p:spPr>
          <a:xfrm>
            <a:off x="10652760" y="3867912"/>
            <a:ext cx="685800" cy="146304"/>
          </a:xfrm>
          <a:prstGeom prst="rect">
            <a:avLst/>
          </a:prstGeom>
          <a:noFill/>
          <a:ln>
            <a:noFill/>
          </a:ln>
        </p:spPr>
        <p:txBody>
          <a:bodyPr spcFirstLastPara="1" wrap="square" lIns="0" tIns="0" rIns="0" bIns="0" anchor="ctr">
            <a:noAutofit/>
          </a:bodyPr>
          <a:lstStyle/>
          <a:p>
            <a:pPr marL="0" indent="0" algn="r">
              <a:spcBef>
                <a:spcPts val="0"/>
              </a:spcBef>
              <a:spcAft>
                <a:spcPts val="0"/>
              </a:spcAft>
              <a:buNone/>
            </a:pPr>
            <a:r>
              <a:rPr sz="1100" b="1">
                <a:solidFill>
                  <a:srgbClr val="6B7280"/>
                </a:solidFill>
                <a:latin typeface="Arial"/>
                <a:ea typeface="Arial"/>
                <a:cs typeface="Arial"/>
              </a:rPr>
              <a:t>SUR did not help</a:t>
            </a:r>
          </a:p>
        </p:txBody>
      </p:sp>
      <p:sp>
        <p:nvSpPr>
          <p:cNvPr id="168" name="Google Shape;168;p7">
            <a:extLst>
              <a:ext uri="{FF2B5EF4-FFF2-40B4-BE49-F238E27FC236}">
                <a16:creationId xmlns:a16="http://schemas.microsoft.com/office/drawing/2014/main" id="{145F9010-7029-495B-B7DB-19DB1E0C0348}"/>
              </a:ext>
            </a:extLst>
          </p:cNvPr>
          <p:cNvSpPr>
            <a:spLocks noGrp="1"/>
          </p:cNvSpPr>
          <p:nvPr/>
        </p:nvSpPr>
        <p:spPr>
          <a:xfrm>
            <a:off x="8348472" y="4572000"/>
            <a:ext cx="2907792" cy="731520"/>
          </a:xfrm>
          <a:prstGeom prst="roundRect">
            <a:avLst>
              <a:gd name="adj" fmla="val 11250"/>
            </a:avLst>
          </a:prstGeom>
          <a:solidFill>
            <a:srgbClr val="FFF7ED"/>
          </a:solidFill>
          <a:ln w="10150" cmpd="sng">
            <a:solidFill>
              <a:srgbClr val="FED7AA"/>
            </a:solidFill>
            <a:prstDash val="solid"/>
            <a:headEnd type="none" w="sm" len="sm"/>
            <a:tailEnd type="none" w="sm" len="sm"/>
          </a:ln>
        </p:spPr>
        <p:txBody>
          <a:bodyPr spcFirstLastPara="1" wrap="square" lIns="91425" tIns="45700" rIns="91425" bIns="45700" anchor="t">
            <a:noAutofit/>
          </a:bodyPr>
          <a:lstStyle/>
          <a:p>
            <a:pPr marL="0" indent="0" algn="l">
              <a:spcBef>
                <a:spcPts val="0"/>
              </a:spcBef>
              <a:spcAft>
                <a:spcPts val="0"/>
              </a:spcAft>
              <a:buNone/>
            </a:pPr>
            <a:endParaRPr/>
          </a:p>
        </p:txBody>
      </p:sp>
      <p:sp>
        <p:nvSpPr>
          <p:cNvPr id="169" name="Google Shape;169;p7">
            <a:extLst>
              <a:ext uri="{FF2B5EF4-FFF2-40B4-BE49-F238E27FC236}">
                <a16:creationId xmlns:a16="http://schemas.microsoft.com/office/drawing/2014/main" id="{5E225263-EFAB-4A3D-8ACB-A210C3D77A46}"/>
              </a:ext>
            </a:extLst>
          </p:cNvPr>
          <p:cNvSpPr>
            <a:spLocks noGrp="1"/>
          </p:cNvSpPr>
          <p:nvPr/>
        </p:nvSpPr>
        <p:spPr>
          <a:xfrm>
            <a:off x="8549640" y="4709160"/>
            <a:ext cx="1188720" cy="137160"/>
          </a:xfrm>
          <a:prstGeom prst="rect">
            <a:avLst/>
          </a:prstGeom>
          <a:noFill/>
          <a:ln>
            <a:noFill/>
          </a:ln>
        </p:spPr>
        <p:txBody>
          <a:bodyPr spcFirstLastPara="1" wrap="square" lIns="0" tIns="0" rIns="0" bIns="0" anchor="ctr">
            <a:noAutofit/>
          </a:bodyPr>
          <a:lstStyle/>
          <a:p>
            <a:pPr marL="0" indent="0" algn="l">
              <a:spcBef>
                <a:spcPts val="0"/>
              </a:spcBef>
              <a:spcAft>
                <a:spcPts val="0"/>
              </a:spcAft>
              <a:buNone/>
            </a:pPr>
            <a:r>
              <a:rPr sz="1100" b="1">
                <a:solidFill>
                  <a:srgbClr val="B7791F"/>
                </a:solidFill>
                <a:latin typeface="Arial"/>
                <a:ea typeface="Arial"/>
                <a:cs typeface="Arial"/>
              </a:rPr>
              <a:t>Safe wording</a:t>
            </a:r>
          </a:p>
        </p:txBody>
      </p:sp>
      <p:sp>
        <p:nvSpPr>
          <p:cNvPr id="170" name="Google Shape;170;p7">
            <a:extLst>
              <a:ext uri="{FF2B5EF4-FFF2-40B4-BE49-F238E27FC236}">
                <a16:creationId xmlns:a16="http://schemas.microsoft.com/office/drawing/2014/main" id="{DA9C74D6-3B3A-426C-914F-703AA59F43CF}"/>
              </a:ext>
            </a:extLst>
          </p:cNvPr>
          <p:cNvSpPr>
            <a:spLocks noGrp="1"/>
          </p:cNvSpPr>
          <p:nvPr/>
        </p:nvSpPr>
        <p:spPr>
          <a:xfrm>
            <a:off x="8549640" y="4956048"/>
            <a:ext cx="2514600" cy="173736"/>
          </a:xfrm>
          <a:prstGeom prst="rect">
            <a:avLst/>
          </a:prstGeom>
          <a:noFill/>
          <a:ln>
            <a:noFill/>
          </a:ln>
        </p:spPr>
        <p:txBody>
          <a:bodyPr spcFirstLastPara="1" wrap="square" lIns="0" tIns="0" rIns="0" bIns="0" anchor="ctr">
            <a:noAutofit/>
          </a:bodyPr>
          <a:lstStyle/>
          <a:p>
            <a:pPr marL="0" indent="0" algn="l">
              <a:spcBef>
                <a:spcPts val="0"/>
              </a:spcBef>
              <a:spcAft>
                <a:spcPts val="0"/>
              </a:spcAft>
              <a:buNone/>
            </a:pPr>
            <a:r>
              <a:rPr sz="1100">
                <a:solidFill>
                  <a:srgbClr val="4B5563"/>
                </a:solidFill>
                <a:latin typeface="Arial"/>
                <a:ea typeface="Arial"/>
                <a:cs typeface="Arial"/>
              </a:rPr>
              <a:t>Use GPC-SUR as a focused diagnostic, not as the default expensive acquisition loop.</a:t>
            </a:r>
          </a:p>
        </p:txBody>
      </p:sp>
      <p:cxnSp>
        <p:nvCxnSpPr>
          <p:cNvPr id="236" name="Google Shape;171;p7"/>
          <p:cNvCxnSpPr/>
          <p:nvPr/>
        </p:nvCxnSpPr>
        <p:spPr>
          <a:xfrm>
            <a:off x="502920" y="6446520"/>
            <a:ext cx="11201400" cy="0"/>
          </a:xfrm>
          <a:prstGeom prst="straightConnector1">
            <a:avLst/>
          </a:prstGeom>
          <a:ln w="9525" cap="flat">
            <a:solidFill>
              <a:srgbClr val="D9DEE8"/>
            </a:solidFill>
            <a:prstDash val="solid"/>
            <a:round/>
            <a:headEnd type="none" w="sm" len="sm"/>
            <a:tailEnd type="none" w="sm" len="sm"/>
          </a:ln>
        </p:spPr>
      </p:cxnSp>
      <p:sp>
        <p:nvSpPr>
          <p:cNvPr id="172" name="Google Shape;172;p7">
            <a:extLst>
              <a:ext uri="{FF2B5EF4-FFF2-40B4-BE49-F238E27FC236}">
                <a16:creationId xmlns:a16="http://schemas.microsoft.com/office/drawing/2014/main" id="{17CE0911-0117-4194-9C8E-3BA8EF3775EE}"/>
              </a:ext>
            </a:extLst>
          </p:cNvPr>
          <p:cNvSpPr>
            <a:spLocks noGrp="1"/>
          </p:cNvSpPr>
          <p:nvPr/>
        </p:nvSpPr>
        <p:spPr>
          <a:xfrm>
            <a:off x="502920" y="6519672"/>
            <a:ext cx="8961120" cy="164592"/>
          </a:xfrm>
          <a:prstGeom prst="rect">
            <a:avLst/>
          </a:prstGeom>
          <a:noFill/>
          <a:ln>
            <a:noFill/>
          </a:ln>
        </p:spPr>
        <p:txBody>
          <a:bodyPr spcFirstLastPara="1" wrap="square" lIns="0" tIns="0" rIns="0" bIns="0" anchor="ctr">
            <a:noAutofit/>
          </a:bodyPr>
          <a:lstStyle/>
          <a:p>
            <a:pPr marL="0" indent="0" algn="l">
              <a:spcBef>
                <a:spcPts val="0"/>
              </a:spcBef>
              <a:spcAft>
                <a:spcPts val="0"/>
              </a:spcAft>
              <a:buNone/>
            </a:pPr>
            <a:r>
              <a:rPr sz="780">
                <a:solidFill>
                  <a:srgbClr val="6B7280"/>
                </a:solidFill>
                <a:latin typeface="Arial"/>
                <a:ea typeface="Arial"/>
                <a:cs typeface="Arial"/>
              </a:rPr>
              <a:t>Week 3 extended update - Sample-Efficient Active Level-Set Estimation - 18</a:t>
            </a:r>
          </a:p>
        </p:txBody>
      </p:sp>
      <p:sp>
        <p:nvSpPr>
          <p:cNvPr id="173" name="Google Shape;173;p7">
            <a:extLst>
              <a:ext uri="{FF2B5EF4-FFF2-40B4-BE49-F238E27FC236}">
                <a16:creationId xmlns:a16="http://schemas.microsoft.com/office/drawing/2014/main" id="{7E348F6B-B4F5-4DD9-851B-450FC1334BE5}"/>
              </a:ext>
            </a:extLst>
          </p:cNvPr>
          <p:cNvSpPr>
            <a:spLocks noGrp="1"/>
          </p:cNvSpPr>
          <p:nvPr/>
        </p:nvSpPr>
        <p:spPr>
          <a:xfrm>
            <a:off x="11521440" y="6492240"/>
            <a:ext cx="228600" cy="164592"/>
          </a:xfrm>
          <a:prstGeom prst="rect">
            <a:avLst/>
          </a:prstGeom>
          <a:noFill/>
          <a:ln>
            <a:noFill/>
          </a:ln>
        </p:spPr>
        <p:txBody>
          <a:bodyPr spcFirstLastPara="1" wrap="square" lIns="0" tIns="0" rIns="0" bIns="0" anchor="ctr">
            <a:noAutofit/>
          </a:bodyPr>
          <a:lstStyle/>
          <a:p>
            <a:pPr marL="0" indent="0" algn="r">
              <a:spcBef>
                <a:spcPts val="0"/>
              </a:spcBef>
              <a:spcAft>
                <a:spcPts val="0"/>
              </a:spcAft>
              <a:buNone/>
            </a:pPr>
            <a:r>
              <a:rPr sz="780">
                <a:solidFill>
                  <a:srgbClr val="6B7280"/>
                </a:solidFill>
                <a:latin typeface="Arial"/>
                <a:ea typeface="Arial"/>
                <a:cs typeface="Arial"/>
              </a:rPr>
              <a:t>18</a:t>
            </a:r>
          </a:p>
        </p:txBody>
      </p:sp>
      <p:graphicFrame>
        <p:nvGraphicFramePr>
          <p:cNvPr id="239" name="Chart"/>
          <p:cNvGraphicFramePr/>
          <p:nvPr/>
        </p:nvGraphicFramePr>
        <p:xfrm>
          <a:off x="502920" y="1319022"/>
          <a:ext cx="7406640" cy="4402836"/>
        </p:xfrm>
        <a:graphic>
          <a:graphicData uri="http://schemas.openxmlformats.org/drawingml/2006/chart">
            <c:chart xmlns:c="http://schemas.openxmlformats.org/drawingml/2006/chart" xmlns:r="http://schemas.openxmlformats.org/officeDocument/2006/relationships" r:id="rId4"/>
          </a:graphicData>
        </a:graphic>
      </p:graphicFrame>
    </p:spTree>
    <p:extLst>
      <p:ext uri="{BB962C8B-B14F-4D97-AF65-F5344CB8AC3E}">
        <p14:creationId xmlns:p14="http://schemas.microsoft.com/office/powerpoint/2010/main" val="1479111479"/>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bg>
      <p:bgPr>
        <a:solidFill>
          <a:srgbClr val="F6F8FC"/>
        </a:solidFill>
        <a:effectLst/>
      </p:bgPr>
    </p:bg>
    <p:spTree>
      <p:nvGrpSpPr>
        <p:cNvPr id="1" name=""/>
        <p:cNvGrpSpPr/>
        <p:nvPr/>
      </p:nvGrpSpPr>
      <p:grpSpPr>
        <a:xfrm>
          <a:off x="0" y="0"/>
          <a:ext cx="0" cy="0"/>
          <a:chOff x="0" y="0"/>
          <a:chExt cx="0" cy="0"/>
        </a:xfrm>
      </p:grpSpPr>
      <p:sp>
        <p:nvSpPr>
          <p:cNvPr id="12" name="Google Shape;12;p3">
            <a:extLst>
              <a:ext uri="{FF2B5EF4-FFF2-40B4-BE49-F238E27FC236}">
                <a16:creationId xmlns:a16="http://schemas.microsoft.com/office/drawing/2014/main" id="{E6AC6433-5C7C-4BB7-AA39-49443CC49C2A}"/>
              </a:ext>
            </a:extLst>
          </p:cNvPr>
          <p:cNvSpPr>
            <a:spLocks noGrp="1"/>
          </p:cNvSpPr>
          <p:nvPr/>
        </p:nvSpPr>
        <p:spPr>
          <a:xfrm>
            <a:off x="0" y="0"/>
            <a:ext cx="12191695" cy="73152"/>
          </a:xfrm>
          <a:prstGeom prst="rect">
            <a:avLst/>
          </a:prstGeom>
          <a:solidFill>
            <a:srgbClr val="1F2A44"/>
          </a:solidFill>
          <a:ln w="12700" cmpd="sng">
            <a:solidFill>
              <a:srgbClr val="1F2A44"/>
            </a:solidFill>
            <a:prstDash val="solid"/>
            <a:headEnd type="none" w="sm" len="sm"/>
            <a:tailEnd type="none" w="sm" len="sm"/>
          </a:ln>
        </p:spPr>
        <p:txBody>
          <a:bodyPr spcFirstLastPara="1" wrap="square" lIns="91425" tIns="45700" rIns="91425" bIns="45700" anchor="t">
            <a:noAutofit/>
          </a:bodyPr>
          <a:lstStyle/>
          <a:p>
            <a:pPr marL="0" indent="0" algn="l">
              <a:spcBef>
                <a:spcPts val="0"/>
              </a:spcBef>
              <a:spcAft>
                <a:spcPts val="0"/>
              </a:spcAft>
              <a:buNone/>
            </a:pPr>
            <a:endParaRPr/>
          </a:p>
        </p:txBody>
      </p:sp>
      <p:sp>
        <p:nvSpPr>
          <p:cNvPr id="13" name="Google Shape;13;p3">
            <a:extLst>
              <a:ext uri="{FF2B5EF4-FFF2-40B4-BE49-F238E27FC236}">
                <a16:creationId xmlns:a16="http://schemas.microsoft.com/office/drawing/2014/main" id="{011331CC-A18C-4A6E-9E60-AB5782CDC7F0}"/>
              </a:ext>
            </a:extLst>
          </p:cNvPr>
          <p:cNvSpPr>
            <a:spLocks noGrp="1"/>
          </p:cNvSpPr>
          <p:nvPr/>
        </p:nvSpPr>
        <p:spPr>
          <a:xfrm>
            <a:off x="566928" y="502920"/>
            <a:ext cx="10789920" cy="365760"/>
          </a:xfrm>
          <a:prstGeom prst="rect">
            <a:avLst/>
          </a:prstGeom>
          <a:noFill/>
          <a:ln>
            <a:noFill/>
          </a:ln>
        </p:spPr>
        <p:txBody>
          <a:bodyPr spcFirstLastPara="1" wrap="square" lIns="0" tIns="0" rIns="0" bIns="0" anchor="ctr">
            <a:noAutofit/>
          </a:bodyPr>
          <a:lstStyle/>
          <a:p>
            <a:pPr marL="0" indent="0" algn="l">
              <a:spcBef>
                <a:spcPts val="0"/>
              </a:spcBef>
              <a:spcAft>
                <a:spcPts val="0"/>
              </a:spcAft>
              <a:buNone/>
            </a:pPr>
            <a:r>
              <a:rPr sz="2200" b="1">
                <a:solidFill>
                  <a:srgbClr val="1F2A44"/>
                </a:solidFill>
                <a:latin typeface="Play"/>
                <a:ea typeface="Play"/>
                <a:cs typeface="Play"/>
              </a:rPr>
              <a:t>What was tried inside the Week 3 package</a:t>
            </a:r>
          </a:p>
        </p:txBody>
      </p:sp>
      <p:sp>
        <p:nvSpPr>
          <p:cNvPr id="14" name="Google Shape;14;p3">
            <a:extLst>
              <a:ext uri="{FF2B5EF4-FFF2-40B4-BE49-F238E27FC236}">
                <a16:creationId xmlns:a16="http://schemas.microsoft.com/office/drawing/2014/main" id="{FB14AADD-007B-4674-BE3F-A86F6CEE5597}"/>
              </a:ext>
            </a:extLst>
          </p:cNvPr>
          <p:cNvSpPr>
            <a:spLocks noGrp="1"/>
          </p:cNvSpPr>
          <p:nvPr/>
        </p:nvSpPr>
        <p:spPr>
          <a:xfrm>
            <a:off x="566928" y="969264"/>
            <a:ext cx="2286000" cy="228600"/>
          </a:xfrm>
          <a:prstGeom prst="rect">
            <a:avLst/>
          </a:prstGeom>
          <a:noFill/>
          <a:ln>
            <a:noFill/>
          </a:ln>
        </p:spPr>
        <p:txBody>
          <a:bodyPr spcFirstLastPara="1" wrap="square" lIns="0" tIns="0" rIns="0" bIns="0" anchor="ctr">
            <a:noAutofit/>
          </a:bodyPr>
          <a:lstStyle/>
          <a:p>
            <a:pPr marL="0" indent="0" algn="l">
              <a:spcBef>
                <a:spcPts val="0"/>
              </a:spcBef>
              <a:spcAft>
                <a:spcPts val="0"/>
              </a:spcAft>
              <a:buNone/>
            </a:pPr>
            <a:r>
              <a:rPr sz="1100" b="1">
                <a:solidFill>
                  <a:srgbClr val="2B6CB0"/>
                </a:solidFill>
                <a:latin typeface="Arial"/>
                <a:ea typeface="Arial"/>
                <a:cs typeface="Arial"/>
              </a:rPr>
              <a:t>Experiment Inventory</a:t>
            </a:r>
          </a:p>
        </p:txBody>
      </p:sp>
      <p:sp>
        <p:nvSpPr>
          <p:cNvPr id="15" name="Google Shape;15;p3">
            <a:extLst>
              <a:ext uri="{FF2B5EF4-FFF2-40B4-BE49-F238E27FC236}">
                <a16:creationId xmlns:a16="http://schemas.microsoft.com/office/drawing/2014/main" id="{C5BD9F6F-A802-46F1-BCCA-282151AAE1A0}"/>
              </a:ext>
            </a:extLst>
          </p:cNvPr>
          <p:cNvSpPr>
            <a:spLocks noGrp="1"/>
          </p:cNvSpPr>
          <p:nvPr/>
        </p:nvSpPr>
        <p:spPr>
          <a:xfrm>
            <a:off x="566928" y="1225296"/>
            <a:ext cx="10515600" cy="228600"/>
          </a:xfrm>
          <a:prstGeom prst="rect">
            <a:avLst/>
          </a:prstGeom>
          <a:noFill/>
          <a:ln>
            <a:noFill/>
          </a:ln>
        </p:spPr>
        <p:txBody>
          <a:bodyPr spcFirstLastPara="1" wrap="square" lIns="0" tIns="0" rIns="0" bIns="0" anchor="ctr">
            <a:noAutofit/>
          </a:bodyPr>
          <a:lstStyle/>
          <a:p>
            <a:pPr marL="0" indent="0" algn="l">
              <a:spcBef>
                <a:spcPts val="0"/>
              </a:spcBef>
              <a:spcAft>
                <a:spcPts val="0"/>
              </a:spcAft>
              <a:buNone/>
            </a:pPr>
            <a:r>
              <a:rPr sz="1100">
                <a:solidFill>
                  <a:srgbClr val="4B5563"/>
                </a:solidFill>
                <a:latin typeface="Arial"/>
                <a:ea typeface="Arial"/>
                <a:cs typeface="Arial"/>
              </a:rPr>
              <a:t>The expanded Week 3 package is now a broad acquisition and surrogate benchmark suite.</a:t>
            </a:r>
          </a:p>
        </p:txBody>
      </p:sp>
      <p:sp>
        <p:nvSpPr>
          <p:cNvPr id="16" name="Google Shape;16;p3">
            <a:extLst>
              <a:ext uri="{FF2B5EF4-FFF2-40B4-BE49-F238E27FC236}">
                <a16:creationId xmlns:a16="http://schemas.microsoft.com/office/drawing/2014/main" id="{96C04877-209D-4F90-A30D-F571ADCB8352}"/>
              </a:ext>
            </a:extLst>
          </p:cNvPr>
          <p:cNvSpPr>
            <a:spLocks noGrp="1"/>
          </p:cNvSpPr>
          <p:nvPr/>
        </p:nvSpPr>
        <p:spPr>
          <a:xfrm>
            <a:off x="566928" y="1737360"/>
            <a:ext cx="11018520" cy="1143000"/>
          </a:xfrm>
          <a:prstGeom prst="roundRect">
            <a:avLst>
              <a:gd name="adj" fmla="val 7200"/>
            </a:avLst>
          </a:prstGeom>
          <a:solidFill>
            <a:srgbClr val="FFFFFF"/>
          </a:solidFill>
          <a:ln w="10150" cmpd="sng">
            <a:solidFill>
              <a:srgbClr val="D9DEE8"/>
            </a:solidFill>
            <a:prstDash val="solid"/>
            <a:headEnd type="none" w="sm" len="sm"/>
            <a:tailEnd type="none" w="sm" len="sm"/>
          </a:ln>
          <a:effectLst>
            <a:outerShdw blurRad="15240" dist="50800" dir="2700000" algn="bl" rotWithShape="0">
              <a:srgbClr val="000000">
                <a:alpha val="7843"/>
              </a:srgbClr>
            </a:outerShdw>
          </a:effectLst>
        </p:spPr>
        <p:txBody>
          <a:bodyPr spcFirstLastPara="1" wrap="square" lIns="91425" tIns="45700" rIns="91425" bIns="45700" anchor="t">
            <a:noAutofit/>
          </a:bodyPr>
          <a:lstStyle/>
          <a:p>
            <a:pPr marL="0" indent="0" algn="l">
              <a:spcBef>
                <a:spcPts val="0"/>
              </a:spcBef>
              <a:spcAft>
                <a:spcPts val="0"/>
              </a:spcAft>
              <a:buNone/>
            </a:pPr>
            <a:endParaRPr/>
          </a:p>
        </p:txBody>
      </p:sp>
      <p:sp>
        <p:nvSpPr>
          <p:cNvPr id="18" name="Google Shape;18;p3">
            <a:extLst>
              <a:ext uri="{FF2B5EF4-FFF2-40B4-BE49-F238E27FC236}">
                <a16:creationId xmlns:a16="http://schemas.microsoft.com/office/drawing/2014/main" id="{D89CB9FC-571C-495E-8F85-F85A8ED3C833}"/>
              </a:ext>
            </a:extLst>
          </p:cNvPr>
          <p:cNvSpPr>
            <a:spLocks noGrp="1"/>
          </p:cNvSpPr>
          <p:nvPr/>
        </p:nvSpPr>
        <p:spPr>
          <a:xfrm>
            <a:off x="864108" y="2066544"/>
            <a:ext cx="10195560" cy="347472"/>
          </a:xfrm>
          <a:prstGeom prst="rect">
            <a:avLst/>
          </a:prstGeom>
          <a:noFill/>
          <a:ln>
            <a:noFill/>
          </a:ln>
        </p:spPr>
        <p:txBody>
          <a:bodyPr spcFirstLastPara="1" wrap="square" lIns="0" tIns="0" rIns="0" bIns="0" anchor="ctr">
            <a:noAutofit/>
          </a:bodyPr>
          <a:lstStyle/>
          <a:p>
            <a:pPr marL="0" indent="0" algn="l">
              <a:spcBef>
                <a:spcPts val="0"/>
              </a:spcBef>
              <a:spcAft>
                <a:spcPts val="0"/>
              </a:spcAft>
              <a:buNone/>
            </a:pPr>
            <a:r>
              <a:rPr sz="1200" dirty="0">
                <a:solidFill>
                  <a:srgbClr val="4B5563"/>
                </a:solidFill>
                <a:latin typeface="Arial"/>
                <a:ea typeface="Arial"/>
                <a:cs typeface="Arial"/>
              </a:rPr>
              <a:t>Coverage includes original acquisition rules, diversity and gating, lookahead, geometry, fixed and optimized GPC, IVR/SUR, and Hartmann4 validation.</a:t>
            </a:r>
          </a:p>
        </p:txBody>
      </p:sp>
      <p:sp>
        <p:nvSpPr>
          <p:cNvPr id="19" name="Google Shape;19;p3">
            <a:extLst>
              <a:ext uri="{FF2B5EF4-FFF2-40B4-BE49-F238E27FC236}">
                <a16:creationId xmlns:a16="http://schemas.microsoft.com/office/drawing/2014/main" id="{3CB94A7D-9862-41F3-AE2E-30B51C6FFBD0}"/>
              </a:ext>
            </a:extLst>
          </p:cNvPr>
          <p:cNvSpPr>
            <a:spLocks noGrp="1"/>
          </p:cNvSpPr>
          <p:nvPr/>
        </p:nvSpPr>
        <p:spPr>
          <a:xfrm>
            <a:off x="658368" y="3246120"/>
            <a:ext cx="1920240" cy="1143000"/>
          </a:xfrm>
          <a:prstGeom prst="roundRect">
            <a:avLst>
              <a:gd name="adj" fmla="val 7200"/>
            </a:avLst>
          </a:prstGeom>
          <a:solidFill>
            <a:srgbClr val="FFFFFF"/>
          </a:solidFill>
          <a:ln w="10150" cmpd="sng">
            <a:solidFill>
              <a:srgbClr val="D9DEE8"/>
            </a:solidFill>
            <a:prstDash val="solid"/>
            <a:headEnd type="none" w="sm" len="sm"/>
            <a:tailEnd type="none" w="sm" len="sm"/>
          </a:ln>
          <a:effectLst>
            <a:outerShdw blurRad="15240" dist="50800" dir="2700000" algn="bl" rotWithShape="0">
              <a:srgbClr val="000000">
                <a:alpha val="7843"/>
              </a:srgbClr>
            </a:outerShdw>
          </a:effectLst>
        </p:spPr>
        <p:txBody>
          <a:bodyPr spcFirstLastPara="1" wrap="square" lIns="91425" tIns="45700" rIns="91425" bIns="45700" anchor="t">
            <a:noAutofit/>
          </a:bodyPr>
          <a:lstStyle/>
          <a:p>
            <a:pPr marL="0" indent="0" algn="l">
              <a:spcBef>
                <a:spcPts val="0"/>
              </a:spcBef>
              <a:spcAft>
                <a:spcPts val="0"/>
              </a:spcAft>
              <a:buNone/>
            </a:pPr>
            <a:endParaRPr/>
          </a:p>
        </p:txBody>
      </p:sp>
      <p:sp>
        <p:nvSpPr>
          <p:cNvPr id="20" name="Google Shape;20;p3">
            <a:extLst>
              <a:ext uri="{FF2B5EF4-FFF2-40B4-BE49-F238E27FC236}">
                <a16:creationId xmlns:a16="http://schemas.microsoft.com/office/drawing/2014/main" id="{86492C47-E85C-46D7-8741-DC80167AFDE4}"/>
              </a:ext>
            </a:extLst>
          </p:cNvPr>
          <p:cNvSpPr>
            <a:spLocks noGrp="1"/>
          </p:cNvSpPr>
          <p:nvPr/>
        </p:nvSpPr>
        <p:spPr>
          <a:xfrm>
            <a:off x="749808" y="3392424"/>
            <a:ext cx="1737360" cy="301752"/>
          </a:xfrm>
          <a:prstGeom prst="rect">
            <a:avLst/>
          </a:prstGeom>
          <a:noFill/>
          <a:ln>
            <a:noFill/>
          </a:ln>
        </p:spPr>
        <p:txBody>
          <a:bodyPr spcFirstLastPara="1" wrap="square" lIns="0" tIns="0" rIns="0" bIns="0" anchor="ctr">
            <a:noAutofit/>
          </a:bodyPr>
          <a:lstStyle/>
          <a:p>
            <a:pPr marL="0" indent="0" algn="ctr">
              <a:spcBef>
                <a:spcPts val="0"/>
              </a:spcBef>
              <a:spcAft>
                <a:spcPts val="0"/>
              </a:spcAft>
              <a:buNone/>
            </a:pPr>
            <a:r>
              <a:rPr sz="2000" b="1">
                <a:solidFill>
                  <a:srgbClr val="1F2A44"/>
                </a:solidFill>
                <a:latin typeface="Arial"/>
                <a:ea typeface="Arial"/>
                <a:cs typeface="Arial"/>
              </a:rPr>
              <a:t>3</a:t>
            </a:r>
          </a:p>
        </p:txBody>
      </p:sp>
      <p:sp>
        <p:nvSpPr>
          <p:cNvPr id="21" name="Google Shape;21;p3">
            <a:extLst>
              <a:ext uri="{FF2B5EF4-FFF2-40B4-BE49-F238E27FC236}">
                <a16:creationId xmlns:a16="http://schemas.microsoft.com/office/drawing/2014/main" id="{BFA2F779-BFD7-4F90-804D-97FC394DA1AA}"/>
              </a:ext>
            </a:extLst>
          </p:cNvPr>
          <p:cNvSpPr>
            <a:spLocks noGrp="1"/>
          </p:cNvSpPr>
          <p:nvPr/>
        </p:nvSpPr>
        <p:spPr>
          <a:xfrm>
            <a:off x="768096" y="3749040"/>
            <a:ext cx="1700784" cy="256032"/>
          </a:xfrm>
          <a:prstGeom prst="rect">
            <a:avLst/>
          </a:prstGeom>
          <a:noFill/>
          <a:ln>
            <a:noFill/>
          </a:ln>
        </p:spPr>
        <p:txBody>
          <a:bodyPr spcFirstLastPara="1" wrap="square" lIns="0" tIns="0" rIns="0" bIns="0" anchor="ctr">
            <a:noAutofit/>
          </a:bodyPr>
          <a:lstStyle/>
          <a:p>
            <a:pPr marL="0" indent="0" algn="ctr">
              <a:spcBef>
                <a:spcPts val="0"/>
              </a:spcBef>
              <a:spcAft>
                <a:spcPts val="0"/>
              </a:spcAft>
              <a:buNone/>
            </a:pPr>
            <a:r>
              <a:rPr sz="1000">
                <a:solidFill>
                  <a:srgbClr val="4B5563"/>
                </a:solidFill>
                <a:latin typeface="Arial"/>
                <a:ea typeface="Arial"/>
                <a:cs typeface="Arial"/>
              </a:rPr>
              <a:t>benchmarks</a:t>
            </a:r>
          </a:p>
        </p:txBody>
      </p:sp>
      <p:sp>
        <p:nvSpPr>
          <p:cNvPr id="22" name="Google Shape;22;p3">
            <a:extLst>
              <a:ext uri="{FF2B5EF4-FFF2-40B4-BE49-F238E27FC236}">
                <a16:creationId xmlns:a16="http://schemas.microsoft.com/office/drawing/2014/main" id="{46EAEA04-D1F2-4681-A792-5549602D5FC8}"/>
              </a:ext>
            </a:extLst>
          </p:cNvPr>
          <p:cNvSpPr>
            <a:spLocks noGrp="1"/>
          </p:cNvSpPr>
          <p:nvPr/>
        </p:nvSpPr>
        <p:spPr>
          <a:xfrm>
            <a:off x="2788920" y="3246120"/>
            <a:ext cx="1920240" cy="1143000"/>
          </a:xfrm>
          <a:prstGeom prst="roundRect">
            <a:avLst>
              <a:gd name="adj" fmla="val 7200"/>
            </a:avLst>
          </a:prstGeom>
          <a:solidFill>
            <a:srgbClr val="FFFFFF"/>
          </a:solidFill>
          <a:ln w="10150" cmpd="sng">
            <a:solidFill>
              <a:srgbClr val="D9DEE8"/>
            </a:solidFill>
            <a:prstDash val="solid"/>
            <a:headEnd type="none" w="sm" len="sm"/>
            <a:tailEnd type="none" w="sm" len="sm"/>
          </a:ln>
          <a:effectLst>
            <a:outerShdw blurRad="15240" dist="50800" dir="2700000" algn="bl" rotWithShape="0">
              <a:srgbClr val="000000">
                <a:alpha val="7843"/>
              </a:srgbClr>
            </a:outerShdw>
          </a:effectLst>
        </p:spPr>
        <p:txBody>
          <a:bodyPr spcFirstLastPara="1" wrap="square" lIns="91425" tIns="45700" rIns="91425" bIns="45700" anchor="t">
            <a:noAutofit/>
          </a:bodyPr>
          <a:lstStyle/>
          <a:p>
            <a:pPr marL="0" indent="0" algn="l">
              <a:spcBef>
                <a:spcPts val="0"/>
              </a:spcBef>
              <a:spcAft>
                <a:spcPts val="0"/>
              </a:spcAft>
              <a:buNone/>
            </a:pPr>
            <a:endParaRPr/>
          </a:p>
        </p:txBody>
      </p:sp>
      <p:sp>
        <p:nvSpPr>
          <p:cNvPr id="23" name="Google Shape;23;p3">
            <a:extLst>
              <a:ext uri="{FF2B5EF4-FFF2-40B4-BE49-F238E27FC236}">
                <a16:creationId xmlns:a16="http://schemas.microsoft.com/office/drawing/2014/main" id="{50A97021-A2E3-4921-B553-9198A73191AD}"/>
              </a:ext>
            </a:extLst>
          </p:cNvPr>
          <p:cNvSpPr>
            <a:spLocks noGrp="1"/>
          </p:cNvSpPr>
          <p:nvPr/>
        </p:nvSpPr>
        <p:spPr>
          <a:xfrm>
            <a:off x="2880360" y="3392424"/>
            <a:ext cx="1737360" cy="301752"/>
          </a:xfrm>
          <a:prstGeom prst="rect">
            <a:avLst/>
          </a:prstGeom>
          <a:noFill/>
          <a:ln>
            <a:noFill/>
          </a:ln>
        </p:spPr>
        <p:txBody>
          <a:bodyPr spcFirstLastPara="1" wrap="square" lIns="0" tIns="0" rIns="0" bIns="0" anchor="ctr">
            <a:noAutofit/>
          </a:bodyPr>
          <a:lstStyle/>
          <a:p>
            <a:pPr marL="0" indent="0" algn="ctr">
              <a:spcBef>
                <a:spcPts val="0"/>
              </a:spcBef>
              <a:spcAft>
                <a:spcPts val="0"/>
              </a:spcAft>
              <a:buNone/>
            </a:pPr>
            <a:r>
              <a:rPr sz="2000" b="1">
                <a:solidFill>
                  <a:srgbClr val="0F8B61"/>
                </a:solidFill>
                <a:latin typeface="Arial"/>
                <a:ea typeface="Arial"/>
                <a:cs typeface="Arial"/>
              </a:rPr>
              <a:t>2</a:t>
            </a:r>
          </a:p>
        </p:txBody>
      </p:sp>
      <p:sp>
        <p:nvSpPr>
          <p:cNvPr id="24" name="Google Shape;24;p3">
            <a:extLst>
              <a:ext uri="{FF2B5EF4-FFF2-40B4-BE49-F238E27FC236}">
                <a16:creationId xmlns:a16="http://schemas.microsoft.com/office/drawing/2014/main" id="{84392C0F-236E-40EB-BB6A-4638F52822C2}"/>
              </a:ext>
            </a:extLst>
          </p:cNvPr>
          <p:cNvSpPr>
            <a:spLocks noGrp="1"/>
          </p:cNvSpPr>
          <p:nvPr/>
        </p:nvSpPr>
        <p:spPr>
          <a:xfrm>
            <a:off x="2898648" y="3749040"/>
            <a:ext cx="1700784" cy="256032"/>
          </a:xfrm>
          <a:prstGeom prst="rect">
            <a:avLst/>
          </a:prstGeom>
          <a:noFill/>
          <a:ln>
            <a:noFill/>
          </a:ln>
        </p:spPr>
        <p:txBody>
          <a:bodyPr spcFirstLastPara="1" wrap="square" lIns="0" tIns="0" rIns="0" bIns="0" anchor="ctr">
            <a:noAutofit/>
          </a:bodyPr>
          <a:lstStyle/>
          <a:p>
            <a:pPr marL="0" indent="0" algn="ctr">
              <a:spcBef>
                <a:spcPts val="0"/>
              </a:spcBef>
              <a:spcAft>
                <a:spcPts val="0"/>
              </a:spcAft>
              <a:buNone/>
            </a:pPr>
            <a:r>
              <a:rPr sz="1000">
                <a:solidFill>
                  <a:srgbClr val="4B5563"/>
                </a:solidFill>
                <a:latin typeface="Arial"/>
                <a:ea typeface="Arial"/>
                <a:cs typeface="Arial"/>
              </a:rPr>
              <a:t>surrogate families</a:t>
            </a:r>
          </a:p>
        </p:txBody>
      </p:sp>
      <p:sp>
        <p:nvSpPr>
          <p:cNvPr id="25" name="Google Shape;25;p3">
            <a:extLst>
              <a:ext uri="{FF2B5EF4-FFF2-40B4-BE49-F238E27FC236}">
                <a16:creationId xmlns:a16="http://schemas.microsoft.com/office/drawing/2014/main" id="{4B4F5248-524A-46FB-9652-12F915F55C35}"/>
              </a:ext>
            </a:extLst>
          </p:cNvPr>
          <p:cNvSpPr>
            <a:spLocks noGrp="1"/>
          </p:cNvSpPr>
          <p:nvPr/>
        </p:nvSpPr>
        <p:spPr>
          <a:xfrm>
            <a:off x="4919472" y="3246120"/>
            <a:ext cx="1920240" cy="1143000"/>
          </a:xfrm>
          <a:prstGeom prst="roundRect">
            <a:avLst>
              <a:gd name="adj" fmla="val 7200"/>
            </a:avLst>
          </a:prstGeom>
          <a:solidFill>
            <a:srgbClr val="FFFFFF"/>
          </a:solidFill>
          <a:ln w="10150" cmpd="sng">
            <a:solidFill>
              <a:srgbClr val="D9DEE8"/>
            </a:solidFill>
            <a:prstDash val="solid"/>
            <a:headEnd type="none" w="sm" len="sm"/>
            <a:tailEnd type="none" w="sm" len="sm"/>
          </a:ln>
          <a:effectLst>
            <a:outerShdw blurRad="15240" dist="50800" dir="2700000" algn="bl" rotWithShape="0">
              <a:srgbClr val="000000">
                <a:alpha val="7843"/>
              </a:srgbClr>
            </a:outerShdw>
          </a:effectLst>
        </p:spPr>
        <p:txBody>
          <a:bodyPr spcFirstLastPara="1" wrap="square" lIns="91425" tIns="45700" rIns="91425" bIns="45700" anchor="t">
            <a:noAutofit/>
          </a:bodyPr>
          <a:lstStyle/>
          <a:p>
            <a:pPr marL="0" indent="0" algn="l">
              <a:spcBef>
                <a:spcPts val="0"/>
              </a:spcBef>
              <a:spcAft>
                <a:spcPts val="0"/>
              </a:spcAft>
              <a:buNone/>
            </a:pPr>
            <a:endParaRPr/>
          </a:p>
        </p:txBody>
      </p:sp>
      <p:sp>
        <p:nvSpPr>
          <p:cNvPr id="26" name="Google Shape;26;p3">
            <a:extLst>
              <a:ext uri="{FF2B5EF4-FFF2-40B4-BE49-F238E27FC236}">
                <a16:creationId xmlns:a16="http://schemas.microsoft.com/office/drawing/2014/main" id="{A68CF452-14D7-4611-9AED-F285E309B334}"/>
              </a:ext>
            </a:extLst>
          </p:cNvPr>
          <p:cNvSpPr>
            <a:spLocks noGrp="1"/>
          </p:cNvSpPr>
          <p:nvPr/>
        </p:nvSpPr>
        <p:spPr>
          <a:xfrm>
            <a:off x="5010912" y="3392424"/>
            <a:ext cx="1737360" cy="301752"/>
          </a:xfrm>
          <a:prstGeom prst="rect">
            <a:avLst/>
          </a:prstGeom>
          <a:noFill/>
          <a:ln>
            <a:noFill/>
          </a:ln>
        </p:spPr>
        <p:txBody>
          <a:bodyPr spcFirstLastPara="1" wrap="square" lIns="0" tIns="0" rIns="0" bIns="0" anchor="ctr">
            <a:noAutofit/>
          </a:bodyPr>
          <a:lstStyle/>
          <a:p>
            <a:pPr marL="0" indent="0" algn="ctr">
              <a:spcBef>
                <a:spcPts val="0"/>
              </a:spcBef>
              <a:spcAft>
                <a:spcPts val="0"/>
              </a:spcAft>
              <a:buNone/>
            </a:pPr>
            <a:r>
              <a:rPr sz="2000" b="1">
                <a:solidFill>
                  <a:srgbClr val="2B6CB0"/>
                </a:solidFill>
                <a:latin typeface="Arial"/>
                <a:ea typeface="Arial"/>
                <a:cs typeface="Arial"/>
              </a:rPr>
              <a:t>5+</a:t>
            </a:r>
          </a:p>
        </p:txBody>
      </p:sp>
      <p:sp>
        <p:nvSpPr>
          <p:cNvPr id="27" name="Google Shape;27;p3">
            <a:extLst>
              <a:ext uri="{FF2B5EF4-FFF2-40B4-BE49-F238E27FC236}">
                <a16:creationId xmlns:a16="http://schemas.microsoft.com/office/drawing/2014/main" id="{5C42CE2B-E768-41F2-A563-780FB17409B2}"/>
              </a:ext>
            </a:extLst>
          </p:cNvPr>
          <p:cNvSpPr>
            <a:spLocks noGrp="1"/>
          </p:cNvSpPr>
          <p:nvPr/>
        </p:nvSpPr>
        <p:spPr>
          <a:xfrm>
            <a:off x="5029200" y="3749040"/>
            <a:ext cx="1700784" cy="256032"/>
          </a:xfrm>
          <a:prstGeom prst="rect">
            <a:avLst/>
          </a:prstGeom>
          <a:noFill/>
          <a:ln>
            <a:noFill/>
          </a:ln>
        </p:spPr>
        <p:txBody>
          <a:bodyPr spcFirstLastPara="1" wrap="square" lIns="0" tIns="0" rIns="0" bIns="0" anchor="ctr">
            <a:noAutofit/>
          </a:bodyPr>
          <a:lstStyle/>
          <a:p>
            <a:pPr marL="0" indent="0" algn="ctr">
              <a:spcBef>
                <a:spcPts val="0"/>
              </a:spcBef>
              <a:spcAft>
                <a:spcPts val="0"/>
              </a:spcAft>
              <a:buNone/>
            </a:pPr>
            <a:r>
              <a:rPr sz="1000">
                <a:solidFill>
                  <a:srgbClr val="4B5563"/>
                </a:solidFill>
                <a:latin typeface="Arial"/>
                <a:ea typeface="Arial"/>
                <a:cs typeface="Arial"/>
              </a:rPr>
              <a:t>experiment blocks</a:t>
            </a:r>
          </a:p>
        </p:txBody>
      </p:sp>
      <p:sp>
        <p:nvSpPr>
          <p:cNvPr id="28" name="Google Shape;28;p3">
            <a:extLst>
              <a:ext uri="{FF2B5EF4-FFF2-40B4-BE49-F238E27FC236}">
                <a16:creationId xmlns:a16="http://schemas.microsoft.com/office/drawing/2014/main" id="{06D2A714-95B7-41F8-852E-F8E266EE0AAB}"/>
              </a:ext>
            </a:extLst>
          </p:cNvPr>
          <p:cNvSpPr>
            <a:spLocks noGrp="1"/>
          </p:cNvSpPr>
          <p:nvPr/>
        </p:nvSpPr>
        <p:spPr>
          <a:xfrm>
            <a:off x="7050024" y="3246120"/>
            <a:ext cx="1920240" cy="1143000"/>
          </a:xfrm>
          <a:prstGeom prst="roundRect">
            <a:avLst>
              <a:gd name="adj" fmla="val 7200"/>
            </a:avLst>
          </a:prstGeom>
          <a:solidFill>
            <a:srgbClr val="FFFFFF"/>
          </a:solidFill>
          <a:ln w="10150" cmpd="sng">
            <a:solidFill>
              <a:srgbClr val="D9DEE8"/>
            </a:solidFill>
            <a:prstDash val="solid"/>
            <a:headEnd type="none" w="sm" len="sm"/>
            <a:tailEnd type="none" w="sm" len="sm"/>
          </a:ln>
          <a:effectLst>
            <a:outerShdw blurRad="15240" dist="50800" dir="2700000" algn="bl" rotWithShape="0">
              <a:srgbClr val="000000">
                <a:alpha val="7843"/>
              </a:srgbClr>
            </a:outerShdw>
          </a:effectLst>
        </p:spPr>
        <p:txBody>
          <a:bodyPr spcFirstLastPara="1" wrap="square" lIns="91425" tIns="45700" rIns="91425" bIns="45700" anchor="t">
            <a:noAutofit/>
          </a:bodyPr>
          <a:lstStyle/>
          <a:p>
            <a:pPr marL="0" indent="0" algn="l">
              <a:spcBef>
                <a:spcPts val="0"/>
              </a:spcBef>
              <a:spcAft>
                <a:spcPts val="0"/>
              </a:spcAft>
              <a:buNone/>
            </a:pPr>
            <a:endParaRPr/>
          </a:p>
        </p:txBody>
      </p:sp>
      <p:sp>
        <p:nvSpPr>
          <p:cNvPr id="29" name="Google Shape;29;p3">
            <a:extLst>
              <a:ext uri="{FF2B5EF4-FFF2-40B4-BE49-F238E27FC236}">
                <a16:creationId xmlns:a16="http://schemas.microsoft.com/office/drawing/2014/main" id="{2D1E5C83-782B-4690-8C0D-DD6903E334EB}"/>
              </a:ext>
            </a:extLst>
          </p:cNvPr>
          <p:cNvSpPr>
            <a:spLocks noGrp="1"/>
          </p:cNvSpPr>
          <p:nvPr/>
        </p:nvSpPr>
        <p:spPr>
          <a:xfrm>
            <a:off x="7141464" y="3392424"/>
            <a:ext cx="1737360" cy="301752"/>
          </a:xfrm>
          <a:prstGeom prst="rect">
            <a:avLst/>
          </a:prstGeom>
          <a:noFill/>
          <a:ln>
            <a:noFill/>
          </a:ln>
        </p:spPr>
        <p:txBody>
          <a:bodyPr spcFirstLastPara="1" wrap="square" lIns="0" tIns="0" rIns="0" bIns="0" anchor="ctr">
            <a:noAutofit/>
          </a:bodyPr>
          <a:lstStyle/>
          <a:p>
            <a:pPr marL="0" indent="0" algn="ctr">
              <a:spcBef>
                <a:spcPts val="0"/>
              </a:spcBef>
              <a:spcAft>
                <a:spcPts val="0"/>
              </a:spcAft>
              <a:buNone/>
            </a:pPr>
            <a:r>
              <a:rPr sz="2000" b="1">
                <a:solidFill>
                  <a:srgbClr val="6B7280"/>
                </a:solidFill>
                <a:latin typeface="Arial"/>
                <a:ea typeface="Arial"/>
                <a:cs typeface="Arial"/>
              </a:rPr>
              <a:t>q20/q30</a:t>
            </a:r>
          </a:p>
        </p:txBody>
      </p:sp>
      <p:sp>
        <p:nvSpPr>
          <p:cNvPr id="30" name="Google Shape;30;p3">
            <a:extLst>
              <a:ext uri="{FF2B5EF4-FFF2-40B4-BE49-F238E27FC236}">
                <a16:creationId xmlns:a16="http://schemas.microsoft.com/office/drawing/2014/main" id="{6AD6CBFA-DCB9-4B3E-BC1A-57449989239D}"/>
              </a:ext>
            </a:extLst>
          </p:cNvPr>
          <p:cNvSpPr>
            <a:spLocks noGrp="1"/>
          </p:cNvSpPr>
          <p:nvPr/>
        </p:nvSpPr>
        <p:spPr>
          <a:xfrm>
            <a:off x="7159752" y="3749040"/>
            <a:ext cx="1700784" cy="256032"/>
          </a:xfrm>
          <a:prstGeom prst="rect">
            <a:avLst/>
          </a:prstGeom>
          <a:noFill/>
          <a:ln>
            <a:noFill/>
          </a:ln>
        </p:spPr>
        <p:txBody>
          <a:bodyPr spcFirstLastPara="1" wrap="square" lIns="0" tIns="0" rIns="0" bIns="0" anchor="ctr">
            <a:noAutofit/>
          </a:bodyPr>
          <a:lstStyle/>
          <a:p>
            <a:pPr marL="0" indent="0" algn="ctr">
              <a:spcBef>
                <a:spcPts val="0"/>
              </a:spcBef>
              <a:spcAft>
                <a:spcPts val="0"/>
              </a:spcAft>
              <a:buNone/>
            </a:pPr>
            <a:r>
              <a:rPr sz="1000">
                <a:solidFill>
                  <a:srgbClr val="4B5563"/>
                </a:solidFill>
                <a:latin typeface="Arial"/>
                <a:ea typeface="Arial"/>
                <a:cs typeface="Arial"/>
              </a:rPr>
              <a:t>primary boundary metrics</a:t>
            </a:r>
          </a:p>
        </p:txBody>
      </p:sp>
      <p:sp>
        <p:nvSpPr>
          <p:cNvPr id="31" name="Google Shape;31;p3">
            <a:extLst>
              <a:ext uri="{FF2B5EF4-FFF2-40B4-BE49-F238E27FC236}">
                <a16:creationId xmlns:a16="http://schemas.microsoft.com/office/drawing/2014/main" id="{419A34CC-F241-429C-BB3D-B1B294E7338A}"/>
              </a:ext>
            </a:extLst>
          </p:cNvPr>
          <p:cNvSpPr>
            <a:spLocks noGrp="1"/>
          </p:cNvSpPr>
          <p:nvPr/>
        </p:nvSpPr>
        <p:spPr>
          <a:xfrm>
            <a:off x="9180576" y="3246120"/>
            <a:ext cx="1920240" cy="1143000"/>
          </a:xfrm>
          <a:prstGeom prst="roundRect">
            <a:avLst>
              <a:gd name="adj" fmla="val 7200"/>
            </a:avLst>
          </a:prstGeom>
          <a:solidFill>
            <a:srgbClr val="FFFFFF"/>
          </a:solidFill>
          <a:ln w="10150" cmpd="sng">
            <a:solidFill>
              <a:srgbClr val="D9DEE8"/>
            </a:solidFill>
            <a:prstDash val="solid"/>
            <a:headEnd type="none" w="sm" len="sm"/>
            <a:tailEnd type="none" w="sm" len="sm"/>
          </a:ln>
          <a:effectLst>
            <a:outerShdw blurRad="15240" dist="50800" dir="2700000" algn="bl" rotWithShape="0">
              <a:srgbClr val="000000">
                <a:alpha val="7843"/>
              </a:srgbClr>
            </a:outerShdw>
          </a:effectLst>
        </p:spPr>
        <p:txBody>
          <a:bodyPr spcFirstLastPara="1" wrap="square" lIns="91425" tIns="45700" rIns="91425" bIns="45700" anchor="t">
            <a:noAutofit/>
          </a:bodyPr>
          <a:lstStyle/>
          <a:p>
            <a:pPr marL="0" indent="0" algn="l">
              <a:spcBef>
                <a:spcPts val="0"/>
              </a:spcBef>
              <a:spcAft>
                <a:spcPts val="0"/>
              </a:spcAft>
              <a:buNone/>
            </a:pPr>
            <a:endParaRPr/>
          </a:p>
        </p:txBody>
      </p:sp>
      <p:sp>
        <p:nvSpPr>
          <p:cNvPr id="32" name="Google Shape;32;p3">
            <a:extLst>
              <a:ext uri="{FF2B5EF4-FFF2-40B4-BE49-F238E27FC236}">
                <a16:creationId xmlns:a16="http://schemas.microsoft.com/office/drawing/2014/main" id="{5F197FF8-68BB-4C7B-85C0-7A926B182CAD}"/>
              </a:ext>
            </a:extLst>
          </p:cNvPr>
          <p:cNvSpPr>
            <a:spLocks noGrp="1"/>
          </p:cNvSpPr>
          <p:nvPr/>
        </p:nvSpPr>
        <p:spPr>
          <a:xfrm>
            <a:off x="9272016" y="3392424"/>
            <a:ext cx="1737360" cy="301752"/>
          </a:xfrm>
          <a:prstGeom prst="rect">
            <a:avLst/>
          </a:prstGeom>
          <a:noFill/>
          <a:ln>
            <a:noFill/>
          </a:ln>
        </p:spPr>
        <p:txBody>
          <a:bodyPr spcFirstLastPara="1" wrap="square" lIns="0" tIns="0" rIns="0" bIns="0" anchor="ctr">
            <a:noAutofit/>
          </a:bodyPr>
          <a:lstStyle/>
          <a:p>
            <a:pPr marL="0" indent="0" algn="ctr">
              <a:spcBef>
                <a:spcPts val="0"/>
              </a:spcBef>
              <a:spcAft>
                <a:spcPts val="0"/>
              </a:spcAft>
              <a:buNone/>
            </a:pPr>
            <a:r>
              <a:rPr sz="2000" b="1">
                <a:solidFill>
                  <a:srgbClr val="B7791F"/>
                </a:solidFill>
                <a:latin typeface="Arial"/>
                <a:ea typeface="Arial"/>
                <a:cs typeface="Arial"/>
              </a:rPr>
              <a:t>5</a:t>
            </a:r>
          </a:p>
        </p:txBody>
      </p:sp>
      <p:sp>
        <p:nvSpPr>
          <p:cNvPr id="33" name="Google Shape;33;p3">
            <a:extLst>
              <a:ext uri="{FF2B5EF4-FFF2-40B4-BE49-F238E27FC236}">
                <a16:creationId xmlns:a16="http://schemas.microsoft.com/office/drawing/2014/main" id="{4337E173-E6AE-43F3-AAA3-777F5B36676C}"/>
              </a:ext>
            </a:extLst>
          </p:cNvPr>
          <p:cNvSpPr>
            <a:spLocks noGrp="1"/>
          </p:cNvSpPr>
          <p:nvPr/>
        </p:nvSpPr>
        <p:spPr>
          <a:xfrm>
            <a:off x="9290304" y="3749040"/>
            <a:ext cx="1700784" cy="256032"/>
          </a:xfrm>
          <a:prstGeom prst="rect">
            <a:avLst/>
          </a:prstGeom>
          <a:noFill/>
          <a:ln>
            <a:noFill/>
          </a:ln>
        </p:spPr>
        <p:txBody>
          <a:bodyPr spcFirstLastPara="1" wrap="square" lIns="0" tIns="0" rIns="0" bIns="0" anchor="ctr">
            <a:noAutofit/>
          </a:bodyPr>
          <a:lstStyle/>
          <a:p>
            <a:pPr marL="0" indent="0" algn="ctr">
              <a:spcBef>
                <a:spcPts val="0"/>
              </a:spcBef>
              <a:spcAft>
                <a:spcPts val="0"/>
              </a:spcAft>
              <a:buNone/>
            </a:pPr>
            <a:r>
              <a:rPr sz="1000">
                <a:solidFill>
                  <a:srgbClr val="4B5563"/>
                </a:solidFill>
                <a:latin typeface="Arial"/>
                <a:ea typeface="Arial"/>
                <a:cs typeface="Arial"/>
              </a:rPr>
              <a:t>primary seeds</a:t>
            </a:r>
          </a:p>
        </p:txBody>
      </p:sp>
      <p:sp>
        <p:nvSpPr>
          <p:cNvPr id="34" name="Google Shape;34;p3">
            <a:extLst>
              <a:ext uri="{FF2B5EF4-FFF2-40B4-BE49-F238E27FC236}">
                <a16:creationId xmlns:a16="http://schemas.microsoft.com/office/drawing/2014/main" id="{7E45630A-85DB-4925-99F3-4D22CF8EA47E}"/>
              </a:ext>
            </a:extLst>
          </p:cNvPr>
          <p:cNvSpPr>
            <a:spLocks noGrp="1"/>
          </p:cNvSpPr>
          <p:nvPr/>
        </p:nvSpPr>
        <p:spPr>
          <a:xfrm>
            <a:off x="9290304" y="4023360"/>
            <a:ext cx="1700784" cy="146304"/>
          </a:xfrm>
          <a:prstGeom prst="rect">
            <a:avLst/>
          </a:prstGeom>
          <a:noFill/>
          <a:ln>
            <a:noFill/>
          </a:ln>
        </p:spPr>
        <p:txBody>
          <a:bodyPr spcFirstLastPara="1" wrap="square" lIns="0" tIns="0" rIns="0" bIns="0" anchor="ctr">
            <a:noAutofit/>
          </a:bodyPr>
          <a:lstStyle/>
          <a:p>
            <a:pPr marL="0" indent="0" algn="ctr">
              <a:spcBef>
                <a:spcPts val="0"/>
              </a:spcBef>
              <a:spcAft>
                <a:spcPts val="0"/>
              </a:spcAft>
              <a:buNone/>
            </a:pPr>
            <a:r>
              <a:rPr sz="1000">
                <a:solidFill>
                  <a:srgbClr val="6B7280"/>
                </a:solidFill>
                <a:latin typeface="Arial"/>
                <a:ea typeface="Arial"/>
                <a:cs typeface="Arial"/>
              </a:rPr>
              <a:t>plus diagnostics</a:t>
            </a:r>
          </a:p>
        </p:txBody>
      </p:sp>
      <p:sp>
        <p:nvSpPr>
          <p:cNvPr id="35" name="Google Shape;35;p3">
            <a:extLst>
              <a:ext uri="{FF2B5EF4-FFF2-40B4-BE49-F238E27FC236}">
                <a16:creationId xmlns:a16="http://schemas.microsoft.com/office/drawing/2014/main" id="{2610DA9B-BDDD-47E8-B682-BA4FC6E7BADB}"/>
              </a:ext>
            </a:extLst>
          </p:cNvPr>
          <p:cNvSpPr>
            <a:spLocks noGrp="1"/>
          </p:cNvSpPr>
          <p:nvPr/>
        </p:nvSpPr>
        <p:spPr>
          <a:xfrm>
            <a:off x="658368" y="4800600"/>
            <a:ext cx="10442448" cy="713232"/>
          </a:xfrm>
          <a:prstGeom prst="roundRect">
            <a:avLst>
              <a:gd name="adj" fmla="val 11538"/>
            </a:avLst>
          </a:prstGeom>
          <a:solidFill>
            <a:srgbClr val="ECFDF5"/>
          </a:solidFill>
          <a:ln w="10150" cmpd="sng">
            <a:solidFill>
              <a:srgbClr val="BBF7D0"/>
            </a:solidFill>
            <a:prstDash val="solid"/>
            <a:headEnd type="none" w="sm" len="sm"/>
            <a:tailEnd type="none" w="sm" len="sm"/>
          </a:ln>
        </p:spPr>
        <p:txBody>
          <a:bodyPr spcFirstLastPara="1" wrap="square" lIns="91425" tIns="45700" rIns="91425" bIns="45700" anchor="t">
            <a:noAutofit/>
          </a:bodyPr>
          <a:lstStyle/>
          <a:p>
            <a:pPr marL="0" indent="0" algn="l">
              <a:spcBef>
                <a:spcPts val="0"/>
              </a:spcBef>
              <a:spcAft>
                <a:spcPts val="0"/>
              </a:spcAft>
              <a:buNone/>
            </a:pPr>
            <a:endParaRPr/>
          </a:p>
        </p:txBody>
      </p:sp>
      <p:sp>
        <p:nvSpPr>
          <p:cNvPr id="36" name="Google Shape;36;p3">
            <a:extLst>
              <a:ext uri="{FF2B5EF4-FFF2-40B4-BE49-F238E27FC236}">
                <a16:creationId xmlns:a16="http://schemas.microsoft.com/office/drawing/2014/main" id="{1E80C67B-F351-4CA7-8C8B-3C805D4F22DD}"/>
              </a:ext>
            </a:extLst>
          </p:cNvPr>
          <p:cNvSpPr>
            <a:spLocks noGrp="1"/>
          </p:cNvSpPr>
          <p:nvPr/>
        </p:nvSpPr>
        <p:spPr>
          <a:xfrm>
            <a:off x="868680" y="5010912"/>
            <a:ext cx="10040112" cy="219456"/>
          </a:xfrm>
          <a:prstGeom prst="rect">
            <a:avLst/>
          </a:prstGeom>
          <a:noFill/>
          <a:ln>
            <a:noFill/>
          </a:ln>
        </p:spPr>
        <p:txBody>
          <a:bodyPr spcFirstLastPara="1" wrap="square" lIns="0" tIns="0" rIns="0" bIns="0" anchor="ctr">
            <a:noAutofit/>
          </a:bodyPr>
          <a:lstStyle/>
          <a:p>
            <a:pPr marL="0" indent="0" algn="l">
              <a:spcBef>
                <a:spcPts val="0"/>
              </a:spcBef>
              <a:spcAft>
                <a:spcPts val="0"/>
              </a:spcAft>
              <a:buNone/>
            </a:pPr>
            <a:r>
              <a:rPr sz="1000" b="1">
                <a:solidFill>
                  <a:srgbClr val="1F2A44"/>
                </a:solidFill>
                <a:latin typeface="Arial"/>
                <a:ea typeface="Arial"/>
                <a:cs typeface="Arial"/>
              </a:rPr>
              <a:t>Main message: the project is no longer a single Ackley run; it is a benchmarked search over what actually survives transfer.</a:t>
            </a:r>
          </a:p>
        </p:txBody>
      </p:sp>
      <p:cxnSp>
        <p:nvCxnSpPr>
          <p:cNvPr id="91" name="Google Shape;37;p3"/>
          <p:cNvCxnSpPr/>
          <p:nvPr/>
        </p:nvCxnSpPr>
        <p:spPr>
          <a:xfrm>
            <a:off x="502920" y="6446520"/>
            <a:ext cx="11201400" cy="0"/>
          </a:xfrm>
          <a:prstGeom prst="straightConnector1">
            <a:avLst/>
          </a:prstGeom>
          <a:ln w="9525" cap="flat">
            <a:solidFill>
              <a:srgbClr val="D9DEE8"/>
            </a:solidFill>
            <a:prstDash val="solid"/>
            <a:round/>
            <a:headEnd type="none" w="sm" len="sm"/>
            <a:tailEnd type="none" w="sm" len="sm"/>
          </a:ln>
        </p:spPr>
      </p:cxnSp>
      <p:sp>
        <p:nvSpPr>
          <p:cNvPr id="38" name="Google Shape;38;p3">
            <a:extLst>
              <a:ext uri="{FF2B5EF4-FFF2-40B4-BE49-F238E27FC236}">
                <a16:creationId xmlns:a16="http://schemas.microsoft.com/office/drawing/2014/main" id="{15D9547D-E27C-46AC-97D8-93C0D4AA7F4E}"/>
              </a:ext>
            </a:extLst>
          </p:cNvPr>
          <p:cNvSpPr>
            <a:spLocks noGrp="1"/>
          </p:cNvSpPr>
          <p:nvPr/>
        </p:nvSpPr>
        <p:spPr>
          <a:xfrm>
            <a:off x="502920" y="6519672"/>
            <a:ext cx="8961120" cy="164592"/>
          </a:xfrm>
          <a:prstGeom prst="rect">
            <a:avLst/>
          </a:prstGeom>
          <a:noFill/>
          <a:ln>
            <a:noFill/>
          </a:ln>
        </p:spPr>
        <p:txBody>
          <a:bodyPr spcFirstLastPara="1" wrap="square" lIns="0" tIns="0" rIns="0" bIns="0" anchor="ctr">
            <a:noAutofit/>
          </a:bodyPr>
          <a:lstStyle/>
          <a:p>
            <a:pPr marL="0" indent="0" algn="l">
              <a:spcBef>
                <a:spcPts val="0"/>
              </a:spcBef>
              <a:spcAft>
                <a:spcPts val="0"/>
              </a:spcAft>
              <a:buNone/>
            </a:pPr>
            <a:r>
              <a:rPr sz="780">
                <a:solidFill>
                  <a:srgbClr val="6B7280"/>
                </a:solidFill>
                <a:latin typeface="Arial"/>
                <a:ea typeface="Arial"/>
                <a:cs typeface="Arial"/>
              </a:rPr>
              <a:t>Week 3 extended update - Sample-Efficient Active Level-Set Estimation - 19</a:t>
            </a:r>
          </a:p>
        </p:txBody>
      </p:sp>
      <p:sp>
        <p:nvSpPr>
          <p:cNvPr id="39" name="Google Shape;39;p3">
            <a:extLst>
              <a:ext uri="{FF2B5EF4-FFF2-40B4-BE49-F238E27FC236}">
                <a16:creationId xmlns:a16="http://schemas.microsoft.com/office/drawing/2014/main" id="{48AAD136-07B5-40A8-90FA-D6C668651763}"/>
              </a:ext>
            </a:extLst>
          </p:cNvPr>
          <p:cNvSpPr>
            <a:spLocks noGrp="1"/>
          </p:cNvSpPr>
          <p:nvPr/>
        </p:nvSpPr>
        <p:spPr>
          <a:xfrm>
            <a:off x="11521440" y="6492240"/>
            <a:ext cx="228600" cy="164592"/>
          </a:xfrm>
          <a:prstGeom prst="rect">
            <a:avLst/>
          </a:prstGeom>
          <a:noFill/>
          <a:ln>
            <a:noFill/>
          </a:ln>
        </p:spPr>
        <p:txBody>
          <a:bodyPr spcFirstLastPara="1" wrap="square" lIns="0" tIns="0" rIns="0" bIns="0" anchor="ctr">
            <a:noAutofit/>
          </a:bodyPr>
          <a:lstStyle/>
          <a:p>
            <a:pPr marL="0" indent="0" algn="r">
              <a:spcBef>
                <a:spcPts val="0"/>
              </a:spcBef>
              <a:spcAft>
                <a:spcPts val="0"/>
              </a:spcAft>
              <a:buNone/>
            </a:pPr>
            <a:r>
              <a:rPr sz="780">
                <a:solidFill>
                  <a:srgbClr val="6B7280"/>
                </a:solidFill>
                <a:latin typeface="Arial"/>
                <a:ea typeface="Arial"/>
                <a:cs typeface="Arial"/>
              </a:rPr>
              <a:t>19</a:t>
            </a:r>
          </a:p>
        </p:txBody>
      </p:sp>
    </p:spTree>
    <p:extLst>
      <p:ext uri="{BB962C8B-B14F-4D97-AF65-F5344CB8AC3E}">
        <p14:creationId xmlns:p14="http://schemas.microsoft.com/office/powerpoint/2010/main" val="609970817"/>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3A0E87BE-1246-582C-E9C0-6EA389B9BD8F}"/>
              </a:ext>
            </a:extLst>
          </p:cNvPr>
          <p:cNvSpPr txBox="1"/>
          <p:nvPr/>
        </p:nvSpPr>
        <p:spPr>
          <a:xfrm>
            <a:off x="723453" y="450035"/>
            <a:ext cx="6094206" cy="369332"/>
          </a:xfrm>
          <a:prstGeom prst="rect">
            <a:avLst/>
          </a:prstGeom>
          <a:noFill/>
        </p:spPr>
        <p:txBody>
          <a:bodyPr wrap="square">
            <a:spAutoFit/>
          </a:bodyPr>
          <a:lstStyle/>
          <a:p>
            <a:r>
              <a:rPr lang="en-US" b="1" dirty="0"/>
              <a:t>What we learned and what should continue</a:t>
            </a:r>
          </a:p>
        </p:txBody>
      </p:sp>
      <p:sp>
        <p:nvSpPr>
          <p:cNvPr id="5" name="TextBox 4">
            <a:extLst>
              <a:ext uri="{FF2B5EF4-FFF2-40B4-BE49-F238E27FC236}">
                <a16:creationId xmlns:a16="http://schemas.microsoft.com/office/drawing/2014/main" id="{E40E0A62-0427-6AE3-B14C-C8DDAD4CC5A5}"/>
              </a:ext>
            </a:extLst>
          </p:cNvPr>
          <p:cNvSpPr txBox="1"/>
          <p:nvPr/>
        </p:nvSpPr>
        <p:spPr>
          <a:xfrm>
            <a:off x="252804" y="1052653"/>
            <a:ext cx="11686391" cy="5355312"/>
          </a:xfrm>
          <a:prstGeom prst="rect">
            <a:avLst/>
          </a:prstGeom>
          <a:noFill/>
        </p:spPr>
        <p:txBody>
          <a:bodyPr wrap="square">
            <a:spAutoFit/>
          </a:bodyPr>
          <a:lstStyle/>
          <a:p>
            <a:pPr>
              <a:buNone/>
            </a:pPr>
            <a:r>
              <a:rPr lang="en-US" dirty="0"/>
              <a:t>The main lesson from this benchmark phase is that active boundary estimation is not the same as ordinary label prediction. Global classification error is useful, but it can hide poor boundary quality because most test points are far from the threshold. Therefore q20 and q30 near-boundary error should remain primary evaluation metrics. Across the experiments, simple GP-regression baselines were surprisingly robust: straddle, randomized straddle, and expected feasibility are the methods I would keep as the core real-data starting point, with random as the baseline and smallest abs(mu) as a useful exploitation reference.</a:t>
            </a:r>
          </a:p>
          <a:p>
            <a:pPr>
              <a:buNone/>
            </a:pPr>
            <a:r>
              <a:rPr lang="en-US" dirty="0"/>
              <a:t>The more complex methods were still valuable, but mostly as diagnostics. Diversity showed that coverage helps only when it remains boundary-aware. Lookahead and SUR showed that reducing integrated uncertainty is theoretically attractive, but not always aligned with near-boundary accuracy. Geometry and curvature-based scoring showed that the surrogate can become confidently wrong. GP classifiers are important because the real labels are binary, but fixed GPC did not dominate GP regression, and optimized GPC improved Branin without transferring to Ackley. GPC-SUR worked best on Hartmann4, but was too benchmark-dependent and expensive to become the default method.</a:t>
            </a:r>
          </a:p>
          <a:p>
            <a:pPr>
              <a:buNone/>
            </a:pPr>
            <a:r>
              <a:rPr lang="en-US" dirty="0"/>
              <a:t>For the real melt-pool data phase, the safest plan is to start conservatively: use GP regression with straddle, randomized straddle, and expected feasibility; evaluate with boundary-focused metrics whenever possible; keep classifier uncertainty repulsion as a diagnostic classifier baseline; and only run GPC-SUR or other SUR-style methods if runtime allows or if the real data appears smooth enough to justify it. The thesis story is therefore not “one new acquisition beats everything,” but rather “a systematic empirical study showing which acquisition objectives align or fail to align with boundary-focused level-set estimation.”</a:t>
            </a:r>
          </a:p>
        </p:txBody>
      </p:sp>
    </p:spTree>
    <p:extLst>
      <p:ext uri="{BB962C8B-B14F-4D97-AF65-F5344CB8AC3E}">
        <p14:creationId xmlns:p14="http://schemas.microsoft.com/office/powerpoint/2010/main" val="3954114565"/>
      </p:ext>
    </p:extLst>
  </p:cSld>
  <p:clrMapOvr>
    <a:masterClrMapping/>
  </p:clrMapOvr>
</p:sld>
</file>

<file path=ppt/theme/theme1.xml><?xml version="1.0" encoding="utf-8"?>
<a:theme xmlns:a="http://schemas.openxmlformats.org/drawingml/2006/main"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a:solidFill>
            <a:schemeClr val="phClr">
              <a:shade val="95000"/>
              <a:satMod val="105000"/>
            </a:schemeClr>
          </a:solidFill>
          <a:prstDash val="solid"/>
        </a:ln>
        <a:ln w="25400">
          <a:solidFill>
            <a:schemeClr val="phClr"/>
          </a:solidFill>
          <a:prstDash val="solid"/>
        </a:ln>
        <a:ln w="38100">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a:solidFill>
            <a:schemeClr val="phClr">
              <a:shade val="95000"/>
              <a:satMod val="105000"/>
            </a:schemeClr>
          </a:solidFill>
          <a:prstDash val="solid"/>
        </a:ln>
        <a:ln w="25400">
          <a:solidFill>
            <a:schemeClr val="phClr"/>
          </a:solidFill>
          <a:prstDash val="solid"/>
        </a:ln>
        <a:ln w="38100">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23</TotalTime>
  <Words>3933</Words>
  <Application>Microsoft Office PowerPoint</Application>
  <DocSecurity>0</DocSecurity>
  <PresentationFormat>Widescreen</PresentationFormat>
  <Paragraphs>322</Paragraphs>
  <Slides>18</Slides>
  <Notes>17</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18</vt:i4>
      </vt:variant>
    </vt:vector>
  </HeadingPairs>
  <TitlesOfParts>
    <vt:vector size="21" baseType="lpstr">
      <vt:lpstr>Arial</vt:lpstr>
      <vt:lpstr>Play</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Presentation</dc:title>
  <dc:creator>Walnut Exporter</dc:creator>
  <cp:lastModifiedBy>Burak Öztürk</cp:lastModifiedBy>
  <cp:revision>2</cp:revision>
  <dcterms:created xsi:type="dcterms:W3CDTF">2026-07-07T21:52:59Z</dcterms:created>
  <dcterms:modified xsi:type="dcterms:W3CDTF">2026-07-07T23:01:23Z</dcterms:modified>
</cp:coreProperties>
</file>