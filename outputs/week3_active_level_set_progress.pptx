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ad3b5aff514817" /><Relationship Type="http://schemas.openxmlformats.org/officeDocument/2006/relationships/extended-properties" Target="/docProps/app.xml" Id="Raa4e6b64602f4496" /><Relationship Type="http://schemas.openxmlformats.org/officeDocument/2006/relationships/officeDocument" Target="/ppt/presentation.xml" Id="Rdfe086ab56264b9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24a7fe6c7864f80"/>
  </p:sldMasterIdLst>
  <p:notesMasterIdLst>
    <p:notesMasterId xmlns:r="http://schemas.openxmlformats.org/officeDocument/2006/relationships" r:id="Rb35f56ace2794ec1"/>
  </p:notesMasterIdLst>
  <p:sldIdLst>
    <p:sldId xmlns:r="http://schemas.openxmlformats.org/officeDocument/2006/relationships" id="256" r:id="R0f1a918876204cad"/>
    <p:sldId xmlns:r="http://schemas.openxmlformats.org/officeDocument/2006/relationships" id="257" r:id="R4457a0d036d64c94"/>
    <p:sldId xmlns:r="http://schemas.openxmlformats.org/officeDocument/2006/relationships" id="258" r:id="Ra1e51d48d393475c"/>
    <p:sldId xmlns:r="http://schemas.openxmlformats.org/officeDocument/2006/relationships" id="259" r:id="R40827ecad0d9424b"/>
    <p:sldId xmlns:r="http://schemas.openxmlformats.org/officeDocument/2006/relationships" id="260" r:id="R74fbf4236cb74404"/>
    <p:sldId xmlns:r="http://schemas.openxmlformats.org/officeDocument/2006/relationships" id="261" r:id="Rda170b65062448dc"/>
    <p:sldId xmlns:r="http://schemas.openxmlformats.org/officeDocument/2006/relationships" id="262" r:id="R4edc91c30c154901"/>
    <p:sldId xmlns:r="http://schemas.openxmlformats.org/officeDocument/2006/relationships" id="263" r:id="Rcd1930190a5a4dca"/>
    <p:sldId xmlns:r="http://schemas.openxmlformats.org/officeDocument/2006/relationships" id="264" r:id="R5f285eeca3ff4b6f"/>
    <p:sldId xmlns:r="http://schemas.openxmlformats.org/officeDocument/2006/relationships" id="265" r:id="R7983604a25ac4343"/>
    <p:sldId xmlns:r="http://schemas.openxmlformats.org/officeDocument/2006/relationships" id="266" r:id="R7f58ee476fd24fd4"/>
    <p:sldId xmlns:r="http://schemas.openxmlformats.org/officeDocument/2006/relationships" id="267" r:id="R80b1e69360534739"/>
    <p:sldId xmlns:r="http://schemas.openxmlformats.org/officeDocument/2006/relationships" id="268" r:id="Rbab09592e1724c1a"/>
    <p:sldId xmlns:r="http://schemas.openxmlformats.org/officeDocument/2006/relationships" id="269" r:id="Re8e3d3bd334941fc"/>
    <p:sldId xmlns:r="http://schemas.openxmlformats.org/officeDocument/2006/relationships" id="270" r:id="Rcdde6621929f41f0"/>
    <p:sldId xmlns:r="http://schemas.openxmlformats.org/officeDocument/2006/relationships" id="271" r:id="R2ef24a6c0aa34560"/>
    <p:sldId xmlns:r="http://schemas.openxmlformats.org/officeDocument/2006/relationships" id="272" r:id="R9e82b79a0afb4f7a"/>
    <p:sldId xmlns:r="http://schemas.openxmlformats.org/officeDocument/2006/relationships" id="273" r:id="Rff5dc3de0d6b40cc"/>
    <p:sldId xmlns:r="http://schemas.openxmlformats.org/officeDocument/2006/relationships" id="274" r:id="R222761a12e7e4f60"/>
    <p:sldId xmlns:r="http://schemas.openxmlformats.org/officeDocument/2006/relationships" id="275" r:id="R0683c94dcc574f01"/>
  </p:sldIdLst>
  <p:sldSz cx="12192000" cy="6858000"/>
  <p:notesSz cx="6858000" cy="9144000"/>
  <p:embeddedFontLst>
    <p:embeddedFont>
      <p:font typeface="Play"/>
      <p:regular xmlns:r="http://schemas.openxmlformats.org/officeDocument/2006/relationships" r:id="R29e0d97d562c41b3"/>
      <p:bold xmlns:r="http://schemas.openxmlformats.org/officeDocument/2006/relationships" r:id="R502ab66c5c6447d8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dad4877d994964" /><Relationship Type="http://schemas.openxmlformats.org/officeDocument/2006/relationships/slideMaster" Target="/ppt/slideMasters/slideMaster1.xml" Id="Rc24a7fe6c7864f80" /><Relationship Type="http://schemas.openxmlformats.org/officeDocument/2006/relationships/notesMaster" Target="/ppt/notesMasters/notesMaster1.xml" Id="Rb35f56ace2794ec1" /><Relationship Type="http://schemas.openxmlformats.org/officeDocument/2006/relationships/presProps" Target="/ppt/presProps.xml" Id="R7e79bff7892d4cce" /><Relationship Type="http://schemas.openxmlformats.org/officeDocument/2006/relationships/tableStyles" Target="/ppt/tableStyles.xml" Id="R4d97edf37b854e05" /><Relationship Type="http://schemas.openxmlformats.org/officeDocument/2006/relationships/font" Target="/ppt/fonts/font.dat" Id="R29e0d97d562c41b3" /><Relationship Type="http://schemas.openxmlformats.org/officeDocument/2006/relationships/font" Target="/ppt/fonts/font2.dat" Id="R502ab66c5c6447d8" /><Relationship Type="http://schemas.openxmlformats.org/officeDocument/2006/relationships/slide" Target="/ppt/slides/slide1.xml" Id="R0f1a918876204cad" /><Relationship Type="http://schemas.openxmlformats.org/officeDocument/2006/relationships/slide" Target="/ppt/slides/slide2.xml" Id="R4457a0d036d64c94" /><Relationship Type="http://schemas.openxmlformats.org/officeDocument/2006/relationships/slide" Target="/ppt/slides/slide3.xml" Id="Ra1e51d48d393475c" /><Relationship Type="http://schemas.openxmlformats.org/officeDocument/2006/relationships/slide" Target="/ppt/slides/slide4.xml" Id="R40827ecad0d9424b" /><Relationship Type="http://schemas.openxmlformats.org/officeDocument/2006/relationships/slide" Target="/ppt/slides/slide5.xml" Id="R74fbf4236cb74404" /><Relationship Type="http://schemas.openxmlformats.org/officeDocument/2006/relationships/slide" Target="/ppt/slides/slide6.xml" Id="Rda170b65062448dc" /><Relationship Type="http://schemas.openxmlformats.org/officeDocument/2006/relationships/slide" Target="/ppt/slides/slide7.xml" Id="R4edc91c30c154901" /><Relationship Type="http://schemas.openxmlformats.org/officeDocument/2006/relationships/slide" Target="/ppt/slides/slide8.xml" Id="Rcd1930190a5a4dca" /><Relationship Type="http://schemas.openxmlformats.org/officeDocument/2006/relationships/slide" Target="/ppt/slides/slide9.xml" Id="R5f285eeca3ff4b6f" /><Relationship Type="http://schemas.openxmlformats.org/officeDocument/2006/relationships/slide" Target="/ppt/slides/slide10.xml" Id="R7983604a25ac4343" /><Relationship Type="http://schemas.openxmlformats.org/officeDocument/2006/relationships/slide" Target="/ppt/slides/slide11.xml" Id="R7f58ee476fd24fd4" /><Relationship Type="http://schemas.openxmlformats.org/officeDocument/2006/relationships/slide" Target="/ppt/slides/slide12.xml" Id="R80b1e69360534739" /><Relationship Type="http://schemas.openxmlformats.org/officeDocument/2006/relationships/slide" Target="/ppt/slides/slide13.xml" Id="Rbab09592e1724c1a" /><Relationship Type="http://schemas.openxmlformats.org/officeDocument/2006/relationships/slide" Target="/ppt/slides/slide14.xml" Id="Re8e3d3bd334941fc" /><Relationship Type="http://schemas.openxmlformats.org/officeDocument/2006/relationships/slide" Target="/ppt/slides/slide15.xml" Id="Rcdde6621929f41f0" /><Relationship Type="http://schemas.openxmlformats.org/officeDocument/2006/relationships/slide" Target="/ppt/slides/slide16.xml" Id="R2ef24a6c0aa34560" /><Relationship Type="http://schemas.openxmlformats.org/officeDocument/2006/relationships/slide" Target="/ppt/slides/slide17.xml" Id="R9e82b79a0afb4f7a" /><Relationship Type="http://schemas.openxmlformats.org/officeDocument/2006/relationships/slide" Target="/ppt/slides/slide18.xml" Id="Rff5dc3de0d6b40cc" /><Relationship Type="http://schemas.openxmlformats.org/officeDocument/2006/relationships/slide" Target="/ppt/slides/slide19.xml" Id="R222761a12e7e4f60" /><Relationship Type="http://schemas.openxmlformats.org/officeDocument/2006/relationships/slide" Target="/ppt/slides/slide20.xml" Id="R0683c94dcc574f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156e7fa8c645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5d914898f408c" /><Relationship Type="http://schemas.openxmlformats.org/officeDocument/2006/relationships/notesMaster" Target="/ppt/notesMasters/notesMaster1.xml" Id="R1e0924a99bed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01aab9c4d4bc2" /><Relationship Type="http://schemas.openxmlformats.org/officeDocument/2006/relationships/notesMaster" Target="/ppt/notesMasters/notesMaster1.xml" Id="Ra8d314ab67b144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dc7c76a6f44e6" /><Relationship Type="http://schemas.openxmlformats.org/officeDocument/2006/relationships/notesMaster" Target="/ppt/notesMasters/notesMaster1.xml" Id="R5aa3db4ad1f1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87ae1d9034837" /><Relationship Type="http://schemas.openxmlformats.org/officeDocument/2006/relationships/notesMaster" Target="/ppt/notesMasters/notesMaster1.xml" Id="R087fbeaca84d4c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9f4c5d8a24130" /><Relationship Type="http://schemas.openxmlformats.org/officeDocument/2006/relationships/notesMaster" Target="/ppt/notesMasters/notesMaster1.xml" Id="Rb7f99a98d16649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0ad6043344439f" /><Relationship Type="http://schemas.openxmlformats.org/officeDocument/2006/relationships/notesMaster" Target="/ppt/notesMasters/notesMaster1.xml" Id="R45c7165b384c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b8d71c02034b75" /><Relationship Type="http://schemas.openxmlformats.org/officeDocument/2006/relationships/notesMaster" Target="/ppt/notesMasters/notesMaster1.xml" Id="R5dcb63f36bd649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cd864bcbef4524" /><Relationship Type="http://schemas.openxmlformats.org/officeDocument/2006/relationships/notesMaster" Target="/ppt/notesMasters/notesMaster1.xml" Id="R0d8aa8d67c93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b19d2c1f6494c" /><Relationship Type="http://schemas.openxmlformats.org/officeDocument/2006/relationships/notesMaster" Target="/ppt/notesMasters/notesMaster1.xml" Id="R1e48c441777147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3dfd3d52e3422a" /><Relationship Type="http://schemas.openxmlformats.org/officeDocument/2006/relationships/notesMaster" Target="/ppt/notesMasters/notesMaster1.xml" Id="R71aba3dee2a64e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da197d5a1b4058" /><Relationship Type="http://schemas.openxmlformats.org/officeDocument/2006/relationships/notesMaster" Target="/ppt/notesMasters/notesMaster1.xml" Id="Rb19693c549a14c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aa4db5f9d34083" /><Relationship Type="http://schemas.openxmlformats.org/officeDocument/2006/relationships/notesMaster" Target="/ppt/notesMasters/notesMaster1.xml" Id="Raa6d4dc992564f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a5ad60441040c1" /><Relationship Type="http://schemas.openxmlformats.org/officeDocument/2006/relationships/notesMaster" Target="/ppt/notesMasters/notesMaster1.xml" Id="R00e3a6d0433748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97e6d6740044bd" /><Relationship Type="http://schemas.openxmlformats.org/officeDocument/2006/relationships/notesMaster" Target="/ppt/notesMasters/notesMaster1.xml" Id="R2ad95d8cf3a440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1402344d3d40f1" /><Relationship Type="http://schemas.openxmlformats.org/officeDocument/2006/relationships/notesMaster" Target="/ppt/notesMasters/notesMaster1.xml" Id="R40eb5a2faa484c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125fcaf1704581" /><Relationship Type="http://schemas.openxmlformats.org/officeDocument/2006/relationships/notesMaster" Target="/ppt/notesMasters/notesMaster1.xml" Id="R7189bd29ebdb42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af62c2a7294355" /><Relationship Type="http://schemas.openxmlformats.org/officeDocument/2006/relationships/notesMaster" Target="/ppt/notesMasters/notesMaster1.xml" Id="Rdb3c1eb275f24d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e7d0e3a5d44956" /><Relationship Type="http://schemas.openxmlformats.org/officeDocument/2006/relationships/notesMaster" Target="/ppt/notesMasters/notesMaster1.xml" Id="R8f1701a10ae440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a29486869b4364" /><Relationship Type="http://schemas.openxmlformats.org/officeDocument/2006/relationships/notesMaster" Target="/ppt/notesMasters/notesMaster1.xml" Id="Rdfaaf3bfc8b244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d273455e4f49ed" /><Relationship Type="http://schemas.openxmlformats.org/officeDocument/2006/relationships/notesMaster" Target="/ppt/notesMasters/notesMaster1.xml" Id="R7f840209039b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In Week 3 I said I would compare multiple acquisition functions. The work grew from that promise into a full benchmark campaign.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Emphasize: we did not only run Ackley4; we added metrics, new rules, classifier surrogates, and Hartmann4.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The important thing is that each comparison is fair inside its benchmark. Same pool, same test set, same initial labels, same budget.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Then pivot: once the surrogate changes, I will call that out explicitly, because it is no longer acquisition-only.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The benchmark set now has Branin for interpretable 2D behavior, Ackley4 as the hard named 4D case, and Hartmann4 as a second 4D check.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Point out: q20 and q30 are the metrics I trust most for boundary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3 was the clean extension of Week 2: same original acquisition family, but now on thresholded 4D Ackley.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Keep caveat visible: the GP regressor is still a warm-up surrogate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The simple boundary-aware methods do transfer to Ackley4. Straddle is the global winner, randomized straddle is close.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Mention: the 16 percent tolerance not being reached is important; Ackley4 is genuinely harder than Branin.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Because this is 4D, the figures are partial views. They are useful for sanity checking, not definitive evidence.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Bridge: this is exactly why I added Week 4 boundary-specific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By global error, straddle is best. But the ranking is close among the boundary-aware methods, so I should not oversell one run.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Mention: random being much worse shows acquisition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4 is one of the most important additions. It showed that global error and boundary error can disagree.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Use the key line: sampling close to the boundary is not enough; the point also has to be informative.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5 was where we started deriving our own variants instead of only comparing existing rules.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Frame it positively: even negative results were useful because they told us which intuitions did not survive Ackley.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Lookahead boundary-uncertainty reduction is the strongest positive new idea on Branin, but it breaks on Ackley.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Conclusion: keep it as a thesis-relevant idea, but not as the default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The geometry idea reduced latent uncertainty, but prediction error got worse. This is a very useful warning.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Use the phrase: a method can become confidently wrong.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Say: After Week 5, the lesson was not that new acquisitions are useless. The lesson was that we need robustness and better surrogate behavior.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Bridge to Week 6: that motivated testing a real GP classifier.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6 replaces the GP-regression stand-in with a classifier and uses predict_proba-based acquisitions.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Emphasize: I did not fake mu/sigma-style uncertainty for the classifier.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The fixed classifier gave cleaner probability semantics, but it did not beat the best regressor references.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Caveat: this is not acquisition-only because the surrogate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Optimizing the classifier kernel changes the Branin result dramatically, especially ARD plus gated diversity.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Then be careful: Ackley4 still prefers the fixed classifier baseline; ARD is not a magic 4D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7 brings in the uncertainty-reduction literature: IVR and SUR ideas targeted to the boundary.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Mention: Hartmann4 was added specifically to avoid overfitting conclusions to Ackley.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On five-seed comparable results, simple baselines still win many metrics. Hartmann4 is the interesting exception where IVR is useful but not best.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Point out: the seed-0 classifier SUR result was promising but needed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Week 7.1 tested whether the classifier SUR signal survives across seeds. It does on Hartmann4, not on Branin or optional Ackley.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Conclusion: SUR is a focused diagnostic, not the default loop for real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Say: This slide is the evidence that we did the comprehensive work promised after Week 3.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It also helps Ioan see that the next step should be narrowing, not endlessly adding 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Say: My suggested direction is to keep a compact comparison set, use q20/q30 as primary evidence, and move toward surrogate calibration and the melt-pool data interface.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Ask Ioan: Which methods should become the final baseline set before real-data work?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fae546b8e4d82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1186aa406479d" /><Relationship Type="http://schemas.openxmlformats.org/officeDocument/2006/relationships/slideLayout" Target="/ppt/slideLayouts/slideLayout1.xml" Id="R8c1de3ddb8cb4b6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1de3ddb8cb4b60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447bbac594499" /><Relationship Type="http://schemas.openxmlformats.org/officeDocument/2006/relationships/notesSlide" Target="/ppt/notesSlides/notesSlide1.xml" Id="Ra41f547e792e44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905cbf56b4c71" /><Relationship Type="http://schemas.openxmlformats.org/officeDocument/2006/relationships/notesSlide" Target="/ppt/notesSlides/notesSlide2.xml" Id="R35b53e97df6343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fd694815e4351" /><Relationship Type="http://schemas.openxmlformats.org/officeDocument/2006/relationships/notesSlide" Target="/ppt/notesSlides/notesSlide3.xml" Id="R80e3e401ac9943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2b49a33a4712" /><Relationship Type="http://schemas.openxmlformats.org/officeDocument/2006/relationships/notesSlide" Target="/ppt/notesSlides/notesSlide4.xml" Id="R62950ebdbf5243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4faec9c242a0" /><Relationship Type="http://schemas.openxmlformats.org/officeDocument/2006/relationships/image" Target="/ppt/media/image.png" Id="Rd84c42ee61294aab" /><Relationship Type="http://schemas.openxmlformats.org/officeDocument/2006/relationships/image" Target="/ppt/media/image2.png" Id="R4040bb98f6e4423c" /><Relationship Type="http://schemas.openxmlformats.org/officeDocument/2006/relationships/notesSlide" Target="/ppt/notesSlides/notesSlide5.xml" Id="R23f8d928f6af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5285762d41f6" /><Relationship Type="http://schemas.openxmlformats.org/officeDocument/2006/relationships/image" Target="/ppt/media/image3.png" Id="R5951d6950da84e69" /><Relationship Type="http://schemas.openxmlformats.org/officeDocument/2006/relationships/image" Target="/ppt/media/image4.png" Id="R81230bb3f8d64cad" /><Relationship Type="http://schemas.openxmlformats.org/officeDocument/2006/relationships/notesSlide" Target="/ppt/notesSlides/notesSlide6.xml" Id="Rb2059c748a30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3c87710c34328" /><Relationship Type="http://schemas.openxmlformats.org/officeDocument/2006/relationships/image" Target="/ppt/media/image5.png" Id="R8bf5ac151ad84895" /><Relationship Type="http://schemas.openxmlformats.org/officeDocument/2006/relationships/image" Target="/ppt/media/image6.png" Id="R9c04ebee582a47f6" /><Relationship Type="http://schemas.openxmlformats.org/officeDocument/2006/relationships/notesSlide" Target="/ppt/notesSlides/notesSlide7.xml" Id="Rd5b6f2e412f049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390b83e154125" /><Relationship Type="http://schemas.openxmlformats.org/officeDocument/2006/relationships/image" Target="/ppt/media/image.png" Id="R8a390bbfba3947b0" /><Relationship Type="http://schemas.openxmlformats.org/officeDocument/2006/relationships/image" Target="/ppt/media/image7.png" Id="R2a744abf2af640a9" /><Relationship Type="http://schemas.openxmlformats.org/officeDocument/2006/relationships/notesSlide" Target="/ppt/notesSlides/notesSlide8.xml" Id="R80d2cafa3f1f42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70170868b4663" /><Relationship Type="http://schemas.openxmlformats.org/officeDocument/2006/relationships/notesSlide" Target="/ppt/notesSlides/notesSlide9.xml" Id="R625931575a6543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ef8561ff34827" /><Relationship Type="http://schemas.openxmlformats.org/officeDocument/2006/relationships/image" Target="/ppt/media/image5.png" Id="R9e92fdbe6db4488d" /><Relationship Type="http://schemas.openxmlformats.org/officeDocument/2006/relationships/image" Target="/ppt/media/image8.png" Id="R21de73e279224b4a" /><Relationship Type="http://schemas.openxmlformats.org/officeDocument/2006/relationships/notesSlide" Target="/ppt/notesSlides/notesSlide10.xml" Id="R2ee41264554049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4e5e2b2b14b7c" /><Relationship Type="http://schemas.openxmlformats.org/officeDocument/2006/relationships/image" Target="/ppt/media/image5.png" Id="R804151be572e47cf" /><Relationship Type="http://schemas.openxmlformats.org/officeDocument/2006/relationships/image" Target="/ppt/media/image9.png" Id="R623ad8844a6c4fa4" /><Relationship Type="http://schemas.openxmlformats.org/officeDocument/2006/relationships/notesSlide" Target="/ppt/notesSlides/notesSlide11.xml" Id="R4eb706f98ed14f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1169e09774a38" /><Relationship Type="http://schemas.openxmlformats.org/officeDocument/2006/relationships/notesSlide" Target="/ppt/notesSlides/notesSlide12.xml" Id="Rf9fe580794514f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67b3610e64b0c" /><Relationship Type="http://schemas.openxmlformats.org/officeDocument/2006/relationships/notesSlide" Target="/ppt/notesSlides/notesSlide13.xml" Id="R076fda58b8a147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7c2c644b64e5e" /><Relationship Type="http://schemas.openxmlformats.org/officeDocument/2006/relationships/image" Target="/ppt/media/image5.png" Id="R37c4f185a3b641e6" /><Relationship Type="http://schemas.openxmlformats.org/officeDocument/2006/relationships/image" Target="/ppt/media/image10.png" Id="Rcfd9d7472aac42df" /><Relationship Type="http://schemas.openxmlformats.org/officeDocument/2006/relationships/notesSlide" Target="/ppt/notesSlides/notesSlide14.xml" Id="R85e49f6360a240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74fd91e6e42b8" /><Relationship Type="http://schemas.openxmlformats.org/officeDocument/2006/relationships/image" Target="/ppt/media/image5.png" Id="R8da903767581430b" /><Relationship Type="http://schemas.openxmlformats.org/officeDocument/2006/relationships/image" Target="/ppt/media/image11.png" Id="R39889644c02043da" /><Relationship Type="http://schemas.openxmlformats.org/officeDocument/2006/relationships/notesSlide" Target="/ppt/notesSlides/notesSlide15.xml" Id="R427ec8842d5a41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9a39ab1f5437a" /><Relationship Type="http://schemas.openxmlformats.org/officeDocument/2006/relationships/notesSlide" Target="/ppt/notesSlides/notesSlide16.xml" Id="R9ddf1ffacad943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825b716794612" /><Relationship Type="http://schemas.openxmlformats.org/officeDocument/2006/relationships/image" Target="/ppt/media/image5.png" Id="R9430a10b339b46b9" /><Relationship Type="http://schemas.openxmlformats.org/officeDocument/2006/relationships/image" Target="/ppt/media/image12.png" Id="R2a9efe73e01d4fe3" /><Relationship Type="http://schemas.openxmlformats.org/officeDocument/2006/relationships/notesSlide" Target="/ppt/notesSlides/notesSlide17.xml" Id="Rd45f72a91d6f48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3e0d17d774ded" /><Relationship Type="http://schemas.openxmlformats.org/officeDocument/2006/relationships/image" Target="/ppt/media/image5.png" Id="Rbd97c85554164f40" /><Relationship Type="http://schemas.openxmlformats.org/officeDocument/2006/relationships/image" Target="/ppt/media/image13.png" Id="R2cc0d2f84019474c" /><Relationship Type="http://schemas.openxmlformats.org/officeDocument/2006/relationships/notesSlide" Target="/ppt/notesSlides/notesSlide18.xml" Id="Rc6499077e09747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4e2509eb488f" /><Relationship Type="http://schemas.openxmlformats.org/officeDocument/2006/relationships/notesSlide" Target="/ppt/notesSlides/notesSlide19.xml" Id="R8741df2d822043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64ade5784774" /><Relationship Type="http://schemas.openxmlformats.org/officeDocument/2006/relationships/notesSlide" Target="/ppt/notesSlides/notesSlide20.xml" Id="Rb53074dcfeb849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E6AC6433-5C7C-4BB7-AA39-49443CC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2700" cmpd="sng">
            <a:solidFill>
              <a:srgbClr val="1F2A4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011331CC-A18C-4A6E-9E60-AB5782C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3-7 - Active Level-Set Progress</a:t>
            </a:r>
          </a:p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B14AADD-007B-4674-BE3F-A86F6CE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Ioan meeting update</a:t>
            </a:r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5BD9F6F-A802-46F1-BCCA-282151A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Sample-Efficient Active Level-Set Estimation, with an Application to Melt-Pool Regime Boundaries</a:t>
            </a: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6C04877-209D-4F90-A30D-F571ADCB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1101852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672EAFE1-0362-4780-A4ED-DAFB3DA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1952"/>
            <a:ext cx="10424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Goal: summarize what we tested after the Week 3 acquisition-plan promise.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D89CB9FC-571C-495E-8F85-F85A8ED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58568"/>
            <a:ext cx="101955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We moved from one named 4D benchmark into boundary metrics, new acquisition rules, GP-classifier surrogates, and Hartmann4 validation.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3CB94A7D-9862-41F3-AE2E-30B51C6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6492C47-E85C-46D7-8741-DC80167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BFA2F779-BFD7-4F90-804D-97FC394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benchmarks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6EAEA04-D1F2-4681-A792-5549602D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0A97021-A2E3-4921-B553-9198A73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84392C0F-236E-40EB-BB6A-4638F52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primary seeds</a:t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4B4F5248-524A-46FB-9652-12F915F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A68CF452-14D7-4611-9AED-F285E30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12-&gt;80</a:t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5C42CE2B-E768-41F2-A563-780FB17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4D budget</a:t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06D2A714-95B7-41F8-852E-F8E266EE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2D1E5C83-782B-4690-8C0D-DD6903E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20+</a:t>
            </a: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6AD6CBFA-DCB9-4B3E-BC1A-5744998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method variants</a:t>
            </a: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419A34CC-F241-429C-BB3D-B1B294E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5F197FF8-68BB-4C7B-85C0-7A926B1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q20/q30</a:t>
            </a: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4337E173-E6AE-43F3-AAA3-777F5B3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main boundary metrics</a:t>
            </a: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7E45630A-85DB-4925-99F3-4D22CF8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23360"/>
            <a:ext cx="1700784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not just global</a:t>
            </a: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2610DA9B-BDDD-47E8-B682-BA4FC6E7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0600"/>
            <a:ext cx="10442448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BBF7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1E80C67B-F351-4CA7-8C8B-3C805D4F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10912"/>
            <a:ext cx="100401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Main message: we tried several acquisition families, and the strongest lesson is about robustness across benchmarks, not one winner on one plot.</a:t>
            </a:r>
          </a:p>
        </p:txBody>
      </p:sp>
      <p:cxnSp>
        <p:nvCxnSpPr>
          <p:cNvPr id="91" name="Google Shape;37;p3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15D9547D-E27C-46AC-97D8-93C0D4A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</a:t>
            </a: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48AAD136-07B5-40A8-90FA-D6C6686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9970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4B74CEB4-D3E5-4916-8ADF-2A67880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What changed after Week 3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32044C44-4E11-4DCA-AD00-8613FEB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work became a structured benchmark campaign, not just a few acquisition-rule trials.</a:t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52BC7E34-307E-4621-A9CE-37BAEDB8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11064240" cy="100584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1B7F1DDF-BA7A-4003-A96A-1F96327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07592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Fairness principle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5C610E9C-A3EB-42A4-941A-EFB8EF5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18488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4B5563"/>
                </a:solidFill>
                <a:latin typeface="Arial"/>
                <a:ea typeface="Arial"/>
                <a:cs typeface="Arial"/>
              </a:rPr>
              <a:t>Within each benchmark and seed, methods reuse the same threshold, pool, test set, initial labels, model family, and budget where the comparison is acquisition-only.</a:t>
            </a:r>
          </a:p>
        </p:txBody>
      </p:sp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EF957DC2-9165-45C6-92F5-E472C8A3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EB51E4F2-6B33-4F9A-B288-14086342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D7DDB66D-DF76-4558-919C-B66FD79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Ackley4 named benchmark</a:t>
            </a:r>
          </a:p>
        </p:txBody>
      </p:sp>
      <p:sp>
        <p:nvSpPr>
          <p:cNvPr id="53" name="Google Shape;53;p4">
            <a:extLst xmlns:a="http://schemas.openxmlformats.org/drawingml/2006/main">
              <a:ext uri="{FF2B5EF4-FFF2-40B4-BE49-F238E27FC236}">
                <a16:creationId xmlns:a16="http://schemas.microsoft.com/office/drawing/2014/main" id="{E1766A32-F104-4BAE-9A68-A9157B6C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980944"/>
            <a:ext cx="201168" cy="201168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9CA3AF"/>
          </a:solidFill>
          <a:ln xmlns:a="http://schemas.openxmlformats.org/drawingml/2006/main" w="12700" cmpd="sng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6848FFF9-BE35-441E-BEB6-FC82E082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40FA7085-56BC-4EA4-BA65-D24B95A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56" name="Google Shape;56;p4">
            <a:extLst xmlns:a="http://schemas.openxmlformats.org/drawingml/2006/main">
              <a:ext uri="{FF2B5EF4-FFF2-40B4-BE49-F238E27FC236}">
                <a16:creationId xmlns:a16="http://schemas.microsoft.com/office/drawing/2014/main" id="{3E7D3E4F-ACC6-49C2-9839-0A30FE00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Boundary metrics</a:t>
            </a:r>
          </a:p>
        </p:txBody>
      </p:sp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9DE1E842-1ED7-453D-A3EC-D9B43994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980944"/>
            <a:ext cx="201168" cy="201168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9CA3AF"/>
          </a:solidFill>
          <a:ln xmlns:a="http://schemas.openxmlformats.org/drawingml/2006/main" w="12700" cmpd="sng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E604B35A-C594-4B44-9BDF-255E5F18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4">
            <a:extLst xmlns:a="http://schemas.openxmlformats.org/drawingml/2006/main">
              <a:ext uri="{FF2B5EF4-FFF2-40B4-BE49-F238E27FC236}">
                <a16:creationId xmlns:a16="http://schemas.microsoft.com/office/drawing/2014/main" id="{7E3B9A48-0C31-49C1-9FA0-B098D5E3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Week 5</a:t>
            </a:r>
          </a:p>
        </p:txBody>
      </p:sp>
      <p:sp>
        <p:nvSpPr>
          <p:cNvPr id="60" name="Google Shape;60;p4">
            <a:extLst xmlns:a="http://schemas.openxmlformats.org/drawingml/2006/main">
              <a:ext uri="{FF2B5EF4-FFF2-40B4-BE49-F238E27FC236}">
                <a16:creationId xmlns:a16="http://schemas.microsoft.com/office/drawing/2014/main" id="{524A02A3-5B58-4F1F-A5AD-29979A8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New GPR acquisitions</a:t>
            </a:r>
          </a:p>
        </p:txBody>
      </p:sp>
      <p:sp>
        <p:nvSpPr>
          <p:cNvPr id="61" name="Google Shape;61;p4">
            <a:extLst xmlns:a="http://schemas.openxmlformats.org/drawingml/2006/main">
              <a:ext uri="{FF2B5EF4-FFF2-40B4-BE49-F238E27FC236}">
                <a16:creationId xmlns:a16="http://schemas.microsoft.com/office/drawing/2014/main" id="{5547F35F-64A6-4092-8A63-C3B37A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980944"/>
            <a:ext cx="201168" cy="201168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9CA3AF"/>
          </a:solidFill>
          <a:ln xmlns:a="http://schemas.openxmlformats.org/drawingml/2006/main" w="12700" cmpd="sng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AC410FF1-81E5-44E5-B815-5E5498C1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52D796FD-56B2-41DD-A509-6BBCED8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Week 6</a:t>
            </a:r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32F0E1CF-29E5-4D87-89EA-5B3F910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GP classifier surrogate</a:t>
            </a:r>
          </a:p>
        </p:txBody>
      </p:sp>
      <p:sp>
        <p:nvSpPr>
          <p:cNvPr id="65" name="Google Shape;65;p4">
            <a:extLst xmlns:a="http://schemas.openxmlformats.org/drawingml/2006/main">
              <a:ext uri="{FF2B5EF4-FFF2-40B4-BE49-F238E27FC236}">
                <a16:creationId xmlns:a16="http://schemas.microsoft.com/office/drawing/2014/main" id="{B3B74F72-D05D-4FA5-B570-72C54EE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980944"/>
            <a:ext cx="201168" cy="201168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9CA3AF"/>
          </a:solidFill>
          <a:ln xmlns:a="http://schemas.openxmlformats.org/drawingml/2006/main" w="12700" cmpd="sng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6" name="Google Shape;66;p4">
            <a:extLst xmlns:a="http://schemas.openxmlformats.org/drawingml/2006/main">
              <a:ext uri="{FF2B5EF4-FFF2-40B4-BE49-F238E27FC236}">
                <a16:creationId xmlns:a16="http://schemas.microsoft.com/office/drawing/2014/main" id="{C26156E5-D752-4793-B17B-A1F833B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4">
            <a:extLst xmlns:a="http://schemas.openxmlformats.org/drawingml/2006/main">
              <a:ext uri="{FF2B5EF4-FFF2-40B4-BE49-F238E27FC236}">
                <a16:creationId xmlns:a16="http://schemas.microsoft.com/office/drawing/2014/main" id="{B906B4A8-064E-4AE3-ACE3-74D4840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Week 7</a:t>
            </a:r>
          </a:p>
        </p:txBody>
      </p:sp>
      <p:sp>
        <p:nvSpPr>
          <p:cNvPr id="68" name="Google Shape;68;p4">
            <a:extLst xmlns:a="http://schemas.openxmlformats.org/drawingml/2006/main">
              <a:ext uri="{FF2B5EF4-FFF2-40B4-BE49-F238E27FC236}">
                <a16:creationId xmlns:a16="http://schemas.microsoft.com/office/drawing/2014/main" id="{ACD9489D-40F5-4472-8695-C4B9B0F0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SUR/IVR + Hartmann4</a:t>
            </a:r>
          </a:p>
        </p:txBody>
      </p:sp>
      <p:sp>
        <p:nvSpPr>
          <p:cNvPr id="69" name="Google Shape;69;p4">
            <a:extLst xmlns:a="http://schemas.openxmlformats.org/drawingml/2006/main">
              <a:ext uri="{FF2B5EF4-FFF2-40B4-BE49-F238E27FC236}">
                <a16:creationId xmlns:a16="http://schemas.microsoft.com/office/drawing/2014/main" id="{4D62CDC2-82D0-4D57-9F66-9D917013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980944"/>
            <a:ext cx="201168" cy="201168"/>
          </a:xfrm>
          <a:prstGeom xmlns:a="http://schemas.openxmlformats.org/drawingml/2006/main" prst="chevron">
            <a:avLst>
              <a:gd name="adj" fmla="val 50000"/>
            </a:avLst>
          </a:prstGeom>
          <a:solidFill xmlns:a="http://schemas.openxmlformats.org/drawingml/2006/main">
            <a:srgbClr val="9CA3AF"/>
          </a:solidFill>
          <a:ln xmlns:a="http://schemas.openxmlformats.org/drawingml/2006/main" w="12700" cmpd="sng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0" name="Google Shape;70;p4">
            <a:extLst xmlns:a="http://schemas.openxmlformats.org/drawingml/2006/main">
              <a:ext uri="{FF2B5EF4-FFF2-40B4-BE49-F238E27FC236}">
                <a16:creationId xmlns:a16="http://schemas.microsoft.com/office/drawing/2014/main" id="{BB84A7E0-E860-46B2-B8C5-4E92792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651760"/>
            <a:ext cx="1600200" cy="9144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4">
            <a:extLst xmlns:a="http://schemas.openxmlformats.org/drawingml/2006/main">
              <a:ext uri="{FF2B5EF4-FFF2-40B4-BE49-F238E27FC236}">
                <a16:creationId xmlns:a16="http://schemas.microsoft.com/office/drawing/2014/main" id="{993C5878-C5B9-4119-ACBC-EC876A96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816352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Change only</a:t>
            </a:r>
          </a:p>
        </p:txBody>
      </p:sp>
      <p:sp>
        <p:nvSpPr>
          <p:cNvPr id="72" name="Google Shape;72;p4">
            <a:extLst xmlns:a="http://schemas.openxmlformats.org/drawingml/2006/main">
              <a:ext uri="{FF2B5EF4-FFF2-40B4-BE49-F238E27FC236}">
                <a16:creationId xmlns:a16="http://schemas.microsoft.com/office/drawing/2014/main" id="{D56D31F9-E69A-48FA-835A-797703A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3127248"/>
            <a:ext cx="138074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method or surrogate</a:t>
            </a:r>
          </a:p>
        </p:txBody>
      </p:sp>
      <p:sp>
        <p:nvSpPr>
          <p:cNvPr id="73" name="Google Shape;73;p4">
            <a:extLst xmlns:a="http://schemas.openxmlformats.org/drawingml/2006/main">
              <a:ext uri="{FF2B5EF4-FFF2-40B4-BE49-F238E27FC236}">
                <a16:creationId xmlns:a16="http://schemas.microsoft.com/office/drawing/2014/main" id="{5E23EF80-EAAD-4A9A-8EE6-A87E046F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1920240" cy="34747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F2A44"/>
          </a:solidFill>
          <a:ln xmlns:a="http://schemas.openxmlformats.org/drawingml/2006/main" w="12700" cmpd="sng">
            <a:solidFill>
              <a:srgbClr val="1F2A4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4">
            <a:extLst xmlns:a="http://schemas.openxmlformats.org/drawingml/2006/main">
              <a:ext uri="{FF2B5EF4-FFF2-40B4-BE49-F238E27FC236}">
                <a16:creationId xmlns:a16="http://schemas.microsoft.com/office/drawing/2014/main" id="{EC386800-D77E-4A70-81C1-889A2D8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347972"/>
            <a:ext cx="1609344" cy="242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RECORDED SETUP</a:t>
            </a:r>
          </a:p>
        </p:txBody>
      </p:sp>
      <p:sp>
        <p:nvSpPr>
          <p:cNvPr id="75" name="Google Shape;75;p4">
            <a:extLst xmlns:a="http://schemas.openxmlformats.org/drawingml/2006/main">
              <a:ext uri="{FF2B5EF4-FFF2-40B4-BE49-F238E27FC236}">
                <a16:creationId xmlns:a16="http://schemas.microsoft.com/office/drawing/2014/main" id="{1202D32C-B674-4FF5-B340-323BC32F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94" y="4754880"/>
            <a:ext cx="104241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uses 6-&gt;50 labels; Ackley4 and Hartmann4 use 12-&gt;80 labels. Primary runs use five seeds unless marked diagnostic.</a:t>
            </a:r>
          </a:p>
        </p:txBody>
      </p:sp>
      <p:sp>
        <p:nvSpPr>
          <p:cNvPr id="76" name="Google Shape;76;p4">
            <a:extLst xmlns:a="http://schemas.openxmlformats.org/drawingml/2006/main">
              <a:ext uri="{FF2B5EF4-FFF2-40B4-BE49-F238E27FC236}">
                <a16:creationId xmlns:a16="http://schemas.microsoft.com/office/drawing/2014/main" id="{9D1B981A-C5B5-43BF-8976-4F5A8591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561320" cy="475488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0150" cmpd="sng">
            <a:solidFill>
              <a:srgbClr val="BFDB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7" name="Google Shape;77;p4">
            <a:extLst xmlns:a="http://schemas.openxmlformats.org/drawingml/2006/main">
              <a:ext uri="{FF2B5EF4-FFF2-40B4-BE49-F238E27FC236}">
                <a16:creationId xmlns:a16="http://schemas.microsoft.com/office/drawing/2014/main" id="{697FDE08-D985-4F53-A906-D16B38F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394960"/>
            <a:ext cx="80467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2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Fairness checks passed in the reported benchmark runs.</a:t>
            </a:r>
          </a:p>
        </p:txBody>
      </p:sp>
      <p:cxnSp>
        <p:nvCxnSpPr>
          <p:cNvPr id="148" name="Google Shape;78;p4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4">
            <a:extLst xmlns:a="http://schemas.openxmlformats.org/drawingml/2006/main">
              <a:ext uri="{FF2B5EF4-FFF2-40B4-BE49-F238E27FC236}">
                <a16:creationId xmlns:a16="http://schemas.microsoft.com/office/drawing/2014/main" id="{0EC9B0F3-5B3D-4AA6-9DB5-AEDD741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- 2</a:t>
            </a:r>
          </a:p>
        </p:txBody>
      </p:sp>
      <p:sp>
        <p:nvSpPr>
          <p:cNvPr id="80" name="Google Shape;80;p4">
            <a:extLst xmlns:a="http://schemas.openxmlformats.org/drawingml/2006/main">
              <a:ext uri="{FF2B5EF4-FFF2-40B4-BE49-F238E27FC236}">
                <a16:creationId xmlns:a16="http://schemas.microsoft.com/office/drawing/2014/main" id="{B7179FC7-9B4D-47B1-825F-D80D812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1109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E6AC6433-5C7C-4BB7-AA39-49443CC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2700" cmpd="sng">
            <a:solidFill>
              <a:srgbClr val="1F2A4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011331CC-A18C-4A6E-9E60-AB5782C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The scope expanded beyond Ackley4</a:t>
            </a:r>
          </a:p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B14AADD-007B-4674-BE3F-A86F6CE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Week 3-7 Coverage</a:t>
            </a:r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5BD9F6F-A802-46F1-BCCA-282151A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Same thesis question, broader stress tests: can we learn threshold boundaries sample-efficiently?</a:t>
            </a: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6C04877-209D-4F90-A30D-F571ADCB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1101852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672EAFE1-0362-4780-A4ED-DAFB3DA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1952"/>
            <a:ext cx="10424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Goal: test whether boundary-aware acquisitions remain useful across metrics, surrogates, and named benchmarks.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D89CB9FC-571C-495E-8F85-F85A8ED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58568"/>
            <a:ext cx="101955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work now covers 2D Branin, thresholded 4D Ackley, and thresholded 4D Hartmann, with global and near-boundary error tracked together.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3CB94A7D-9862-41F3-AE2E-30B51C6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6492C47-E85C-46D7-8741-DC80167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BFA2F779-BFD7-4F90-804D-97FC394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benchmarks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6EAEA04-D1F2-4681-A792-5549602D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0A97021-A2E3-4921-B553-9198A73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84392C0F-236E-40EB-BB6A-4638F52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surrogate families</a:t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4B4F5248-524A-46FB-9652-12F915F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A68CF452-14D7-4611-9AED-F285E30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global</a:t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5C42CE2B-E768-41F2-A563-780FB17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classification error</a:t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06D2A714-95B7-41F8-852E-F8E266EE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2D1E5C83-782B-4690-8C0D-DD6903E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q20/q30</a:t>
            </a: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6AD6CBFA-DCB9-4B3E-BC1A-5744998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near-boundary error</a:t>
            </a: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419A34CC-F241-429C-BB3D-B1B294E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5F197FF8-68BB-4C7B-85C0-7A926B1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Hartmann4</a:t>
            </a: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4337E173-E6AE-43F3-AAA3-777F5B3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new Week 7 test</a:t>
            </a: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7E45630A-85DB-4925-99F3-4D22CF8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23360"/>
            <a:ext cx="1700784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added deliberately</a:t>
            </a: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2610DA9B-BDDD-47E8-B682-BA4FC6E7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0600"/>
            <a:ext cx="10442448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BBF7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1E80C67B-F351-4CA7-8C8B-3C805D4F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10912"/>
            <a:ext cx="100401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Main message: Ackley stayed hard, Hartmann changed the story, and Branin often rewards methods that do not transfer cleanly.</a:t>
            </a:r>
          </a:p>
        </p:txBody>
      </p:sp>
      <p:cxnSp>
        <p:nvCxnSpPr>
          <p:cNvPr id="91" name="Google Shape;37;p3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15D9547D-E27C-46AC-97D8-93C0D4A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- 3</a:t>
            </a: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48AAD136-07B5-40A8-90FA-D6C6686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9970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21C8C200-2262-4E09-940E-215F3AE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3: first named 4D acquisition comparison</a:t>
            </a: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38456BF3-49E5-44C1-83E7-EEB09F7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Ackley4 kept the active level-set setting while moving closer to the target 4D process-parameter space.</a:t>
            </a: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3D08A1E3-615E-4825-8C75-62B5CAA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4F23AE5D-F756-4BE9-8C6E-B9717B5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CA1A4BB2-F370-4162-A481-BEA2570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No boundary information</a:t>
            </a: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FE3A580B-D4CC-40F6-8529-BA35255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Floor baseline for all later work.</a:t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3F901FB6-3614-4CA8-8BEA-952CEE1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015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3D65413E-90DA-4154-94C3-B2D5E69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Smallest abs(mu)</a:t>
            </a: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8113698C-6356-44FE-92B9-75FE445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closest predicted boundary</a:t>
            </a: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98C8B8DD-BD7B-45A6-8DAB-128D2D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Queries near the GP decision boundary.</a:t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AE310D4-17EF-4D84-BD6B-754E1F6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0910705E-0C6A-44CD-B3B7-4992648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Straddle</a:t>
            </a: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7EAA1501-C90C-4994-B0C2-33C9433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1.96 sigma - abs(mu)</a:t>
            </a:r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CAAB4CFC-0E42-48D3-8DA6-4CAC2C3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Balances boundary proximity and uncertainty.</a:t>
            </a: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A6B1E0ED-FE05-4936-B4B4-BC1C77C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20FB2D6E-08DB-42DA-A51A-195FC28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Randomized straddle</a:t>
            </a:r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67C5FEC-836A-4936-9D21-6A15F05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random uncertainty weight</a:t>
            </a:r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8A25AEC7-C1D1-4280-871D-59AC458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Adds step-wise randomness to straddle.</a:t>
            </a:r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4FD3BF2C-ADEB-466B-8D26-16F09BA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9624"/>
            <a:ext cx="1106424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015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A053C947-5D6B-4D7E-B4A5-F8854FB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86784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Expected feasibility</a:t>
            </a:r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BB4C1F66-F85C-4746-9EBB-269E7BD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1073505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contour-focused EI heuristic</a:t>
            </a:r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3BDE594B-07D6-4284-B73C-5994547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62856"/>
            <a:ext cx="107350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A classic level-set style baseline.</a:t>
            </a:r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F6EF6D84-3636-42A8-9481-F0982117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4688"/>
            <a:ext cx="11064240" cy="566928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9752D25C-8166-4A31-8D78-E854BC4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96712"/>
            <a:ext cx="1060704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Important: Week 3 still uses a GP-regression stand-in; mu and sigma are latent, not calibrated class probabilities.</a:t>
            </a:r>
          </a:p>
        </p:txBody>
      </p:sp>
      <p:cxnSp>
        <p:nvCxnSpPr>
          <p:cNvPr id="162" name="Google Shape;110;p5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61D88CEB-DE56-4A79-A0BB-DA9BE81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- 4</a:t>
            </a: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5B9AD59B-E5D2-4800-8C4E-D3D8D97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0878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489568B9-A774-4E90-B120-D71F779B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3 result: straddle wins globally on Ackley4</a:t>
            </a:r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1B300875-D9B9-41D2-96FA-DD3EC39C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At budget 80, boundary-aware rules clearly beat random; strict tolerances remain difficult.</a:t>
            </a:r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895D138E-4963-4A7A-A5CA-DAC277D3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909560" cy="5029200"/>
          </a:xfrm>
          <a:prstGeom xmlns:a="http://schemas.openxmlformats.org/drawingml/2006/main" prst="roundRect">
            <a:avLst>
              <a:gd name="adj" fmla="val 1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0" name="Google Shape;12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4c42ee61294aab">
            <a:alphaModFix/>
          </a:blip>
          <a:srcRect xmlns:a="http://schemas.openxmlformats.org/drawingml/2006/main" l="0" t="19287" r="0" b="19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136905"/>
            <a:ext cx="7909560" cy="48585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CBC2BBD6-2EF3-475C-90FD-FCBE3C4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051560"/>
            <a:ext cx="2971800" cy="50292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6">
            <a:extLst xmlns:a="http://schemas.openxmlformats.org/drawingml/2006/main">
              <a:ext uri="{FF2B5EF4-FFF2-40B4-BE49-F238E27FC236}">
                <a16:creationId xmlns:a16="http://schemas.microsoft.com/office/drawing/2014/main" id="{48025F33-2BA3-486B-AD7B-133734F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325880"/>
            <a:ext cx="23774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What the curves show</a:t>
            </a:r>
          </a:p>
        </p:txBody>
      </p:sp>
      <p:sp>
        <p:nvSpPr>
          <p:cNvPr id="124" name="Google Shape;124;p6">
            <a:extLst xmlns:a="http://schemas.openxmlformats.org/drawingml/2006/main">
              <a:ext uri="{FF2B5EF4-FFF2-40B4-BE49-F238E27FC236}">
                <a16:creationId xmlns:a16="http://schemas.microsoft.com/office/drawing/2014/main" id="{82BAA3FE-9695-49A5-BBE1-4C49BFD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79679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383C29E0-2C94-4747-8431-DF6EE49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83080"/>
            <a:ext cx="2304288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All methods start from the same five-seed initial design.</a:t>
            </a: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4BF4B436-E041-42FD-B4F7-386ACF65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09444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7" name="Google Shape;127;p6">
            <a:extLst xmlns:a="http://schemas.openxmlformats.org/drawingml/2006/main">
              <a:ext uri="{FF2B5EF4-FFF2-40B4-BE49-F238E27FC236}">
                <a16:creationId xmlns:a16="http://schemas.microsoft.com/office/drawing/2014/main" id="{3839D0E6-394D-4FB7-AF5A-902B9965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395728"/>
            <a:ext cx="23042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Straddle and randomized straddle reach 20% mean error around n=58.</a:t>
            </a:r>
          </a:p>
        </p:txBody>
      </p:sp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B1E1E4ED-F11F-46A8-B027-F79FB17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12267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C77872EA-A679-4AC1-81F0-2F9C9689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108960"/>
            <a:ext cx="23042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Expected feasibility catches up later; random remains high.</a:t>
            </a:r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4F649EF5-0AC4-4CAD-BAC4-F297FD4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99135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6958B555-B546-438A-8D83-8AB7D28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977640"/>
            <a:ext cx="2304288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No mean curve reaches 16% error by n=80, so Ackley4 stays challenging.</a:t>
            </a:r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6658201D-831C-48DB-99D1-42B4ACB8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047488"/>
            <a:ext cx="233172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BBF7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E9301429-E706-4E7F-B31E-D9FBC76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221224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Main signal: boundary-aware acquisition transfers from Branin to named 4D Ackley, but not perfectly.</a:t>
            </a:r>
          </a:p>
        </p:txBody>
      </p:sp>
      <p:cxnSp>
        <p:nvCxnSpPr>
          <p:cNvPr id="173" name="Google Shape;134;p6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6">
            <a:extLst xmlns:a="http://schemas.openxmlformats.org/drawingml/2006/main">
              <a:ext uri="{FF2B5EF4-FFF2-40B4-BE49-F238E27FC236}">
                <a16:creationId xmlns:a16="http://schemas.microsoft.com/office/drawing/2014/main" id="{C4944658-B0BA-4D33-9743-10DA6E5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- 5</a:t>
            </a:r>
          </a:p>
        </p:txBody>
      </p:sp>
      <p:sp>
        <p:nvSpPr>
          <p:cNvPr id="136" name="Google Shape;136;p6">
            <a:extLst xmlns:a="http://schemas.openxmlformats.org/drawingml/2006/main">
              <a:ext uri="{FF2B5EF4-FFF2-40B4-BE49-F238E27FC236}">
                <a16:creationId xmlns:a16="http://schemas.microsoft.com/office/drawing/2014/main" id="{C64FB47A-1CE6-4E70-A518-7FAE633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0bb98f6e4423c"/>
          <a:stretch xmlns:a="http://schemas.openxmlformats.org/drawingml/2006/main"/>
        </p:blipFill>
        <p:spPr>
          <a:xfrm xmlns:a="http://schemas.openxmlformats.org/drawingml/2006/main">
            <a:off x="503984" y="1136905"/>
            <a:ext cx="7907432" cy="48585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50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Google Shape;219;p9">
            <a:extLst xmlns:a="http://schemas.openxmlformats.org/drawingml/2006/main">
              <a:ext uri="{FF2B5EF4-FFF2-40B4-BE49-F238E27FC236}">
                <a16:creationId xmlns:a16="http://schemas.microsoft.com/office/drawing/2014/main" id="{BB011872-5B7B-4D6F-92D2-26368FE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Ackley4 diagnostics explain why one plot is not enough</a:t>
            </a:r>
          </a:p>
        </p:txBody>
      </p:sp>
      <p:sp>
        <p:nvSpPr>
          <p:cNvPr id="220" name="Google Shape;220;p9">
            <a:extLst xmlns:a="http://schemas.openxmlformats.org/drawingml/2006/main">
              <a:ext uri="{FF2B5EF4-FFF2-40B4-BE49-F238E27FC236}">
                <a16:creationId xmlns:a16="http://schemas.microsoft.com/office/drawing/2014/main" id="{E1D7C49B-65DE-4F48-8113-5382ABB4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2D slices and projections are only diagnostic views of a 4D boundary.</a:t>
            </a:r>
          </a:p>
        </p:txBody>
      </p:sp>
      <p:sp>
        <p:nvSpPr>
          <p:cNvPr id="221" name="Google Shape;221;p9">
            <a:extLst xmlns:a="http://schemas.openxmlformats.org/drawingml/2006/main">
              <a:ext uri="{FF2B5EF4-FFF2-40B4-BE49-F238E27FC236}">
                <a16:creationId xmlns:a16="http://schemas.microsoft.com/office/drawing/2014/main" id="{2CDF63FE-8793-49BC-8989-49C182E0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11384280" cy="384048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51" name="Google Shape;22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51d6950da84e69">
            <a:alphaModFix/>
          </a:blip>
          <a:srcRect xmlns:a="http://schemas.openxmlformats.org/drawingml/2006/main" l="0" t="34612" r="0" b="34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192513"/>
            <a:ext cx="11384280" cy="35037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3" name="Google Shape;223;p9">
            <a:extLst xmlns:a="http://schemas.openxmlformats.org/drawingml/2006/main">
              <a:ext uri="{FF2B5EF4-FFF2-40B4-BE49-F238E27FC236}">
                <a16:creationId xmlns:a16="http://schemas.microsoft.com/office/drawing/2014/main" id="{EEB32C3B-39ED-4E34-A3BB-6A0FE7F4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110642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" name="Google Shape;224;p9">
            <a:extLst xmlns:a="http://schemas.openxmlformats.org/drawingml/2006/main">
              <a:ext uri="{FF2B5EF4-FFF2-40B4-BE49-F238E27FC236}">
                <a16:creationId xmlns:a16="http://schemas.microsoft.com/office/drawing/2014/main" id="{2AC7DAEC-2638-4DDC-994C-2773B4F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4668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25" name="Google Shape;225;p9">
            <a:extLst xmlns:a="http://schemas.openxmlformats.org/drawingml/2006/main">
              <a:ext uri="{FF2B5EF4-FFF2-40B4-BE49-F238E27FC236}">
                <a16:creationId xmlns:a16="http://schemas.microsoft.com/office/drawing/2014/main" id="{8052E9BD-9CAD-4806-8366-715EBEC1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5330952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exact boundary is visible only on fixed 2D slices.</a:t>
            </a:r>
          </a:p>
        </p:txBody>
      </p:sp>
      <p:sp>
        <p:nvSpPr>
          <p:cNvPr id="226" name="Google Shape;226;p9">
            <a:extLst xmlns:a="http://schemas.openxmlformats.org/drawingml/2006/main">
              <a:ext uri="{FF2B5EF4-FFF2-40B4-BE49-F238E27FC236}">
                <a16:creationId xmlns:a16="http://schemas.microsoft.com/office/drawing/2014/main" id="{33E4A873-3875-4B05-8917-3AFC771B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344668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27" name="Google Shape;227;p9">
            <a:extLst xmlns:a="http://schemas.openxmlformats.org/drawingml/2006/main">
              <a:ext uri="{FF2B5EF4-FFF2-40B4-BE49-F238E27FC236}">
                <a16:creationId xmlns:a16="http://schemas.microsoft.com/office/drawing/2014/main" id="{1CF8BACE-54DB-4A66-985D-D08628A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5330952"/>
            <a:ext cx="3813048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Projected query locations can hide behavior in the other dimensions.</a:t>
            </a:r>
          </a:p>
        </p:txBody>
      </p:sp>
      <p:sp>
        <p:nvSpPr>
          <p:cNvPr id="228" name="Google Shape;228;p9">
            <a:extLst xmlns:a="http://schemas.openxmlformats.org/drawingml/2006/main">
              <a:ext uri="{FF2B5EF4-FFF2-40B4-BE49-F238E27FC236}">
                <a16:creationId xmlns:a16="http://schemas.microsoft.com/office/drawing/2014/main" id="{5E8B0135-91EE-458A-8E49-C6CC460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344668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8464922B-0A37-4865-8EFE-D54344CA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232" y="5330952"/>
            <a:ext cx="2578608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 motivated Week 4: evaluate boundary-region error directly, not only global error.</a:t>
            </a:r>
          </a:p>
        </p:txBody>
      </p:sp>
      <p:cxnSp>
        <p:nvCxnSpPr>
          <p:cNvPr id="259" name="Google Shape;230;p9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C252B74B-024D-4AC8-8DE8-11CD9BE0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- 6</a:t>
            </a:r>
          </a:p>
        </p:txBody>
      </p:sp>
      <p:sp>
        <p:nvSp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3512A538-9F18-473B-9338-ABBC132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30bb3f8d64cad"/>
          <a:stretch xmlns:a="http://schemas.openxmlformats.org/drawingml/2006/main"/>
        </p:blipFill>
        <p:spPr>
          <a:xfrm xmlns:a="http://schemas.openxmlformats.org/drawingml/2006/main">
            <a:off x="4619920" y="1192513"/>
            <a:ext cx="2967401" cy="35037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0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3 final ranking at budget 80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Straddle is best by mean final global error; randomized straddle is very close.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f5ac151ad84895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Mean final error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straddle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16.84%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randomized straddle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17.54%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expected feasibility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18.98%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smallest abs(mu)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23.62%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random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28.27%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Best on this named 4D global-error benchmark, not a final thesis method ranking.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- 7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4ebee582a47f6"/>
          <a:stretch xmlns:a="http://schemas.openxmlformats.org/drawingml/2006/main"/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489568B9-A774-4E90-B120-D71F779B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4: boundary metrics change the ranking</a:t>
            </a:r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1B300875-D9B9-41D2-96FA-DD3EC39C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Global error is useful, but level-set estimation needs near-boundary evaluation.</a:t>
            </a:r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895D138E-4963-4A7A-A5CA-DAC277D3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909560" cy="5029200"/>
          </a:xfrm>
          <a:prstGeom xmlns:a="http://schemas.openxmlformats.org/drawingml/2006/main" prst="roundRect">
            <a:avLst>
              <a:gd name="adj" fmla="val 1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0" name="Google Shape;12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390bbfba3947b0">
            <a:alphaModFix/>
          </a:blip>
          <a:srcRect xmlns:a="http://schemas.openxmlformats.org/drawingml/2006/main" l="0" t="19287" r="0" b="19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136905"/>
            <a:ext cx="7909560" cy="48585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CBC2BBD6-2EF3-475C-90FD-FCBE3C4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051560"/>
            <a:ext cx="2971800" cy="50292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6">
            <a:extLst xmlns:a="http://schemas.openxmlformats.org/drawingml/2006/main">
              <a:ext uri="{FF2B5EF4-FFF2-40B4-BE49-F238E27FC236}">
                <a16:creationId xmlns:a16="http://schemas.microsoft.com/office/drawing/2014/main" id="{48025F33-2BA3-486B-AD7B-133734F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325880"/>
            <a:ext cx="237744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What the boundary metrics show</a:t>
            </a:r>
          </a:p>
        </p:txBody>
      </p:sp>
      <p:sp>
        <p:nvSpPr>
          <p:cNvPr id="124" name="Google Shape;124;p6">
            <a:extLst xmlns:a="http://schemas.openxmlformats.org/drawingml/2006/main">
              <a:ext uri="{FF2B5EF4-FFF2-40B4-BE49-F238E27FC236}">
                <a16:creationId xmlns:a16="http://schemas.microsoft.com/office/drawing/2014/main" id="{82BAA3FE-9695-49A5-BBE1-4C49BFD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79679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383C29E0-2C94-4747-8431-DF6EE49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83080"/>
            <a:ext cx="2304288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and Ackley both disagree with the global ranking on at least one boundary metric.</a:t>
            </a: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4BF4B436-E041-42FD-B4F7-386ACF65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09444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7" name="Google Shape;127;p6">
            <a:extLst xmlns:a="http://schemas.openxmlformats.org/drawingml/2006/main">
              <a:ext uri="{FF2B5EF4-FFF2-40B4-BE49-F238E27FC236}">
                <a16:creationId xmlns:a16="http://schemas.microsoft.com/office/drawing/2014/main" id="{3839D0E6-394D-4FB7-AF5A-902B9965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395728"/>
            <a:ext cx="23042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On Ackley4, straddle wins global error; randomized straddle wins q10/q20/q30.</a:t>
            </a:r>
          </a:p>
        </p:txBody>
      </p:sp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B1E1E4ED-F11F-46A8-B027-F79FB17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12267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C77872EA-A679-4AC1-81F0-2F9C9689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108960"/>
            <a:ext cx="2304288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Smallest abs(mu) queries closest to the boundary but is not the best predictor.</a:t>
            </a:r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4F649EF5-0AC4-4CAD-BAC4-F297FD4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991356"/>
            <a:ext cx="109728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1F2A44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6958B555-B546-438A-8D83-8AB7D28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977640"/>
            <a:ext cx="2304288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q20/q30 are more stable than q10 and become the main boundary metrics.</a:t>
            </a:r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6658201D-831C-48DB-99D1-42B4ACB8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047488"/>
            <a:ext cx="2331720" cy="530352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BBF7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E9301429-E706-4E7F-B31E-D9FBC76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221224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Main signal: close-to-boundary sampling is useful but insufficient without uncertainty and coverage.</a:t>
            </a:r>
          </a:p>
        </p:txBody>
      </p:sp>
      <p:cxnSp>
        <p:nvCxnSpPr>
          <p:cNvPr id="173" name="Google Shape;134;p6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6">
            <a:extLst xmlns:a="http://schemas.openxmlformats.org/drawingml/2006/main">
              <a:ext uri="{FF2B5EF4-FFF2-40B4-BE49-F238E27FC236}">
                <a16:creationId xmlns:a16="http://schemas.microsoft.com/office/drawing/2014/main" id="{C4944658-B0BA-4D33-9743-10DA6E59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- 8</a:t>
            </a:r>
          </a:p>
        </p:txBody>
      </p:sp>
      <p:sp>
        <p:nvSpPr>
          <p:cNvPr id="136" name="Google Shape;136;p6">
            <a:extLst xmlns:a="http://schemas.openxmlformats.org/drawingml/2006/main">
              <a:ext uri="{FF2B5EF4-FFF2-40B4-BE49-F238E27FC236}">
                <a16:creationId xmlns:a16="http://schemas.microsoft.com/office/drawing/2014/main" id="{C64FB47A-1CE6-4E70-A518-7FAE633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44abf2af640a9"/>
          <a:stretch xmlns:a="http://schemas.openxmlformats.org/drawingml/2006/main"/>
        </p:blipFill>
        <p:spPr>
          <a:xfrm xmlns:a="http://schemas.openxmlformats.org/drawingml/2006/main">
            <a:off x="502920" y="1285812"/>
            <a:ext cx="7909560" cy="456069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50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21C8C200-2262-4E09-940E-215F3AE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5: we derived and tested new acquisition ideas</a:t>
            </a: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38456BF3-49E5-44C1-83E7-EEB09F7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new rules were built to repair concrete weaknesses seen in Week 4.</a:t>
            </a: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3D08A1E3-615E-4825-8C75-62B5CAA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4F23AE5D-F756-4BE9-8C6E-B9717B5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Diversified straddle</a:t>
            </a: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CA1A4BB2-F370-4162-A481-BEA2570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straddle + input diversity</a:t>
            </a: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FE3A580B-D4CC-40F6-8529-BA35255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Test whether coverage prevents repeated local sampling.</a:t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3F901FB6-3614-4CA8-8BEA-952CEE1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015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3D65413E-90DA-4154-94C3-B2D5E69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Boundary-gated diversity</a:t>
            </a: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8113698C-6356-44FE-92B9-75FE445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diversity only inside straddle gate</a:t>
            </a: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98C8B8DD-BD7B-45A6-8DAB-128D2D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Avoid letting diversity pull queries away from the boundary.</a:t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AE310D4-17EF-4D84-BD6B-754E1F6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0910705E-0C6A-44CD-B3B7-4992648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Lookahead BUR</a:t>
            </a: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7EAA1501-C90C-4994-B0C2-33C9433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fantasy labels reduce boundary uncertainty</a:t>
            </a:r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CAAB4CFC-0E42-48D3-8DA6-4CAC2C3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Choose points expected to shrink aggregate straddle uncertainty.</a:t>
            </a: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A6B1E0ED-FE05-4936-B4B4-BC1C77C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20FB2D6E-08DB-42DA-A51A-195FC28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Gated geometric BC</a:t>
            </a:r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67C5FEC-836A-4936-9D21-6A15F05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curvature + uncertainty + repulsion</a:t>
            </a:r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8A25AEC7-C1D1-4280-871D-59AC458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Test whether predicted boundary geometry identifies hard regions.</a:t>
            </a:r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4FD3BF2C-ADEB-466B-8D26-16F09BA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9624"/>
            <a:ext cx="1106424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015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A053C947-5D6B-4D7E-B4A5-F8854FB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86784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Reference baselines</a:t>
            </a:r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BB4C1F66-F85C-4746-9EBB-269E7BD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1073505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original Week 3 rules kept</a:t>
            </a:r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3BDE594B-07D6-4284-B73C-5994547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62856"/>
            <a:ext cx="107350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Every new idea was compared against the simple strong baselines.</a:t>
            </a:r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F6EF6D84-3636-42A8-9481-F0982117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4688"/>
            <a:ext cx="11064240" cy="566928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9752D25C-8166-4A31-8D78-E854BC4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96712"/>
            <a:ext cx="1060704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Important: these are heuristic GPR acquisitions, so the question is empirical robustness, not elegance.</a:t>
            </a:r>
          </a:p>
        </p:txBody>
      </p:sp>
      <p:cxnSp>
        <p:nvCxnSpPr>
          <p:cNvPr id="162" name="Google Shape;110;p5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61D88CEB-DE56-4A79-A0BB-DA9BE81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- 9</a:t>
            </a: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5B9AD59B-E5D2-4800-8C4E-D3D8D97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60878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5.2: lookahead helps Branin but fails Ackley4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Expected boundary-uncertainty reduction is promising, but not robust under the GPR surrogate.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92fdbe6db4488d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Lookahead vs baselines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global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5.59%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q20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23.55%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q30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17.53%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global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22.90%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q20/q30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44.42 / 40.80%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A thesis-relevant idea, but not a default method after the Ackley stress test.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- 10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e73e279224b4a"/>
          <a:stretch xmlns:a="http://schemas.openxmlformats.org/drawingml/2006/main"/>
        </p:blipFill>
        <p:spPr>
          <a:xfrm xmlns:a="http://schemas.openxmlformats.org/drawingml/2006/main">
            <a:off x="502920" y="1608095"/>
            <a:ext cx="7406640" cy="38246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5.3: geometry reduces uncertainty, not error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Gated geometric boundary contraction did not beat the strong baselines on Branin or Ackley4.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4151be572e47cf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GBC compared with baselines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global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7.17%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q20/q30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27.18 / 21.00%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global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20.04%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q20/q30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42.20 / 38.47%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often lower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Lower latent uncertainty can mean confident wrongness, so it cannot define success alone.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- 11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ad8844a6c4fa4"/>
          <a:stretch xmlns:a="http://schemas.openxmlformats.org/drawingml/2006/main"/>
        </p:blipFill>
        <p:spPr>
          <a:xfrm xmlns:a="http://schemas.openxmlformats.org/drawingml/2006/main">
            <a:off x="502920" y="1608095"/>
            <a:ext cx="7406640" cy="38246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2FC110D4-64C9-4E0C-BC7E-BE8083E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Interim lesson after Weeks 3-5</a:t>
            </a:r>
          </a:p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5E6B99FE-0056-455A-BFB8-73B49222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new acquisition ideas were useful because they clarified what does not generalize.</a:t>
            </a:r>
          </a:p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FFE2D9A2-71E6-430C-93E8-91826C9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5394960" cy="4297680"/>
          </a:xfrm>
          <a:prstGeom xmlns:a="http://schemas.openxmlformats.org/drawingml/2006/main" prst="roundRect">
            <a:avLst>
              <a:gd name="adj" fmla="val 19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E5FFB68F-3CFB-4608-9121-839097C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91640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Learned so far</a:t>
            </a:r>
          </a:p>
        </p:txBody>
      </p:sp>
      <p:sp>
        <p:nvSpPr>
          <p:cNvPr id="270" name="Google Shape;270;p12">
            <a:extLst xmlns:a="http://schemas.openxmlformats.org/drawingml/2006/main">
              <a:ext uri="{FF2B5EF4-FFF2-40B4-BE49-F238E27FC236}">
                <a16:creationId xmlns:a16="http://schemas.microsoft.com/office/drawing/2014/main" id="{EE593B50-BC87-4F4A-9340-FFEF2B2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14884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1" name="Google Shape;271;p12">
            <a:extLst xmlns:a="http://schemas.openxmlformats.org/drawingml/2006/main">
              <a:ext uri="{FF2B5EF4-FFF2-40B4-BE49-F238E27FC236}">
                <a16:creationId xmlns:a16="http://schemas.microsoft.com/office/drawing/2014/main" id="{1CFEB90E-D387-41A6-A1F0-043E7A8C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5341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Ackley4 is a defensible named 4D bridge benchmark.</a:t>
            </a:r>
          </a:p>
        </p:txBody>
      </p:sp>
      <p:sp>
        <p:nvSpPr>
          <p:cNvPr id="272" name="Google Shape;272;p12">
            <a:extLst xmlns:a="http://schemas.openxmlformats.org/drawingml/2006/main">
              <a:ext uri="{FF2B5EF4-FFF2-40B4-BE49-F238E27FC236}">
                <a16:creationId xmlns:a16="http://schemas.microsoft.com/office/drawing/2014/main" id="{492FAF73-5457-44E3-AE22-F9BED7BD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3" name="Google Shape;273;p12">
            <a:extLst xmlns:a="http://schemas.openxmlformats.org/drawingml/2006/main">
              <a:ext uri="{FF2B5EF4-FFF2-40B4-BE49-F238E27FC236}">
                <a16:creationId xmlns:a16="http://schemas.microsoft.com/office/drawing/2014/main" id="{84C9DABF-2C6C-46E6-A59A-6C5AB02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1917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Boundary metrics are necessary; global error alone is misleading.</a:t>
            </a:r>
          </a:p>
        </p:txBody>
      </p:sp>
      <p:sp>
        <p:nvSpPr>
          <p:cNvPr id="274" name="Google Shape;274;p12">
            <a:extLst xmlns:a="http://schemas.openxmlformats.org/drawingml/2006/main">
              <a:ext uri="{FF2B5EF4-FFF2-40B4-BE49-F238E27FC236}">
                <a16:creationId xmlns:a16="http://schemas.microsoft.com/office/drawing/2014/main" id="{F06167CC-EF23-4C9B-BFC6-12210FE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8036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5" name="Google Shape;275;p12">
            <a:extLst xmlns:a="http://schemas.openxmlformats.org/drawingml/2006/main">
              <a:ext uri="{FF2B5EF4-FFF2-40B4-BE49-F238E27FC236}">
                <a16:creationId xmlns:a16="http://schemas.microsoft.com/office/drawing/2014/main" id="{CFCB0D07-AD5C-41B6-96DC-358D8A0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8493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Simple baselines remain hard to beat, especially randomized straddle.</a:t>
            </a:r>
          </a:p>
        </p:txBody>
      </p:sp>
      <p:sp>
        <p:nvSpPr>
          <p:cNvPr id="276" name="Google Shape;276;p12">
            <a:extLst xmlns:a="http://schemas.openxmlformats.org/drawingml/2006/main">
              <a:ext uri="{FF2B5EF4-FFF2-40B4-BE49-F238E27FC236}">
                <a16:creationId xmlns:a16="http://schemas.microsoft.com/office/drawing/2014/main" id="{DE8FBADC-DC3D-4275-8553-3C73FBA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7" name="Google Shape;277;p12">
            <a:extLst xmlns:a="http://schemas.openxmlformats.org/drawingml/2006/main">
              <a:ext uri="{FF2B5EF4-FFF2-40B4-BE49-F238E27FC236}">
                <a16:creationId xmlns:a16="http://schemas.microsoft.com/office/drawing/2014/main" id="{274E0BC4-FABD-4A58-AFF3-8FC2F22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069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Lookahead is interesting on Branin but not reliable on Ackley4.</a:t>
            </a:r>
          </a:p>
        </p:txBody>
      </p:sp>
      <p:sp>
        <p:nvSpPr>
          <p:cNvPr id="278" name="Google Shape;278;p12">
            <a:extLst xmlns:a="http://schemas.openxmlformats.org/drawingml/2006/main">
              <a:ext uri="{FF2B5EF4-FFF2-40B4-BE49-F238E27FC236}">
                <a16:creationId xmlns:a16="http://schemas.microsoft.com/office/drawing/2014/main" id="{F5C5F1EE-1B71-4C40-9E8A-71C5D79E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1188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9" name="Google Shape;279;p12">
            <a:extLst xmlns:a="http://schemas.openxmlformats.org/drawingml/2006/main">
              <a:ext uri="{FF2B5EF4-FFF2-40B4-BE49-F238E27FC236}">
                <a16:creationId xmlns:a16="http://schemas.microsoft.com/office/drawing/2014/main" id="{65D201EB-46C5-4FC5-B8F2-2280E4D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1645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Uncertainty-region contraction is a diagnostic, not a correctness metric.</a:t>
            </a:r>
          </a:p>
        </p:txBody>
      </p:sp>
      <p:sp>
        <p:nvSpPr>
          <p:cNvPr id="280" name="Google Shape;280;p12">
            <a:extLst xmlns:a="http://schemas.openxmlformats.org/drawingml/2006/main">
              <a:ext uri="{FF2B5EF4-FFF2-40B4-BE49-F238E27FC236}">
                <a16:creationId xmlns:a16="http://schemas.microsoft.com/office/drawing/2014/main" id="{4E43A0F8-FF7D-4D5F-B4AC-733E508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7764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1" name="Google Shape;281;p12">
            <a:extLst xmlns:a="http://schemas.openxmlformats.org/drawingml/2006/main">
              <a:ext uri="{FF2B5EF4-FFF2-40B4-BE49-F238E27FC236}">
                <a16:creationId xmlns:a16="http://schemas.microsoft.com/office/drawing/2014/main" id="{B6000917-2138-43F3-A4FD-198B490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8221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This motivates testing the surrogate model itself, not only acquisitions.</a:t>
            </a:r>
          </a:p>
        </p:txBody>
      </p:sp>
      <p:cxnSp>
        <p:nvCxnSpPr>
          <p:cNvPr id="318" name="Google Shape;282;p12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12">
            <a:extLst xmlns:a="http://schemas.openxmlformats.org/drawingml/2006/main">
              <a:ext uri="{FF2B5EF4-FFF2-40B4-BE49-F238E27FC236}">
                <a16:creationId xmlns:a16="http://schemas.microsoft.com/office/drawing/2014/main" id="{ED9CBF21-6731-44A1-824C-967B061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- 12</a:t>
            </a:r>
          </a:p>
        </p:txBody>
      </p:sp>
      <p:sp>
        <p:nvSpPr>
          <p:cNvPr id="284" name="Google Shape;284;p12">
            <a:extLst xmlns:a="http://schemas.openxmlformats.org/drawingml/2006/main">
              <a:ext uri="{FF2B5EF4-FFF2-40B4-BE49-F238E27FC236}">
                <a16:creationId xmlns:a16="http://schemas.microsoft.com/office/drawing/2014/main" id="{4385F976-7178-4F02-A197-F7B128F7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7659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21C8C200-2262-4E09-940E-215F3AE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6: switch from GP regressor to GP classifier</a:t>
            </a: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38456BF3-49E5-44C1-83E7-EEB09F7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We stopped reusing latent mu/sigma rules and used classifier-native probability scores.</a:t>
            </a: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3D08A1E3-615E-4825-8C75-62B5CAA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4F23AE5D-F756-4BE9-8C6E-B9717B5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Fixed GPC</a:t>
            </a: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CA1A4BB2-F370-4162-A481-BEA2570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RBF kernel, optimizer=None</a:t>
            </a: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FE3A580B-D4CC-40F6-8529-BA35255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Runtime-stable first classifier benchmark.</a:t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3F901FB6-3614-4CA8-8BEA-952CEE1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015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3D65413E-90DA-4154-94C3-B2D5E69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predict_proba</a:t>
            </a: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8113698C-6356-44FE-92B9-75FE445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p(+1) used directly</a:t>
            </a: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98C8B8DD-BD7B-45A6-8DAB-128D2D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No fake GP-regressor uncertainty.</a:t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AE310D4-17EF-4D84-BD6B-754E1F6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0910705E-0C6A-44CD-B3B7-4992648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Margin</a:t>
            </a: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7EAA1501-C90C-4994-B0C2-33C9433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abs(p - 0.5)</a:t>
            </a:r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CAAB4CFC-0E42-48D3-8DA6-4CAC2C3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Binary boundary uncertainty baseline.</a:t>
            </a: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A6B1E0ED-FE05-4936-B4B4-BC1C77C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20FB2D6E-08DB-42DA-A51A-195FC28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67C5FEC-836A-4936-9D21-6A15F05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monotone-equivalent to margin</a:t>
            </a:r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8A25AEC7-C1D1-4280-871D-59AC458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Useful sanity check, often same behavior.</a:t>
            </a:r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4FD3BF2C-ADEB-466B-8D26-16F09BA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9624"/>
            <a:ext cx="1106424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015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A053C947-5D6B-4D7E-B4A5-F8854FB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86784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Uncertainty repulsion</a:t>
            </a:r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BB4C1F66-F85C-4746-9EBB-269E7BD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1073505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uncertain + away from labels</a:t>
            </a:r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3BDE594B-07D6-4284-B73C-5994547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62856"/>
            <a:ext cx="107350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Best fixed-kernel classifier rule in Week 6.</a:t>
            </a:r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F6EF6D84-3636-42A8-9481-F0982117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4688"/>
            <a:ext cx="11064240" cy="566928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9752D25C-8166-4A31-8D78-E854BC4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96712"/>
            <a:ext cx="1060704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Important: classifier rows and regressor rows change the surrogate family, so comparisons are not acquisition-only.</a:t>
            </a:r>
          </a:p>
        </p:txBody>
      </p:sp>
      <p:cxnSp>
        <p:nvCxnSpPr>
          <p:cNvPr id="162" name="Google Shape;110;p5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61D88CEB-DE56-4A79-A0BB-DA9BE81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- 13</a:t>
            </a: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5B9AD59B-E5D2-4800-8C4E-D3D8D97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60878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6 fixed GPC: cleaner probabilities, not better results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Classifier uncertainty repulsion was the best fixed-GPC method on both benchmarks.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c4f185a3b641e6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Best fixed-GPC result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global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8.04%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q20/q30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26.10 / 19.78%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global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17.59%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q20/q30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41.75 / 37.97%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Regressor refs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still better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Surrogate choice alone did not solve boundary learning under the fixed kernel.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- 14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9d7472aac42df"/>
          <a:stretch xmlns:a="http://schemas.openxmlformats.org/drawingml/2006/main"/>
        </p:blipFill>
        <p:spPr>
          <a:xfrm xmlns:a="http://schemas.openxmlformats.org/drawingml/2006/main">
            <a:off x="502920" y="1496959"/>
            <a:ext cx="7406640" cy="40469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6.1: optimized GPC helps Branin, not Ackley4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Kernel learning changed the classifier story, but the improvement did not transfer to the hard 4D benchmark.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a903767581430b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Best classifier variant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ARD global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3.52%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ARD q20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16.38%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ARD q30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11.43%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best global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17.59% fixed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 q20/q30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41.75 / 37.97% fixed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Kernel optimization is important, but ARD is not automatically a 4D solution.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- 15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89644c02043da"/>
          <a:stretch xmlns:a="http://schemas.openxmlformats.org/drawingml/2006/main"/>
        </p:blipFill>
        <p:spPr>
          <a:xfrm xmlns:a="http://schemas.openxmlformats.org/drawingml/2006/main">
            <a:off x="502920" y="1356206"/>
            <a:ext cx="7406640" cy="4328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5">
            <a:extLst xmlns:a="http://schemas.openxmlformats.org/drawingml/2006/main">
              <a:ext uri="{FF2B5EF4-FFF2-40B4-BE49-F238E27FC236}">
                <a16:creationId xmlns:a16="http://schemas.microsoft.com/office/drawing/2014/main" id="{21C8C200-2262-4E09-940E-215F3AE7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7: boundary-weighted IVR and SUR</a:t>
            </a:r>
          </a:p>
        </p:txBody>
      </p:sp>
      <p:sp>
        <p:nvSpPr>
          <p:cNvPr id="87" name="Google Shape;87;p5">
            <a:extLst xmlns:a="http://schemas.openxmlformats.org/drawingml/2006/main">
              <a:ext uri="{FF2B5EF4-FFF2-40B4-BE49-F238E27FC236}">
                <a16:creationId xmlns:a16="http://schemas.microsoft.com/office/drawing/2014/main" id="{38456BF3-49E5-44C1-83E7-EEB09F7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We tested literature-inspired uncertainty-reduction objectives and added Hartmann4.</a:t>
            </a:r>
          </a:p>
        </p:txBody>
      </p:sp>
      <p:sp>
        <p:nvSpPr>
          <p:cNvPr id="88" name="Google Shape;88;p5">
            <a:extLst xmlns:a="http://schemas.openxmlformats.org/drawingml/2006/main">
              <a:ext uri="{FF2B5EF4-FFF2-40B4-BE49-F238E27FC236}">
                <a16:creationId xmlns:a16="http://schemas.microsoft.com/office/drawing/2014/main" id="{3D08A1E3-615E-4825-8C75-62B5CAA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5">
            <a:extLst xmlns:a="http://schemas.openxmlformats.org/drawingml/2006/main">
              <a:ext uri="{FF2B5EF4-FFF2-40B4-BE49-F238E27FC236}">
                <a16:creationId xmlns:a16="http://schemas.microsoft.com/office/drawing/2014/main" id="{4F23AE5D-F756-4BE9-8C6E-B9717B5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Hartmann4</a:t>
            </a:r>
          </a:p>
        </p:txBody>
      </p:sp>
      <p:sp>
        <p:nvSpPr>
          <p:cNvPr id="90" name="Google Shape;90;p5">
            <a:extLst xmlns:a="http://schemas.openxmlformats.org/drawingml/2006/main">
              <a:ext uri="{FF2B5EF4-FFF2-40B4-BE49-F238E27FC236}">
                <a16:creationId xmlns:a16="http://schemas.microsoft.com/office/drawing/2014/main" id="{CA1A4BB2-F370-4162-A481-BEA2570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standard 4D benchmark</a:t>
            </a:r>
          </a:p>
        </p:txBody>
      </p:sp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FE3A580B-D4CC-40F6-8529-BA35255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A second named 4D stress test beyond Ackley.</a:t>
            </a:r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3F901FB6-3614-4CA8-8BEA-952CEE13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015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3D65413E-90DA-4154-94C3-B2D5E69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28016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GPR boundary-weighted IVR</a:t>
            </a: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8113698C-6356-44FE-92B9-75FE445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63624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weighted variance reduction</a:t>
            </a: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98C8B8DD-BD7B-45A6-8DAB-128D2DB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56232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Cheap targeted-IMSE style diagnostic.</a:t>
            </a: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CAE310D4-17EF-4D84-BD6B-754E1F6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0910705E-0C6A-44CD-B3B7-49926481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GPR Bernoulli SUR</a:t>
            </a: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7EAA1501-C90C-4994-B0C2-33C9433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fantasy label refit</a:t>
            </a:r>
          </a:p>
        </p:txBody>
      </p:sp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CAAB4CFC-0E42-48D3-8DA6-4CAC2C3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More faithful but more expensive uncertainty reduction.</a:t>
            </a: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A6B1E0ED-FE05-4936-B4B4-BC1C77C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496312"/>
            <a:ext cx="507492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20FB2D6E-08DB-42DA-A51A-195FC28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33472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GPC Bernoulli SUR</a:t>
            </a:r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467C5FEC-836A-4936-9D21-6A15F05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16936"/>
            <a:ext cx="474573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classifier fantasy refit</a:t>
            </a:r>
          </a:p>
        </p:txBody>
      </p:sp>
      <p:sp>
        <p:nvSpPr>
          <p:cNvPr id="103" name="Google Shape;103;p5">
            <a:extLst xmlns:a="http://schemas.openxmlformats.org/drawingml/2006/main">
              <a:ext uri="{FF2B5EF4-FFF2-40B4-BE49-F238E27FC236}">
                <a16:creationId xmlns:a16="http://schemas.microsoft.com/office/drawing/2014/main" id="{8A25AEC7-C1D1-4280-871D-59AC4580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09544"/>
            <a:ext cx="474573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Expensive; first run limited to seed-0 diagnostics.</a:t>
            </a:r>
          </a:p>
        </p:txBody>
      </p:sp>
      <p:sp>
        <p:nvSpPr>
          <p:cNvPr id="104" name="Google Shape;104;p5">
            <a:extLst xmlns:a="http://schemas.openxmlformats.org/drawingml/2006/main">
              <a:ext uri="{FF2B5EF4-FFF2-40B4-BE49-F238E27FC236}">
                <a16:creationId xmlns:a16="http://schemas.microsoft.com/office/drawing/2014/main" id="{4FD3BF2C-ADEB-466B-8D26-16F09BA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9624"/>
            <a:ext cx="11064240" cy="1078992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015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5">
            <a:extLst xmlns:a="http://schemas.openxmlformats.org/drawingml/2006/main">
              <a:ext uri="{FF2B5EF4-FFF2-40B4-BE49-F238E27FC236}">
                <a16:creationId xmlns:a16="http://schemas.microsoft.com/office/drawing/2014/main" id="{A053C947-5D6B-4D7E-B4A5-F8854FB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86784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6" name="Google Shape;106;p5">
            <a:extLst xmlns:a="http://schemas.openxmlformats.org/drawingml/2006/main">
              <a:ext uri="{FF2B5EF4-FFF2-40B4-BE49-F238E27FC236}">
                <a16:creationId xmlns:a16="http://schemas.microsoft.com/office/drawing/2014/main" id="{BB4C1F66-F85C-4746-9EBB-269E7BD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270248"/>
            <a:ext cx="10735056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does lower integrated uncertainty mean better boundary error?</a:t>
            </a:r>
          </a:p>
        </p:txBody>
      </p:sp>
      <p:sp>
        <p:nvSpPr>
          <p:cNvPr id="107" name="Google Shape;107;p5">
            <a:extLst xmlns:a="http://schemas.openxmlformats.org/drawingml/2006/main">
              <a:ext uri="{FF2B5EF4-FFF2-40B4-BE49-F238E27FC236}">
                <a16:creationId xmlns:a16="http://schemas.microsoft.com/office/drawing/2014/main" id="{3BDE594B-07D6-4284-B73C-59945472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562856"/>
            <a:ext cx="107350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answer is benchmark-dependent.</a:t>
            </a:r>
          </a:p>
        </p:txBody>
      </p:sp>
      <p:sp>
        <p:nvSpPr>
          <p:cNvPr id="108" name="Google Shape;108;p5">
            <a:extLst xmlns:a="http://schemas.openxmlformats.org/drawingml/2006/main">
              <a:ext uri="{FF2B5EF4-FFF2-40B4-BE49-F238E27FC236}">
                <a16:creationId xmlns:a16="http://schemas.microsoft.com/office/drawing/2014/main" id="{F6EF6D84-3636-42A8-9481-F0982117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4688"/>
            <a:ext cx="11064240" cy="566928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5">
            <a:extLst xmlns:a="http://schemas.openxmlformats.org/drawingml/2006/main">
              <a:ext uri="{FF2B5EF4-FFF2-40B4-BE49-F238E27FC236}">
                <a16:creationId xmlns:a16="http://schemas.microsoft.com/office/drawing/2014/main" id="{9752D25C-8166-4A31-8D78-E854BC4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696712"/>
            <a:ext cx="1060704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Important: SUR/IVR connects the work to active level-set literature, but runtime and robustness decide whether it is usable.</a:t>
            </a:r>
          </a:p>
        </p:txBody>
      </p:sp>
      <p:cxnSp>
        <p:nvCxnSpPr>
          <p:cNvPr id="162" name="Google Shape;110;p5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61D88CEB-DE56-4A79-A0BB-DA9BE81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- 16</a:t>
            </a:r>
          </a:p>
        </p:txBody>
      </p:sp>
      <p:sp>
        <p:nvSpPr>
          <p:cNvPr id="112" name="Google Shape;112;p5">
            <a:extLst xmlns:a="http://schemas.openxmlformats.org/drawingml/2006/main">
              <a:ext uri="{FF2B5EF4-FFF2-40B4-BE49-F238E27FC236}">
                <a16:creationId xmlns:a16="http://schemas.microsoft.com/office/drawing/2014/main" id="{5B9AD59B-E5D2-4800-8C4E-D3D8D97D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60878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7: Hartmann4 changes the picture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New GPR uncertainty-reduction methods did not replace simple baselines, but Hartmann4 gave a useful signal.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30a10b339b46b9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Comparable five-seed winners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mixed baselines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Ackley4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straddle family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Hartmann global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GPC rep.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Hartmann q20/q30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EF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IVR on Hartmann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helps, not best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Hartmann suggests the Ackley failure is not universal, but simple baselines still matter.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- 17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efe73e01d4fe3"/>
          <a:stretch xmlns:a="http://schemas.openxmlformats.org/drawingml/2006/main"/>
        </p:blipFill>
        <p:spPr>
          <a:xfrm xmlns:a="http://schemas.openxmlformats.org/drawingml/2006/main">
            <a:off x="502920" y="1634145"/>
            <a:ext cx="7406640" cy="3772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81BA9912-BDB9-4CBD-807E-05E7735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Week 7.1: classifier SUR validates only on Hartmann4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5DECCD09-421D-4E02-AD30-9E681AA6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Week 7 seed-0 GPC-SUR signal generalized on Hartmann4, not on Branin or optional Ackley.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9D89FC33-07A9-4D22-BB7C-0AD9052E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7406640" cy="493776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10" name="Google Shape;145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97c85554164f40">
            <a:alphaModFix/>
          </a:blip>
          <a:srcRect xmlns:a="http://schemas.openxmlformats.org/drawingml/2006/main" l="0" t="20278" r="0" b="20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319022"/>
            <a:ext cx="7406640" cy="44028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53A6A1D4-98A3-4627-9A37-EB28651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51560"/>
            <a:ext cx="3456432" cy="493776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92266219-070C-46E7-84F9-B10E52F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307592"/>
            <a:ext cx="26517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Fixed-GPC SUR validation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22182E4C-2E3E-4F0D-BA22-C266022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190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 cmpd="sng">
            <a:solidFill>
              <a:srgbClr val="B7791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83374358-80A8-4BBC-8CEF-3FEE18F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769364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16738B45-3CB2-4551-9E66-950A184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46504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Branin best</a:t>
            </a: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764C4C-4E11-40D0-9CFC-959CCFB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1746504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repulsion 7.32 / 25.60 / 18.97%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7419CD7D-D776-4075-97E2-52C7E9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494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1"/>
          </a:solidFill>
          <a:ln xmlns:a="http://schemas.openxmlformats.org/drawingml/2006/main" w="12700" cmpd="sng">
            <a:solidFill>
              <a:srgbClr val="0F8B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3" name="Google Shape;153;p7">
            <a:extLst xmlns:a="http://schemas.openxmlformats.org/drawingml/2006/main">
              <a:ext uri="{FF2B5EF4-FFF2-40B4-BE49-F238E27FC236}">
                <a16:creationId xmlns:a16="http://schemas.microsoft.com/office/drawing/2014/main" id="{FB1F0EE9-FC0F-47C6-984E-CC3D0DAC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299716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4" name="Google Shape;154;p7">
            <a:extLst xmlns:a="http://schemas.openxmlformats.org/drawingml/2006/main">
              <a:ext uri="{FF2B5EF4-FFF2-40B4-BE49-F238E27FC236}">
                <a16:creationId xmlns:a16="http://schemas.microsoft.com/office/drawing/2014/main" id="{70EC3FD1-AE3D-4D02-92A2-54D41DA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Hartmann global</a:t>
            </a:r>
          </a:p>
        </p:txBody>
      </p:sp>
      <p:sp>
        <p:nvSpPr>
          <p:cNvPr id="155" name="Google Shape;155;p7">
            <a:extLst xmlns:a="http://schemas.openxmlformats.org/drawingml/2006/main">
              <a:ext uri="{FF2B5EF4-FFF2-40B4-BE49-F238E27FC236}">
                <a16:creationId xmlns:a16="http://schemas.microsoft.com/office/drawing/2014/main" id="{11AF2C08-3973-46A0-A1E4-36DDD48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276856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SUR k15 11.60%</a:t>
            </a:r>
          </a:p>
        </p:txBody>
      </p:sp>
      <p:sp>
        <p:nvSpPr>
          <p:cNvPr id="156" name="Google Shape;156;p7">
            <a:extLst xmlns:a="http://schemas.openxmlformats.org/drawingml/2006/main">
              <a:ext uri="{FF2B5EF4-FFF2-40B4-BE49-F238E27FC236}">
                <a16:creationId xmlns:a16="http://schemas.microsoft.com/office/drawing/2014/main" id="{B87DFDA3-581C-48C6-ABFC-2A79ECA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7797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12700" cmpd="sng">
            <a:solidFill>
              <a:srgbClr val="2B6C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7">
            <a:extLst xmlns:a="http://schemas.openxmlformats.org/drawingml/2006/main">
              <a:ext uri="{FF2B5EF4-FFF2-40B4-BE49-F238E27FC236}">
                <a16:creationId xmlns:a16="http://schemas.microsoft.com/office/drawing/2014/main" id="{AB7A27D0-9A25-4193-8B4C-686465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830068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8" name="Google Shape;158;p7">
            <a:extLst xmlns:a="http://schemas.openxmlformats.org/drawingml/2006/main">
              <a:ext uri="{FF2B5EF4-FFF2-40B4-BE49-F238E27FC236}">
                <a16:creationId xmlns:a16="http://schemas.microsoft.com/office/drawing/2014/main" id="{E9701341-0856-4F78-B4B9-247E0C5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07208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Hartmann q20</a:t>
            </a:r>
          </a:p>
        </p:txBody>
      </p:sp>
      <p:sp>
        <p:nvSpPr>
          <p:cNvPr id="159" name="Google Shape;159;p7">
            <a:extLst xmlns:a="http://schemas.openxmlformats.org/drawingml/2006/main">
              <a:ext uri="{FF2B5EF4-FFF2-40B4-BE49-F238E27FC236}">
                <a16:creationId xmlns:a16="http://schemas.microsoft.com/office/drawing/2014/main" id="{F95B15A3-A8D8-454A-B209-1D7389E9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807208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SUR k25 37.30%</a:t>
            </a:r>
          </a:p>
        </p:txBody>
      </p:sp>
      <p:sp>
        <p:nvSpPr>
          <p:cNvPr id="160" name="Google Shape;160;p7">
            <a:extLst xmlns:a="http://schemas.openxmlformats.org/drawingml/2006/main">
              <a:ext uri="{FF2B5EF4-FFF2-40B4-BE49-F238E27FC236}">
                <a16:creationId xmlns:a16="http://schemas.microsoft.com/office/drawing/2014/main" id="{E5E03697-6340-46A6-8DF4-DFA6818B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101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12700" cmpd="sng">
            <a:solidFill>
              <a:srgbClr val="9F123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7">
            <a:extLst xmlns:a="http://schemas.openxmlformats.org/drawingml/2006/main">
              <a:ext uri="{FF2B5EF4-FFF2-40B4-BE49-F238E27FC236}">
                <a16:creationId xmlns:a16="http://schemas.microsoft.com/office/drawing/2014/main" id="{A5148F75-34CC-44D7-93B8-B4B7A16B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360420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2" name="Google Shape;162;p7">
            <a:extLst xmlns:a="http://schemas.openxmlformats.org/drawingml/2006/main">
              <a:ext uri="{FF2B5EF4-FFF2-40B4-BE49-F238E27FC236}">
                <a16:creationId xmlns:a16="http://schemas.microsoft.com/office/drawing/2014/main" id="{DF3D2CE1-3B88-44FC-A57D-FD41D3D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37560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Hartmann q30</a:t>
            </a:r>
          </a:p>
        </p:txBody>
      </p:sp>
      <p:sp>
        <p:nvSpPr>
          <p:cNvPr id="163" name="Google Shape;163;p7">
            <a:extLst xmlns:a="http://schemas.openxmlformats.org/drawingml/2006/main">
              <a:ext uri="{FF2B5EF4-FFF2-40B4-BE49-F238E27FC236}">
                <a16:creationId xmlns:a16="http://schemas.microsoft.com/office/drawing/2014/main" id="{B12A205E-D8DE-41F3-9E43-CCD44B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337560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F1239"/>
                </a:solidFill>
                <a:latin typeface="Arial"/>
                <a:ea typeface="Arial"/>
                <a:cs typeface="Arial"/>
              </a:rPr>
              <a:t>SUR k25 31.55%</a:t>
            </a:r>
          </a:p>
        </p:txBody>
      </p:sp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37703292-23A3-435C-B573-A0C0AF7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404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 cmpd="sng">
            <a:solidFill>
              <a:srgbClr val="6B72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CCEDA26D-0C7F-499C-A93D-71C5901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890772"/>
            <a:ext cx="256032" cy="109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6" name="Google Shape;166;p7">
            <a:extLst xmlns:a="http://schemas.openxmlformats.org/drawingml/2006/main">
              <a:ext uri="{FF2B5EF4-FFF2-40B4-BE49-F238E27FC236}">
                <a16:creationId xmlns:a16="http://schemas.microsoft.com/office/drawing/2014/main" id="{B03D9E3B-68FB-4961-81C8-FE3B9134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86791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Optional Ackley</a:t>
            </a: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86A5F43E-5BCE-4F9B-8DCE-209294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3867912"/>
            <a:ext cx="685800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SUR did not help</a:t>
            </a:r>
          </a:p>
        </p:txBody>
      </p:sp>
      <p:sp>
        <p:nvSpPr>
          <p:cNvPr id="168" name="Google Shape;168;p7">
            <a:extLst xmlns:a="http://schemas.openxmlformats.org/drawingml/2006/main">
              <a:ext uri="{FF2B5EF4-FFF2-40B4-BE49-F238E27FC236}">
                <a16:creationId xmlns:a16="http://schemas.microsoft.com/office/drawing/2014/main" id="{145F9010-7029-495B-B7DB-19DB1E0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4572000"/>
            <a:ext cx="2907792" cy="73152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0150" cmpd="sng">
            <a:solidFill>
              <a:srgbClr val="FED7A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5E225263-EFAB-4A3D-8ACB-A210C3D7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09160"/>
            <a:ext cx="11887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Safe wording</a:t>
            </a:r>
          </a:p>
        </p:txBody>
      </p:sp>
      <p:sp>
        <p:nvSpPr>
          <p:cNvPr id="170" name="Google Shape;170;p7">
            <a:extLst xmlns:a="http://schemas.openxmlformats.org/drawingml/2006/main">
              <a:ext uri="{FF2B5EF4-FFF2-40B4-BE49-F238E27FC236}">
                <a16:creationId xmlns:a16="http://schemas.microsoft.com/office/drawing/2014/main" id="{DA9C74D6-3B3A-426C-914F-703AA59F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956048"/>
            <a:ext cx="251460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Use GPC-SUR as a focused diagnostic, not as the default expensive acquisition loop.</a:t>
            </a:r>
          </a:p>
        </p:txBody>
      </p:sp>
      <p:cxnSp>
        <p:nvCxnSpPr>
          <p:cNvPr id="236" name="Google Shape;171;p7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7">
            <a:extLst xmlns:a="http://schemas.openxmlformats.org/drawingml/2006/main">
              <a:ext uri="{FF2B5EF4-FFF2-40B4-BE49-F238E27FC236}">
                <a16:creationId xmlns:a16="http://schemas.microsoft.com/office/drawing/2014/main" id="{17CE0911-0117-4194-9C8E-3BA8EF3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- 18</a:t>
            </a:r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7E348F6B-B4F5-4DD9-851B-450FC133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0d2f84019474c"/>
          <a:stretch xmlns:a="http://schemas.openxmlformats.org/drawingml/2006/main"/>
        </p:blipFill>
        <p:spPr>
          <a:xfrm xmlns:a="http://schemas.openxmlformats.org/drawingml/2006/main">
            <a:off x="502920" y="1545336"/>
            <a:ext cx="7406640" cy="39502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114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E6AC6433-5C7C-4BB7-AA39-49443CC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12700" cmpd="sng">
            <a:solidFill>
              <a:srgbClr val="1F2A4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011331CC-A18C-4A6E-9E60-AB5782C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What we have tried so far</a:t>
            </a:r>
          </a:p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FB14AADD-007B-4674-BE3F-A86F6CE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Experiment Inventory</a:t>
            </a:r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5BD9F6F-A802-46F1-BCCA-282151A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25296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work after Week 3 is now a broad acquisition and surrogate benchmark suite.</a:t>
            </a:r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6C04877-209D-4F90-A30D-F571ADCB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1101852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672EAFE1-0362-4780-A4ED-DAFB3DA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01952"/>
            <a:ext cx="10424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Goal: preserve a compact comparison set for Ioan while showing that we explored the design space seriously.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D89CB9FC-571C-495E-8F85-F85A8ED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58568"/>
            <a:ext cx="101955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B5563"/>
                </a:solidFill>
                <a:latin typeface="Arial"/>
                <a:ea typeface="Arial"/>
                <a:cs typeface="Arial"/>
              </a:rPr>
              <a:t>Coverage includes original acquisition rules, diversity and gating, lookahead, geometry, fixed and optimized GPC, IVR/SUR, and Hartmann4 validation.</a:t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3CB94A7D-9862-41F3-AE2E-30B51C6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6492C47-E85C-46D7-8741-DC80167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BFA2F779-BFD7-4F90-804D-97FC394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benchmarks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6EAEA04-D1F2-4681-A792-5549602D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0A97021-A2E3-4921-B553-9198A73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F8B6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84392C0F-236E-40EB-BB6A-4638F52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surrogate families</a:t>
            </a: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4B4F5248-524A-46FB-9652-12F915F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A68CF452-14D7-4611-9AED-F285E30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5+</a:t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5C42CE2B-E768-41F2-A563-780FB17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experiment blocks</a:t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06D2A714-95B7-41F8-852E-F8E266EE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2D1E5C83-782B-4690-8C0D-DD6903E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6B7280"/>
                </a:solidFill>
                <a:latin typeface="Arial"/>
                <a:ea typeface="Arial"/>
                <a:cs typeface="Arial"/>
              </a:rPr>
              <a:t>q20/q30</a:t>
            </a: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6AD6CBFA-DCB9-4B3E-BC1A-5744998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primary boundary metrics</a:t>
            </a:r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419A34CC-F241-429C-BB3D-B1B294E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246120"/>
            <a:ext cx="1920240" cy="1143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5F197FF8-68BB-4C7B-85C0-7A926B18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3392424"/>
            <a:ext cx="173736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4337E173-E6AE-43F3-AAA3-777F5B3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49040"/>
            <a:ext cx="17007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4B5563"/>
                </a:solidFill>
                <a:latin typeface="Arial"/>
                <a:ea typeface="Arial"/>
                <a:cs typeface="Arial"/>
              </a:rPr>
              <a:t>primary seeds</a:t>
            </a:r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7E45630A-85DB-4925-99F3-4D22CF8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23360"/>
            <a:ext cx="1700784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6B7280"/>
                </a:solidFill>
                <a:latin typeface="Arial"/>
                <a:ea typeface="Arial"/>
                <a:cs typeface="Arial"/>
              </a:rPr>
              <a:t>plus diagnostics</a:t>
            </a:r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2610DA9B-BDDD-47E8-B682-BA4FC6E7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0600"/>
            <a:ext cx="10442448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0150" cmpd="sng">
            <a:solidFill>
              <a:srgbClr val="BBF7D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1E80C67B-F351-4CA7-8C8B-3C805D4F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10912"/>
            <a:ext cx="100401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Main message: the project is no longer a single Ackley run; it is a benchmarked search over what actually survives transfer.</a:t>
            </a:r>
          </a:p>
        </p:txBody>
      </p:sp>
      <p:cxnSp>
        <p:nvCxnSpPr>
          <p:cNvPr id="91" name="Google Shape;37;p3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15D9547D-E27C-46AC-97D8-93C0D4A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- 19</a:t>
            </a:r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48AAD136-07B5-40A8-90FA-D6C6686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99708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2FC110D4-64C9-4E0C-BC7E-BE8083E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1F2A44"/>
                </a:solidFill>
                <a:latin typeface="Play"/>
                <a:ea typeface="Play"/>
                <a:cs typeface="Play"/>
              </a:rPr>
              <a:t>What this teaches us</a:t>
            </a:r>
          </a:p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5E6B99FE-0056-455A-BFB8-73B49222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713232"/>
            <a:ext cx="105156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defensible conclusion is not one magic acquisition function; it is a disciplined comparison strategy.</a:t>
            </a:r>
          </a:p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FFE2D9A2-71E6-430C-93E8-91826C9E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5394960" cy="4297680"/>
          </a:xfrm>
          <a:prstGeom xmlns:a="http://schemas.openxmlformats.org/drawingml/2006/main" prst="roundRect">
            <a:avLst>
              <a:gd name="adj" fmla="val 19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50" cmpd="sng">
            <a:solidFill>
              <a:srgbClr val="D9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50800" dir="2700000" algn="bl" rotWithShape="0">
              <a:srgbClr val="000000">
                <a:alpha val="7843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E5FFB68F-3CFB-4608-9121-839097C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91640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Discussion points for Ioan</a:t>
            </a:r>
          </a:p>
        </p:txBody>
      </p:sp>
      <p:sp>
        <p:nvSpPr>
          <p:cNvPr id="270" name="Google Shape;270;p12">
            <a:extLst xmlns:a="http://schemas.openxmlformats.org/drawingml/2006/main">
              <a:ext uri="{FF2B5EF4-FFF2-40B4-BE49-F238E27FC236}">
                <a16:creationId xmlns:a16="http://schemas.microsoft.com/office/drawing/2014/main" id="{EE593B50-BC87-4F4A-9340-FFEF2B2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14884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1" name="Google Shape;271;p12">
            <a:extLst xmlns:a="http://schemas.openxmlformats.org/drawingml/2006/main">
              <a:ext uri="{FF2B5EF4-FFF2-40B4-BE49-F238E27FC236}">
                <a16:creationId xmlns:a16="http://schemas.microsoft.com/office/drawing/2014/main" id="{1CFEB90E-D387-41A6-A1F0-043E7A8C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5341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straddle, randomized straddle, expected feasibility, and classifier repulsion as core baselines.</a:t>
            </a:r>
          </a:p>
        </p:txBody>
      </p:sp>
      <p:sp>
        <p:nvSpPr>
          <p:cNvPr id="272" name="Google Shape;272;p12">
            <a:extLst xmlns:a="http://schemas.openxmlformats.org/drawingml/2006/main">
              <a:ext uri="{FF2B5EF4-FFF2-40B4-BE49-F238E27FC236}">
                <a16:creationId xmlns:a16="http://schemas.microsoft.com/office/drawing/2014/main" id="{492FAF73-5457-44E3-AE22-F9BED7BD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3" name="Google Shape;273;p12">
            <a:extLst xmlns:a="http://schemas.openxmlformats.org/drawingml/2006/main">
              <a:ext uri="{FF2B5EF4-FFF2-40B4-BE49-F238E27FC236}">
                <a16:creationId xmlns:a16="http://schemas.microsoft.com/office/drawing/2014/main" id="{84C9DABF-2C6C-46E6-A59A-6C5AB02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1917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q20/q30 near-boundary error as primary evidence beside global error.</a:t>
            </a:r>
          </a:p>
        </p:txBody>
      </p:sp>
      <p:sp>
        <p:nvSpPr>
          <p:cNvPr id="274" name="Google Shape;274;p12">
            <a:extLst xmlns:a="http://schemas.openxmlformats.org/drawingml/2006/main">
              <a:ext uri="{FF2B5EF4-FFF2-40B4-BE49-F238E27FC236}">
                <a16:creationId xmlns:a16="http://schemas.microsoft.com/office/drawing/2014/main" id="{F06167CC-EF23-4C9B-BFC6-12210FED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8036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5" name="Google Shape;275;p12">
            <a:extLst xmlns:a="http://schemas.openxmlformats.org/drawingml/2006/main">
              <a:ext uri="{FF2B5EF4-FFF2-40B4-BE49-F238E27FC236}">
                <a16:creationId xmlns:a16="http://schemas.microsoft.com/office/drawing/2014/main" id="{CFCB0D07-AD5C-41B6-96DC-358D8A0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8493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Do not treat lower uncertainty-region or Bernoulli uncertainty as success by itself.</a:t>
            </a:r>
          </a:p>
        </p:txBody>
      </p:sp>
      <p:sp>
        <p:nvSpPr>
          <p:cNvPr id="276" name="Google Shape;276;p12">
            <a:extLst xmlns:a="http://schemas.openxmlformats.org/drawingml/2006/main">
              <a:ext uri="{FF2B5EF4-FFF2-40B4-BE49-F238E27FC236}">
                <a16:creationId xmlns:a16="http://schemas.microsoft.com/office/drawing/2014/main" id="{DE8FBADC-DC3D-4275-8553-3C73FBA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7" name="Google Shape;277;p12">
            <a:extLst xmlns:a="http://schemas.openxmlformats.org/drawingml/2006/main">
              <a:ext uri="{FF2B5EF4-FFF2-40B4-BE49-F238E27FC236}">
                <a16:creationId xmlns:a16="http://schemas.microsoft.com/office/drawing/2014/main" id="{274E0BC4-FABD-4A58-AFF3-8FC2F227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5069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optimized GPC as important on Branin, but do not claim it solves Ackley4.</a:t>
            </a:r>
          </a:p>
        </p:txBody>
      </p:sp>
      <p:sp>
        <p:nvSpPr>
          <p:cNvPr id="278" name="Google Shape;278;p12">
            <a:extLst xmlns:a="http://schemas.openxmlformats.org/drawingml/2006/main">
              <a:ext uri="{FF2B5EF4-FFF2-40B4-BE49-F238E27FC236}">
                <a16:creationId xmlns:a16="http://schemas.microsoft.com/office/drawing/2014/main" id="{F5C5F1EE-1B71-4C40-9E8A-71C5D79E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1188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9" name="Google Shape;279;p12">
            <a:extLst xmlns:a="http://schemas.openxmlformats.org/drawingml/2006/main">
              <a:ext uri="{FF2B5EF4-FFF2-40B4-BE49-F238E27FC236}">
                <a16:creationId xmlns:a16="http://schemas.microsoft.com/office/drawing/2014/main" id="{65D201EB-46C5-4FC5-B8F2-2280E4D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1645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Keep GPC-SUR as a Hartmann-like diagnostic, not a default runtime-heavy method.</a:t>
            </a:r>
          </a:p>
        </p:txBody>
      </p:sp>
      <p:sp>
        <p:nvSpPr>
          <p:cNvPr id="280" name="Google Shape;280;p12">
            <a:extLst xmlns:a="http://schemas.openxmlformats.org/drawingml/2006/main">
              <a:ext uri="{FF2B5EF4-FFF2-40B4-BE49-F238E27FC236}">
                <a16:creationId xmlns:a16="http://schemas.microsoft.com/office/drawing/2014/main" id="{4E43A0F8-FF7D-4D5F-B4AC-733E508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977640"/>
            <a:ext cx="164592" cy="14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1" name="Google Shape;281;p12">
            <a:extLst xmlns:a="http://schemas.openxmlformats.org/drawingml/2006/main">
              <a:ext uri="{FF2B5EF4-FFF2-40B4-BE49-F238E27FC236}">
                <a16:creationId xmlns:a16="http://schemas.microsoft.com/office/drawing/2014/main" id="{B6000917-2138-43F3-A4FD-198B490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82212"/>
            <a:ext cx="44805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Next decision: stop adding variants and move toward calibration plus melt-pool data interface.</a:t>
            </a:r>
          </a:p>
        </p:txBody>
      </p:sp>
      <p:cxnSp>
        <p:nvCxnSpPr>
          <p:cNvPr id="318" name="Google Shape;282;p12"/>
          <p:cNvCxnSpPr/>
          <p:nvPr/>
        </p:nvCxnSpPr>
        <p:spPr>
          <a:xfrm xmlns:a="http://schemas.openxmlformats.org/drawingml/2006/main">
            <a:off x="502920" y="644652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12">
            <a:extLst xmlns:a="http://schemas.openxmlformats.org/drawingml/2006/main">
              <a:ext uri="{FF2B5EF4-FFF2-40B4-BE49-F238E27FC236}">
                <a16:creationId xmlns:a16="http://schemas.microsoft.com/office/drawing/2014/main" id="{ED9CBF21-6731-44A1-824C-967B061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9672"/>
            <a:ext cx="896112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Week 3-7 update - Sample-Efficient Active Level-Set Estimation - 20</a:t>
            </a:r>
          </a:p>
        </p:txBody>
      </p:sp>
      <p:sp>
        <p:nvSpPr>
          <p:cNvPr id="284" name="Google Shape;284;p12">
            <a:extLst xmlns:a="http://schemas.openxmlformats.org/drawingml/2006/main">
              <a:ext uri="{FF2B5EF4-FFF2-40B4-BE49-F238E27FC236}">
                <a16:creationId xmlns:a16="http://schemas.microsoft.com/office/drawing/2014/main" id="{4385F976-7178-4F02-A197-F7B128F7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49224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780">
                <a:solidFill>
                  <a:srgbClr val="6B72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76596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2026-07-03T00:17:46.3400000Z</dcterms:created>
  <dcterms:modified xsi:type="dcterms:W3CDTF">2026-07-03T00:17:46.3400000Z</dcterms:modified>
</coreProperties>
</file>