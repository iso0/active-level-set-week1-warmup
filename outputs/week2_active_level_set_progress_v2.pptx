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27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the Week 2 progress overview. The central message is that the acquisition comparison is now running under a fair fixed-loop design. I kept the Week 1 Branin setup fixed and changed only the acquisition rule. The result is that boundary-aware rules clearly outperform random, while randomized straddle is the best method in this run but should not be overclaimed as a final conclusion.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comparison is fair. The point is not just that the methods are different; the important part is that everything except the acquisition rule is fixed. Within each seed, the methods start from the same six labelled points and evaluate on the same 4,000 test points. This makes the result much easier to interpret.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define the five rules in plain language. The first three match Ioan’s Week 2 brief: random, smallest absolute mean, and straddle. I also included two useful extensions: randomized straddle and expected feasibility. I should emphasize that these are still heuristic rules under the GP-regression stand-in, not the final GP classifier or final thesis method.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curve figure. The y-axis is misclassification error on 4,000 independent Branin test points. The important message is not that every curve decreases at every single step. The important message is the separation between random and the boundary-aware methods. Random remains clearly higher, while the boundary-aware methods finish close to six or seven percent.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final ranking at budget 50. Randomized straddle has the lowest mean final error at 6.02 percent, followed very closely by straddle at 6.20 percent. I should not overclaim this difference because it is small and the experiment still uses only five seeds on one synthetic benchmark. The stronger conclusion is that all boundary-aware rules perform much better than random.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translates the curves into a simple sample-efficiency proxy. The chosen tolerance is eight percent misclassification error on the test set. Randomized straddle reaches this threshold at n equals 32 on the mean curve, while smallest absolute mean reaches it at n equals 39 and random does not reach it. I should emphasize that this is only a test-error proxy, not a geometric boundary-distance measure.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qualitative check. The black curve is the exact thresholded-Branin boundary, and the stars are the shared initial points. Random samples without using the GP boundary or uncertainty. The other methods use the latent mean and uncertainty to choose points that should be more informative for the boundary. I should not make a strong claim from this plot alone; it supports the quantitative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best-method snapshot slide. For seed zero, randomized straddle reduces the test error from 25.1 percent to 9.9 percent and then to 6.2 percent. The black contour is the GP boundary mu equals zero, and the yellow dashed contour is the exact Branin threshold boundary. The boundary is not perfect, but it becomes much more informative with only 50 labels.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included to avoid overclaiming randomized straddle. Straddle is extremely close in final error. Therefore, my conclusion should be that boundary-aware and uncertainty-aware rules are useful, not that randomized straddle is definitively the best acquisition function. More seeds, benchmarks, or a geometric metric are needed for stronger ranking claims.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Week 2 is complete as a first fair comparison. I would ask Ioan whether he considers this enough for Week 2 and what he wants next. My suggested next step is to strengthen the synthetic benchmark, either with a geometric boundary-distance metric or a controlled boundary-width sweep, before moving toward higher-dimensional or real laser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F2A44"/>
          </a:solidFill>
          <a:ln w="12700">
            <a:solidFill>
              <a:srgbClr val="1F2A44"/>
            </a:solidFill>
            <a:prstDash val="solid"/>
          </a:ln>
        </p:spPr>
        <p:txBody>
          <a:bodyPr/>
          <a:lstStyle/>
          <a:p>
            <a:endParaRPr lang="en-US"/>
          </a:p>
        </p:txBody>
      </p:sp>
      <p:sp>
        <p:nvSpPr>
          <p:cNvPr id="3" name="Text 1"/>
          <p:cNvSpPr/>
          <p:nvPr/>
        </p:nvSpPr>
        <p:spPr>
          <a:xfrm>
            <a:off x="566928" y="502920"/>
            <a:ext cx="10789920" cy="365760"/>
          </a:xfrm>
          <a:prstGeom prst="rect">
            <a:avLst/>
          </a:prstGeom>
          <a:noFill/>
          <a:ln/>
        </p:spPr>
        <p:txBody>
          <a:bodyPr wrap="square" lIns="0" tIns="0" rIns="0" bIns="0" rtlCol="0" anchor="ctr"/>
          <a:lstStyle/>
          <a:p>
            <a:pPr marL="0" indent="0">
              <a:buNone/>
            </a:pPr>
            <a:r>
              <a:rPr lang="en-US" sz="2200" b="1" dirty="0">
                <a:solidFill>
                  <a:srgbClr val="1F2A44"/>
                </a:solidFill>
                <a:latin typeface="Aptos Display" pitchFamily="34" charset="0"/>
                <a:ea typeface="Aptos Display" pitchFamily="34" charset="-122"/>
                <a:cs typeface="Aptos Display" pitchFamily="34" charset="-120"/>
              </a:rPr>
              <a:t>Week 2 — Active Level-Set Estimation</a:t>
            </a:r>
            <a:endParaRPr lang="en-US" sz="2200" dirty="0"/>
          </a:p>
        </p:txBody>
      </p:sp>
      <p:sp>
        <p:nvSpPr>
          <p:cNvPr id="4" name="Text 2"/>
          <p:cNvSpPr/>
          <p:nvPr/>
        </p:nvSpPr>
        <p:spPr>
          <a:xfrm>
            <a:off x="566928" y="969264"/>
            <a:ext cx="2286000" cy="228600"/>
          </a:xfrm>
          <a:prstGeom prst="rect">
            <a:avLst/>
          </a:prstGeom>
          <a:noFill/>
          <a:ln/>
        </p:spPr>
        <p:txBody>
          <a:bodyPr wrap="square" lIns="0" tIns="0" rIns="0" bIns="0" rtlCol="0" anchor="ctr"/>
          <a:lstStyle/>
          <a:p>
            <a:pPr marL="0" indent="0">
              <a:buNone/>
            </a:pPr>
            <a:r>
              <a:rPr lang="en-US" sz="1100" b="1" dirty="0">
                <a:solidFill>
                  <a:srgbClr val="2B6CB0"/>
                </a:solidFill>
              </a:rPr>
              <a:t>Week 2 Progress</a:t>
            </a:r>
            <a:endParaRPr lang="en-US" sz="1100" dirty="0"/>
          </a:p>
        </p:txBody>
      </p:sp>
      <p:sp>
        <p:nvSpPr>
          <p:cNvPr id="5" name="Text 3"/>
          <p:cNvSpPr/>
          <p:nvPr/>
        </p:nvSpPr>
        <p:spPr>
          <a:xfrm>
            <a:off x="566928" y="1225296"/>
            <a:ext cx="10515600" cy="228600"/>
          </a:xfrm>
          <a:prstGeom prst="rect">
            <a:avLst/>
          </a:prstGeom>
          <a:noFill/>
          <a:ln/>
        </p:spPr>
        <p:txBody>
          <a:bodyPr wrap="square" lIns="0" tIns="0" rIns="0" bIns="0" rtlCol="0" anchor="ctr"/>
          <a:lstStyle/>
          <a:p>
            <a:pPr marL="0" indent="0">
              <a:buNone/>
            </a:pPr>
            <a:r>
              <a:rPr lang="en-US" sz="1100" dirty="0">
                <a:solidFill>
                  <a:srgbClr val="4B5563"/>
                </a:solidFill>
              </a:rPr>
              <a:t>Sample-Efficient Active Level-Set Estimation, with an Application to Melt-Pool Regime Boundaries</a:t>
            </a:r>
            <a:endParaRPr lang="en-US" sz="1100" dirty="0"/>
          </a:p>
        </p:txBody>
      </p:sp>
      <p:sp>
        <p:nvSpPr>
          <p:cNvPr id="6" name="Shape 4"/>
          <p:cNvSpPr/>
          <p:nvPr/>
        </p:nvSpPr>
        <p:spPr>
          <a:xfrm>
            <a:off x="566928" y="1737360"/>
            <a:ext cx="11018520" cy="1143000"/>
          </a:xfrm>
          <a:prstGeom prst="roundRect">
            <a:avLst>
              <a:gd name="adj" fmla="val 72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sz="2000" dirty="0"/>
          </a:p>
        </p:txBody>
      </p:sp>
      <p:sp>
        <p:nvSpPr>
          <p:cNvPr id="7" name="Text 5"/>
          <p:cNvSpPr/>
          <p:nvPr/>
        </p:nvSpPr>
        <p:spPr>
          <a:xfrm>
            <a:off x="841248" y="1901952"/>
            <a:ext cx="10424160" cy="256032"/>
          </a:xfrm>
          <a:prstGeom prst="rect">
            <a:avLst/>
          </a:prstGeom>
          <a:noFill/>
          <a:ln/>
        </p:spPr>
        <p:txBody>
          <a:bodyPr wrap="square" lIns="0" tIns="0" rIns="0" bIns="0" rtlCol="0" anchor="ctr"/>
          <a:lstStyle/>
          <a:p>
            <a:pPr marL="0" indent="0">
              <a:buNone/>
            </a:pPr>
            <a:r>
              <a:rPr lang="en-US" sz="1300" b="1" dirty="0">
                <a:solidFill>
                  <a:srgbClr val="1F2A44"/>
                </a:solidFill>
              </a:rPr>
              <a:t>Goal: compare acquisition rules fairly on the fixed thresholded-Branin loop.</a:t>
            </a:r>
            <a:endParaRPr lang="en-US" sz="1300" dirty="0"/>
          </a:p>
        </p:txBody>
      </p:sp>
      <p:sp>
        <p:nvSpPr>
          <p:cNvPr id="8" name="Text 6"/>
          <p:cNvSpPr/>
          <p:nvPr/>
        </p:nvSpPr>
        <p:spPr>
          <a:xfrm>
            <a:off x="841248" y="2258568"/>
            <a:ext cx="10195560" cy="347472"/>
          </a:xfrm>
          <a:prstGeom prst="rect">
            <a:avLst/>
          </a:prstGeom>
          <a:noFill/>
          <a:ln/>
        </p:spPr>
        <p:txBody>
          <a:bodyPr wrap="square" lIns="0" tIns="0" rIns="0" bIns="0" rtlCol="0" anchor="ctr">
            <a:normAutofit/>
          </a:bodyPr>
          <a:lstStyle/>
          <a:p>
            <a:pPr marL="0" indent="0">
              <a:buNone/>
            </a:pPr>
            <a:r>
              <a:rPr lang="en-US" sz="1200" dirty="0">
                <a:solidFill>
                  <a:srgbClr val="4B5563"/>
                </a:solidFill>
              </a:rPr>
              <a:t>The loop, data, GP regressor stand-in, initial labels, test set and budget are held fixed. Only the next-point selection rule changes.</a:t>
            </a:r>
            <a:endParaRPr lang="en-US" sz="1200" dirty="0"/>
          </a:p>
        </p:txBody>
      </p:sp>
      <p:sp>
        <p:nvSpPr>
          <p:cNvPr id="9" name="Shape 7"/>
          <p:cNvSpPr/>
          <p:nvPr/>
        </p:nvSpPr>
        <p:spPr>
          <a:xfrm>
            <a:off x="658368" y="3246120"/>
            <a:ext cx="1920240" cy="1143000"/>
          </a:xfrm>
          <a:prstGeom prst="roundRect">
            <a:avLst>
              <a:gd name="adj" fmla="val 72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10" name="Text 8"/>
          <p:cNvSpPr/>
          <p:nvPr/>
        </p:nvSpPr>
        <p:spPr>
          <a:xfrm>
            <a:off x="749808" y="3392424"/>
            <a:ext cx="1737360" cy="301752"/>
          </a:xfrm>
          <a:prstGeom prst="rect">
            <a:avLst/>
          </a:prstGeom>
          <a:noFill/>
          <a:ln/>
        </p:spPr>
        <p:txBody>
          <a:bodyPr wrap="square" lIns="0" tIns="0" rIns="0" bIns="0" rtlCol="0" anchor="ctr"/>
          <a:lstStyle/>
          <a:p>
            <a:pPr marL="0" indent="0" algn="ctr">
              <a:buNone/>
            </a:pPr>
            <a:r>
              <a:rPr lang="en-US" sz="2000" b="1" dirty="0">
                <a:solidFill>
                  <a:srgbClr val="1F2A44"/>
                </a:solidFill>
              </a:rPr>
              <a:t>5</a:t>
            </a:r>
            <a:endParaRPr lang="en-US" sz="2000" dirty="0"/>
          </a:p>
        </p:txBody>
      </p:sp>
      <p:sp>
        <p:nvSpPr>
          <p:cNvPr id="11" name="Text 9"/>
          <p:cNvSpPr/>
          <p:nvPr/>
        </p:nvSpPr>
        <p:spPr>
          <a:xfrm>
            <a:off x="768096" y="3749040"/>
            <a:ext cx="1700784" cy="25603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acquisition rules</a:t>
            </a:r>
            <a:endParaRPr lang="en-US" sz="1000" dirty="0"/>
          </a:p>
        </p:txBody>
      </p:sp>
      <p:sp>
        <p:nvSpPr>
          <p:cNvPr id="12" name="Shape 10"/>
          <p:cNvSpPr/>
          <p:nvPr/>
        </p:nvSpPr>
        <p:spPr>
          <a:xfrm>
            <a:off x="2788920" y="3246120"/>
            <a:ext cx="1920240" cy="1143000"/>
          </a:xfrm>
          <a:prstGeom prst="roundRect">
            <a:avLst>
              <a:gd name="adj" fmla="val 72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13" name="Text 11"/>
          <p:cNvSpPr/>
          <p:nvPr/>
        </p:nvSpPr>
        <p:spPr>
          <a:xfrm>
            <a:off x="2880360" y="3392424"/>
            <a:ext cx="1737360" cy="301752"/>
          </a:xfrm>
          <a:prstGeom prst="rect">
            <a:avLst/>
          </a:prstGeom>
          <a:noFill/>
          <a:ln/>
        </p:spPr>
        <p:txBody>
          <a:bodyPr wrap="square" lIns="0" tIns="0" rIns="0" bIns="0" rtlCol="0" anchor="ctr"/>
          <a:lstStyle/>
          <a:p>
            <a:pPr marL="0" indent="0" algn="ctr">
              <a:buNone/>
            </a:pPr>
            <a:r>
              <a:rPr lang="en-US" sz="2000" b="1" dirty="0">
                <a:solidFill>
                  <a:srgbClr val="0F8B61"/>
                </a:solidFill>
              </a:rPr>
              <a:t>5</a:t>
            </a:r>
            <a:endParaRPr lang="en-US" sz="2000" dirty="0"/>
          </a:p>
        </p:txBody>
      </p:sp>
      <p:sp>
        <p:nvSpPr>
          <p:cNvPr id="14" name="Text 12"/>
          <p:cNvSpPr/>
          <p:nvPr/>
        </p:nvSpPr>
        <p:spPr>
          <a:xfrm>
            <a:off x="2898648" y="3749040"/>
            <a:ext cx="1700784" cy="25603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seeds</a:t>
            </a:r>
            <a:endParaRPr lang="en-US" sz="1000" dirty="0"/>
          </a:p>
        </p:txBody>
      </p:sp>
      <p:sp>
        <p:nvSpPr>
          <p:cNvPr id="15" name="Shape 13"/>
          <p:cNvSpPr/>
          <p:nvPr/>
        </p:nvSpPr>
        <p:spPr>
          <a:xfrm>
            <a:off x="4919472" y="3246120"/>
            <a:ext cx="1920240" cy="1143000"/>
          </a:xfrm>
          <a:prstGeom prst="roundRect">
            <a:avLst>
              <a:gd name="adj" fmla="val 72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16" name="Text 14"/>
          <p:cNvSpPr/>
          <p:nvPr/>
        </p:nvSpPr>
        <p:spPr>
          <a:xfrm>
            <a:off x="5010912" y="3392424"/>
            <a:ext cx="1737360" cy="301752"/>
          </a:xfrm>
          <a:prstGeom prst="rect">
            <a:avLst/>
          </a:prstGeom>
          <a:noFill/>
          <a:ln/>
        </p:spPr>
        <p:txBody>
          <a:bodyPr wrap="square" lIns="0" tIns="0" rIns="0" bIns="0" rtlCol="0" anchor="ctr"/>
          <a:lstStyle/>
          <a:p>
            <a:pPr marL="0" indent="0" algn="ctr">
              <a:buNone/>
            </a:pPr>
            <a:r>
              <a:rPr lang="en-US" sz="2000" b="1" dirty="0">
                <a:solidFill>
                  <a:srgbClr val="2B6CB0"/>
                </a:solidFill>
              </a:rPr>
              <a:t>6 → 50</a:t>
            </a:r>
            <a:endParaRPr lang="en-US" sz="2000" dirty="0"/>
          </a:p>
        </p:txBody>
      </p:sp>
      <p:sp>
        <p:nvSpPr>
          <p:cNvPr id="17" name="Text 15"/>
          <p:cNvSpPr/>
          <p:nvPr/>
        </p:nvSpPr>
        <p:spPr>
          <a:xfrm>
            <a:off x="5029200" y="3749040"/>
            <a:ext cx="1700784" cy="25603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labelled evaluations</a:t>
            </a:r>
            <a:endParaRPr lang="en-US" sz="1000" dirty="0"/>
          </a:p>
        </p:txBody>
      </p:sp>
      <p:sp>
        <p:nvSpPr>
          <p:cNvPr id="18" name="Shape 16"/>
          <p:cNvSpPr/>
          <p:nvPr/>
        </p:nvSpPr>
        <p:spPr>
          <a:xfrm>
            <a:off x="7050024" y="3246120"/>
            <a:ext cx="1920240" cy="1143000"/>
          </a:xfrm>
          <a:prstGeom prst="roundRect">
            <a:avLst>
              <a:gd name="adj" fmla="val 72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19" name="Text 17"/>
          <p:cNvSpPr/>
          <p:nvPr/>
        </p:nvSpPr>
        <p:spPr>
          <a:xfrm>
            <a:off x="7141464" y="3392424"/>
            <a:ext cx="1737360" cy="301752"/>
          </a:xfrm>
          <a:prstGeom prst="rect">
            <a:avLst/>
          </a:prstGeom>
          <a:noFill/>
          <a:ln/>
        </p:spPr>
        <p:txBody>
          <a:bodyPr wrap="square" lIns="0" tIns="0" rIns="0" bIns="0" rtlCol="0" anchor="ctr"/>
          <a:lstStyle/>
          <a:p>
            <a:pPr marL="0" indent="0" algn="ctr">
              <a:buNone/>
            </a:pPr>
            <a:r>
              <a:rPr lang="en-US" sz="2000" b="1" dirty="0">
                <a:solidFill>
                  <a:srgbClr val="6B7280"/>
                </a:solidFill>
              </a:rPr>
              <a:t>35.2%</a:t>
            </a:r>
            <a:endParaRPr lang="en-US" sz="2000" dirty="0"/>
          </a:p>
        </p:txBody>
      </p:sp>
      <p:sp>
        <p:nvSpPr>
          <p:cNvPr id="20" name="Text 18"/>
          <p:cNvSpPr/>
          <p:nvPr/>
        </p:nvSpPr>
        <p:spPr>
          <a:xfrm>
            <a:off x="7159752" y="3749040"/>
            <a:ext cx="1700784" cy="25603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mean initial error</a:t>
            </a:r>
            <a:endParaRPr lang="en-US" sz="1000" dirty="0"/>
          </a:p>
        </p:txBody>
      </p:sp>
      <p:sp>
        <p:nvSpPr>
          <p:cNvPr id="21" name="Shape 19"/>
          <p:cNvSpPr/>
          <p:nvPr/>
        </p:nvSpPr>
        <p:spPr>
          <a:xfrm>
            <a:off x="9180576" y="3246120"/>
            <a:ext cx="1920240" cy="1143000"/>
          </a:xfrm>
          <a:prstGeom prst="roundRect">
            <a:avLst>
              <a:gd name="adj" fmla="val 72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22" name="Text 20"/>
          <p:cNvSpPr/>
          <p:nvPr/>
        </p:nvSpPr>
        <p:spPr>
          <a:xfrm>
            <a:off x="9272016" y="3392424"/>
            <a:ext cx="1737360" cy="301752"/>
          </a:xfrm>
          <a:prstGeom prst="rect">
            <a:avLst/>
          </a:prstGeom>
          <a:noFill/>
          <a:ln/>
        </p:spPr>
        <p:txBody>
          <a:bodyPr wrap="square" lIns="0" tIns="0" rIns="0" bIns="0" rtlCol="0" anchor="ctr"/>
          <a:lstStyle/>
          <a:p>
            <a:pPr marL="0" indent="0" algn="ctr">
              <a:buNone/>
            </a:pPr>
            <a:r>
              <a:rPr lang="en-US" sz="2000" b="1" dirty="0">
                <a:solidFill>
                  <a:srgbClr val="B7791F"/>
                </a:solidFill>
              </a:rPr>
              <a:t>6.0%</a:t>
            </a:r>
            <a:endParaRPr lang="en-US" sz="2000" dirty="0"/>
          </a:p>
        </p:txBody>
      </p:sp>
      <p:sp>
        <p:nvSpPr>
          <p:cNvPr id="23" name="Text 21"/>
          <p:cNvSpPr/>
          <p:nvPr/>
        </p:nvSpPr>
        <p:spPr>
          <a:xfrm>
            <a:off x="9290304" y="3749040"/>
            <a:ext cx="1700784" cy="25603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best mean final error</a:t>
            </a:r>
            <a:endParaRPr lang="en-US" sz="1000" dirty="0"/>
          </a:p>
        </p:txBody>
      </p:sp>
      <p:sp>
        <p:nvSpPr>
          <p:cNvPr id="24" name="Text 22"/>
          <p:cNvSpPr/>
          <p:nvPr/>
        </p:nvSpPr>
        <p:spPr>
          <a:xfrm>
            <a:off x="9290304" y="4023360"/>
            <a:ext cx="1700784" cy="146304"/>
          </a:xfrm>
          <a:prstGeom prst="rect">
            <a:avLst/>
          </a:prstGeom>
          <a:noFill/>
          <a:ln/>
        </p:spPr>
        <p:txBody>
          <a:bodyPr wrap="square" lIns="0" tIns="0" rIns="0" bIns="0" rtlCol="0" anchor="ctr"/>
          <a:lstStyle/>
          <a:p>
            <a:pPr marL="0" indent="0" algn="ctr">
              <a:buNone/>
            </a:pPr>
            <a:r>
              <a:rPr lang="en-US" sz="1000" dirty="0">
                <a:solidFill>
                  <a:srgbClr val="6B7280"/>
                </a:solidFill>
              </a:rPr>
              <a:t>randomized straddle</a:t>
            </a:r>
            <a:endParaRPr lang="en-US" sz="1000" dirty="0"/>
          </a:p>
        </p:txBody>
      </p:sp>
      <p:sp>
        <p:nvSpPr>
          <p:cNvPr id="25" name="Shape 23"/>
          <p:cNvSpPr/>
          <p:nvPr/>
        </p:nvSpPr>
        <p:spPr>
          <a:xfrm>
            <a:off x="658368" y="4800600"/>
            <a:ext cx="10442448" cy="713232"/>
          </a:xfrm>
          <a:prstGeom prst="roundRect">
            <a:avLst>
              <a:gd name="adj" fmla="val 11538"/>
            </a:avLst>
          </a:prstGeom>
          <a:solidFill>
            <a:srgbClr val="ECFDF5"/>
          </a:solidFill>
          <a:ln w="10160">
            <a:solidFill>
              <a:srgbClr val="BBF7D0"/>
            </a:solidFill>
            <a:prstDash val="solid"/>
          </a:ln>
        </p:spPr>
        <p:txBody>
          <a:bodyPr/>
          <a:lstStyle/>
          <a:p>
            <a:endParaRPr lang="en-US"/>
          </a:p>
        </p:txBody>
      </p:sp>
      <p:sp>
        <p:nvSpPr>
          <p:cNvPr id="26" name="Text 24"/>
          <p:cNvSpPr/>
          <p:nvPr/>
        </p:nvSpPr>
        <p:spPr>
          <a:xfrm>
            <a:off x="868680" y="5010912"/>
            <a:ext cx="10040112" cy="219456"/>
          </a:xfrm>
          <a:prstGeom prst="rect">
            <a:avLst/>
          </a:prstGeom>
          <a:noFill/>
          <a:ln/>
        </p:spPr>
        <p:txBody>
          <a:bodyPr wrap="square" lIns="0" tIns="0" rIns="0" bIns="0" rtlCol="0" anchor="ctr">
            <a:normAutofit/>
          </a:bodyPr>
          <a:lstStyle/>
          <a:p>
            <a:pPr marL="0" indent="0">
              <a:buNone/>
            </a:pPr>
            <a:r>
              <a:rPr lang="en-US" sz="1000" b="1" dirty="0">
                <a:solidFill>
                  <a:srgbClr val="1F2A44"/>
                </a:solidFill>
              </a:rPr>
              <a:t>Main message: </a:t>
            </a:r>
            <a:r>
              <a:rPr lang="en-US" sz="1100" b="1" dirty="0">
                <a:solidFill>
                  <a:srgbClr val="1F2A44"/>
                </a:solidFill>
              </a:rPr>
              <a:t>boundary-aware</a:t>
            </a:r>
            <a:r>
              <a:rPr lang="en-US" sz="1000" b="1" dirty="0">
                <a:solidFill>
                  <a:srgbClr val="1F2A44"/>
                </a:solidFill>
              </a:rPr>
              <a:t> rules finish clearly below random; randomized straddle is best in this run, with straddle very close.</a:t>
            </a:r>
            <a:endParaRPr lang="en-US" sz="1000" dirty="0"/>
          </a:p>
        </p:txBody>
      </p:sp>
      <p:sp>
        <p:nvSpPr>
          <p:cNvPr id="27" name="Shape 25"/>
          <p:cNvSpPr/>
          <p:nvPr/>
        </p:nvSpPr>
        <p:spPr>
          <a:xfrm>
            <a:off x="502920" y="6446520"/>
            <a:ext cx="11201400" cy="0"/>
          </a:xfrm>
          <a:prstGeom prst="line">
            <a:avLst/>
          </a:prstGeom>
          <a:noFill/>
          <a:ln w="8890">
            <a:solidFill>
              <a:srgbClr val="D9DEE8"/>
            </a:solidFill>
            <a:prstDash val="solid"/>
          </a:ln>
        </p:spPr>
        <p:txBody>
          <a:bodyPr/>
          <a:lstStyle/>
          <a:p>
            <a:endParaRPr lang="en-US"/>
          </a:p>
        </p:txBody>
      </p:sp>
      <p:sp>
        <p:nvSpPr>
          <p:cNvPr id="28" name="Text 26"/>
          <p:cNvSpPr/>
          <p:nvPr/>
        </p:nvSpPr>
        <p:spPr>
          <a:xfrm>
            <a:off x="502920" y="6519672"/>
            <a:ext cx="8961120" cy="164592"/>
          </a:xfrm>
          <a:prstGeom prst="rect">
            <a:avLst/>
          </a:prstGeom>
          <a:noFill/>
          <a:ln/>
        </p:spPr>
        <p:txBody>
          <a:bodyPr wrap="square" lIns="0" tIns="0" rIns="0" bIns="0" rtlCol="0" anchor="ctr"/>
          <a:lstStyle/>
          <a:p>
            <a:pPr marL="0" indent="0">
              <a:buNone/>
            </a:pPr>
            <a:r>
              <a:rPr lang="en-US" sz="780" dirty="0">
                <a:solidFill>
                  <a:srgbClr val="6B7280"/>
                </a:solidFill>
                <a:latin typeface="Aptos" pitchFamily="34" charset="0"/>
                <a:ea typeface="Aptos" pitchFamily="34" charset="-122"/>
                <a:cs typeface="Aptos" pitchFamily="34" charset="-120"/>
              </a:rPr>
              <a:t>Week 2 progress • Sample-Efficient Active Level-Set Estimation • 1</a:t>
            </a:r>
            <a:endParaRPr lang="en-US" sz="780" dirty="0"/>
          </a:p>
        </p:txBody>
      </p:sp>
      <p:sp>
        <p:nvSpPr>
          <p:cNvPr id="29" name="Text 27"/>
          <p:cNvSpPr/>
          <p:nvPr/>
        </p:nvSpPr>
        <p:spPr>
          <a:xfrm>
            <a:off x="11521440" y="6492240"/>
            <a:ext cx="228600" cy="164592"/>
          </a:xfrm>
          <a:prstGeom prst="rect">
            <a:avLst/>
          </a:prstGeom>
          <a:noFill/>
          <a:ln/>
        </p:spPr>
        <p:txBody>
          <a:bodyPr wrap="square" lIns="0" tIns="0" rIns="0" bIns="0" rtlCol="0" anchor="ctr"/>
          <a:lstStyle/>
          <a:p>
            <a:pPr marL="0" indent="0" algn="r">
              <a:buNone/>
            </a:pPr>
            <a:r>
              <a:rPr lang="en-US" sz="780" dirty="0">
                <a:solidFill>
                  <a:srgbClr val="6B7280"/>
                </a:solidFill>
              </a:rPr>
              <a:t>1</a:t>
            </a:r>
            <a:endParaRPr lang="en-US" sz="7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789920" cy="320040"/>
          </a:xfrm>
          <a:prstGeom prst="rect">
            <a:avLst/>
          </a:prstGeom>
          <a:noFill/>
          <a:ln/>
        </p:spPr>
        <p:txBody>
          <a:bodyPr wrap="square" lIns="0" tIns="0" rIns="0" bIns="0" rtlCol="0" anchor="ctr"/>
          <a:lstStyle/>
          <a:p>
            <a:pPr marL="0" indent="0">
              <a:buNone/>
            </a:pPr>
            <a:r>
              <a:rPr lang="en-US" sz="2200" b="1" dirty="0">
                <a:solidFill>
                  <a:srgbClr val="1F2A44"/>
                </a:solidFill>
                <a:latin typeface="Aptos Display" pitchFamily="34" charset="0"/>
                <a:ea typeface="Aptos Display" pitchFamily="34" charset="-122"/>
                <a:cs typeface="Aptos Display" pitchFamily="34" charset="-120"/>
              </a:rPr>
              <a:t>What Week 2 is testing</a:t>
            </a:r>
            <a:endParaRPr lang="en-US" sz="2200" dirty="0"/>
          </a:p>
        </p:txBody>
      </p:sp>
      <p:sp>
        <p:nvSpPr>
          <p:cNvPr id="3" name="Text 1"/>
          <p:cNvSpPr/>
          <p:nvPr/>
        </p:nvSpPr>
        <p:spPr>
          <a:xfrm>
            <a:off x="521208" y="713232"/>
            <a:ext cx="10515600" cy="237744"/>
          </a:xfrm>
          <a:prstGeom prst="rect">
            <a:avLst/>
          </a:prstGeom>
          <a:noFill/>
          <a:ln/>
        </p:spPr>
        <p:txBody>
          <a:bodyPr wrap="square" lIns="0" tIns="0" rIns="0" bIns="0" rtlCol="0" anchor="ctr"/>
          <a:lstStyle/>
          <a:p>
            <a:pPr marL="0" indent="0">
              <a:buNone/>
            </a:pPr>
            <a:r>
              <a:rPr lang="en-US" sz="950" dirty="0">
                <a:solidFill>
                  <a:srgbClr val="4B5563"/>
                </a:solidFill>
              </a:rPr>
              <a:t>A fair </a:t>
            </a:r>
            <a:r>
              <a:rPr lang="en-US" sz="1100" dirty="0">
                <a:solidFill>
                  <a:srgbClr val="4B5563"/>
                </a:solidFill>
              </a:rPr>
              <a:t>acquisition-rule</a:t>
            </a:r>
            <a:r>
              <a:rPr lang="en-US" sz="950" dirty="0">
                <a:solidFill>
                  <a:srgbClr val="4B5563"/>
                </a:solidFill>
              </a:rPr>
              <a:t> comparison: same active-learning problem, different next-point rules.</a:t>
            </a:r>
            <a:endParaRPr lang="en-US" sz="950" dirty="0"/>
          </a:p>
        </p:txBody>
      </p:sp>
      <p:sp>
        <p:nvSpPr>
          <p:cNvPr id="4" name="Shape 2"/>
          <p:cNvSpPr/>
          <p:nvPr/>
        </p:nvSpPr>
        <p:spPr>
          <a:xfrm>
            <a:off x="548640" y="1143000"/>
            <a:ext cx="11064240" cy="1005840"/>
          </a:xfrm>
          <a:prstGeom prst="roundRect">
            <a:avLst>
              <a:gd name="adj" fmla="val 8182"/>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5" name="Text 3"/>
          <p:cNvSpPr/>
          <p:nvPr/>
        </p:nvSpPr>
        <p:spPr>
          <a:xfrm>
            <a:off x="777240" y="1307592"/>
            <a:ext cx="1828800" cy="182880"/>
          </a:xfrm>
          <a:prstGeom prst="rect">
            <a:avLst/>
          </a:prstGeom>
          <a:noFill/>
          <a:ln/>
        </p:spPr>
        <p:txBody>
          <a:bodyPr wrap="square" lIns="0" tIns="0" rIns="0" bIns="0" rtlCol="0" anchor="ctr"/>
          <a:lstStyle/>
          <a:p>
            <a:pPr marL="0" indent="0">
              <a:buNone/>
            </a:pPr>
            <a:r>
              <a:rPr lang="en-US" sz="1200" b="1" dirty="0">
                <a:solidFill>
                  <a:srgbClr val="1F2A44"/>
                </a:solidFill>
              </a:rPr>
              <a:t>Fairness</a:t>
            </a:r>
            <a:r>
              <a:rPr lang="en-US" sz="1030" b="1" dirty="0">
                <a:solidFill>
                  <a:srgbClr val="1F2A44"/>
                </a:solidFill>
              </a:rPr>
              <a:t> principle</a:t>
            </a:r>
            <a:endParaRPr lang="en-US" sz="1030" dirty="0"/>
          </a:p>
        </p:txBody>
      </p:sp>
      <p:sp>
        <p:nvSpPr>
          <p:cNvPr id="6" name="Text 4"/>
          <p:cNvSpPr/>
          <p:nvPr/>
        </p:nvSpPr>
        <p:spPr>
          <a:xfrm>
            <a:off x="777240" y="1618488"/>
            <a:ext cx="10241280" cy="256032"/>
          </a:xfrm>
          <a:prstGeom prst="rect">
            <a:avLst/>
          </a:prstGeom>
          <a:noFill/>
          <a:ln/>
        </p:spPr>
        <p:txBody>
          <a:bodyPr wrap="square" lIns="0" tIns="0" rIns="0" bIns="0" rtlCol="0" anchor="ctr">
            <a:normAutofit/>
          </a:bodyPr>
          <a:lstStyle/>
          <a:p>
            <a:pPr marL="0" indent="0">
              <a:buNone/>
            </a:pPr>
            <a:r>
              <a:rPr lang="en-US" sz="900" dirty="0">
                <a:solidFill>
                  <a:srgbClr val="4B5563"/>
                </a:solidFill>
              </a:rPr>
              <a:t>For each </a:t>
            </a:r>
            <a:r>
              <a:rPr lang="en-US" sz="1100" dirty="0">
                <a:solidFill>
                  <a:srgbClr val="4B5563"/>
                </a:solidFill>
              </a:rPr>
              <a:t>seed</a:t>
            </a:r>
            <a:r>
              <a:rPr lang="en-US" sz="900" dirty="0">
                <a:solidFill>
                  <a:srgbClr val="4B5563"/>
                </a:solidFill>
              </a:rPr>
              <a:t>, all methods use the same Branin threshold, pool, test set, GP regressor, budget, and initial labelled points. Therefore, differences in error curves should come from the acquisition rule.</a:t>
            </a:r>
            <a:endParaRPr lang="en-US" sz="900" dirty="0"/>
          </a:p>
        </p:txBody>
      </p:sp>
      <p:sp>
        <p:nvSpPr>
          <p:cNvPr id="7" name="Shape 5"/>
          <p:cNvSpPr/>
          <p:nvPr/>
        </p:nvSpPr>
        <p:spPr>
          <a:xfrm>
            <a:off x="731520" y="2651760"/>
            <a:ext cx="1600200" cy="914400"/>
          </a:xfrm>
          <a:prstGeom prst="roundRect">
            <a:avLst>
              <a:gd name="adj" fmla="val 90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8" name="Text 6"/>
          <p:cNvSpPr/>
          <p:nvPr/>
        </p:nvSpPr>
        <p:spPr>
          <a:xfrm>
            <a:off x="841248" y="2816352"/>
            <a:ext cx="1380744" cy="164592"/>
          </a:xfrm>
          <a:prstGeom prst="rect">
            <a:avLst/>
          </a:prstGeom>
          <a:noFill/>
          <a:ln/>
        </p:spPr>
        <p:txBody>
          <a:bodyPr wrap="square" lIns="0" tIns="0" rIns="0" bIns="0" rtlCol="0" anchor="ctr">
            <a:noAutofit/>
          </a:bodyPr>
          <a:lstStyle/>
          <a:p>
            <a:pPr marL="0" indent="0" algn="ctr">
              <a:buNone/>
            </a:pPr>
            <a:r>
              <a:rPr lang="en-US" sz="1100" b="1" dirty="0">
                <a:solidFill>
                  <a:srgbClr val="1F2A44"/>
                </a:solidFill>
              </a:rPr>
              <a:t>Shared Branin</a:t>
            </a:r>
            <a:endParaRPr lang="en-US" sz="1100" dirty="0"/>
          </a:p>
        </p:txBody>
      </p:sp>
      <p:sp>
        <p:nvSpPr>
          <p:cNvPr id="9" name="Text 7"/>
          <p:cNvSpPr/>
          <p:nvPr/>
        </p:nvSpPr>
        <p:spPr>
          <a:xfrm>
            <a:off x="841248" y="3127248"/>
            <a:ext cx="1380744" cy="16459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τ = 29.121</a:t>
            </a:r>
            <a:endParaRPr lang="en-US" sz="1000" dirty="0"/>
          </a:p>
        </p:txBody>
      </p:sp>
      <p:sp>
        <p:nvSpPr>
          <p:cNvPr id="10" name="Shape 8"/>
          <p:cNvSpPr/>
          <p:nvPr/>
        </p:nvSpPr>
        <p:spPr>
          <a:xfrm>
            <a:off x="2395728" y="2980944"/>
            <a:ext cx="201168" cy="201168"/>
          </a:xfrm>
          <a:prstGeom prst="chevron">
            <a:avLst/>
          </a:prstGeom>
          <a:solidFill>
            <a:srgbClr val="9CA3AF"/>
          </a:solidFill>
          <a:ln w="12700">
            <a:solidFill>
              <a:srgbClr val="9CA3AF"/>
            </a:solidFill>
            <a:prstDash val="solid"/>
          </a:ln>
        </p:spPr>
        <p:txBody>
          <a:bodyPr/>
          <a:lstStyle/>
          <a:p>
            <a:endParaRPr lang="en-US"/>
          </a:p>
        </p:txBody>
      </p:sp>
      <p:sp>
        <p:nvSpPr>
          <p:cNvPr id="11" name="Shape 9"/>
          <p:cNvSpPr/>
          <p:nvPr/>
        </p:nvSpPr>
        <p:spPr>
          <a:xfrm>
            <a:off x="2587752" y="2651760"/>
            <a:ext cx="1600200" cy="914400"/>
          </a:xfrm>
          <a:prstGeom prst="roundRect">
            <a:avLst>
              <a:gd name="adj" fmla="val 90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12" name="Text 10"/>
          <p:cNvSpPr/>
          <p:nvPr/>
        </p:nvSpPr>
        <p:spPr>
          <a:xfrm>
            <a:off x="2697480" y="2816352"/>
            <a:ext cx="1380744" cy="164592"/>
          </a:xfrm>
          <a:prstGeom prst="rect">
            <a:avLst/>
          </a:prstGeom>
          <a:noFill/>
          <a:ln/>
        </p:spPr>
        <p:txBody>
          <a:bodyPr wrap="square" lIns="0" tIns="0" rIns="0" bIns="0" rtlCol="0" anchor="ctr">
            <a:noAutofit/>
          </a:bodyPr>
          <a:lstStyle/>
          <a:p>
            <a:pPr marL="0" indent="0" algn="ctr">
              <a:buNone/>
            </a:pPr>
            <a:r>
              <a:rPr lang="en-US" sz="1100" b="1" dirty="0">
                <a:solidFill>
                  <a:srgbClr val="1F2A44"/>
                </a:solidFill>
              </a:rPr>
              <a:t>Shared pool</a:t>
            </a:r>
            <a:endParaRPr lang="en-US" sz="1100" dirty="0"/>
          </a:p>
        </p:txBody>
      </p:sp>
      <p:sp>
        <p:nvSpPr>
          <p:cNvPr id="13" name="Text 11"/>
          <p:cNvSpPr/>
          <p:nvPr/>
        </p:nvSpPr>
        <p:spPr>
          <a:xfrm>
            <a:off x="2697480" y="3127248"/>
            <a:ext cx="1380744" cy="16459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1,500 points</a:t>
            </a:r>
            <a:endParaRPr lang="en-US" sz="1000" dirty="0"/>
          </a:p>
        </p:txBody>
      </p:sp>
      <p:sp>
        <p:nvSpPr>
          <p:cNvPr id="14" name="Shape 12"/>
          <p:cNvSpPr/>
          <p:nvPr/>
        </p:nvSpPr>
        <p:spPr>
          <a:xfrm>
            <a:off x="4251960" y="2980944"/>
            <a:ext cx="201168" cy="201168"/>
          </a:xfrm>
          <a:prstGeom prst="chevron">
            <a:avLst/>
          </a:prstGeom>
          <a:solidFill>
            <a:srgbClr val="9CA3AF"/>
          </a:solidFill>
          <a:ln w="12700">
            <a:solidFill>
              <a:srgbClr val="9CA3AF"/>
            </a:solidFill>
            <a:prstDash val="solid"/>
          </a:ln>
        </p:spPr>
        <p:txBody>
          <a:bodyPr/>
          <a:lstStyle/>
          <a:p>
            <a:endParaRPr lang="en-US"/>
          </a:p>
        </p:txBody>
      </p:sp>
      <p:sp>
        <p:nvSpPr>
          <p:cNvPr id="15" name="Shape 13"/>
          <p:cNvSpPr/>
          <p:nvPr/>
        </p:nvSpPr>
        <p:spPr>
          <a:xfrm>
            <a:off x="4443984" y="2651760"/>
            <a:ext cx="1600200" cy="914400"/>
          </a:xfrm>
          <a:prstGeom prst="roundRect">
            <a:avLst>
              <a:gd name="adj" fmla="val 90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16" name="Text 14"/>
          <p:cNvSpPr/>
          <p:nvPr/>
        </p:nvSpPr>
        <p:spPr>
          <a:xfrm>
            <a:off x="4553712" y="2816352"/>
            <a:ext cx="1380744" cy="164592"/>
          </a:xfrm>
          <a:prstGeom prst="rect">
            <a:avLst/>
          </a:prstGeom>
          <a:noFill/>
          <a:ln/>
        </p:spPr>
        <p:txBody>
          <a:bodyPr wrap="square" lIns="0" tIns="0" rIns="0" bIns="0" rtlCol="0" anchor="ctr">
            <a:noAutofit/>
          </a:bodyPr>
          <a:lstStyle/>
          <a:p>
            <a:pPr marL="0" indent="0" algn="ctr">
              <a:buNone/>
            </a:pPr>
            <a:r>
              <a:rPr lang="en-US" sz="1100" b="1" dirty="0">
                <a:solidFill>
                  <a:srgbClr val="1F2A44"/>
                </a:solidFill>
              </a:rPr>
              <a:t>Shared test set</a:t>
            </a:r>
            <a:endParaRPr lang="en-US" sz="1100" dirty="0"/>
          </a:p>
        </p:txBody>
      </p:sp>
      <p:sp>
        <p:nvSpPr>
          <p:cNvPr id="17" name="Text 15"/>
          <p:cNvSpPr/>
          <p:nvPr/>
        </p:nvSpPr>
        <p:spPr>
          <a:xfrm>
            <a:off x="4553712" y="3127248"/>
            <a:ext cx="1380744" cy="16459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4,000 points</a:t>
            </a:r>
            <a:endParaRPr lang="en-US" sz="1000" dirty="0"/>
          </a:p>
        </p:txBody>
      </p:sp>
      <p:sp>
        <p:nvSpPr>
          <p:cNvPr id="18" name="Shape 16"/>
          <p:cNvSpPr/>
          <p:nvPr/>
        </p:nvSpPr>
        <p:spPr>
          <a:xfrm>
            <a:off x="6108192" y="2980944"/>
            <a:ext cx="201168" cy="201168"/>
          </a:xfrm>
          <a:prstGeom prst="chevron">
            <a:avLst/>
          </a:prstGeom>
          <a:solidFill>
            <a:srgbClr val="9CA3AF"/>
          </a:solidFill>
          <a:ln w="12700">
            <a:solidFill>
              <a:srgbClr val="9CA3AF"/>
            </a:solidFill>
            <a:prstDash val="solid"/>
          </a:ln>
        </p:spPr>
        <p:txBody>
          <a:bodyPr/>
          <a:lstStyle/>
          <a:p>
            <a:endParaRPr lang="en-US"/>
          </a:p>
        </p:txBody>
      </p:sp>
      <p:sp>
        <p:nvSpPr>
          <p:cNvPr id="19" name="Shape 17"/>
          <p:cNvSpPr/>
          <p:nvPr/>
        </p:nvSpPr>
        <p:spPr>
          <a:xfrm>
            <a:off x="6300216" y="2651760"/>
            <a:ext cx="1600200" cy="914400"/>
          </a:xfrm>
          <a:prstGeom prst="roundRect">
            <a:avLst>
              <a:gd name="adj" fmla="val 90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20" name="Text 18"/>
          <p:cNvSpPr/>
          <p:nvPr/>
        </p:nvSpPr>
        <p:spPr>
          <a:xfrm>
            <a:off x="6409944" y="2816352"/>
            <a:ext cx="1380744" cy="164592"/>
          </a:xfrm>
          <a:prstGeom prst="rect">
            <a:avLst/>
          </a:prstGeom>
          <a:noFill/>
          <a:ln/>
        </p:spPr>
        <p:txBody>
          <a:bodyPr wrap="square" lIns="0" tIns="0" rIns="0" bIns="0" rtlCol="0" anchor="ctr">
            <a:noAutofit/>
          </a:bodyPr>
          <a:lstStyle/>
          <a:p>
            <a:pPr marL="0" indent="0" algn="ctr">
              <a:buNone/>
            </a:pPr>
            <a:r>
              <a:rPr lang="en-US" sz="1100" b="1" dirty="0">
                <a:solidFill>
                  <a:srgbClr val="1F2A44"/>
                </a:solidFill>
              </a:rPr>
              <a:t>Shared start</a:t>
            </a:r>
            <a:endParaRPr lang="en-US" sz="1100" dirty="0"/>
          </a:p>
        </p:txBody>
      </p:sp>
      <p:sp>
        <p:nvSpPr>
          <p:cNvPr id="21" name="Text 19"/>
          <p:cNvSpPr/>
          <p:nvPr/>
        </p:nvSpPr>
        <p:spPr>
          <a:xfrm>
            <a:off x="6409944" y="3127248"/>
            <a:ext cx="1380744" cy="16459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same 6 labels</a:t>
            </a:r>
            <a:endParaRPr lang="en-US" sz="1000" dirty="0"/>
          </a:p>
        </p:txBody>
      </p:sp>
      <p:sp>
        <p:nvSpPr>
          <p:cNvPr id="22" name="Shape 20"/>
          <p:cNvSpPr/>
          <p:nvPr/>
        </p:nvSpPr>
        <p:spPr>
          <a:xfrm>
            <a:off x="7964424" y="2980944"/>
            <a:ext cx="201168" cy="201168"/>
          </a:xfrm>
          <a:prstGeom prst="chevron">
            <a:avLst/>
          </a:prstGeom>
          <a:solidFill>
            <a:srgbClr val="9CA3AF"/>
          </a:solidFill>
          <a:ln w="12700">
            <a:solidFill>
              <a:srgbClr val="9CA3AF"/>
            </a:solidFill>
            <a:prstDash val="solid"/>
          </a:ln>
        </p:spPr>
        <p:txBody>
          <a:bodyPr/>
          <a:lstStyle/>
          <a:p>
            <a:endParaRPr lang="en-US"/>
          </a:p>
        </p:txBody>
      </p:sp>
      <p:sp>
        <p:nvSpPr>
          <p:cNvPr id="23" name="Shape 21"/>
          <p:cNvSpPr/>
          <p:nvPr/>
        </p:nvSpPr>
        <p:spPr>
          <a:xfrm>
            <a:off x="8156448" y="2651760"/>
            <a:ext cx="1600200" cy="914400"/>
          </a:xfrm>
          <a:prstGeom prst="roundRect">
            <a:avLst>
              <a:gd name="adj" fmla="val 9000"/>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24" name="Text 22"/>
          <p:cNvSpPr/>
          <p:nvPr/>
        </p:nvSpPr>
        <p:spPr>
          <a:xfrm>
            <a:off x="8266176" y="2816352"/>
            <a:ext cx="1380744" cy="164592"/>
          </a:xfrm>
          <a:prstGeom prst="rect">
            <a:avLst/>
          </a:prstGeom>
          <a:noFill/>
          <a:ln/>
        </p:spPr>
        <p:txBody>
          <a:bodyPr wrap="square" lIns="0" tIns="0" rIns="0" bIns="0" rtlCol="0" anchor="ctr">
            <a:noAutofit/>
          </a:bodyPr>
          <a:lstStyle/>
          <a:p>
            <a:pPr marL="0" indent="0" algn="ctr">
              <a:buNone/>
            </a:pPr>
            <a:r>
              <a:rPr lang="en-US" sz="1100" b="1" dirty="0">
                <a:solidFill>
                  <a:srgbClr val="1F2A44"/>
                </a:solidFill>
              </a:rPr>
              <a:t>Shared GP</a:t>
            </a:r>
            <a:endParaRPr lang="en-US" sz="1100" dirty="0"/>
          </a:p>
        </p:txBody>
      </p:sp>
      <p:sp>
        <p:nvSpPr>
          <p:cNvPr id="25" name="Text 23"/>
          <p:cNvSpPr/>
          <p:nvPr/>
        </p:nvSpPr>
        <p:spPr>
          <a:xfrm>
            <a:off x="8266176" y="3127248"/>
            <a:ext cx="1380744" cy="16459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GPR stand-in</a:t>
            </a:r>
            <a:endParaRPr lang="en-US" sz="1000" dirty="0"/>
          </a:p>
        </p:txBody>
      </p:sp>
      <p:sp>
        <p:nvSpPr>
          <p:cNvPr id="26" name="Shape 24"/>
          <p:cNvSpPr/>
          <p:nvPr/>
        </p:nvSpPr>
        <p:spPr>
          <a:xfrm>
            <a:off x="9820656" y="2980944"/>
            <a:ext cx="201168" cy="201168"/>
          </a:xfrm>
          <a:prstGeom prst="chevron">
            <a:avLst/>
          </a:prstGeom>
          <a:solidFill>
            <a:srgbClr val="9CA3AF"/>
          </a:solidFill>
          <a:ln w="12700">
            <a:solidFill>
              <a:srgbClr val="9CA3AF"/>
            </a:solidFill>
            <a:prstDash val="solid"/>
          </a:ln>
        </p:spPr>
        <p:txBody>
          <a:bodyPr/>
          <a:lstStyle/>
          <a:p>
            <a:endParaRPr lang="en-US"/>
          </a:p>
        </p:txBody>
      </p:sp>
      <p:sp>
        <p:nvSpPr>
          <p:cNvPr id="27" name="Shape 25"/>
          <p:cNvSpPr/>
          <p:nvPr/>
        </p:nvSpPr>
        <p:spPr>
          <a:xfrm>
            <a:off x="10012680" y="2651760"/>
            <a:ext cx="1600200" cy="914400"/>
          </a:xfrm>
          <a:prstGeom prst="roundRect">
            <a:avLst>
              <a:gd name="adj" fmla="val 9000"/>
            </a:avLst>
          </a:prstGeom>
          <a:solidFill>
            <a:srgbClr val="FFF7ED"/>
          </a:solidFill>
          <a:ln w="10160">
            <a:solidFill>
              <a:srgbClr val="FED7AA"/>
            </a:solidFill>
            <a:prstDash val="solid"/>
          </a:ln>
          <a:effectLst>
            <a:outerShdw blurRad="15240" dist="50800" dir="2700000" algn="bl" rotWithShape="0">
              <a:srgbClr val="000000">
                <a:alpha val="8000"/>
              </a:srgbClr>
            </a:outerShdw>
          </a:effectLst>
        </p:spPr>
        <p:txBody>
          <a:bodyPr/>
          <a:lstStyle/>
          <a:p>
            <a:endParaRPr lang="en-US"/>
          </a:p>
        </p:txBody>
      </p:sp>
      <p:sp>
        <p:nvSpPr>
          <p:cNvPr id="28" name="Text 26"/>
          <p:cNvSpPr/>
          <p:nvPr/>
        </p:nvSpPr>
        <p:spPr>
          <a:xfrm>
            <a:off x="10122408" y="2816352"/>
            <a:ext cx="1380744" cy="164592"/>
          </a:xfrm>
          <a:prstGeom prst="rect">
            <a:avLst/>
          </a:prstGeom>
          <a:noFill/>
          <a:ln/>
        </p:spPr>
        <p:txBody>
          <a:bodyPr wrap="square" lIns="0" tIns="0" rIns="0" bIns="0" rtlCol="0" anchor="ctr">
            <a:noAutofit/>
          </a:bodyPr>
          <a:lstStyle/>
          <a:p>
            <a:pPr marL="0" indent="0" algn="ctr">
              <a:buNone/>
            </a:pPr>
            <a:r>
              <a:rPr lang="en-US" sz="1100" b="1" dirty="0">
                <a:solidFill>
                  <a:srgbClr val="B7791F"/>
                </a:solidFill>
              </a:rPr>
              <a:t>Change only</a:t>
            </a:r>
            <a:endParaRPr lang="en-US" sz="1100" dirty="0"/>
          </a:p>
        </p:txBody>
      </p:sp>
      <p:sp>
        <p:nvSpPr>
          <p:cNvPr id="29" name="Text 27"/>
          <p:cNvSpPr/>
          <p:nvPr/>
        </p:nvSpPr>
        <p:spPr>
          <a:xfrm>
            <a:off x="10122408" y="3127248"/>
            <a:ext cx="1380744" cy="164592"/>
          </a:xfrm>
          <a:prstGeom prst="rect">
            <a:avLst/>
          </a:prstGeom>
          <a:noFill/>
          <a:ln/>
        </p:spPr>
        <p:txBody>
          <a:bodyPr wrap="square" lIns="0" tIns="0" rIns="0" bIns="0" rtlCol="0" anchor="ctr">
            <a:normAutofit/>
          </a:bodyPr>
          <a:lstStyle/>
          <a:p>
            <a:pPr marL="0" indent="0" algn="ctr">
              <a:buNone/>
            </a:pPr>
            <a:r>
              <a:rPr lang="en-US" sz="1000" dirty="0">
                <a:solidFill>
                  <a:srgbClr val="4B5563"/>
                </a:solidFill>
              </a:rPr>
              <a:t>acquisition rule</a:t>
            </a:r>
            <a:endParaRPr lang="en-US" sz="1000" dirty="0"/>
          </a:p>
        </p:txBody>
      </p:sp>
      <p:sp>
        <p:nvSpPr>
          <p:cNvPr id="30" name="Shape 28"/>
          <p:cNvSpPr/>
          <p:nvPr/>
        </p:nvSpPr>
        <p:spPr>
          <a:xfrm>
            <a:off x="777240" y="4297680"/>
            <a:ext cx="1920240" cy="347472"/>
          </a:xfrm>
          <a:prstGeom prst="roundRect">
            <a:avLst>
              <a:gd name="adj" fmla="val 21429"/>
            </a:avLst>
          </a:prstGeom>
          <a:solidFill>
            <a:srgbClr val="1F2A44"/>
          </a:solidFill>
          <a:ln w="12700">
            <a:solidFill>
              <a:srgbClr val="1F2A44"/>
            </a:solidFill>
            <a:prstDash val="solid"/>
          </a:ln>
        </p:spPr>
        <p:txBody>
          <a:bodyPr/>
          <a:lstStyle/>
          <a:p>
            <a:endParaRPr lang="en-US"/>
          </a:p>
        </p:txBody>
      </p:sp>
      <p:sp>
        <p:nvSpPr>
          <p:cNvPr id="31" name="Text 29"/>
          <p:cNvSpPr/>
          <p:nvPr/>
        </p:nvSpPr>
        <p:spPr>
          <a:xfrm>
            <a:off x="886968" y="4347972"/>
            <a:ext cx="1609344" cy="242316"/>
          </a:xfrm>
          <a:prstGeom prst="rect">
            <a:avLst/>
          </a:prstGeom>
          <a:noFill/>
          <a:ln/>
        </p:spPr>
        <p:txBody>
          <a:bodyPr wrap="square" lIns="0" tIns="0" rIns="0" bIns="0" rtlCol="0" anchor="ctr">
            <a:normAutofit/>
          </a:bodyPr>
          <a:lstStyle/>
          <a:p>
            <a:pPr marL="0" indent="0">
              <a:buNone/>
            </a:pPr>
            <a:r>
              <a:rPr lang="en-US" sz="1000" b="1" dirty="0">
                <a:solidFill>
                  <a:srgbClr val="FFFFFF"/>
                </a:solidFill>
              </a:rPr>
              <a:t>RECORDED SETUP</a:t>
            </a:r>
            <a:endParaRPr lang="en-US" sz="1000" dirty="0"/>
          </a:p>
        </p:txBody>
      </p:sp>
      <p:sp>
        <p:nvSpPr>
          <p:cNvPr id="32" name="Text 30"/>
          <p:cNvSpPr/>
          <p:nvPr/>
        </p:nvSpPr>
        <p:spPr>
          <a:xfrm>
            <a:off x="797394" y="4754880"/>
            <a:ext cx="10424160" cy="228600"/>
          </a:xfrm>
          <a:prstGeom prst="rect">
            <a:avLst/>
          </a:prstGeom>
          <a:noFill/>
          <a:ln/>
        </p:spPr>
        <p:txBody>
          <a:bodyPr wrap="square" lIns="0" tIns="0" rIns="0" bIns="0" rtlCol="0" anchor="ctr">
            <a:normAutofit/>
          </a:bodyPr>
          <a:lstStyle/>
          <a:p>
            <a:pPr marL="0" indent="0">
              <a:buNone/>
            </a:pPr>
            <a:r>
              <a:rPr lang="en-US" sz="900" dirty="0">
                <a:solidFill>
                  <a:srgbClr val="111827"/>
                </a:solidFill>
              </a:rPr>
              <a:t>Seeds: 0–4   •   Initial labels: 6   •   Total </a:t>
            </a:r>
            <a:r>
              <a:rPr lang="en-US" sz="1050" dirty="0">
                <a:solidFill>
                  <a:srgbClr val="111827"/>
                </a:solidFill>
              </a:rPr>
              <a:t>budget</a:t>
            </a:r>
            <a:r>
              <a:rPr lang="en-US" sz="900" dirty="0">
                <a:solidFill>
                  <a:srgbClr val="111827"/>
                </a:solidFill>
              </a:rPr>
              <a:t>: 50   •   Threshold percentile: 45%   •   Model: GaussianProcessRegressor on {-1,+1} labels</a:t>
            </a:r>
            <a:endParaRPr lang="en-US" sz="900" dirty="0"/>
          </a:p>
        </p:txBody>
      </p:sp>
      <p:sp>
        <p:nvSpPr>
          <p:cNvPr id="33" name="Shape 31"/>
          <p:cNvSpPr/>
          <p:nvPr/>
        </p:nvSpPr>
        <p:spPr>
          <a:xfrm>
            <a:off x="777240" y="5230368"/>
            <a:ext cx="10561320" cy="475488"/>
          </a:xfrm>
          <a:prstGeom prst="roundRect">
            <a:avLst>
              <a:gd name="adj" fmla="val 17308"/>
            </a:avLst>
          </a:prstGeom>
          <a:solidFill>
            <a:srgbClr val="EEF4FF"/>
          </a:solidFill>
          <a:ln w="10160">
            <a:solidFill>
              <a:srgbClr val="BFDBFE"/>
            </a:solidFill>
            <a:prstDash val="solid"/>
          </a:ln>
        </p:spPr>
        <p:txBody>
          <a:bodyPr/>
          <a:lstStyle/>
          <a:p>
            <a:endParaRPr lang="en-US"/>
          </a:p>
        </p:txBody>
      </p:sp>
      <p:sp>
        <p:nvSpPr>
          <p:cNvPr id="34" name="Text 32"/>
          <p:cNvSpPr/>
          <p:nvPr/>
        </p:nvSpPr>
        <p:spPr>
          <a:xfrm>
            <a:off x="987552" y="5394960"/>
            <a:ext cx="8046720" cy="146304"/>
          </a:xfrm>
          <a:prstGeom prst="rect">
            <a:avLst/>
          </a:prstGeom>
          <a:noFill/>
          <a:ln/>
        </p:spPr>
        <p:txBody>
          <a:bodyPr wrap="square" lIns="0" tIns="0" rIns="0" bIns="0" rtlCol="0" anchor="ctr"/>
          <a:lstStyle/>
          <a:p>
            <a:pPr marL="0" indent="0">
              <a:buNone/>
            </a:pPr>
            <a:r>
              <a:rPr lang="en-US" sz="920" b="1" dirty="0">
                <a:solidFill>
                  <a:srgbClr val="2B6CB0"/>
                </a:solidFill>
              </a:rPr>
              <a:t>Fairness checks are true for </a:t>
            </a:r>
            <a:r>
              <a:rPr lang="en-US" sz="1050" b="1" dirty="0">
                <a:solidFill>
                  <a:srgbClr val="2B6CB0"/>
                </a:solidFill>
              </a:rPr>
              <a:t>all</a:t>
            </a:r>
            <a:r>
              <a:rPr lang="en-US" sz="920" b="1" dirty="0">
                <a:solidFill>
                  <a:srgbClr val="2B6CB0"/>
                </a:solidFill>
              </a:rPr>
              <a:t> five seeds.</a:t>
            </a:r>
            <a:endParaRPr lang="en-US" sz="920" dirty="0"/>
          </a:p>
        </p:txBody>
      </p:sp>
      <p:sp>
        <p:nvSpPr>
          <p:cNvPr id="35" name="Shape 33"/>
          <p:cNvSpPr/>
          <p:nvPr/>
        </p:nvSpPr>
        <p:spPr>
          <a:xfrm>
            <a:off x="502920" y="6446520"/>
            <a:ext cx="11201400" cy="0"/>
          </a:xfrm>
          <a:prstGeom prst="line">
            <a:avLst/>
          </a:prstGeom>
          <a:noFill/>
          <a:ln w="8890">
            <a:solidFill>
              <a:srgbClr val="D9DEE8"/>
            </a:solidFill>
            <a:prstDash val="solid"/>
          </a:ln>
        </p:spPr>
        <p:txBody>
          <a:bodyPr/>
          <a:lstStyle/>
          <a:p>
            <a:endParaRPr lang="en-US"/>
          </a:p>
        </p:txBody>
      </p:sp>
      <p:sp>
        <p:nvSpPr>
          <p:cNvPr id="36" name="Text 34"/>
          <p:cNvSpPr/>
          <p:nvPr/>
        </p:nvSpPr>
        <p:spPr>
          <a:xfrm>
            <a:off x="502920" y="6519672"/>
            <a:ext cx="8961120" cy="164592"/>
          </a:xfrm>
          <a:prstGeom prst="rect">
            <a:avLst/>
          </a:prstGeom>
          <a:noFill/>
          <a:ln/>
        </p:spPr>
        <p:txBody>
          <a:bodyPr wrap="square" lIns="0" tIns="0" rIns="0" bIns="0" rtlCol="0" anchor="ctr"/>
          <a:lstStyle/>
          <a:p>
            <a:pPr marL="0" indent="0">
              <a:buNone/>
            </a:pPr>
            <a:r>
              <a:rPr lang="en-US" sz="780" dirty="0">
                <a:solidFill>
                  <a:srgbClr val="6B7280"/>
                </a:solidFill>
                <a:latin typeface="Aptos" pitchFamily="34" charset="0"/>
                <a:ea typeface="Aptos" pitchFamily="34" charset="-122"/>
                <a:cs typeface="Aptos" pitchFamily="34" charset="-120"/>
              </a:rPr>
              <a:t>Week 2 progress • Sample-Efficient Active Level-Set Estimation • 2</a:t>
            </a:r>
            <a:endParaRPr lang="en-US" sz="780" dirty="0"/>
          </a:p>
        </p:txBody>
      </p:sp>
      <p:sp>
        <p:nvSpPr>
          <p:cNvPr id="37" name="Text 35"/>
          <p:cNvSpPr/>
          <p:nvPr/>
        </p:nvSpPr>
        <p:spPr>
          <a:xfrm>
            <a:off x="11521440" y="6492240"/>
            <a:ext cx="228600" cy="164592"/>
          </a:xfrm>
          <a:prstGeom prst="rect">
            <a:avLst/>
          </a:prstGeom>
          <a:noFill/>
          <a:ln/>
        </p:spPr>
        <p:txBody>
          <a:bodyPr wrap="square" lIns="0" tIns="0" rIns="0" bIns="0" rtlCol="0" anchor="ctr"/>
          <a:lstStyle/>
          <a:p>
            <a:pPr marL="0" indent="0" algn="r">
              <a:buNone/>
            </a:pPr>
            <a:r>
              <a:rPr lang="en-US" sz="780" dirty="0">
                <a:solidFill>
                  <a:srgbClr val="6B7280"/>
                </a:solidFill>
              </a:rPr>
              <a:t>2</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789920" cy="320040"/>
          </a:xfrm>
          <a:prstGeom prst="rect">
            <a:avLst/>
          </a:prstGeom>
          <a:noFill/>
          <a:ln/>
        </p:spPr>
        <p:txBody>
          <a:bodyPr wrap="square" lIns="0" tIns="0" rIns="0" bIns="0" rtlCol="0" anchor="ctr"/>
          <a:lstStyle/>
          <a:p>
            <a:pPr marL="0" indent="0">
              <a:buNone/>
            </a:pPr>
            <a:r>
              <a:rPr lang="en-US" sz="2200" b="1" dirty="0">
                <a:solidFill>
                  <a:srgbClr val="1F2A44"/>
                </a:solidFill>
                <a:latin typeface="Aptos Display" pitchFamily="34" charset="0"/>
                <a:ea typeface="Aptos Display" pitchFamily="34" charset="-122"/>
                <a:cs typeface="Aptos Display" pitchFamily="34" charset="-120"/>
              </a:rPr>
              <a:t>Five acquisition rules</a:t>
            </a:r>
            <a:endParaRPr lang="en-US" sz="2200" dirty="0"/>
          </a:p>
        </p:txBody>
      </p:sp>
      <p:sp>
        <p:nvSpPr>
          <p:cNvPr id="3" name="Text 1"/>
          <p:cNvSpPr/>
          <p:nvPr/>
        </p:nvSpPr>
        <p:spPr>
          <a:xfrm>
            <a:off x="521208" y="713232"/>
            <a:ext cx="10515600" cy="237744"/>
          </a:xfrm>
          <a:prstGeom prst="rect">
            <a:avLst/>
          </a:prstGeom>
          <a:noFill/>
          <a:ln/>
        </p:spPr>
        <p:txBody>
          <a:bodyPr wrap="square" lIns="0" tIns="0" rIns="0" bIns="0" rtlCol="0" anchor="ctr"/>
          <a:lstStyle/>
          <a:p>
            <a:pPr marL="0" indent="0">
              <a:buNone/>
            </a:pPr>
            <a:r>
              <a:rPr lang="en-US" sz="950" dirty="0">
                <a:solidFill>
                  <a:srgbClr val="4B5563"/>
                </a:solidFill>
              </a:rPr>
              <a:t>All rules score or choose among the same unlabelled Branin pool.</a:t>
            </a:r>
            <a:endParaRPr lang="en-US" sz="950" dirty="0"/>
          </a:p>
        </p:txBody>
      </p:sp>
      <p:sp>
        <p:nvSpPr>
          <p:cNvPr id="4" name="Shape 2"/>
          <p:cNvSpPr/>
          <p:nvPr/>
        </p:nvSpPr>
        <p:spPr>
          <a:xfrm>
            <a:off x="685800" y="1143000"/>
            <a:ext cx="5074920" cy="1078992"/>
          </a:xfrm>
          <a:prstGeom prst="roundRect">
            <a:avLst>
              <a:gd name="adj" fmla="val 7627"/>
            </a:avLst>
          </a:prstGeom>
          <a:solidFill>
            <a:srgbClr val="FFFFFF"/>
          </a:solidFill>
          <a:ln w="10160">
            <a:solidFill>
              <a:srgbClr val="6B7280"/>
            </a:solidFill>
            <a:prstDash val="solid"/>
          </a:ln>
        </p:spPr>
        <p:txBody>
          <a:bodyPr/>
          <a:lstStyle/>
          <a:p>
            <a:endParaRPr lang="en-US"/>
          </a:p>
        </p:txBody>
      </p:sp>
      <p:sp>
        <p:nvSpPr>
          <p:cNvPr id="5" name="Text 3"/>
          <p:cNvSpPr/>
          <p:nvPr/>
        </p:nvSpPr>
        <p:spPr>
          <a:xfrm>
            <a:off x="850392" y="1280160"/>
            <a:ext cx="2011680" cy="164592"/>
          </a:xfrm>
          <a:prstGeom prst="rect">
            <a:avLst/>
          </a:prstGeom>
          <a:noFill/>
          <a:ln/>
        </p:spPr>
        <p:txBody>
          <a:bodyPr wrap="square" lIns="0" tIns="0" rIns="0" bIns="0" rtlCol="0" anchor="ctr">
            <a:noAutofit/>
          </a:bodyPr>
          <a:lstStyle/>
          <a:p>
            <a:pPr marL="0" indent="0">
              <a:buNone/>
            </a:pPr>
            <a:r>
              <a:rPr lang="en-US" sz="1100" b="1" dirty="0">
                <a:solidFill>
                  <a:srgbClr val="6B7280"/>
                </a:solidFill>
              </a:rPr>
              <a:t>Random</a:t>
            </a:r>
            <a:endParaRPr lang="en-US" sz="1100" dirty="0"/>
          </a:p>
        </p:txBody>
      </p:sp>
      <p:sp>
        <p:nvSpPr>
          <p:cNvPr id="6" name="Text 4"/>
          <p:cNvSpPr/>
          <p:nvPr/>
        </p:nvSpPr>
        <p:spPr>
          <a:xfrm>
            <a:off x="850392" y="1563624"/>
            <a:ext cx="4745736" cy="182880"/>
          </a:xfrm>
          <a:prstGeom prst="rect">
            <a:avLst/>
          </a:prstGeom>
          <a:noFill/>
          <a:ln/>
        </p:spPr>
        <p:txBody>
          <a:bodyPr wrap="square" lIns="0" tIns="0" rIns="0" bIns="0" rtlCol="0" anchor="ctr">
            <a:normAutofit/>
          </a:bodyPr>
          <a:lstStyle/>
          <a:p>
            <a:pPr marL="0" indent="0">
              <a:buNone/>
            </a:pPr>
            <a:r>
              <a:rPr lang="en-US" sz="1000" b="1" dirty="0">
                <a:solidFill>
                  <a:srgbClr val="1F2A44"/>
                </a:solidFill>
              </a:rPr>
              <a:t>Uniform random unlabelled point</a:t>
            </a:r>
            <a:endParaRPr lang="en-US" sz="1000" dirty="0"/>
          </a:p>
        </p:txBody>
      </p:sp>
      <p:sp>
        <p:nvSpPr>
          <p:cNvPr id="7" name="Text 5"/>
          <p:cNvSpPr/>
          <p:nvPr/>
        </p:nvSpPr>
        <p:spPr>
          <a:xfrm>
            <a:off x="850392" y="1856232"/>
            <a:ext cx="4745736" cy="201168"/>
          </a:xfrm>
          <a:prstGeom prst="rect">
            <a:avLst/>
          </a:prstGeom>
          <a:noFill/>
          <a:ln/>
        </p:spPr>
        <p:txBody>
          <a:bodyPr wrap="square" lIns="0" tIns="0" rIns="0" bIns="0" rtlCol="0" anchor="ctr">
            <a:normAutofit/>
          </a:bodyPr>
          <a:lstStyle/>
          <a:p>
            <a:pPr marL="0" indent="0">
              <a:buNone/>
            </a:pPr>
            <a:r>
              <a:rPr lang="en-US" sz="1050" dirty="0">
                <a:solidFill>
                  <a:srgbClr val="4B5563"/>
                </a:solidFill>
              </a:rPr>
              <a:t>Floor baseline: no boundary information.</a:t>
            </a:r>
            <a:endParaRPr lang="en-US" sz="1050" dirty="0"/>
          </a:p>
        </p:txBody>
      </p:sp>
      <p:sp>
        <p:nvSpPr>
          <p:cNvPr id="8" name="Shape 6"/>
          <p:cNvSpPr/>
          <p:nvPr/>
        </p:nvSpPr>
        <p:spPr>
          <a:xfrm>
            <a:off x="6217920" y="1143000"/>
            <a:ext cx="5074920" cy="1078992"/>
          </a:xfrm>
          <a:prstGeom prst="roundRect">
            <a:avLst>
              <a:gd name="adj" fmla="val 7627"/>
            </a:avLst>
          </a:prstGeom>
          <a:solidFill>
            <a:srgbClr val="EEF4FF"/>
          </a:solidFill>
          <a:ln w="10160">
            <a:solidFill>
              <a:srgbClr val="2B6CB0"/>
            </a:solidFill>
            <a:prstDash val="solid"/>
          </a:ln>
        </p:spPr>
        <p:txBody>
          <a:bodyPr/>
          <a:lstStyle/>
          <a:p>
            <a:endParaRPr lang="en-US"/>
          </a:p>
        </p:txBody>
      </p:sp>
      <p:sp>
        <p:nvSpPr>
          <p:cNvPr id="9" name="Text 7"/>
          <p:cNvSpPr/>
          <p:nvPr/>
        </p:nvSpPr>
        <p:spPr>
          <a:xfrm>
            <a:off x="6382512" y="1280160"/>
            <a:ext cx="2011680" cy="164592"/>
          </a:xfrm>
          <a:prstGeom prst="rect">
            <a:avLst/>
          </a:prstGeom>
          <a:noFill/>
          <a:ln/>
        </p:spPr>
        <p:txBody>
          <a:bodyPr wrap="square" lIns="0" tIns="0" rIns="0" bIns="0" rtlCol="0" anchor="ctr">
            <a:noAutofit/>
          </a:bodyPr>
          <a:lstStyle/>
          <a:p>
            <a:pPr marL="0" indent="0">
              <a:buNone/>
            </a:pPr>
            <a:r>
              <a:rPr lang="en-US" sz="1100" b="1" dirty="0">
                <a:solidFill>
                  <a:srgbClr val="2B6CB0"/>
                </a:solidFill>
              </a:rPr>
              <a:t>Smallest |μ|</a:t>
            </a:r>
            <a:endParaRPr lang="en-US" sz="1100" dirty="0"/>
          </a:p>
        </p:txBody>
      </p:sp>
      <p:sp>
        <p:nvSpPr>
          <p:cNvPr id="10" name="Text 8"/>
          <p:cNvSpPr/>
          <p:nvPr/>
        </p:nvSpPr>
        <p:spPr>
          <a:xfrm>
            <a:off x="6382512" y="1563624"/>
            <a:ext cx="4745736" cy="182880"/>
          </a:xfrm>
          <a:prstGeom prst="rect">
            <a:avLst/>
          </a:prstGeom>
          <a:noFill/>
          <a:ln/>
        </p:spPr>
        <p:txBody>
          <a:bodyPr wrap="square" lIns="0" tIns="0" rIns="0" bIns="0" rtlCol="0" anchor="ctr">
            <a:normAutofit/>
          </a:bodyPr>
          <a:lstStyle/>
          <a:p>
            <a:pPr marL="0" indent="0">
              <a:buNone/>
            </a:pPr>
            <a:r>
              <a:rPr lang="en-US" sz="1000" b="1" dirty="0">
                <a:solidFill>
                  <a:srgbClr val="1F2A44"/>
                </a:solidFill>
              </a:rPr>
              <a:t>argmin |μ(x)|</a:t>
            </a:r>
            <a:endParaRPr lang="en-US" sz="1000" dirty="0"/>
          </a:p>
        </p:txBody>
      </p:sp>
      <p:sp>
        <p:nvSpPr>
          <p:cNvPr id="11" name="Text 9"/>
          <p:cNvSpPr/>
          <p:nvPr/>
        </p:nvSpPr>
        <p:spPr>
          <a:xfrm>
            <a:off x="6382512" y="1856232"/>
            <a:ext cx="4745736" cy="201168"/>
          </a:xfrm>
          <a:prstGeom prst="rect">
            <a:avLst/>
          </a:prstGeom>
          <a:noFill/>
          <a:ln/>
        </p:spPr>
        <p:txBody>
          <a:bodyPr wrap="square" lIns="0" tIns="0" rIns="0" bIns="0" rtlCol="0" anchor="ctr">
            <a:normAutofit/>
          </a:bodyPr>
          <a:lstStyle/>
          <a:p>
            <a:pPr marL="0" indent="0">
              <a:buNone/>
            </a:pPr>
            <a:r>
              <a:rPr lang="en-US" sz="1050" dirty="0">
                <a:solidFill>
                  <a:srgbClr val="4B5563"/>
                </a:solidFill>
              </a:rPr>
              <a:t>Chooses the point closest to the current GP boundary.</a:t>
            </a:r>
            <a:endParaRPr lang="en-US" sz="1050" dirty="0"/>
          </a:p>
        </p:txBody>
      </p:sp>
      <p:sp>
        <p:nvSpPr>
          <p:cNvPr id="12" name="Shape 10"/>
          <p:cNvSpPr/>
          <p:nvPr/>
        </p:nvSpPr>
        <p:spPr>
          <a:xfrm>
            <a:off x="685800" y="2496312"/>
            <a:ext cx="5074920" cy="1078992"/>
          </a:xfrm>
          <a:prstGeom prst="roundRect">
            <a:avLst>
              <a:gd name="adj" fmla="val 7627"/>
            </a:avLst>
          </a:prstGeom>
          <a:solidFill>
            <a:srgbClr val="ECFDF5"/>
          </a:solidFill>
          <a:ln w="10160">
            <a:solidFill>
              <a:srgbClr val="0F8B61"/>
            </a:solidFill>
            <a:prstDash val="solid"/>
          </a:ln>
        </p:spPr>
        <p:txBody>
          <a:bodyPr/>
          <a:lstStyle/>
          <a:p>
            <a:endParaRPr lang="en-US"/>
          </a:p>
        </p:txBody>
      </p:sp>
      <p:sp>
        <p:nvSpPr>
          <p:cNvPr id="13" name="Text 11"/>
          <p:cNvSpPr/>
          <p:nvPr/>
        </p:nvSpPr>
        <p:spPr>
          <a:xfrm>
            <a:off x="850392" y="2633472"/>
            <a:ext cx="2011680" cy="164592"/>
          </a:xfrm>
          <a:prstGeom prst="rect">
            <a:avLst/>
          </a:prstGeom>
          <a:noFill/>
          <a:ln/>
        </p:spPr>
        <p:txBody>
          <a:bodyPr wrap="square" lIns="0" tIns="0" rIns="0" bIns="0" rtlCol="0" anchor="ctr">
            <a:noAutofit/>
          </a:bodyPr>
          <a:lstStyle/>
          <a:p>
            <a:pPr marL="0" indent="0">
              <a:buNone/>
            </a:pPr>
            <a:r>
              <a:rPr lang="en-US" sz="1100" b="1" dirty="0">
                <a:solidFill>
                  <a:srgbClr val="0F8B61"/>
                </a:solidFill>
              </a:rPr>
              <a:t>Straddle</a:t>
            </a:r>
            <a:endParaRPr lang="en-US" sz="1100" dirty="0"/>
          </a:p>
        </p:txBody>
      </p:sp>
      <p:sp>
        <p:nvSpPr>
          <p:cNvPr id="14" name="Text 12"/>
          <p:cNvSpPr/>
          <p:nvPr/>
        </p:nvSpPr>
        <p:spPr>
          <a:xfrm>
            <a:off x="850392" y="2916936"/>
            <a:ext cx="4745736" cy="182880"/>
          </a:xfrm>
          <a:prstGeom prst="rect">
            <a:avLst/>
          </a:prstGeom>
          <a:noFill/>
          <a:ln/>
        </p:spPr>
        <p:txBody>
          <a:bodyPr wrap="square" lIns="0" tIns="0" rIns="0" bIns="0" rtlCol="0" anchor="ctr">
            <a:normAutofit/>
          </a:bodyPr>
          <a:lstStyle/>
          <a:p>
            <a:pPr marL="0" indent="0">
              <a:buNone/>
            </a:pPr>
            <a:r>
              <a:rPr lang="en-US" sz="1000" b="1" dirty="0">
                <a:solidFill>
                  <a:srgbClr val="1F2A44"/>
                </a:solidFill>
              </a:rPr>
              <a:t>max 1.96σ(x) − |μ(x)|</a:t>
            </a:r>
            <a:endParaRPr lang="en-US" sz="1000" dirty="0"/>
          </a:p>
        </p:txBody>
      </p:sp>
      <p:sp>
        <p:nvSpPr>
          <p:cNvPr id="15" name="Text 13"/>
          <p:cNvSpPr/>
          <p:nvPr/>
        </p:nvSpPr>
        <p:spPr>
          <a:xfrm>
            <a:off x="850392" y="3209544"/>
            <a:ext cx="4745736" cy="201168"/>
          </a:xfrm>
          <a:prstGeom prst="rect">
            <a:avLst/>
          </a:prstGeom>
          <a:noFill/>
          <a:ln/>
        </p:spPr>
        <p:txBody>
          <a:bodyPr wrap="square" lIns="0" tIns="0" rIns="0" bIns="0" rtlCol="0" anchor="ctr">
            <a:normAutofit/>
          </a:bodyPr>
          <a:lstStyle/>
          <a:p>
            <a:pPr marL="0" indent="0">
              <a:buNone/>
            </a:pPr>
            <a:r>
              <a:rPr lang="en-US" sz="1050" dirty="0">
                <a:solidFill>
                  <a:srgbClr val="4B5563"/>
                </a:solidFill>
              </a:rPr>
              <a:t>Balances boundary closeness and GP uncertainty.</a:t>
            </a:r>
            <a:endParaRPr lang="en-US" sz="1050" dirty="0"/>
          </a:p>
        </p:txBody>
      </p:sp>
      <p:sp>
        <p:nvSpPr>
          <p:cNvPr id="16" name="Shape 14"/>
          <p:cNvSpPr/>
          <p:nvPr/>
        </p:nvSpPr>
        <p:spPr>
          <a:xfrm>
            <a:off x="6217920" y="2496312"/>
            <a:ext cx="5074920" cy="1078992"/>
          </a:xfrm>
          <a:prstGeom prst="roundRect">
            <a:avLst>
              <a:gd name="adj" fmla="val 7627"/>
            </a:avLst>
          </a:prstGeom>
          <a:solidFill>
            <a:srgbClr val="FFF7ED"/>
          </a:solidFill>
          <a:ln w="10160">
            <a:solidFill>
              <a:srgbClr val="B7791F"/>
            </a:solidFill>
            <a:prstDash val="solid"/>
          </a:ln>
        </p:spPr>
        <p:txBody>
          <a:bodyPr/>
          <a:lstStyle/>
          <a:p>
            <a:endParaRPr lang="en-US"/>
          </a:p>
        </p:txBody>
      </p:sp>
      <p:sp>
        <p:nvSpPr>
          <p:cNvPr id="17" name="Text 15"/>
          <p:cNvSpPr/>
          <p:nvPr/>
        </p:nvSpPr>
        <p:spPr>
          <a:xfrm>
            <a:off x="6382512" y="2633472"/>
            <a:ext cx="2011680" cy="164592"/>
          </a:xfrm>
          <a:prstGeom prst="rect">
            <a:avLst/>
          </a:prstGeom>
          <a:noFill/>
          <a:ln/>
        </p:spPr>
        <p:txBody>
          <a:bodyPr wrap="square" lIns="0" tIns="0" rIns="0" bIns="0" rtlCol="0" anchor="ctr">
            <a:noAutofit/>
          </a:bodyPr>
          <a:lstStyle/>
          <a:p>
            <a:pPr marL="0" indent="0">
              <a:buNone/>
            </a:pPr>
            <a:r>
              <a:rPr lang="en-US" sz="1100" b="1" dirty="0">
                <a:solidFill>
                  <a:srgbClr val="B7791F"/>
                </a:solidFill>
              </a:rPr>
              <a:t>Randomized straddle</a:t>
            </a:r>
            <a:endParaRPr lang="en-US" sz="1100" dirty="0"/>
          </a:p>
        </p:txBody>
      </p:sp>
      <p:sp>
        <p:nvSpPr>
          <p:cNvPr id="18" name="Text 16"/>
          <p:cNvSpPr/>
          <p:nvPr/>
        </p:nvSpPr>
        <p:spPr>
          <a:xfrm>
            <a:off x="6382512" y="2916936"/>
            <a:ext cx="4745736" cy="182880"/>
          </a:xfrm>
          <a:prstGeom prst="rect">
            <a:avLst/>
          </a:prstGeom>
          <a:noFill/>
          <a:ln/>
        </p:spPr>
        <p:txBody>
          <a:bodyPr wrap="square" lIns="0" tIns="0" rIns="0" bIns="0" rtlCol="0" anchor="ctr">
            <a:normAutofit/>
          </a:bodyPr>
          <a:lstStyle/>
          <a:p>
            <a:pPr marL="0" indent="0">
              <a:buNone/>
            </a:pPr>
            <a:r>
              <a:rPr lang="en-US" sz="1000" b="1" dirty="0">
                <a:solidFill>
                  <a:srgbClr val="1F2A44"/>
                </a:solidFill>
              </a:rPr>
              <a:t>max √β σ(x) − |μ(x)|</a:t>
            </a:r>
            <a:endParaRPr lang="en-US" sz="1000" dirty="0"/>
          </a:p>
        </p:txBody>
      </p:sp>
      <p:sp>
        <p:nvSpPr>
          <p:cNvPr id="19" name="Text 17"/>
          <p:cNvSpPr/>
          <p:nvPr/>
        </p:nvSpPr>
        <p:spPr>
          <a:xfrm>
            <a:off x="6382512" y="3209544"/>
            <a:ext cx="4745736" cy="201168"/>
          </a:xfrm>
          <a:prstGeom prst="rect">
            <a:avLst/>
          </a:prstGeom>
          <a:noFill/>
          <a:ln/>
        </p:spPr>
        <p:txBody>
          <a:bodyPr wrap="square" lIns="0" tIns="0" rIns="0" bIns="0" rtlCol="0" anchor="ctr">
            <a:normAutofit/>
          </a:bodyPr>
          <a:lstStyle/>
          <a:p>
            <a:pPr marL="0" indent="0">
              <a:buNone/>
            </a:pPr>
            <a:r>
              <a:rPr lang="en-US" sz="1050" dirty="0">
                <a:solidFill>
                  <a:srgbClr val="4B5563"/>
                </a:solidFill>
              </a:rPr>
              <a:t>Same idea as straddle, but the uncertainty weight changes each step.</a:t>
            </a:r>
            <a:endParaRPr lang="en-US" sz="1050" dirty="0"/>
          </a:p>
        </p:txBody>
      </p:sp>
      <p:sp>
        <p:nvSpPr>
          <p:cNvPr id="20" name="Shape 18"/>
          <p:cNvSpPr/>
          <p:nvPr/>
        </p:nvSpPr>
        <p:spPr>
          <a:xfrm>
            <a:off x="685800" y="3849624"/>
            <a:ext cx="11064240" cy="1078992"/>
          </a:xfrm>
          <a:prstGeom prst="roundRect">
            <a:avLst>
              <a:gd name="adj" fmla="val 7627"/>
            </a:avLst>
          </a:prstGeom>
          <a:solidFill>
            <a:srgbClr val="FFF1F2"/>
          </a:solidFill>
          <a:ln w="10160">
            <a:solidFill>
              <a:srgbClr val="9F1239"/>
            </a:solidFill>
            <a:prstDash val="solid"/>
          </a:ln>
        </p:spPr>
        <p:txBody>
          <a:bodyPr/>
          <a:lstStyle/>
          <a:p>
            <a:endParaRPr lang="en-US"/>
          </a:p>
        </p:txBody>
      </p:sp>
      <p:sp>
        <p:nvSpPr>
          <p:cNvPr id="21" name="Text 19"/>
          <p:cNvSpPr/>
          <p:nvPr/>
        </p:nvSpPr>
        <p:spPr>
          <a:xfrm>
            <a:off x="850392" y="3986784"/>
            <a:ext cx="2011680" cy="164592"/>
          </a:xfrm>
          <a:prstGeom prst="rect">
            <a:avLst/>
          </a:prstGeom>
          <a:noFill/>
          <a:ln/>
        </p:spPr>
        <p:txBody>
          <a:bodyPr wrap="square" lIns="0" tIns="0" rIns="0" bIns="0" rtlCol="0" anchor="ctr">
            <a:noAutofit/>
          </a:bodyPr>
          <a:lstStyle/>
          <a:p>
            <a:pPr marL="0" indent="0">
              <a:buNone/>
            </a:pPr>
            <a:r>
              <a:rPr lang="en-US" sz="1100" b="1" dirty="0">
                <a:solidFill>
                  <a:srgbClr val="9F1239"/>
                </a:solidFill>
              </a:rPr>
              <a:t>Expected feasibility</a:t>
            </a:r>
            <a:endParaRPr lang="en-US" sz="1100" dirty="0"/>
          </a:p>
        </p:txBody>
      </p:sp>
      <p:sp>
        <p:nvSpPr>
          <p:cNvPr id="22" name="Text 20"/>
          <p:cNvSpPr/>
          <p:nvPr/>
        </p:nvSpPr>
        <p:spPr>
          <a:xfrm>
            <a:off x="850392" y="4270248"/>
            <a:ext cx="10735056" cy="182880"/>
          </a:xfrm>
          <a:prstGeom prst="rect">
            <a:avLst/>
          </a:prstGeom>
          <a:noFill/>
          <a:ln/>
        </p:spPr>
        <p:txBody>
          <a:bodyPr wrap="square" lIns="0" tIns="0" rIns="0" bIns="0" rtlCol="0" anchor="ctr">
            <a:normAutofit/>
          </a:bodyPr>
          <a:lstStyle/>
          <a:p>
            <a:pPr marL="0" indent="0">
              <a:buNone/>
            </a:pPr>
            <a:r>
              <a:rPr lang="en-US" sz="1000" b="1" dirty="0">
                <a:solidFill>
                  <a:srgbClr val="1F2A44"/>
                </a:solidFill>
              </a:rPr>
              <a:t>E[max((1.96σ)² − Y², 0)]</a:t>
            </a:r>
            <a:endParaRPr lang="en-US" sz="1000" dirty="0"/>
          </a:p>
        </p:txBody>
      </p:sp>
      <p:sp>
        <p:nvSpPr>
          <p:cNvPr id="23" name="Text 21"/>
          <p:cNvSpPr/>
          <p:nvPr/>
        </p:nvSpPr>
        <p:spPr>
          <a:xfrm>
            <a:off x="850392" y="4562856"/>
            <a:ext cx="10735056" cy="201168"/>
          </a:xfrm>
          <a:prstGeom prst="rect">
            <a:avLst/>
          </a:prstGeom>
          <a:noFill/>
          <a:ln/>
        </p:spPr>
        <p:txBody>
          <a:bodyPr wrap="square" lIns="0" tIns="0" rIns="0" bIns="0" rtlCol="0" anchor="ctr">
            <a:normAutofit/>
          </a:bodyPr>
          <a:lstStyle/>
          <a:p>
            <a:pPr marL="0" indent="0">
              <a:buNone/>
            </a:pPr>
            <a:r>
              <a:rPr lang="en-US" sz="1050" dirty="0">
                <a:solidFill>
                  <a:srgbClr val="4B5563"/>
                </a:solidFill>
              </a:rPr>
              <a:t>Contour-focused expected-improvement-style heuristic.</a:t>
            </a:r>
            <a:endParaRPr lang="en-US" sz="1050" dirty="0"/>
          </a:p>
        </p:txBody>
      </p:sp>
      <p:sp>
        <p:nvSpPr>
          <p:cNvPr id="24" name="Shape 22"/>
          <p:cNvSpPr/>
          <p:nvPr/>
        </p:nvSpPr>
        <p:spPr>
          <a:xfrm>
            <a:off x="685800" y="5504688"/>
            <a:ext cx="11064240" cy="566928"/>
          </a:xfrm>
          <a:prstGeom prst="roundRect">
            <a:avLst>
              <a:gd name="adj" fmla="val 14516"/>
            </a:avLst>
          </a:prstGeom>
          <a:solidFill>
            <a:srgbClr val="FFFFFF"/>
          </a:solidFill>
          <a:ln w="10160">
            <a:solidFill>
              <a:srgbClr val="D9DEE8"/>
            </a:solidFill>
            <a:prstDash val="solid"/>
          </a:ln>
        </p:spPr>
        <p:txBody>
          <a:bodyPr/>
          <a:lstStyle/>
          <a:p>
            <a:endParaRPr lang="en-US"/>
          </a:p>
        </p:txBody>
      </p:sp>
      <p:sp>
        <p:nvSpPr>
          <p:cNvPr id="25" name="Text 23"/>
          <p:cNvSpPr/>
          <p:nvPr/>
        </p:nvSpPr>
        <p:spPr>
          <a:xfrm>
            <a:off x="896112" y="5696712"/>
            <a:ext cx="10607040" cy="146304"/>
          </a:xfrm>
          <a:prstGeom prst="rect">
            <a:avLst/>
          </a:prstGeom>
          <a:noFill/>
          <a:ln/>
        </p:spPr>
        <p:txBody>
          <a:bodyPr wrap="square" lIns="0" tIns="0" rIns="0" bIns="0" rtlCol="0" anchor="ctr">
            <a:noAutofit/>
          </a:bodyPr>
          <a:lstStyle/>
          <a:p>
            <a:pPr marL="0" indent="0">
              <a:buNone/>
            </a:pPr>
            <a:r>
              <a:rPr lang="en-US" sz="1050" dirty="0">
                <a:solidFill>
                  <a:srgbClr val="4B5563"/>
                </a:solidFill>
              </a:rPr>
              <a:t>Important: μ and σ are latent outputs of the GP-regression stand-in; they are not calibrated class probabilities.</a:t>
            </a:r>
            <a:endParaRPr lang="en-US" sz="1050" dirty="0"/>
          </a:p>
        </p:txBody>
      </p:sp>
      <p:sp>
        <p:nvSpPr>
          <p:cNvPr id="26" name="Shape 24"/>
          <p:cNvSpPr/>
          <p:nvPr/>
        </p:nvSpPr>
        <p:spPr>
          <a:xfrm>
            <a:off x="502920" y="6446520"/>
            <a:ext cx="11201400" cy="0"/>
          </a:xfrm>
          <a:prstGeom prst="line">
            <a:avLst/>
          </a:prstGeom>
          <a:noFill/>
          <a:ln w="8890">
            <a:solidFill>
              <a:srgbClr val="D9DEE8"/>
            </a:solidFill>
            <a:prstDash val="solid"/>
          </a:ln>
        </p:spPr>
        <p:txBody>
          <a:bodyPr/>
          <a:lstStyle/>
          <a:p>
            <a:endParaRPr lang="en-US"/>
          </a:p>
        </p:txBody>
      </p:sp>
      <p:sp>
        <p:nvSpPr>
          <p:cNvPr id="27" name="Text 25"/>
          <p:cNvSpPr/>
          <p:nvPr/>
        </p:nvSpPr>
        <p:spPr>
          <a:xfrm>
            <a:off x="502920" y="6519672"/>
            <a:ext cx="8961120" cy="164592"/>
          </a:xfrm>
          <a:prstGeom prst="rect">
            <a:avLst/>
          </a:prstGeom>
          <a:noFill/>
          <a:ln/>
        </p:spPr>
        <p:txBody>
          <a:bodyPr wrap="square" lIns="0" tIns="0" rIns="0" bIns="0" rtlCol="0" anchor="ctr"/>
          <a:lstStyle/>
          <a:p>
            <a:pPr marL="0" indent="0">
              <a:buNone/>
            </a:pPr>
            <a:r>
              <a:rPr lang="en-US" sz="780" dirty="0">
                <a:solidFill>
                  <a:srgbClr val="6B7280"/>
                </a:solidFill>
                <a:latin typeface="Aptos" pitchFamily="34" charset="0"/>
                <a:ea typeface="Aptos" pitchFamily="34" charset="-122"/>
                <a:cs typeface="Aptos" pitchFamily="34" charset="-120"/>
              </a:rPr>
              <a:t>Week 2 progress • Sample-Efficient Active Level-Set Estimation • 3</a:t>
            </a:r>
            <a:endParaRPr lang="en-US" sz="780" dirty="0"/>
          </a:p>
        </p:txBody>
      </p:sp>
      <p:sp>
        <p:nvSpPr>
          <p:cNvPr id="28" name="Text 26"/>
          <p:cNvSpPr/>
          <p:nvPr/>
        </p:nvSpPr>
        <p:spPr>
          <a:xfrm>
            <a:off x="11521440" y="6492240"/>
            <a:ext cx="228600" cy="164592"/>
          </a:xfrm>
          <a:prstGeom prst="rect">
            <a:avLst/>
          </a:prstGeom>
          <a:noFill/>
          <a:ln/>
        </p:spPr>
        <p:txBody>
          <a:bodyPr wrap="square" lIns="0" tIns="0" rIns="0" bIns="0" rtlCol="0" anchor="ctr"/>
          <a:lstStyle/>
          <a:p>
            <a:pPr marL="0" indent="0" algn="r">
              <a:buNone/>
            </a:pPr>
            <a:r>
              <a:rPr lang="en-US" sz="780" dirty="0">
                <a:solidFill>
                  <a:srgbClr val="6B7280"/>
                </a:solidFill>
              </a:rPr>
              <a:t>3</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789920" cy="320040"/>
          </a:xfrm>
          <a:prstGeom prst="rect">
            <a:avLst/>
          </a:prstGeom>
          <a:noFill/>
          <a:ln/>
        </p:spPr>
        <p:txBody>
          <a:bodyPr wrap="square" lIns="0" tIns="0" rIns="0" bIns="0" rtlCol="0" anchor="ctr"/>
          <a:lstStyle/>
          <a:p>
            <a:pPr marL="0" indent="0">
              <a:buNone/>
            </a:pPr>
            <a:r>
              <a:rPr lang="en-US" sz="2200" b="1" dirty="0">
                <a:solidFill>
                  <a:srgbClr val="1F2A44"/>
                </a:solidFill>
                <a:latin typeface="Aptos Display" pitchFamily="34" charset="0"/>
                <a:ea typeface="Aptos Display" pitchFamily="34" charset="-122"/>
                <a:cs typeface="Aptos Display" pitchFamily="34" charset="-120"/>
              </a:rPr>
              <a:t>Mean error curves across five seeds</a:t>
            </a:r>
            <a:endParaRPr lang="en-US" sz="2200" dirty="0"/>
          </a:p>
        </p:txBody>
      </p:sp>
      <p:sp>
        <p:nvSpPr>
          <p:cNvPr id="3" name="Text 1"/>
          <p:cNvSpPr/>
          <p:nvPr/>
        </p:nvSpPr>
        <p:spPr>
          <a:xfrm>
            <a:off x="521208" y="713232"/>
            <a:ext cx="10515600" cy="237744"/>
          </a:xfrm>
          <a:prstGeom prst="rect">
            <a:avLst/>
          </a:prstGeom>
          <a:noFill/>
          <a:ln/>
        </p:spPr>
        <p:txBody>
          <a:bodyPr wrap="square" lIns="0" tIns="0" rIns="0" bIns="0" rtlCol="0" anchor="ctr"/>
          <a:lstStyle/>
          <a:p>
            <a:pPr marL="0" indent="0">
              <a:buNone/>
            </a:pPr>
            <a:r>
              <a:rPr lang="en-US" sz="1100" dirty="0">
                <a:solidFill>
                  <a:srgbClr val="4B5563"/>
                </a:solidFill>
              </a:rPr>
              <a:t>Error is the fraction of 4,000 independent Branin test points mislabelled. Lower is better.</a:t>
            </a:r>
            <a:endParaRPr lang="en-US" sz="1100" dirty="0"/>
          </a:p>
        </p:txBody>
      </p:sp>
      <p:sp>
        <p:nvSpPr>
          <p:cNvPr id="4" name="Shape 2"/>
          <p:cNvSpPr/>
          <p:nvPr/>
        </p:nvSpPr>
        <p:spPr>
          <a:xfrm>
            <a:off x="502920" y="1051560"/>
            <a:ext cx="7909560" cy="5029200"/>
          </a:xfrm>
          <a:prstGeom prst="roundRect">
            <a:avLst>
              <a:gd name="adj" fmla="val 1636"/>
            </a:avLst>
          </a:prstGeom>
          <a:solidFill>
            <a:srgbClr val="FFFFFF"/>
          </a:solidFill>
          <a:ln w="10160">
            <a:solidFill>
              <a:srgbClr val="D9DEE8"/>
            </a:solidFill>
            <a:prstDash val="solid"/>
          </a:ln>
        </p:spPr>
        <p:txBody>
          <a:bodyPr/>
          <a:lstStyle/>
          <a:p>
            <a:endParaRPr lang="en-US"/>
          </a:p>
        </p:txBody>
      </p:sp>
      <p:pic>
        <p:nvPicPr>
          <p:cNvPr id="5" name="Image 0" descr="/mnt/data/error_curves_all_methods(1).png"/>
          <p:cNvPicPr>
            <a:picLocks noChangeAspect="1"/>
          </p:cNvPicPr>
          <p:nvPr/>
        </p:nvPicPr>
        <p:blipFill>
          <a:blip r:embed="rId3"/>
          <a:stretch>
            <a:fillRect/>
          </a:stretch>
        </p:blipFill>
        <p:spPr>
          <a:xfrm>
            <a:off x="502920" y="1136905"/>
            <a:ext cx="7909560" cy="4858509"/>
          </a:xfrm>
          <a:prstGeom prst="rect">
            <a:avLst/>
          </a:prstGeom>
        </p:spPr>
      </p:pic>
      <p:sp>
        <p:nvSpPr>
          <p:cNvPr id="6" name="Shape 3"/>
          <p:cNvSpPr/>
          <p:nvPr/>
        </p:nvSpPr>
        <p:spPr>
          <a:xfrm>
            <a:off x="8641080" y="1051560"/>
            <a:ext cx="2971800" cy="5029200"/>
          </a:xfrm>
          <a:prstGeom prst="roundRect">
            <a:avLst>
              <a:gd name="adj" fmla="val 2769"/>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7" name="Text 4"/>
          <p:cNvSpPr/>
          <p:nvPr/>
        </p:nvSpPr>
        <p:spPr>
          <a:xfrm>
            <a:off x="8887968" y="1325880"/>
            <a:ext cx="2377440" cy="164592"/>
          </a:xfrm>
          <a:prstGeom prst="rect">
            <a:avLst/>
          </a:prstGeom>
          <a:noFill/>
          <a:ln/>
        </p:spPr>
        <p:txBody>
          <a:bodyPr wrap="square" lIns="0" tIns="0" rIns="0" bIns="0" rtlCol="0" anchor="ctr"/>
          <a:lstStyle/>
          <a:p>
            <a:pPr marL="0" indent="0">
              <a:buNone/>
            </a:pPr>
            <a:r>
              <a:rPr lang="en-US" sz="1400" b="1" dirty="0">
                <a:solidFill>
                  <a:srgbClr val="1F2A44"/>
                </a:solidFill>
              </a:rPr>
              <a:t>What the curves show</a:t>
            </a:r>
            <a:endParaRPr lang="en-US" sz="1400" dirty="0"/>
          </a:p>
        </p:txBody>
      </p:sp>
      <p:sp>
        <p:nvSpPr>
          <p:cNvPr id="8" name="Text 5"/>
          <p:cNvSpPr/>
          <p:nvPr/>
        </p:nvSpPr>
        <p:spPr>
          <a:xfrm>
            <a:off x="8887968" y="1796796"/>
            <a:ext cx="109728" cy="146304"/>
          </a:xfrm>
          <a:prstGeom prst="rect">
            <a:avLst/>
          </a:prstGeom>
          <a:noFill/>
          <a:ln/>
        </p:spPr>
        <p:txBody>
          <a:bodyPr wrap="square" lIns="0" tIns="0" rIns="0" bIns="0" rtlCol="0" anchor="ctr"/>
          <a:lstStyle/>
          <a:p>
            <a:pPr marL="0" indent="0">
              <a:buNone/>
            </a:pPr>
            <a:r>
              <a:rPr lang="en-US" sz="900" dirty="0">
                <a:solidFill>
                  <a:srgbClr val="1F2A44"/>
                </a:solidFill>
              </a:rPr>
              <a:t>•</a:t>
            </a:r>
            <a:endParaRPr lang="en-US" sz="900" dirty="0"/>
          </a:p>
        </p:txBody>
      </p:sp>
      <p:sp>
        <p:nvSpPr>
          <p:cNvPr id="9" name="Text 6"/>
          <p:cNvSpPr/>
          <p:nvPr/>
        </p:nvSpPr>
        <p:spPr>
          <a:xfrm>
            <a:off x="9052560" y="1783080"/>
            <a:ext cx="2304288" cy="329184"/>
          </a:xfrm>
          <a:prstGeom prst="rect">
            <a:avLst/>
          </a:prstGeom>
          <a:noFill/>
          <a:ln/>
        </p:spPr>
        <p:txBody>
          <a:bodyPr wrap="square" lIns="0" tIns="0" rIns="0" bIns="0" rtlCol="0" anchor="ctr">
            <a:noAutofit/>
          </a:bodyPr>
          <a:lstStyle/>
          <a:p>
            <a:pPr marL="0" indent="0">
              <a:buNone/>
            </a:pPr>
            <a:r>
              <a:rPr lang="en-US" sz="1100" dirty="0">
                <a:solidFill>
                  <a:srgbClr val="111827"/>
                </a:solidFill>
              </a:rPr>
              <a:t>All methods start from the same mean error: 35.19%.</a:t>
            </a:r>
            <a:endParaRPr lang="en-US" sz="1100" dirty="0"/>
          </a:p>
        </p:txBody>
      </p:sp>
      <p:sp>
        <p:nvSpPr>
          <p:cNvPr id="10" name="Text 7"/>
          <p:cNvSpPr/>
          <p:nvPr/>
        </p:nvSpPr>
        <p:spPr>
          <a:xfrm>
            <a:off x="8887968" y="2409444"/>
            <a:ext cx="109728" cy="146304"/>
          </a:xfrm>
          <a:prstGeom prst="rect">
            <a:avLst/>
          </a:prstGeom>
          <a:noFill/>
          <a:ln/>
        </p:spPr>
        <p:txBody>
          <a:bodyPr wrap="square" lIns="0" tIns="0" rIns="0" bIns="0" rtlCol="0" anchor="ctr"/>
          <a:lstStyle/>
          <a:p>
            <a:pPr marL="0" indent="0">
              <a:buNone/>
            </a:pPr>
            <a:r>
              <a:rPr lang="en-US" sz="900" dirty="0">
                <a:solidFill>
                  <a:srgbClr val="1F2A44"/>
                </a:solidFill>
              </a:rPr>
              <a:t>•</a:t>
            </a:r>
            <a:endParaRPr lang="en-US" sz="900" dirty="0"/>
          </a:p>
        </p:txBody>
      </p:sp>
      <p:sp>
        <p:nvSpPr>
          <p:cNvPr id="11" name="Text 8"/>
          <p:cNvSpPr/>
          <p:nvPr/>
        </p:nvSpPr>
        <p:spPr>
          <a:xfrm>
            <a:off x="9052560" y="2395728"/>
            <a:ext cx="2304288" cy="384048"/>
          </a:xfrm>
          <a:prstGeom prst="rect">
            <a:avLst/>
          </a:prstGeom>
          <a:noFill/>
          <a:ln/>
        </p:spPr>
        <p:txBody>
          <a:bodyPr wrap="square" lIns="0" tIns="0" rIns="0" bIns="0" rtlCol="0" anchor="ctr">
            <a:normAutofit/>
          </a:bodyPr>
          <a:lstStyle/>
          <a:p>
            <a:pPr marL="0" indent="0">
              <a:buNone/>
            </a:pPr>
            <a:r>
              <a:rPr lang="en-US" sz="1100" dirty="0">
                <a:solidFill>
                  <a:srgbClr val="111827"/>
                </a:solidFill>
              </a:rPr>
              <a:t>Random improves, but plateaus higher than the boundary-aware rules.</a:t>
            </a:r>
            <a:endParaRPr lang="en-US" sz="1100" dirty="0"/>
          </a:p>
        </p:txBody>
      </p:sp>
      <p:sp>
        <p:nvSpPr>
          <p:cNvPr id="12" name="Text 9"/>
          <p:cNvSpPr/>
          <p:nvPr/>
        </p:nvSpPr>
        <p:spPr>
          <a:xfrm>
            <a:off x="8887968" y="3122676"/>
            <a:ext cx="109728" cy="146304"/>
          </a:xfrm>
          <a:prstGeom prst="rect">
            <a:avLst/>
          </a:prstGeom>
          <a:noFill/>
          <a:ln/>
        </p:spPr>
        <p:txBody>
          <a:bodyPr wrap="square" lIns="0" tIns="0" rIns="0" bIns="0" rtlCol="0" anchor="ctr"/>
          <a:lstStyle/>
          <a:p>
            <a:pPr marL="0" indent="0">
              <a:buNone/>
            </a:pPr>
            <a:r>
              <a:rPr lang="en-US" sz="900" dirty="0">
                <a:solidFill>
                  <a:srgbClr val="1F2A44"/>
                </a:solidFill>
              </a:rPr>
              <a:t>•</a:t>
            </a:r>
            <a:endParaRPr lang="en-US" sz="900" dirty="0"/>
          </a:p>
        </p:txBody>
      </p:sp>
      <p:sp>
        <p:nvSpPr>
          <p:cNvPr id="13" name="Text 10"/>
          <p:cNvSpPr/>
          <p:nvPr/>
        </p:nvSpPr>
        <p:spPr>
          <a:xfrm>
            <a:off x="9052560" y="3108960"/>
            <a:ext cx="2304288" cy="475488"/>
          </a:xfrm>
          <a:prstGeom prst="rect">
            <a:avLst/>
          </a:prstGeom>
          <a:noFill/>
          <a:ln/>
        </p:spPr>
        <p:txBody>
          <a:bodyPr wrap="square" lIns="0" tIns="0" rIns="0" bIns="0" rtlCol="0" anchor="ctr">
            <a:noAutofit/>
          </a:bodyPr>
          <a:lstStyle/>
          <a:p>
            <a:pPr marL="0" indent="0">
              <a:buNone/>
            </a:pPr>
            <a:r>
              <a:rPr lang="en-US" sz="1100" dirty="0">
                <a:solidFill>
                  <a:srgbClr val="111827"/>
                </a:solidFill>
              </a:rPr>
              <a:t>Smallest |μ|, straddle, randomized straddle and expected feasibility all end around 6–7%.</a:t>
            </a:r>
            <a:endParaRPr lang="en-US" sz="1100" dirty="0"/>
          </a:p>
        </p:txBody>
      </p:sp>
      <p:sp>
        <p:nvSpPr>
          <p:cNvPr id="14" name="Text 11"/>
          <p:cNvSpPr/>
          <p:nvPr/>
        </p:nvSpPr>
        <p:spPr>
          <a:xfrm>
            <a:off x="8887968" y="3991356"/>
            <a:ext cx="109728" cy="146304"/>
          </a:xfrm>
          <a:prstGeom prst="rect">
            <a:avLst/>
          </a:prstGeom>
          <a:noFill/>
          <a:ln/>
        </p:spPr>
        <p:txBody>
          <a:bodyPr wrap="square" lIns="0" tIns="0" rIns="0" bIns="0" rtlCol="0" anchor="ctr"/>
          <a:lstStyle/>
          <a:p>
            <a:pPr marL="0" indent="0">
              <a:buNone/>
            </a:pPr>
            <a:r>
              <a:rPr lang="en-US" sz="900" dirty="0">
                <a:solidFill>
                  <a:srgbClr val="1F2A44"/>
                </a:solidFill>
              </a:rPr>
              <a:t>•</a:t>
            </a:r>
            <a:endParaRPr lang="en-US" sz="900" dirty="0"/>
          </a:p>
        </p:txBody>
      </p:sp>
      <p:sp>
        <p:nvSpPr>
          <p:cNvPr id="15" name="Text 12"/>
          <p:cNvSpPr/>
          <p:nvPr/>
        </p:nvSpPr>
        <p:spPr>
          <a:xfrm>
            <a:off x="9052560" y="3977640"/>
            <a:ext cx="2304288" cy="530352"/>
          </a:xfrm>
          <a:prstGeom prst="rect">
            <a:avLst/>
          </a:prstGeom>
          <a:noFill/>
          <a:ln/>
        </p:spPr>
        <p:txBody>
          <a:bodyPr wrap="square" lIns="0" tIns="0" rIns="0" bIns="0" rtlCol="0" anchor="ctr">
            <a:normAutofit/>
          </a:bodyPr>
          <a:lstStyle/>
          <a:p>
            <a:pPr marL="0" indent="0">
              <a:buNone/>
            </a:pPr>
            <a:r>
              <a:rPr lang="en-US" sz="1100" dirty="0">
                <a:solidFill>
                  <a:srgbClr val="111827"/>
                </a:solidFill>
              </a:rPr>
              <a:t>Individual curves are not required to be monotone because the GP is refit globally after each new label.</a:t>
            </a:r>
            <a:endParaRPr lang="en-US" sz="1100" dirty="0"/>
          </a:p>
        </p:txBody>
      </p:sp>
      <p:sp>
        <p:nvSpPr>
          <p:cNvPr id="16" name="Shape 13"/>
          <p:cNvSpPr/>
          <p:nvPr/>
        </p:nvSpPr>
        <p:spPr>
          <a:xfrm>
            <a:off x="8887968" y="5047488"/>
            <a:ext cx="2331720" cy="530352"/>
          </a:xfrm>
          <a:prstGeom prst="roundRect">
            <a:avLst>
              <a:gd name="adj" fmla="val 15517"/>
            </a:avLst>
          </a:prstGeom>
          <a:solidFill>
            <a:srgbClr val="ECFDF5"/>
          </a:solidFill>
          <a:ln w="10160">
            <a:solidFill>
              <a:srgbClr val="BBF7D0"/>
            </a:solidFill>
            <a:prstDash val="solid"/>
          </a:ln>
        </p:spPr>
        <p:txBody>
          <a:bodyPr/>
          <a:lstStyle/>
          <a:p>
            <a:endParaRPr lang="en-US"/>
          </a:p>
        </p:txBody>
      </p:sp>
      <p:sp>
        <p:nvSpPr>
          <p:cNvPr id="17" name="Text 14"/>
          <p:cNvSpPr/>
          <p:nvPr/>
        </p:nvSpPr>
        <p:spPr>
          <a:xfrm>
            <a:off x="9052560" y="5221224"/>
            <a:ext cx="2011680" cy="146304"/>
          </a:xfrm>
          <a:prstGeom prst="rect">
            <a:avLst/>
          </a:prstGeom>
          <a:noFill/>
          <a:ln/>
        </p:spPr>
        <p:txBody>
          <a:bodyPr wrap="square" lIns="0" tIns="0" rIns="0" bIns="0" rtlCol="0" anchor="ctr">
            <a:noAutofit/>
          </a:bodyPr>
          <a:lstStyle/>
          <a:p>
            <a:pPr marL="0" indent="0" algn="ctr">
              <a:buNone/>
            </a:pPr>
            <a:r>
              <a:rPr lang="en-US" sz="1100" b="1" dirty="0">
                <a:solidFill>
                  <a:srgbClr val="0F8B61"/>
                </a:solidFill>
              </a:rPr>
              <a:t>Main signal: boundary-aware acquisition is useful.</a:t>
            </a:r>
            <a:endParaRPr lang="en-US" sz="1100" dirty="0"/>
          </a:p>
        </p:txBody>
      </p:sp>
      <p:sp>
        <p:nvSpPr>
          <p:cNvPr id="18" name="Shape 15"/>
          <p:cNvSpPr/>
          <p:nvPr/>
        </p:nvSpPr>
        <p:spPr>
          <a:xfrm>
            <a:off x="502920" y="6446520"/>
            <a:ext cx="11201400" cy="0"/>
          </a:xfrm>
          <a:prstGeom prst="line">
            <a:avLst/>
          </a:prstGeom>
          <a:noFill/>
          <a:ln w="8890">
            <a:solidFill>
              <a:srgbClr val="D9DEE8"/>
            </a:solidFill>
            <a:prstDash val="solid"/>
          </a:ln>
        </p:spPr>
        <p:txBody>
          <a:bodyPr/>
          <a:lstStyle/>
          <a:p>
            <a:endParaRPr lang="en-US"/>
          </a:p>
        </p:txBody>
      </p:sp>
      <p:sp>
        <p:nvSpPr>
          <p:cNvPr id="19" name="Text 16"/>
          <p:cNvSpPr/>
          <p:nvPr/>
        </p:nvSpPr>
        <p:spPr>
          <a:xfrm>
            <a:off x="502920" y="6519672"/>
            <a:ext cx="8961120" cy="164592"/>
          </a:xfrm>
          <a:prstGeom prst="rect">
            <a:avLst/>
          </a:prstGeom>
          <a:noFill/>
          <a:ln/>
        </p:spPr>
        <p:txBody>
          <a:bodyPr wrap="square" lIns="0" tIns="0" rIns="0" bIns="0" rtlCol="0" anchor="ctr"/>
          <a:lstStyle/>
          <a:p>
            <a:pPr marL="0" indent="0">
              <a:buNone/>
            </a:pPr>
            <a:r>
              <a:rPr lang="en-US" sz="780" dirty="0">
                <a:solidFill>
                  <a:srgbClr val="6B7280"/>
                </a:solidFill>
                <a:latin typeface="Aptos" pitchFamily="34" charset="0"/>
                <a:ea typeface="Aptos" pitchFamily="34" charset="-122"/>
                <a:cs typeface="Aptos" pitchFamily="34" charset="-120"/>
              </a:rPr>
              <a:t>Week 2 progress • Sample-Efficient Active Level-Set Estimation • 4</a:t>
            </a:r>
            <a:endParaRPr lang="en-US" sz="780" dirty="0"/>
          </a:p>
        </p:txBody>
      </p:sp>
      <p:sp>
        <p:nvSpPr>
          <p:cNvPr id="20" name="Text 17"/>
          <p:cNvSpPr/>
          <p:nvPr/>
        </p:nvSpPr>
        <p:spPr>
          <a:xfrm>
            <a:off x="11521440" y="6492240"/>
            <a:ext cx="228600" cy="164592"/>
          </a:xfrm>
          <a:prstGeom prst="rect">
            <a:avLst/>
          </a:prstGeom>
          <a:noFill/>
          <a:ln/>
        </p:spPr>
        <p:txBody>
          <a:bodyPr wrap="square" lIns="0" tIns="0" rIns="0" bIns="0" rtlCol="0" anchor="ctr"/>
          <a:lstStyle/>
          <a:p>
            <a:pPr marL="0" indent="0" algn="r">
              <a:buNone/>
            </a:pPr>
            <a:r>
              <a:rPr lang="en-US" sz="780" dirty="0">
                <a:solidFill>
                  <a:srgbClr val="6B7280"/>
                </a:solidFill>
              </a:rPr>
              <a:t>4</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789920" cy="320040"/>
          </a:xfrm>
          <a:prstGeom prst="rect">
            <a:avLst/>
          </a:prstGeom>
          <a:noFill/>
          <a:ln/>
        </p:spPr>
        <p:txBody>
          <a:bodyPr wrap="square" lIns="0" tIns="0" rIns="0" bIns="0" rtlCol="0" anchor="ctr"/>
          <a:lstStyle/>
          <a:p>
            <a:pPr marL="0" indent="0">
              <a:buNone/>
            </a:pPr>
            <a:r>
              <a:rPr lang="en-US" sz="2200" b="1" dirty="0">
                <a:solidFill>
                  <a:srgbClr val="1F2A44"/>
                </a:solidFill>
                <a:latin typeface="Aptos Display" pitchFamily="34" charset="0"/>
                <a:ea typeface="Aptos Display" pitchFamily="34" charset="-122"/>
                <a:cs typeface="Aptos Display" pitchFamily="34" charset="-120"/>
              </a:rPr>
              <a:t>Final ranking at budget 50</a:t>
            </a:r>
            <a:endParaRPr lang="en-US" sz="2200" dirty="0"/>
          </a:p>
        </p:txBody>
      </p:sp>
      <p:sp>
        <p:nvSpPr>
          <p:cNvPr id="3" name="Text 1"/>
          <p:cNvSpPr/>
          <p:nvPr/>
        </p:nvSpPr>
        <p:spPr>
          <a:xfrm>
            <a:off x="521208" y="713232"/>
            <a:ext cx="10515600" cy="237744"/>
          </a:xfrm>
          <a:prstGeom prst="rect">
            <a:avLst/>
          </a:prstGeom>
          <a:noFill/>
          <a:ln/>
        </p:spPr>
        <p:txBody>
          <a:bodyPr wrap="square" lIns="0" tIns="0" rIns="0" bIns="0" rtlCol="0" anchor="ctr"/>
          <a:lstStyle/>
          <a:p>
            <a:pPr marL="0" indent="0">
              <a:buNone/>
            </a:pPr>
            <a:r>
              <a:rPr lang="en-US" sz="1050" dirty="0">
                <a:solidFill>
                  <a:srgbClr val="4B5563"/>
                </a:solidFill>
              </a:rPr>
              <a:t>Randomized straddle is best by mean final error in this run, but straddle is very close.</a:t>
            </a:r>
            <a:endParaRPr lang="en-US" sz="1050" dirty="0"/>
          </a:p>
        </p:txBody>
      </p:sp>
      <p:sp>
        <p:nvSpPr>
          <p:cNvPr id="4" name="Shape 2"/>
          <p:cNvSpPr/>
          <p:nvPr/>
        </p:nvSpPr>
        <p:spPr>
          <a:xfrm>
            <a:off x="502920" y="1051560"/>
            <a:ext cx="7406640" cy="4937760"/>
          </a:xfrm>
          <a:prstGeom prst="roundRect">
            <a:avLst>
              <a:gd name="adj" fmla="val 1667"/>
            </a:avLst>
          </a:prstGeom>
          <a:solidFill>
            <a:srgbClr val="FFFFFF"/>
          </a:solidFill>
          <a:ln w="10160">
            <a:solidFill>
              <a:srgbClr val="D9DEE8"/>
            </a:solidFill>
            <a:prstDash val="solid"/>
          </a:ln>
        </p:spPr>
        <p:txBody>
          <a:bodyPr/>
          <a:lstStyle/>
          <a:p>
            <a:endParaRPr lang="en-US"/>
          </a:p>
        </p:txBody>
      </p:sp>
      <p:pic>
        <p:nvPicPr>
          <p:cNvPr id="5" name="Image 0" descr="/mnt/data/final_error_bar_chart(1).png"/>
          <p:cNvPicPr>
            <a:picLocks noChangeAspect="1"/>
          </p:cNvPicPr>
          <p:nvPr/>
        </p:nvPicPr>
        <p:blipFill>
          <a:blip r:embed="rId3"/>
          <a:stretch>
            <a:fillRect/>
          </a:stretch>
        </p:blipFill>
        <p:spPr>
          <a:xfrm>
            <a:off x="502920" y="1319022"/>
            <a:ext cx="7406640" cy="4402836"/>
          </a:xfrm>
          <a:prstGeom prst="rect">
            <a:avLst/>
          </a:prstGeom>
        </p:spPr>
      </p:pic>
      <p:sp>
        <p:nvSpPr>
          <p:cNvPr id="6" name="Shape 3"/>
          <p:cNvSpPr/>
          <p:nvPr/>
        </p:nvSpPr>
        <p:spPr>
          <a:xfrm>
            <a:off x="8156448" y="1051560"/>
            <a:ext cx="3456432" cy="4937760"/>
          </a:xfrm>
          <a:prstGeom prst="roundRect">
            <a:avLst>
              <a:gd name="adj" fmla="val 2381"/>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7" name="Text 4"/>
          <p:cNvSpPr/>
          <p:nvPr/>
        </p:nvSpPr>
        <p:spPr>
          <a:xfrm>
            <a:off x="8394192" y="1307592"/>
            <a:ext cx="2651760" cy="164592"/>
          </a:xfrm>
          <a:prstGeom prst="rect">
            <a:avLst/>
          </a:prstGeom>
          <a:noFill/>
          <a:ln/>
        </p:spPr>
        <p:txBody>
          <a:bodyPr wrap="square" lIns="0" tIns="0" rIns="0" bIns="0" rtlCol="0" anchor="ctr"/>
          <a:lstStyle/>
          <a:p>
            <a:pPr marL="0" indent="0">
              <a:buNone/>
            </a:pPr>
            <a:r>
              <a:rPr lang="en-US" sz="1400" b="1" dirty="0">
                <a:solidFill>
                  <a:srgbClr val="1F2A44"/>
                </a:solidFill>
              </a:rPr>
              <a:t>Mean final error</a:t>
            </a:r>
            <a:endParaRPr lang="en-US" sz="1400" dirty="0"/>
          </a:p>
        </p:txBody>
      </p:sp>
      <p:sp>
        <p:nvSpPr>
          <p:cNvPr id="8" name="Shape 5"/>
          <p:cNvSpPr/>
          <p:nvPr/>
        </p:nvSpPr>
        <p:spPr>
          <a:xfrm>
            <a:off x="8394192" y="1719072"/>
            <a:ext cx="256032" cy="256032"/>
          </a:xfrm>
          <a:prstGeom prst="ellipse">
            <a:avLst/>
          </a:prstGeom>
          <a:solidFill>
            <a:srgbClr val="B7791F"/>
          </a:solidFill>
          <a:ln w="12700">
            <a:solidFill>
              <a:srgbClr val="B7791F"/>
            </a:solidFill>
            <a:prstDash val="solid"/>
          </a:ln>
        </p:spPr>
        <p:txBody>
          <a:bodyPr/>
          <a:lstStyle/>
          <a:p>
            <a:endParaRPr lang="en-US"/>
          </a:p>
        </p:txBody>
      </p:sp>
      <p:sp>
        <p:nvSpPr>
          <p:cNvPr id="9" name="Text 6"/>
          <p:cNvSpPr/>
          <p:nvPr/>
        </p:nvSpPr>
        <p:spPr>
          <a:xfrm>
            <a:off x="8394192" y="1769364"/>
            <a:ext cx="256032" cy="109728"/>
          </a:xfrm>
          <a:prstGeom prst="rect">
            <a:avLst/>
          </a:prstGeom>
          <a:noFill/>
          <a:ln/>
        </p:spPr>
        <p:txBody>
          <a:bodyPr wrap="square" lIns="0" tIns="0" rIns="0" bIns="0" rtlCol="0" anchor="ctr"/>
          <a:lstStyle/>
          <a:p>
            <a:pPr marL="0" indent="0" algn="ctr">
              <a:buNone/>
            </a:pPr>
            <a:r>
              <a:rPr lang="en-US" sz="620" b="1" dirty="0">
                <a:solidFill>
                  <a:srgbClr val="FFFFFF"/>
                </a:solidFill>
              </a:rPr>
              <a:t>1</a:t>
            </a:r>
            <a:endParaRPr lang="en-US" sz="620" dirty="0"/>
          </a:p>
        </p:txBody>
      </p:sp>
      <p:sp>
        <p:nvSpPr>
          <p:cNvPr id="10" name="Text 7"/>
          <p:cNvSpPr/>
          <p:nvPr/>
        </p:nvSpPr>
        <p:spPr>
          <a:xfrm>
            <a:off x="8759952" y="1746504"/>
            <a:ext cx="1645920" cy="146304"/>
          </a:xfrm>
          <a:prstGeom prst="rect">
            <a:avLst/>
          </a:prstGeom>
          <a:noFill/>
          <a:ln/>
        </p:spPr>
        <p:txBody>
          <a:bodyPr wrap="square" lIns="0" tIns="0" rIns="0" bIns="0" rtlCol="0" anchor="ctr">
            <a:noAutofit/>
          </a:bodyPr>
          <a:lstStyle/>
          <a:p>
            <a:pPr marL="0" indent="0">
              <a:buNone/>
            </a:pPr>
            <a:r>
              <a:rPr lang="en-US" sz="1100" dirty="0">
                <a:solidFill>
                  <a:srgbClr val="111827"/>
                </a:solidFill>
              </a:rPr>
              <a:t>randomized straddle</a:t>
            </a:r>
            <a:endParaRPr lang="en-US" sz="1100" dirty="0"/>
          </a:p>
        </p:txBody>
      </p:sp>
      <p:sp>
        <p:nvSpPr>
          <p:cNvPr id="11" name="Text 8"/>
          <p:cNvSpPr/>
          <p:nvPr/>
        </p:nvSpPr>
        <p:spPr>
          <a:xfrm>
            <a:off x="10652760" y="1746504"/>
            <a:ext cx="685800" cy="146304"/>
          </a:xfrm>
          <a:prstGeom prst="rect">
            <a:avLst/>
          </a:prstGeom>
          <a:noFill/>
          <a:ln/>
        </p:spPr>
        <p:txBody>
          <a:bodyPr wrap="square" lIns="0" tIns="0" rIns="0" bIns="0" rtlCol="0" anchor="ctr"/>
          <a:lstStyle/>
          <a:p>
            <a:pPr marL="0" indent="0" algn="r">
              <a:buNone/>
            </a:pPr>
            <a:r>
              <a:rPr lang="en-US" sz="1100" b="1" dirty="0">
                <a:solidFill>
                  <a:srgbClr val="B7791F"/>
                </a:solidFill>
              </a:rPr>
              <a:t>6.02%</a:t>
            </a:r>
            <a:endParaRPr lang="en-US" sz="1100" dirty="0"/>
          </a:p>
        </p:txBody>
      </p:sp>
      <p:sp>
        <p:nvSpPr>
          <p:cNvPr id="12" name="Shape 9"/>
          <p:cNvSpPr/>
          <p:nvPr/>
        </p:nvSpPr>
        <p:spPr>
          <a:xfrm>
            <a:off x="8394192" y="2249424"/>
            <a:ext cx="256032" cy="256032"/>
          </a:xfrm>
          <a:prstGeom prst="ellipse">
            <a:avLst/>
          </a:prstGeom>
          <a:solidFill>
            <a:srgbClr val="0F8B61"/>
          </a:solidFill>
          <a:ln w="12700">
            <a:solidFill>
              <a:srgbClr val="0F8B61"/>
            </a:solidFill>
            <a:prstDash val="solid"/>
          </a:ln>
        </p:spPr>
        <p:txBody>
          <a:bodyPr/>
          <a:lstStyle/>
          <a:p>
            <a:endParaRPr lang="en-US"/>
          </a:p>
        </p:txBody>
      </p:sp>
      <p:sp>
        <p:nvSpPr>
          <p:cNvPr id="13" name="Text 10"/>
          <p:cNvSpPr/>
          <p:nvPr/>
        </p:nvSpPr>
        <p:spPr>
          <a:xfrm>
            <a:off x="8394192" y="2299716"/>
            <a:ext cx="256032" cy="109728"/>
          </a:xfrm>
          <a:prstGeom prst="rect">
            <a:avLst/>
          </a:prstGeom>
          <a:noFill/>
          <a:ln/>
        </p:spPr>
        <p:txBody>
          <a:bodyPr wrap="square" lIns="0" tIns="0" rIns="0" bIns="0" rtlCol="0" anchor="ctr"/>
          <a:lstStyle/>
          <a:p>
            <a:pPr marL="0" indent="0" algn="ctr">
              <a:buNone/>
            </a:pPr>
            <a:r>
              <a:rPr lang="en-US" sz="620" b="1" dirty="0">
                <a:solidFill>
                  <a:srgbClr val="FFFFFF"/>
                </a:solidFill>
              </a:rPr>
              <a:t>2</a:t>
            </a:r>
            <a:endParaRPr lang="en-US" sz="620" dirty="0"/>
          </a:p>
        </p:txBody>
      </p:sp>
      <p:sp>
        <p:nvSpPr>
          <p:cNvPr id="14" name="Text 11"/>
          <p:cNvSpPr/>
          <p:nvPr/>
        </p:nvSpPr>
        <p:spPr>
          <a:xfrm>
            <a:off x="8759952" y="2276856"/>
            <a:ext cx="1645920" cy="146304"/>
          </a:xfrm>
          <a:prstGeom prst="rect">
            <a:avLst/>
          </a:prstGeom>
          <a:noFill/>
          <a:ln/>
        </p:spPr>
        <p:txBody>
          <a:bodyPr wrap="square" lIns="0" tIns="0" rIns="0" bIns="0" rtlCol="0" anchor="ctr">
            <a:noAutofit/>
          </a:bodyPr>
          <a:lstStyle/>
          <a:p>
            <a:pPr marL="0" indent="0">
              <a:buNone/>
            </a:pPr>
            <a:r>
              <a:rPr lang="en-US" sz="1100" dirty="0">
                <a:solidFill>
                  <a:srgbClr val="111827"/>
                </a:solidFill>
              </a:rPr>
              <a:t>straddle</a:t>
            </a:r>
            <a:endParaRPr lang="en-US" sz="1100" dirty="0"/>
          </a:p>
        </p:txBody>
      </p:sp>
      <p:sp>
        <p:nvSpPr>
          <p:cNvPr id="15" name="Text 12"/>
          <p:cNvSpPr/>
          <p:nvPr/>
        </p:nvSpPr>
        <p:spPr>
          <a:xfrm>
            <a:off x="10652760" y="2276856"/>
            <a:ext cx="685800" cy="146304"/>
          </a:xfrm>
          <a:prstGeom prst="rect">
            <a:avLst/>
          </a:prstGeom>
          <a:noFill/>
          <a:ln/>
        </p:spPr>
        <p:txBody>
          <a:bodyPr wrap="square" lIns="0" tIns="0" rIns="0" bIns="0" rtlCol="0" anchor="ctr"/>
          <a:lstStyle/>
          <a:p>
            <a:pPr marL="0" indent="0" algn="r">
              <a:buNone/>
            </a:pPr>
            <a:r>
              <a:rPr lang="en-US" sz="1100" b="1" dirty="0">
                <a:solidFill>
                  <a:srgbClr val="0F8B61"/>
                </a:solidFill>
              </a:rPr>
              <a:t>6.20%</a:t>
            </a:r>
            <a:endParaRPr lang="en-US" sz="1100" dirty="0"/>
          </a:p>
        </p:txBody>
      </p:sp>
      <p:sp>
        <p:nvSpPr>
          <p:cNvPr id="16" name="Shape 13"/>
          <p:cNvSpPr/>
          <p:nvPr/>
        </p:nvSpPr>
        <p:spPr>
          <a:xfrm>
            <a:off x="8394192" y="2779776"/>
            <a:ext cx="256032" cy="256032"/>
          </a:xfrm>
          <a:prstGeom prst="ellipse">
            <a:avLst/>
          </a:prstGeom>
          <a:solidFill>
            <a:srgbClr val="2B6CB0"/>
          </a:solidFill>
          <a:ln w="12700">
            <a:solidFill>
              <a:srgbClr val="2B6CB0"/>
            </a:solidFill>
            <a:prstDash val="solid"/>
          </a:ln>
        </p:spPr>
        <p:txBody>
          <a:bodyPr/>
          <a:lstStyle/>
          <a:p>
            <a:endParaRPr lang="en-US"/>
          </a:p>
        </p:txBody>
      </p:sp>
      <p:sp>
        <p:nvSpPr>
          <p:cNvPr id="17" name="Text 14"/>
          <p:cNvSpPr/>
          <p:nvPr/>
        </p:nvSpPr>
        <p:spPr>
          <a:xfrm>
            <a:off x="8394192" y="2830068"/>
            <a:ext cx="256032" cy="109728"/>
          </a:xfrm>
          <a:prstGeom prst="rect">
            <a:avLst/>
          </a:prstGeom>
          <a:noFill/>
          <a:ln/>
        </p:spPr>
        <p:txBody>
          <a:bodyPr wrap="square" lIns="0" tIns="0" rIns="0" bIns="0" rtlCol="0" anchor="ctr"/>
          <a:lstStyle/>
          <a:p>
            <a:pPr marL="0" indent="0" algn="ctr">
              <a:buNone/>
            </a:pPr>
            <a:r>
              <a:rPr lang="en-US" sz="620" b="1" dirty="0">
                <a:solidFill>
                  <a:srgbClr val="FFFFFF"/>
                </a:solidFill>
              </a:rPr>
              <a:t>3</a:t>
            </a:r>
            <a:endParaRPr lang="en-US" sz="620" dirty="0"/>
          </a:p>
        </p:txBody>
      </p:sp>
      <p:sp>
        <p:nvSpPr>
          <p:cNvPr id="18" name="Text 15"/>
          <p:cNvSpPr/>
          <p:nvPr/>
        </p:nvSpPr>
        <p:spPr>
          <a:xfrm>
            <a:off x="8759952" y="2807208"/>
            <a:ext cx="1645920" cy="146304"/>
          </a:xfrm>
          <a:prstGeom prst="rect">
            <a:avLst/>
          </a:prstGeom>
          <a:noFill/>
          <a:ln/>
        </p:spPr>
        <p:txBody>
          <a:bodyPr wrap="square" lIns="0" tIns="0" rIns="0" bIns="0" rtlCol="0" anchor="ctr">
            <a:noAutofit/>
          </a:bodyPr>
          <a:lstStyle/>
          <a:p>
            <a:pPr marL="0" indent="0">
              <a:buNone/>
            </a:pPr>
            <a:r>
              <a:rPr lang="en-US" sz="1100" dirty="0">
                <a:solidFill>
                  <a:srgbClr val="111827"/>
                </a:solidFill>
              </a:rPr>
              <a:t>smallest |μ|</a:t>
            </a:r>
            <a:endParaRPr lang="en-US" sz="1100" dirty="0"/>
          </a:p>
        </p:txBody>
      </p:sp>
      <p:sp>
        <p:nvSpPr>
          <p:cNvPr id="19" name="Text 16"/>
          <p:cNvSpPr/>
          <p:nvPr/>
        </p:nvSpPr>
        <p:spPr>
          <a:xfrm>
            <a:off x="10652760" y="2807208"/>
            <a:ext cx="685800" cy="146304"/>
          </a:xfrm>
          <a:prstGeom prst="rect">
            <a:avLst/>
          </a:prstGeom>
          <a:noFill/>
          <a:ln/>
        </p:spPr>
        <p:txBody>
          <a:bodyPr wrap="square" lIns="0" tIns="0" rIns="0" bIns="0" rtlCol="0" anchor="ctr"/>
          <a:lstStyle/>
          <a:p>
            <a:pPr marL="0" indent="0" algn="r">
              <a:buNone/>
            </a:pPr>
            <a:r>
              <a:rPr lang="en-US" sz="1100" b="1" dirty="0">
                <a:solidFill>
                  <a:srgbClr val="2B6CB0"/>
                </a:solidFill>
              </a:rPr>
              <a:t>6.59%</a:t>
            </a:r>
            <a:endParaRPr lang="en-US" sz="1100" dirty="0"/>
          </a:p>
        </p:txBody>
      </p:sp>
      <p:sp>
        <p:nvSpPr>
          <p:cNvPr id="20" name="Shape 17"/>
          <p:cNvSpPr/>
          <p:nvPr/>
        </p:nvSpPr>
        <p:spPr>
          <a:xfrm>
            <a:off x="8394192" y="3310128"/>
            <a:ext cx="256032" cy="256032"/>
          </a:xfrm>
          <a:prstGeom prst="ellipse">
            <a:avLst/>
          </a:prstGeom>
          <a:solidFill>
            <a:srgbClr val="9F1239"/>
          </a:solidFill>
          <a:ln w="12700">
            <a:solidFill>
              <a:srgbClr val="9F1239"/>
            </a:solidFill>
            <a:prstDash val="solid"/>
          </a:ln>
        </p:spPr>
        <p:txBody>
          <a:bodyPr/>
          <a:lstStyle/>
          <a:p>
            <a:endParaRPr lang="en-US"/>
          </a:p>
        </p:txBody>
      </p:sp>
      <p:sp>
        <p:nvSpPr>
          <p:cNvPr id="21" name="Text 18"/>
          <p:cNvSpPr/>
          <p:nvPr/>
        </p:nvSpPr>
        <p:spPr>
          <a:xfrm>
            <a:off x="8394192" y="3360420"/>
            <a:ext cx="256032" cy="109728"/>
          </a:xfrm>
          <a:prstGeom prst="rect">
            <a:avLst/>
          </a:prstGeom>
          <a:noFill/>
          <a:ln/>
        </p:spPr>
        <p:txBody>
          <a:bodyPr wrap="square" lIns="0" tIns="0" rIns="0" bIns="0" rtlCol="0" anchor="ctr"/>
          <a:lstStyle/>
          <a:p>
            <a:pPr marL="0" indent="0" algn="ctr">
              <a:buNone/>
            </a:pPr>
            <a:r>
              <a:rPr lang="en-US" sz="620" b="1" dirty="0">
                <a:solidFill>
                  <a:srgbClr val="FFFFFF"/>
                </a:solidFill>
              </a:rPr>
              <a:t>4</a:t>
            </a:r>
            <a:endParaRPr lang="en-US" sz="620" dirty="0"/>
          </a:p>
        </p:txBody>
      </p:sp>
      <p:sp>
        <p:nvSpPr>
          <p:cNvPr id="22" name="Text 19"/>
          <p:cNvSpPr/>
          <p:nvPr/>
        </p:nvSpPr>
        <p:spPr>
          <a:xfrm>
            <a:off x="8759952" y="3337560"/>
            <a:ext cx="1645920" cy="146304"/>
          </a:xfrm>
          <a:prstGeom prst="rect">
            <a:avLst/>
          </a:prstGeom>
          <a:noFill/>
          <a:ln/>
        </p:spPr>
        <p:txBody>
          <a:bodyPr wrap="square" lIns="0" tIns="0" rIns="0" bIns="0" rtlCol="0" anchor="ctr">
            <a:noAutofit/>
          </a:bodyPr>
          <a:lstStyle/>
          <a:p>
            <a:pPr marL="0" indent="0">
              <a:buNone/>
            </a:pPr>
            <a:r>
              <a:rPr lang="en-US" sz="1100" dirty="0">
                <a:solidFill>
                  <a:srgbClr val="111827"/>
                </a:solidFill>
              </a:rPr>
              <a:t>expected feasibility</a:t>
            </a:r>
            <a:endParaRPr lang="en-US" sz="1100" dirty="0"/>
          </a:p>
        </p:txBody>
      </p:sp>
      <p:sp>
        <p:nvSpPr>
          <p:cNvPr id="23" name="Text 20"/>
          <p:cNvSpPr/>
          <p:nvPr/>
        </p:nvSpPr>
        <p:spPr>
          <a:xfrm>
            <a:off x="10652760" y="3337560"/>
            <a:ext cx="685800" cy="146304"/>
          </a:xfrm>
          <a:prstGeom prst="rect">
            <a:avLst/>
          </a:prstGeom>
          <a:noFill/>
          <a:ln/>
        </p:spPr>
        <p:txBody>
          <a:bodyPr wrap="square" lIns="0" tIns="0" rIns="0" bIns="0" rtlCol="0" anchor="ctr"/>
          <a:lstStyle/>
          <a:p>
            <a:pPr marL="0" indent="0" algn="r">
              <a:buNone/>
            </a:pPr>
            <a:r>
              <a:rPr lang="en-US" sz="1100" b="1" dirty="0">
                <a:solidFill>
                  <a:srgbClr val="9F1239"/>
                </a:solidFill>
              </a:rPr>
              <a:t>6.64%</a:t>
            </a:r>
            <a:endParaRPr lang="en-US" sz="1100" dirty="0"/>
          </a:p>
        </p:txBody>
      </p:sp>
      <p:sp>
        <p:nvSpPr>
          <p:cNvPr id="24" name="Shape 21"/>
          <p:cNvSpPr/>
          <p:nvPr/>
        </p:nvSpPr>
        <p:spPr>
          <a:xfrm>
            <a:off x="8394192" y="3840480"/>
            <a:ext cx="256032" cy="256032"/>
          </a:xfrm>
          <a:prstGeom prst="ellipse">
            <a:avLst/>
          </a:prstGeom>
          <a:solidFill>
            <a:srgbClr val="6B7280"/>
          </a:solidFill>
          <a:ln w="12700">
            <a:solidFill>
              <a:srgbClr val="6B7280"/>
            </a:solidFill>
            <a:prstDash val="solid"/>
          </a:ln>
        </p:spPr>
        <p:txBody>
          <a:bodyPr/>
          <a:lstStyle/>
          <a:p>
            <a:endParaRPr lang="en-US"/>
          </a:p>
        </p:txBody>
      </p:sp>
      <p:sp>
        <p:nvSpPr>
          <p:cNvPr id="25" name="Text 22"/>
          <p:cNvSpPr/>
          <p:nvPr/>
        </p:nvSpPr>
        <p:spPr>
          <a:xfrm>
            <a:off x="8394192" y="3890772"/>
            <a:ext cx="256032" cy="109728"/>
          </a:xfrm>
          <a:prstGeom prst="rect">
            <a:avLst/>
          </a:prstGeom>
          <a:noFill/>
          <a:ln/>
        </p:spPr>
        <p:txBody>
          <a:bodyPr wrap="square" lIns="0" tIns="0" rIns="0" bIns="0" rtlCol="0" anchor="ctr"/>
          <a:lstStyle/>
          <a:p>
            <a:pPr marL="0" indent="0" algn="ctr">
              <a:buNone/>
            </a:pPr>
            <a:r>
              <a:rPr lang="en-US" sz="620" b="1" dirty="0">
                <a:solidFill>
                  <a:srgbClr val="FFFFFF"/>
                </a:solidFill>
              </a:rPr>
              <a:t>5</a:t>
            </a:r>
            <a:endParaRPr lang="en-US" sz="620" dirty="0"/>
          </a:p>
        </p:txBody>
      </p:sp>
      <p:sp>
        <p:nvSpPr>
          <p:cNvPr id="26" name="Text 23"/>
          <p:cNvSpPr/>
          <p:nvPr/>
        </p:nvSpPr>
        <p:spPr>
          <a:xfrm>
            <a:off x="8759952" y="3867912"/>
            <a:ext cx="1645920" cy="146304"/>
          </a:xfrm>
          <a:prstGeom prst="rect">
            <a:avLst/>
          </a:prstGeom>
          <a:noFill/>
          <a:ln/>
        </p:spPr>
        <p:txBody>
          <a:bodyPr wrap="square" lIns="0" tIns="0" rIns="0" bIns="0" rtlCol="0" anchor="ctr">
            <a:noAutofit/>
          </a:bodyPr>
          <a:lstStyle/>
          <a:p>
            <a:pPr marL="0" indent="0">
              <a:buNone/>
            </a:pPr>
            <a:r>
              <a:rPr lang="en-US" sz="1100" dirty="0">
                <a:solidFill>
                  <a:srgbClr val="111827"/>
                </a:solidFill>
              </a:rPr>
              <a:t>random</a:t>
            </a:r>
            <a:endParaRPr lang="en-US" sz="1100" dirty="0"/>
          </a:p>
        </p:txBody>
      </p:sp>
      <p:sp>
        <p:nvSpPr>
          <p:cNvPr id="27" name="Text 24"/>
          <p:cNvSpPr/>
          <p:nvPr/>
        </p:nvSpPr>
        <p:spPr>
          <a:xfrm>
            <a:off x="10652760" y="3867912"/>
            <a:ext cx="685800" cy="146304"/>
          </a:xfrm>
          <a:prstGeom prst="rect">
            <a:avLst/>
          </a:prstGeom>
          <a:noFill/>
          <a:ln/>
        </p:spPr>
        <p:txBody>
          <a:bodyPr wrap="square" lIns="0" tIns="0" rIns="0" bIns="0" rtlCol="0" anchor="ctr"/>
          <a:lstStyle/>
          <a:p>
            <a:pPr marL="0" indent="0" algn="r">
              <a:buNone/>
            </a:pPr>
            <a:r>
              <a:rPr lang="en-US" sz="1100" b="1" dirty="0">
                <a:solidFill>
                  <a:srgbClr val="6B7280"/>
                </a:solidFill>
              </a:rPr>
              <a:t>11.94%</a:t>
            </a:r>
            <a:endParaRPr lang="en-US" sz="1100" dirty="0"/>
          </a:p>
        </p:txBody>
      </p:sp>
      <p:sp>
        <p:nvSpPr>
          <p:cNvPr id="28" name="Shape 25"/>
          <p:cNvSpPr/>
          <p:nvPr/>
        </p:nvSpPr>
        <p:spPr>
          <a:xfrm>
            <a:off x="8348472" y="4572000"/>
            <a:ext cx="2907792" cy="731520"/>
          </a:xfrm>
          <a:prstGeom prst="roundRect">
            <a:avLst>
              <a:gd name="adj" fmla="val 11250"/>
            </a:avLst>
          </a:prstGeom>
          <a:solidFill>
            <a:srgbClr val="FFF7ED"/>
          </a:solidFill>
          <a:ln w="10160">
            <a:solidFill>
              <a:srgbClr val="FED7AA"/>
            </a:solidFill>
            <a:prstDash val="solid"/>
          </a:ln>
        </p:spPr>
        <p:txBody>
          <a:bodyPr/>
          <a:lstStyle/>
          <a:p>
            <a:endParaRPr lang="en-US"/>
          </a:p>
        </p:txBody>
      </p:sp>
      <p:sp>
        <p:nvSpPr>
          <p:cNvPr id="29" name="Text 26"/>
          <p:cNvSpPr/>
          <p:nvPr/>
        </p:nvSpPr>
        <p:spPr>
          <a:xfrm>
            <a:off x="8549640" y="4709160"/>
            <a:ext cx="1188720" cy="137160"/>
          </a:xfrm>
          <a:prstGeom prst="rect">
            <a:avLst/>
          </a:prstGeom>
          <a:noFill/>
          <a:ln/>
        </p:spPr>
        <p:txBody>
          <a:bodyPr wrap="square" lIns="0" tIns="0" rIns="0" bIns="0" rtlCol="0" anchor="ctr"/>
          <a:lstStyle/>
          <a:p>
            <a:pPr marL="0" indent="0">
              <a:buNone/>
            </a:pPr>
            <a:r>
              <a:rPr lang="en-US" sz="1100" b="1" dirty="0">
                <a:solidFill>
                  <a:srgbClr val="B7791F"/>
                </a:solidFill>
              </a:rPr>
              <a:t>Safe wording</a:t>
            </a:r>
            <a:endParaRPr lang="en-US" sz="1100" dirty="0"/>
          </a:p>
        </p:txBody>
      </p:sp>
      <p:sp>
        <p:nvSpPr>
          <p:cNvPr id="30" name="Text 27"/>
          <p:cNvSpPr/>
          <p:nvPr/>
        </p:nvSpPr>
        <p:spPr>
          <a:xfrm>
            <a:off x="8549640" y="4956048"/>
            <a:ext cx="2514600" cy="173736"/>
          </a:xfrm>
          <a:prstGeom prst="rect">
            <a:avLst/>
          </a:prstGeom>
          <a:noFill/>
          <a:ln/>
        </p:spPr>
        <p:txBody>
          <a:bodyPr wrap="square" lIns="0" tIns="0" rIns="0" bIns="0" rtlCol="0" anchor="ctr">
            <a:noAutofit/>
          </a:bodyPr>
          <a:lstStyle/>
          <a:p>
            <a:pPr marL="0" indent="0">
              <a:buNone/>
            </a:pPr>
            <a:r>
              <a:rPr lang="en-US" sz="1100" dirty="0">
                <a:solidFill>
                  <a:srgbClr val="4B5563"/>
                </a:solidFill>
              </a:rPr>
              <a:t>Best in this run, not a final method ranking yet.</a:t>
            </a:r>
            <a:endParaRPr lang="en-US" sz="1100" dirty="0"/>
          </a:p>
        </p:txBody>
      </p:sp>
      <p:sp>
        <p:nvSpPr>
          <p:cNvPr id="31" name="Shape 28"/>
          <p:cNvSpPr/>
          <p:nvPr/>
        </p:nvSpPr>
        <p:spPr>
          <a:xfrm>
            <a:off x="502920" y="6446520"/>
            <a:ext cx="11201400" cy="0"/>
          </a:xfrm>
          <a:prstGeom prst="line">
            <a:avLst/>
          </a:prstGeom>
          <a:noFill/>
          <a:ln w="8890">
            <a:solidFill>
              <a:srgbClr val="D9DEE8"/>
            </a:solidFill>
            <a:prstDash val="solid"/>
          </a:ln>
        </p:spPr>
        <p:txBody>
          <a:bodyPr/>
          <a:lstStyle/>
          <a:p>
            <a:endParaRPr lang="en-US"/>
          </a:p>
        </p:txBody>
      </p:sp>
      <p:sp>
        <p:nvSpPr>
          <p:cNvPr id="32" name="Text 29"/>
          <p:cNvSpPr/>
          <p:nvPr/>
        </p:nvSpPr>
        <p:spPr>
          <a:xfrm>
            <a:off x="502920" y="6519672"/>
            <a:ext cx="8961120" cy="164592"/>
          </a:xfrm>
          <a:prstGeom prst="rect">
            <a:avLst/>
          </a:prstGeom>
          <a:noFill/>
          <a:ln/>
        </p:spPr>
        <p:txBody>
          <a:bodyPr wrap="square" lIns="0" tIns="0" rIns="0" bIns="0" rtlCol="0" anchor="ctr"/>
          <a:lstStyle/>
          <a:p>
            <a:pPr marL="0" indent="0">
              <a:buNone/>
            </a:pPr>
            <a:r>
              <a:rPr lang="en-US" sz="780" dirty="0">
                <a:solidFill>
                  <a:srgbClr val="6B7280"/>
                </a:solidFill>
                <a:latin typeface="Aptos" pitchFamily="34" charset="0"/>
                <a:ea typeface="Aptos" pitchFamily="34" charset="-122"/>
                <a:cs typeface="Aptos" pitchFamily="34" charset="-120"/>
              </a:rPr>
              <a:t>Week 2 progress • Sample-Efficient Active Level-Set Estimation • 5</a:t>
            </a:r>
            <a:endParaRPr lang="en-US" sz="780" dirty="0"/>
          </a:p>
        </p:txBody>
      </p:sp>
      <p:sp>
        <p:nvSpPr>
          <p:cNvPr id="33" name="Text 30"/>
          <p:cNvSpPr/>
          <p:nvPr/>
        </p:nvSpPr>
        <p:spPr>
          <a:xfrm>
            <a:off x="11521440" y="6492240"/>
            <a:ext cx="228600" cy="164592"/>
          </a:xfrm>
          <a:prstGeom prst="rect">
            <a:avLst/>
          </a:prstGeom>
          <a:noFill/>
          <a:ln/>
        </p:spPr>
        <p:txBody>
          <a:bodyPr wrap="square" lIns="0" tIns="0" rIns="0" bIns="0" rtlCol="0" anchor="ctr"/>
          <a:lstStyle/>
          <a:p>
            <a:pPr marL="0" indent="0" algn="r">
              <a:buNone/>
            </a:pPr>
            <a:r>
              <a:rPr lang="en-US" sz="780" dirty="0">
                <a:solidFill>
                  <a:srgbClr val="6B7280"/>
                </a:solidFill>
              </a:rPr>
              <a:t>5</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789920" cy="320040"/>
          </a:xfrm>
          <a:prstGeom prst="rect">
            <a:avLst/>
          </a:prstGeom>
          <a:noFill/>
          <a:ln/>
        </p:spPr>
        <p:txBody>
          <a:bodyPr wrap="square" lIns="0" tIns="0" rIns="0" bIns="0" rtlCol="0" anchor="ctr"/>
          <a:lstStyle/>
          <a:p>
            <a:pPr marL="0" indent="0">
              <a:buNone/>
            </a:pPr>
            <a:r>
              <a:rPr lang="en-US" sz="2200" b="1" dirty="0">
                <a:solidFill>
                  <a:srgbClr val="1F2A44"/>
                </a:solidFill>
                <a:latin typeface="Aptos Display" pitchFamily="34" charset="0"/>
                <a:ea typeface="Aptos Display" pitchFamily="34" charset="-122"/>
                <a:cs typeface="Aptos Display" pitchFamily="34" charset="-120"/>
              </a:rPr>
              <a:t>Sample efficiency proxy: reaching 8% test error</a:t>
            </a:r>
            <a:endParaRPr lang="en-US" sz="2200" dirty="0"/>
          </a:p>
        </p:txBody>
      </p:sp>
      <p:sp>
        <p:nvSpPr>
          <p:cNvPr id="3" name="Text 1"/>
          <p:cNvSpPr/>
          <p:nvPr/>
        </p:nvSpPr>
        <p:spPr>
          <a:xfrm>
            <a:off x="521208" y="713232"/>
            <a:ext cx="10515600" cy="237744"/>
          </a:xfrm>
          <a:prstGeom prst="rect">
            <a:avLst/>
          </a:prstGeom>
          <a:noFill/>
          <a:ln/>
        </p:spPr>
        <p:txBody>
          <a:bodyPr wrap="square" lIns="0" tIns="0" rIns="0" bIns="0" rtlCol="0" anchor="ctr"/>
          <a:lstStyle/>
          <a:p>
            <a:pPr marL="0" indent="0">
              <a:buNone/>
            </a:pPr>
            <a:r>
              <a:rPr lang="en-US" sz="1100" dirty="0">
                <a:solidFill>
                  <a:srgbClr val="4B5563"/>
                </a:solidFill>
              </a:rPr>
              <a:t>This is a lightweight tolerance check, not a geometric contour-distance metric.</a:t>
            </a:r>
            <a:endParaRPr lang="en-US" sz="1100" dirty="0"/>
          </a:p>
        </p:txBody>
      </p:sp>
      <p:sp>
        <p:nvSpPr>
          <p:cNvPr id="4" name="Shape 2"/>
          <p:cNvSpPr/>
          <p:nvPr/>
        </p:nvSpPr>
        <p:spPr>
          <a:xfrm>
            <a:off x="731520" y="1170432"/>
            <a:ext cx="10744200" cy="3886200"/>
          </a:xfrm>
          <a:prstGeom prst="roundRect">
            <a:avLst>
              <a:gd name="adj" fmla="val 2118"/>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5" name="Text 3"/>
          <p:cNvSpPr/>
          <p:nvPr/>
        </p:nvSpPr>
        <p:spPr>
          <a:xfrm>
            <a:off x="960120" y="1417320"/>
            <a:ext cx="8686800" cy="201168"/>
          </a:xfrm>
          <a:prstGeom prst="rect">
            <a:avLst/>
          </a:prstGeom>
          <a:noFill/>
          <a:ln/>
        </p:spPr>
        <p:txBody>
          <a:bodyPr wrap="square" lIns="0" tIns="0" rIns="0" bIns="0" rtlCol="0" anchor="ctr"/>
          <a:lstStyle/>
          <a:p>
            <a:pPr marL="0" indent="0">
              <a:buNone/>
            </a:pPr>
            <a:r>
              <a:rPr lang="en-US" sz="1200" b="1" dirty="0">
                <a:solidFill>
                  <a:srgbClr val="1F2A44"/>
                </a:solidFill>
              </a:rPr>
              <a:t>First budget where the mean curve reaches ≤ 8% error</a:t>
            </a:r>
            <a:endParaRPr lang="en-US" sz="1200" dirty="0"/>
          </a:p>
        </p:txBody>
      </p:sp>
      <p:sp>
        <p:nvSpPr>
          <p:cNvPr id="6" name="Shape 4"/>
          <p:cNvSpPr/>
          <p:nvPr/>
        </p:nvSpPr>
        <p:spPr>
          <a:xfrm>
            <a:off x="2606040" y="3611880"/>
            <a:ext cx="6217920" cy="0"/>
          </a:xfrm>
          <a:prstGeom prst="line">
            <a:avLst/>
          </a:prstGeom>
          <a:noFill/>
          <a:ln w="25400">
            <a:solidFill>
              <a:srgbClr val="D9DEE8"/>
            </a:solidFill>
            <a:prstDash val="solid"/>
          </a:ln>
        </p:spPr>
        <p:txBody>
          <a:bodyPr/>
          <a:lstStyle/>
          <a:p>
            <a:endParaRPr lang="en-US"/>
          </a:p>
        </p:txBody>
      </p:sp>
      <p:sp>
        <p:nvSpPr>
          <p:cNvPr id="7" name="Shape 5"/>
          <p:cNvSpPr/>
          <p:nvPr/>
        </p:nvSpPr>
        <p:spPr>
          <a:xfrm>
            <a:off x="2606040" y="3557016"/>
            <a:ext cx="0" cy="109728"/>
          </a:xfrm>
          <a:prstGeom prst="line">
            <a:avLst/>
          </a:prstGeom>
          <a:noFill/>
          <a:ln w="12700">
            <a:solidFill>
              <a:srgbClr val="9CA3AF"/>
            </a:solidFill>
            <a:prstDash val="solid"/>
          </a:ln>
        </p:spPr>
        <p:txBody>
          <a:bodyPr/>
          <a:lstStyle/>
          <a:p>
            <a:endParaRPr lang="en-US"/>
          </a:p>
        </p:txBody>
      </p:sp>
      <p:sp>
        <p:nvSpPr>
          <p:cNvPr id="8" name="Text 6"/>
          <p:cNvSpPr/>
          <p:nvPr/>
        </p:nvSpPr>
        <p:spPr>
          <a:xfrm>
            <a:off x="2496312" y="3721608"/>
            <a:ext cx="228600" cy="109728"/>
          </a:xfrm>
          <a:prstGeom prst="rect">
            <a:avLst/>
          </a:prstGeom>
          <a:noFill/>
          <a:ln/>
        </p:spPr>
        <p:txBody>
          <a:bodyPr wrap="square" lIns="0" tIns="0" rIns="0" bIns="0" rtlCol="0" anchor="ctr"/>
          <a:lstStyle/>
          <a:p>
            <a:pPr marL="0" indent="0" algn="ctr">
              <a:buNone/>
            </a:pPr>
            <a:r>
              <a:rPr lang="en-US" sz="700" dirty="0">
                <a:solidFill>
                  <a:srgbClr val="6B7280"/>
                </a:solidFill>
              </a:rPr>
              <a:t>30</a:t>
            </a:r>
            <a:endParaRPr lang="en-US" sz="700" dirty="0"/>
          </a:p>
        </p:txBody>
      </p:sp>
      <p:sp>
        <p:nvSpPr>
          <p:cNvPr id="9" name="Shape 7"/>
          <p:cNvSpPr/>
          <p:nvPr/>
        </p:nvSpPr>
        <p:spPr>
          <a:xfrm>
            <a:off x="5196840" y="3557016"/>
            <a:ext cx="0" cy="109728"/>
          </a:xfrm>
          <a:prstGeom prst="line">
            <a:avLst/>
          </a:prstGeom>
          <a:noFill/>
          <a:ln w="12700">
            <a:solidFill>
              <a:srgbClr val="9CA3AF"/>
            </a:solidFill>
            <a:prstDash val="solid"/>
          </a:ln>
        </p:spPr>
        <p:txBody>
          <a:bodyPr/>
          <a:lstStyle/>
          <a:p>
            <a:endParaRPr lang="en-US"/>
          </a:p>
        </p:txBody>
      </p:sp>
      <p:sp>
        <p:nvSpPr>
          <p:cNvPr id="10" name="Text 8"/>
          <p:cNvSpPr/>
          <p:nvPr/>
        </p:nvSpPr>
        <p:spPr>
          <a:xfrm>
            <a:off x="5087112" y="3721608"/>
            <a:ext cx="228600" cy="109728"/>
          </a:xfrm>
          <a:prstGeom prst="rect">
            <a:avLst/>
          </a:prstGeom>
          <a:noFill/>
          <a:ln/>
        </p:spPr>
        <p:txBody>
          <a:bodyPr wrap="square" lIns="0" tIns="0" rIns="0" bIns="0" rtlCol="0" anchor="ctr"/>
          <a:lstStyle/>
          <a:p>
            <a:pPr marL="0" indent="0" algn="ctr">
              <a:buNone/>
            </a:pPr>
            <a:r>
              <a:rPr lang="en-US" sz="700" dirty="0">
                <a:solidFill>
                  <a:srgbClr val="6B7280"/>
                </a:solidFill>
              </a:rPr>
              <a:t>35</a:t>
            </a:r>
            <a:endParaRPr lang="en-US" sz="700" dirty="0"/>
          </a:p>
        </p:txBody>
      </p:sp>
      <p:sp>
        <p:nvSpPr>
          <p:cNvPr id="11" name="Shape 9"/>
          <p:cNvSpPr/>
          <p:nvPr/>
        </p:nvSpPr>
        <p:spPr>
          <a:xfrm>
            <a:off x="7787640" y="3557016"/>
            <a:ext cx="0" cy="109728"/>
          </a:xfrm>
          <a:prstGeom prst="line">
            <a:avLst/>
          </a:prstGeom>
          <a:noFill/>
          <a:ln w="12700">
            <a:solidFill>
              <a:srgbClr val="9CA3AF"/>
            </a:solidFill>
            <a:prstDash val="solid"/>
          </a:ln>
        </p:spPr>
        <p:txBody>
          <a:bodyPr/>
          <a:lstStyle/>
          <a:p>
            <a:endParaRPr lang="en-US"/>
          </a:p>
        </p:txBody>
      </p:sp>
      <p:sp>
        <p:nvSpPr>
          <p:cNvPr id="12" name="Text 10"/>
          <p:cNvSpPr/>
          <p:nvPr/>
        </p:nvSpPr>
        <p:spPr>
          <a:xfrm>
            <a:off x="7677912" y="3721608"/>
            <a:ext cx="228600" cy="109728"/>
          </a:xfrm>
          <a:prstGeom prst="rect">
            <a:avLst/>
          </a:prstGeom>
          <a:noFill/>
          <a:ln/>
        </p:spPr>
        <p:txBody>
          <a:bodyPr wrap="square" lIns="0" tIns="0" rIns="0" bIns="0" rtlCol="0" anchor="ctr"/>
          <a:lstStyle/>
          <a:p>
            <a:pPr marL="0" indent="0" algn="ctr">
              <a:buNone/>
            </a:pPr>
            <a:r>
              <a:rPr lang="en-US" sz="700" dirty="0">
                <a:solidFill>
                  <a:srgbClr val="6B7280"/>
                </a:solidFill>
              </a:rPr>
              <a:t>40</a:t>
            </a:r>
            <a:endParaRPr lang="en-US" sz="700" dirty="0"/>
          </a:p>
        </p:txBody>
      </p:sp>
      <p:sp>
        <p:nvSpPr>
          <p:cNvPr id="13" name="Text 11"/>
          <p:cNvSpPr/>
          <p:nvPr/>
        </p:nvSpPr>
        <p:spPr>
          <a:xfrm>
            <a:off x="9006840" y="3685032"/>
            <a:ext cx="1097280" cy="109728"/>
          </a:xfrm>
          <a:prstGeom prst="rect">
            <a:avLst/>
          </a:prstGeom>
          <a:noFill/>
          <a:ln/>
        </p:spPr>
        <p:txBody>
          <a:bodyPr wrap="square" lIns="0" tIns="0" rIns="0" bIns="0" rtlCol="0" anchor="ctr"/>
          <a:lstStyle/>
          <a:p>
            <a:pPr marL="0" indent="0">
              <a:buNone/>
            </a:pPr>
            <a:r>
              <a:rPr lang="en-US" sz="1000" dirty="0">
                <a:solidFill>
                  <a:srgbClr val="6B7280"/>
                </a:solidFill>
              </a:rPr>
              <a:t>labelled evaluations</a:t>
            </a:r>
            <a:endParaRPr lang="en-US" sz="1000" dirty="0"/>
          </a:p>
        </p:txBody>
      </p:sp>
      <p:sp>
        <p:nvSpPr>
          <p:cNvPr id="14" name="Text 12"/>
          <p:cNvSpPr/>
          <p:nvPr/>
        </p:nvSpPr>
        <p:spPr>
          <a:xfrm>
            <a:off x="1051560" y="1965960"/>
            <a:ext cx="1645920" cy="146304"/>
          </a:xfrm>
          <a:prstGeom prst="rect">
            <a:avLst/>
          </a:prstGeom>
          <a:noFill/>
          <a:ln/>
        </p:spPr>
        <p:txBody>
          <a:bodyPr wrap="square" lIns="0" tIns="0" rIns="0" bIns="0" rtlCol="0" anchor="ctr">
            <a:noAutofit/>
          </a:bodyPr>
          <a:lstStyle/>
          <a:p>
            <a:pPr marL="0" indent="0">
              <a:buNone/>
            </a:pPr>
            <a:r>
              <a:rPr lang="en-US" sz="1000" dirty="0">
                <a:solidFill>
                  <a:srgbClr val="111827"/>
                </a:solidFill>
              </a:rPr>
              <a:t>randomized straddle</a:t>
            </a:r>
            <a:endParaRPr lang="en-US" sz="1000" dirty="0"/>
          </a:p>
        </p:txBody>
      </p:sp>
      <p:sp>
        <p:nvSpPr>
          <p:cNvPr id="15" name="Shape 13"/>
          <p:cNvSpPr/>
          <p:nvPr/>
        </p:nvSpPr>
        <p:spPr>
          <a:xfrm>
            <a:off x="2606040" y="2039112"/>
            <a:ext cx="1036320" cy="0"/>
          </a:xfrm>
          <a:prstGeom prst="line">
            <a:avLst/>
          </a:prstGeom>
          <a:noFill/>
          <a:ln w="27940">
            <a:solidFill>
              <a:srgbClr val="B7791F"/>
            </a:solidFill>
            <a:prstDash val="solid"/>
          </a:ln>
        </p:spPr>
        <p:txBody>
          <a:bodyPr/>
          <a:lstStyle/>
          <a:p>
            <a:endParaRPr lang="en-US"/>
          </a:p>
        </p:txBody>
      </p:sp>
      <p:sp>
        <p:nvSpPr>
          <p:cNvPr id="16" name="Shape 14"/>
          <p:cNvSpPr/>
          <p:nvPr/>
        </p:nvSpPr>
        <p:spPr>
          <a:xfrm>
            <a:off x="3560064" y="1956816"/>
            <a:ext cx="164592" cy="164592"/>
          </a:xfrm>
          <a:prstGeom prst="ellipse">
            <a:avLst/>
          </a:prstGeom>
          <a:solidFill>
            <a:srgbClr val="B7791F"/>
          </a:solidFill>
          <a:ln w="12700">
            <a:solidFill>
              <a:srgbClr val="B7791F"/>
            </a:solidFill>
            <a:prstDash val="solid"/>
          </a:ln>
        </p:spPr>
        <p:txBody>
          <a:bodyPr/>
          <a:lstStyle/>
          <a:p>
            <a:endParaRPr lang="en-US"/>
          </a:p>
        </p:txBody>
      </p:sp>
      <p:sp>
        <p:nvSpPr>
          <p:cNvPr id="17" name="Text 15"/>
          <p:cNvSpPr/>
          <p:nvPr/>
        </p:nvSpPr>
        <p:spPr>
          <a:xfrm>
            <a:off x="3752088" y="1952244"/>
            <a:ext cx="502920" cy="146304"/>
          </a:xfrm>
          <a:prstGeom prst="rect">
            <a:avLst/>
          </a:prstGeom>
          <a:noFill/>
          <a:ln/>
        </p:spPr>
        <p:txBody>
          <a:bodyPr wrap="square" lIns="0" tIns="0" rIns="0" bIns="0" rtlCol="0" anchor="ctr"/>
          <a:lstStyle/>
          <a:p>
            <a:pPr marL="0" indent="0">
              <a:buNone/>
            </a:pPr>
            <a:r>
              <a:rPr lang="en-US" sz="1000" b="1" dirty="0">
                <a:solidFill>
                  <a:srgbClr val="B7791F"/>
                </a:solidFill>
              </a:rPr>
              <a:t>n=32</a:t>
            </a:r>
            <a:endParaRPr lang="en-US" sz="1000" dirty="0"/>
          </a:p>
        </p:txBody>
      </p:sp>
      <p:sp>
        <p:nvSpPr>
          <p:cNvPr id="18" name="Text 16"/>
          <p:cNvSpPr/>
          <p:nvPr/>
        </p:nvSpPr>
        <p:spPr>
          <a:xfrm>
            <a:off x="1051560" y="2368296"/>
            <a:ext cx="1645920" cy="146304"/>
          </a:xfrm>
          <a:prstGeom prst="rect">
            <a:avLst/>
          </a:prstGeom>
          <a:noFill/>
          <a:ln/>
        </p:spPr>
        <p:txBody>
          <a:bodyPr wrap="square" lIns="0" tIns="0" rIns="0" bIns="0" rtlCol="0" anchor="ctr">
            <a:noAutofit/>
          </a:bodyPr>
          <a:lstStyle/>
          <a:p>
            <a:pPr marL="0" indent="0">
              <a:buNone/>
            </a:pPr>
            <a:r>
              <a:rPr lang="en-US" sz="1000" dirty="0">
                <a:solidFill>
                  <a:srgbClr val="111827"/>
                </a:solidFill>
              </a:rPr>
              <a:t>straddle</a:t>
            </a:r>
            <a:endParaRPr lang="en-US" sz="1000" dirty="0"/>
          </a:p>
        </p:txBody>
      </p:sp>
      <p:sp>
        <p:nvSpPr>
          <p:cNvPr id="19" name="Shape 17"/>
          <p:cNvSpPr/>
          <p:nvPr/>
        </p:nvSpPr>
        <p:spPr>
          <a:xfrm>
            <a:off x="2606040" y="2441448"/>
            <a:ext cx="2590800" cy="0"/>
          </a:xfrm>
          <a:prstGeom prst="line">
            <a:avLst/>
          </a:prstGeom>
          <a:noFill/>
          <a:ln w="27940">
            <a:solidFill>
              <a:srgbClr val="0F8B61"/>
            </a:solidFill>
            <a:prstDash val="solid"/>
          </a:ln>
        </p:spPr>
        <p:txBody>
          <a:bodyPr/>
          <a:lstStyle/>
          <a:p>
            <a:endParaRPr lang="en-US"/>
          </a:p>
        </p:txBody>
      </p:sp>
      <p:sp>
        <p:nvSpPr>
          <p:cNvPr id="20" name="Shape 18"/>
          <p:cNvSpPr/>
          <p:nvPr/>
        </p:nvSpPr>
        <p:spPr>
          <a:xfrm>
            <a:off x="5114544" y="2359152"/>
            <a:ext cx="164592" cy="164592"/>
          </a:xfrm>
          <a:prstGeom prst="ellipse">
            <a:avLst/>
          </a:prstGeom>
          <a:solidFill>
            <a:srgbClr val="0F8B61"/>
          </a:solidFill>
          <a:ln w="12700">
            <a:solidFill>
              <a:srgbClr val="0F8B61"/>
            </a:solidFill>
            <a:prstDash val="solid"/>
          </a:ln>
        </p:spPr>
        <p:txBody>
          <a:bodyPr/>
          <a:lstStyle/>
          <a:p>
            <a:endParaRPr lang="en-US"/>
          </a:p>
        </p:txBody>
      </p:sp>
      <p:sp>
        <p:nvSpPr>
          <p:cNvPr id="21" name="Text 19"/>
          <p:cNvSpPr/>
          <p:nvPr/>
        </p:nvSpPr>
        <p:spPr>
          <a:xfrm>
            <a:off x="5306568" y="2354580"/>
            <a:ext cx="502920" cy="146304"/>
          </a:xfrm>
          <a:prstGeom prst="rect">
            <a:avLst/>
          </a:prstGeom>
          <a:noFill/>
          <a:ln/>
        </p:spPr>
        <p:txBody>
          <a:bodyPr wrap="square" lIns="0" tIns="0" rIns="0" bIns="0" rtlCol="0" anchor="ctr"/>
          <a:lstStyle/>
          <a:p>
            <a:pPr marL="0" indent="0">
              <a:buNone/>
            </a:pPr>
            <a:r>
              <a:rPr lang="en-US" sz="1000" b="1" dirty="0">
                <a:solidFill>
                  <a:srgbClr val="0F8B61"/>
                </a:solidFill>
              </a:rPr>
              <a:t>n=35</a:t>
            </a:r>
            <a:endParaRPr lang="en-US" sz="1000" dirty="0"/>
          </a:p>
        </p:txBody>
      </p:sp>
      <p:sp>
        <p:nvSpPr>
          <p:cNvPr id="22" name="Text 20"/>
          <p:cNvSpPr/>
          <p:nvPr/>
        </p:nvSpPr>
        <p:spPr>
          <a:xfrm>
            <a:off x="1051560" y="2770632"/>
            <a:ext cx="1645920" cy="146304"/>
          </a:xfrm>
          <a:prstGeom prst="rect">
            <a:avLst/>
          </a:prstGeom>
          <a:noFill/>
          <a:ln/>
        </p:spPr>
        <p:txBody>
          <a:bodyPr wrap="square" lIns="0" tIns="0" rIns="0" bIns="0" rtlCol="0" anchor="ctr">
            <a:noAutofit/>
          </a:bodyPr>
          <a:lstStyle/>
          <a:p>
            <a:pPr marL="0" indent="0">
              <a:buNone/>
            </a:pPr>
            <a:r>
              <a:rPr lang="en-US" sz="1000" dirty="0">
                <a:solidFill>
                  <a:srgbClr val="111827"/>
                </a:solidFill>
              </a:rPr>
              <a:t>expected feasibility</a:t>
            </a:r>
            <a:endParaRPr lang="en-US" sz="1000" dirty="0"/>
          </a:p>
        </p:txBody>
      </p:sp>
      <p:sp>
        <p:nvSpPr>
          <p:cNvPr id="23" name="Shape 21"/>
          <p:cNvSpPr/>
          <p:nvPr/>
        </p:nvSpPr>
        <p:spPr>
          <a:xfrm>
            <a:off x="2606040" y="2843784"/>
            <a:ext cx="3627120" cy="0"/>
          </a:xfrm>
          <a:prstGeom prst="line">
            <a:avLst/>
          </a:prstGeom>
          <a:noFill/>
          <a:ln w="27940">
            <a:solidFill>
              <a:srgbClr val="9F1239"/>
            </a:solidFill>
            <a:prstDash val="solid"/>
          </a:ln>
        </p:spPr>
        <p:txBody>
          <a:bodyPr/>
          <a:lstStyle/>
          <a:p>
            <a:endParaRPr lang="en-US"/>
          </a:p>
        </p:txBody>
      </p:sp>
      <p:sp>
        <p:nvSpPr>
          <p:cNvPr id="24" name="Shape 22"/>
          <p:cNvSpPr/>
          <p:nvPr/>
        </p:nvSpPr>
        <p:spPr>
          <a:xfrm>
            <a:off x="6150864" y="2761488"/>
            <a:ext cx="164592" cy="164592"/>
          </a:xfrm>
          <a:prstGeom prst="ellipse">
            <a:avLst/>
          </a:prstGeom>
          <a:solidFill>
            <a:srgbClr val="9F1239"/>
          </a:solidFill>
          <a:ln w="12700">
            <a:solidFill>
              <a:srgbClr val="9F1239"/>
            </a:solidFill>
            <a:prstDash val="solid"/>
          </a:ln>
        </p:spPr>
        <p:txBody>
          <a:bodyPr/>
          <a:lstStyle/>
          <a:p>
            <a:endParaRPr lang="en-US"/>
          </a:p>
        </p:txBody>
      </p:sp>
      <p:sp>
        <p:nvSpPr>
          <p:cNvPr id="25" name="Text 23"/>
          <p:cNvSpPr/>
          <p:nvPr/>
        </p:nvSpPr>
        <p:spPr>
          <a:xfrm>
            <a:off x="6342888" y="2756916"/>
            <a:ext cx="502920" cy="146304"/>
          </a:xfrm>
          <a:prstGeom prst="rect">
            <a:avLst/>
          </a:prstGeom>
          <a:noFill/>
          <a:ln/>
        </p:spPr>
        <p:txBody>
          <a:bodyPr wrap="square" lIns="0" tIns="0" rIns="0" bIns="0" rtlCol="0" anchor="ctr"/>
          <a:lstStyle/>
          <a:p>
            <a:pPr marL="0" indent="0">
              <a:buNone/>
            </a:pPr>
            <a:r>
              <a:rPr lang="en-US" sz="1000" b="1" dirty="0">
                <a:solidFill>
                  <a:srgbClr val="9F1239"/>
                </a:solidFill>
              </a:rPr>
              <a:t>n=37</a:t>
            </a:r>
            <a:endParaRPr lang="en-US" sz="1000" dirty="0"/>
          </a:p>
        </p:txBody>
      </p:sp>
      <p:sp>
        <p:nvSpPr>
          <p:cNvPr id="26" name="Text 24"/>
          <p:cNvSpPr/>
          <p:nvPr/>
        </p:nvSpPr>
        <p:spPr>
          <a:xfrm>
            <a:off x="1051560" y="3172968"/>
            <a:ext cx="1645920" cy="146304"/>
          </a:xfrm>
          <a:prstGeom prst="rect">
            <a:avLst/>
          </a:prstGeom>
          <a:noFill/>
          <a:ln/>
        </p:spPr>
        <p:txBody>
          <a:bodyPr wrap="square" lIns="0" tIns="0" rIns="0" bIns="0" rtlCol="0" anchor="ctr">
            <a:noAutofit/>
          </a:bodyPr>
          <a:lstStyle/>
          <a:p>
            <a:pPr marL="0" indent="0">
              <a:buNone/>
            </a:pPr>
            <a:r>
              <a:rPr lang="en-US" sz="1000" dirty="0">
                <a:solidFill>
                  <a:srgbClr val="111827"/>
                </a:solidFill>
              </a:rPr>
              <a:t>smallest |μ|</a:t>
            </a:r>
            <a:endParaRPr lang="en-US" sz="1000" dirty="0"/>
          </a:p>
        </p:txBody>
      </p:sp>
      <p:sp>
        <p:nvSpPr>
          <p:cNvPr id="27" name="Shape 25"/>
          <p:cNvSpPr/>
          <p:nvPr/>
        </p:nvSpPr>
        <p:spPr>
          <a:xfrm>
            <a:off x="2606040" y="3246120"/>
            <a:ext cx="4663440" cy="0"/>
          </a:xfrm>
          <a:prstGeom prst="line">
            <a:avLst/>
          </a:prstGeom>
          <a:noFill/>
          <a:ln w="27940">
            <a:solidFill>
              <a:srgbClr val="2B6CB0"/>
            </a:solidFill>
            <a:prstDash val="solid"/>
          </a:ln>
        </p:spPr>
        <p:txBody>
          <a:bodyPr/>
          <a:lstStyle/>
          <a:p>
            <a:endParaRPr lang="en-US"/>
          </a:p>
        </p:txBody>
      </p:sp>
      <p:sp>
        <p:nvSpPr>
          <p:cNvPr id="28" name="Shape 26"/>
          <p:cNvSpPr/>
          <p:nvPr/>
        </p:nvSpPr>
        <p:spPr>
          <a:xfrm>
            <a:off x="7187184" y="3163824"/>
            <a:ext cx="164592" cy="164592"/>
          </a:xfrm>
          <a:prstGeom prst="ellipse">
            <a:avLst/>
          </a:prstGeom>
          <a:solidFill>
            <a:srgbClr val="2B6CB0"/>
          </a:solidFill>
          <a:ln w="12700">
            <a:solidFill>
              <a:srgbClr val="2B6CB0"/>
            </a:solidFill>
            <a:prstDash val="solid"/>
          </a:ln>
        </p:spPr>
        <p:txBody>
          <a:bodyPr/>
          <a:lstStyle/>
          <a:p>
            <a:endParaRPr lang="en-US"/>
          </a:p>
        </p:txBody>
      </p:sp>
      <p:sp>
        <p:nvSpPr>
          <p:cNvPr id="29" name="Text 27"/>
          <p:cNvSpPr/>
          <p:nvPr/>
        </p:nvSpPr>
        <p:spPr>
          <a:xfrm>
            <a:off x="7379208" y="3159252"/>
            <a:ext cx="502920" cy="146304"/>
          </a:xfrm>
          <a:prstGeom prst="rect">
            <a:avLst/>
          </a:prstGeom>
          <a:noFill/>
          <a:ln/>
        </p:spPr>
        <p:txBody>
          <a:bodyPr wrap="square" lIns="0" tIns="0" rIns="0" bIns="0" rtlCol="0" anchor="ctr"/>
          <a:lstStyle/>
          <a:p>
            <a:pPr marL="0" indent="0">
              <a:buNone/>
            </a:pPr>
            <a:r>
              <a:rPr lang="en-US" sz="1000" b="1" dirty="0">
                <a:solidFill>
                  <a:srgbClr val="2B6CB0"/>
                </a:solidFill>
              </a:rPr>
              <a:t>n=39</a:t>
            </a:r>
            <a:endParaRPr lang="en-US" sz="1000" dirty="0"/>
          </a:p>
        </p:txBody>
      </p:sp>
      <p:sp>
        <p:nvSpPr>
          <p:cNvPr id="30" name="Text 28"/>
          <p:cNvSpPr/>
          <p:nvPr/>
        </p:nvSpPr>
        <p:spPr>
          <a:xfrm>
            <a:off x="1051560" y="3575304"/>
            <a:ext cx="1645920" cy="146304"/>
          </a:xfrm>
          <a:prstGeom prst="rect">
            <a:avLst/>
          </a:prstGeom>
          <a:noFill/>
          <a:ln/>
        </p:spPr>
        <p:txBody>
          <a:bodyPr wrap="square" lIns="0" tIns="0" rIns="0" bIns="0" rtlCol="0" anchor="ctr">
            <a:noAutofit/>
          </a:bodyPr>
          <a:lstStyle/>
          <a:p>
            <a:pPr marL="0" indent="0">
              <a:buNone/>
            </a:pPr>
            <a:r>
              <a:rPr lang="en-US" sz="1000" dirty="0">
                <a:solidFill>
                  <a:srgbClr val="111827"/>
                </a:solidFill>
              </a:rPr>
              <a:t>random</a:t>
            </a:r>
            <a:endParaRPr lang="en-US" sz="1000" dirty="0"/>
          </a:p>
        </p:txBody>
      </p:sp>
      <p:sp>
        <p:nvSpPr>
          <p:cNvPr id="31" name="Text 29"/>
          <p:cNvSpPr/>
          <p:nvPr/>
        </p:nvSpPr>
        <p:spPr>
          <a:xfrm>
            <a:off x="2606040" y="3575304"/>
            <a:ext cx="1280160" cy="146304"/>
          </a:xfrm>
          <a:prstGeom prst="rect">
            <a:avLst/>
          </a:prstGeom>
          <a:noFill/>
          <a:ln/>
        </p:spPr>
        <p:txBody>
          <a:bodyPr wrap="square" lIns="0" tIns="0" rIns="0" bIns="0" rtlCol="0" anchor="ctr"/>
          <a:lstStyle/>
          <a:p>
            <a:pPr marL="0" indent="0">
              <a:buNone/>
            </a:pPr>
            <a:r>
              <a:rPr lang="en-US" sz="1000" b="1" dirty="0">
                <a:solidFill>
                  <a:srgbClr val="6B7280"/>
                </a:solidFill>
              </a:rPr>
              <a:t>did not reach</a:t>
            </a:r>
            <a:endParaRPr lang="en-US" sz="1000" dirty="0"/>
          </a:p>
        </p:txBody>
      </p:sp>
      <p:sp>
        <p:nvSpPr>
          <p:cNvPr id="32" name="Shape 30"/>
          <p:cNvSpPr/>
          <p:nvPr/>
        </p:nvSpPr>
        <p:spPr>
          <a:xfrm>
            <a:off x="896112" y="5413248"/>
            <a:ext cx="10287000" cy="530352"/>
          </a:xfrm>
          <a:prstGeom prst="roundRect">
            <a:avLst>
              <a:gd name="adj" fmla="val 15517"/>
            </a:avLst>
          </a:prstGeom>
          <a:solidFill>
            <a:srgbClr val="EEF4FF"/>
          </a:solidFill>
          <a:ln w="10160">
            <a:solidFill>
              <a:srgbClr val="BFDBFE"/>
            </a:solidFill>
            <a:prstDash val="solid"/>
          </a:ln>
        </p:spPr>
        <p:txBody>
          <a:bodyPr/>
          <a:lstStyle/>
          <a:p>
            <a:endParaRPr lang="en-US"/>
          </a:p>
        </p:txBody>
      </p:sp>
      <p:sp>
        <p:nvSpPr>
          <p:cNvPr id="33" name="Text 31"/>
          <p:cNvSpPr/>
          <p:nvPr/>
        </p:nvSpPr>
        <p:spPr>
          <a:xfrm>
            <a:off x="1097280" y="5586984"/>
            <a:ext cx="9829800" cy="146304"/>
          </a:xfrm>
          <a:prstGeom prst="rect">
            <a:avLst/>
          </a:prstGeom>
          <a:noFill/>
          <a:ln/>
        </p:spPr>
        <p:txBody>
          <a:bodyPr wrap="square" lIns="0" tIns="0" rIns="0" bIns="0" rtlCol="0" anchor="ctr">
            <a:noAutofit/>
          </a:bodyPr>
          <a:lstStyle/>
          <a:p>
            <a:pPr marL="0" indent="0">
              <a:buNone/>
            </a:pPr>
            <a:r>
              <a:rPr lang="en-US" sz="1100" b="1" dirty="0">
                <a:solidFill>
                  <a:srgbClr val="1F2A44"/>
                </a:solidFill>
              </a:rPr>
              <a:t>Interpretation: randomized straddle reaches the 8% proxy at n=32, compared with n=39 for smallest |μ|; random does not reach it on the mean curve.</a:t>
            </a:r>
            <a:endParaRPr lang="en-US" sz="1100" dirty="0"/>
          </a:p>
        </p:txBody>
      </p:sp>
      <p:sp>
        <p:nvSpPr>
          <p:cNvPr id="34" name="Shape 32"/>
          <p:cNvSpPr/>
          <p:nvPr/>
        </p:nvSpPr>
        <p:spPr>
          <a:xfrm>
            <a:off x="502920" y="6446520"/>
            <a:ext cx="11201400" cy="0"/>
          </a:xfrm>
          <a:prstGeom prst="line">
            <a:avLst/>
          </a:prstGeom>
          <a:noFill/>
          <a:ln w="8890">
            <a:solidFill>
              <a:srgbClr val="D9DEE8"/>
            </a:solidFill>
            <a:prstDash val="solid"/>
          </a:ln>
        </p:spPr>
        <p:txBody>
          <a:bodyPr/>
          <a:lstStyle/>
          <a:p>
            <a:endParaRPr lang="en-US"/>
          </a:p>
        </p:txBody>
      </p:sp>
      <p:sp>
        <p:nvSpPr>
          <p:cNvPr id="35" name="Text 33"/>
          <p:cNvSpPr/>
          <p:nvPr/>
        </p:nvSpPr>
        <p:spPr>
          <a:xfrm>
            <a:off x="502920" y="6519672"/>
            <a:ext cx="8961120" cy="164592"/>
          </a:xfrm>
          <a:prstGeom prst="rect">
            <a:avLst/>
          </a:prstGeom>
          <a:noFill/>
          <a:ln/>
        </p:spPr>
        <p:txBody>
          <a:bodyPr wrap="square" lIns="0" tIns="0" rIns="0" bIns="0" rtlCol="0" anchor="ctr"/>
          <a:lstStyle/>
          <a:p>
            <a:pPr marL="0" indent="0">
              <a:buNone/>
            </a:pPr>
            <a:r>
              <a:rPr lang="en-US" sz="780" dirty="0">
                <a:solidFill>
                  <a:srgbClr val="6B7280"/>
                </a:solidFill>
                <a:latin typeface="Aptos" pitchFamily="34" charset="0"/>
                <a:ea typeface="Aptos" pitchFamily="34" charset="-122"/>
                <a:cs typeface="Aptos" pitchFamily="34" charset="-120"/>
              </a:rPr>
              <a:t>Week 2 progress • Sample-Efficient Active Level-Set Estimation • 6</a:t>
            </a:r>
            <a:endParaRPr lang="en-US" sz="780" dirty="0"/>
          </a:p>
        </p:txBody>
      </p:sp>
      <p:sp>
        <p:nvSpPr>
          <p:cNvPr id="36" name="Text 34"/>
          <p:cNvSpPr/>
          <p:nvPr/>
        </p:nvSpPr>
        <p:spPr>
          <a:xfrm>
            <a:off x="11521440" y="6492240"/>
            <a:ext cx="228600" cy="164592"/>
          </a:xfrm>
          <a:prstGeom prst="rect">
            <a:avLst/>
          </a:prstGeom>
          <a:noFill/>
          <a:ln/>
        </p:spPr>
        <p:txBody>
          <a:bodyPr wrap="square" lIns="0" tIns="0" rIns="0" bIns="0" rtlCol="0" anchor="ctr"/>
          <a:lstStyle/>
          <a:p>
            <a:pPr marL="0" indent="0" algn="r">
              <a:buNone/>
            </a:pPr>
            <a:r>
              <a:rPr lang="en-US" sz="780" dirty="0">
                <a:solidFill>
                  <a:srgbClr val="6B7280"/>
                </a:solidFill>
              </a:rPr>
              <a:t>6</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789920" cy="320040"/>
          </a:xfrm>
          <a:prstGeom prst="rect">
            <a:avLst/>
          </a:prstGeom>
          <a:noFill/>
          <a:ln/>
        </p:spPr>
        <p:txBody>
          <a:bodyPr wrap="square" lIns="0" tIns="0" rIns="0" bIns="0" rtlCol="0" anchor="ctr"/>
          <a:lstStyle/>
          <a:p>
            <a:pPr marL="0" indent="0">
              <a:buNone/>
            </a:pPr>
            <a:r>
              <a:rPr lang="en-US" sz="2200" b="1" dirty="0">
                <a:solidFill>
                  <a:srgbClr val="1F2A44"/>
                </a:solidFill>
                <a:latin typeface="Aptos Display" pitchFamily="34" charset="0"/>
                <a:ea typeface="Aptos Display" pitchFamily="34" charset="-122"/>
                <a:cs typeface="Aptos Display" pitchFamily="34" charset="-120"/>
              </a:rPr>
              <a:t>Query behavior on seed 0</a:t>
            </a:r>
            <a:endParaRPr lang="en-US" sz="2200" dirty="0"/>
          </a:p>
        </p:txBody>
      </p:sp>
      <p:sp>
        <p:nvSpPr>
          <p:cNvPr id="3" name="Text 1"/>
          <p:cNvSpPr/>
          <p:nvPr/>
        </p:nvSpPr>
        <p:spPr>
          <a:xfrm>
            <a:off x="521208" y="713232"/>
            <a:ext cx="10515600" cy="237744"/>
          </a:xfrm>
          <a:prstGeom prst="rect">
            <a:avLst/>
          </a:prstGeom>
          <a:noFill/>
          <a:ln/>
        </p:spPr>
        <p:txBody>
          <a:bodyPr wrap="square" lIns="0" tIns="0" rIns="0" bIns="0" rtlCol="0" anchor="ctr"/>
          <a:lstStyle/>
          <a:p>
            <a:pPr marL="0" indent="0">
              <a:buNone/>
            </a:pPr>
            <a:r>
              <a:rPr lang="en-US" sz="1100" dirty="0">
                <a:solidFill>
                  <a:srgbClr val="4B5563"/>
                </a:solidFill>
              </a:rPr>
              <a:t>Where did each method spend its labelled evaluations by budget 50?</a:t>
            </a:r>
            <a:endParaRPr lang="en-US" sz="1100" dirty="0"/>
          </a:p>
        </p:txBody>
      </p:sp>
      <p:sp>
        <p:nvSpPr>
          <p:cNvPr id="4" name="Shape 2"/>
          <p:cNvSpPr/>
          <p:nvPr/>
        </p:nvSpPr>
        <p:spPr>
          <a:xfrm>
            <a:off x="411480" y="1024128"/>
            <a:ext cx="11384280" cy="3840480"/>
          </a:xfrm>
          <a:prstGeom prst="roundRect">
            <a:avLst>
              <a:gd name="adj" fmla="val 2143"/>
            </a:avLst>
          </a:prstGeom>
          <a:solidFill>
            <a:srgbClr val="FFFFFF"/>
          </a:solidFill>
          <a:ln w="10160">
            <a:solidFill>
              <a:srgbClr val="D9DEE8"/>
            </a:solidFill>
            <a:prstDash val="solid"/>
          </a:ln>
        </p:spPr>
        <p:txBody>
          <a:bodyPr/>
          <a:lstStyle/>
          <a:p>
            <a:endParaRPr lang="en-US"/>
          </a:p>
        </p:txBody>
      </p:sp>
      <p:pic>
        <p:nvPicPr>
          <p:cNvPr id="5" name="Image 0" descr="/mnt/data/query_locations_seed0(1).png"/>
          <p:cNvPicPr>
            <a:picLocks noChangeAspect="1"/>
          </p:cNvPicPr>
          <p:nvPr/>
        </p:nvPicPr>
        <p:blipFill>
          <a:blip r:embed="rId3"/>
          <a:stretch>
            <a:fillRect/>
          </a:stretch>
        </p:blipFill>
        <p:spPr>
          <a:xfrm>
            <a:off x="411480" y="1192513"/>
            <a:ext cx="11384280" cy="3503711"/>
          </a:xfrm>
          <a:prstGeom prst="rect">
            <a:avLst/>
          </a:prstGeom>
        </p:spPr>
      </p:pic>
      <p:sp>
        <p:nvSpPr>
          <p:cNvPr id="6" name="Shape 3"/>
          <p:cNvSpPr/>
          <p:nvPr/>
        </p:nvSpPr>
        <p:spPr>
          <a:xfrm>
            <a:off x="548640" y="5138928"/>
            <a:ext cx="11064240" cy="749808"/>
          </a:xfrm>
          <a:prstGeom prst="roundRect">
            <a:avLst>
              <a:gd name="adj" fmla="val 10976"/>
            </a:avLst>
          </a:prstGeom>
          <a:solidFill>
            <a:srgbClr val="FFFFFF"/>
          </a:solidFill>
          <a:ln w="10160">
            <a:solidFill>
              <a:srgbClr val="D9DEE8"/>
            </a:solidFill>
            <a:prstDash val="solid"/>
          </a:ln>
        </p:spPr>
        <p:txBody>
          <a:bodyPr/>
          <a:lstStyle/>
          <a:p>
            <a:endParaRPr lang="en-US"/>
          </a:p>
        </p:txBody>
      </p:sp>
      <p:sp>
        <p:nvSpPr>
          <p:cNvPr id="7" name="Text 4"/>
          <p:cNvSpPr/>
          <p:nvPr/>
        </p:nvSpPr>
        <p:spPr>
          <a:xfrm>
            <a:off x="822960" y="5344668"/>
            <a:ext cx="109728" cy="146304"/>
          </a:xfrm>
          <a:prstGeom prst="rect">
            <a:avLst/>
          </a:prstGeom>
          <a:noFill/>
          <a:ln/>
        </p:spPr>
        <p:txBody>
          <a:bodyPr wrap="square" lIns="0" tIns="0" rIns="0" bIns="0" rtlCol="0" anchor="ctr"/>
          <a:lstStyle/>
          <a:p>
            <a:pPr marL="0" indent="0">
              <a:buNone/>
            </a:pPr>
            <a:r>
              <a:rPr lang="en-US" sz="900" dirty="0">
                <a:solidFill>
                  <a:srgbClr val="1F2A44"/>
                </a:solidFill>
              </a:rPr>
              <a:t>•</a:t>
            </a:r>
            <a:endParaRPr lang="en-US" sz="900" dirty="0"/>
          </a:p>
        </p:txBody>
      </p:sp>
      <p:sp>
        <p:nvSpPr>
          <p:cNvPr id="8" name="Text 5"/>
          <p:cNvSpPr/>
          <p:nvPr/>
        </p:nvSpPr>
        <p:spPr>
          <a:xfrm>
            <a:off x="987552" y="5330952"/>
            <a:ext cx="3584448" cy="201168"/>
          </a:xfrm>
          <a:prstGeom prst="rect">
            <a:avLst/>
          </a:prstGeom>
          <a:noFill/>
          <a:ln/>
        </p:spPr>
        <p:txBody>
          <a:bodyPr wrap="square" lIns="0" tIns="0" rIns="0" bIns="0" rtlCol="0" anchor="ctr">
            <a:noAutofit/>
          </a:bodyPr>
          <a:lstStyle/>
          <a:p>
            <a:pPr marL="0" indent="0">
              <a:buNone/>
            </a:pPr>
            <a:r>
              <a:rPr lang="en-US" sz="1100" dirty="0">
                <a:solidFill>
                  <a:srgbClr val="111827"/>
                </a:solidFill>
              </a:rPr>
              <a:t>The black curve is the exact Branin boundary; stars are the shared initial six points.</a:t>
            </a:r>
            <a:endParaRPr lang="en-US" sz="1100" dirty="0"/>
          </a:p>
        </p:txBody>
      </p:sp>
      <p:sp>
        <p:nvSpPr>
          <p:cNvPr id="9" name="Text 6"/>
          <p:cNvSpPr/>
          <p:nvPr/>
        </p:nvSpPr>
        <p:spPr>
          <a:xfrm>
            <a:off x="4617720" y="5344668"/>
            <a:ext cx="109728" cy="146304"/>
          </a:xfrm>
          <a:prstGeom prst="rect">
            <a:avLst/>
          </a:prstGeom>
          <a:noFill/>
          <a:ln/>
        </p:spPr>
        <p:txBody>
          <a:bodyPr wrap="square" lIns="0" tIns="0" rIns="0" bIns="0" rtlCol="0" anchor="ctr"/>
          <a:lstStyle/>
          <a:p>
            <a:pPr marL="0" indent="0">
              <a:buNone/>
            </a:pPr>
            <a:r>
              <a:rPr lang="en-US" sz="900" dirty="0">
                <a:solidFill>
                  <a:srgbClr val="1F2A44"/>
                </a:solidFill>
              </a:rPr>
              <a:t>•</a:t>
            </a:r>
            <a:endParaRPr lang="en-US" sz="900" dirty="0"/>
          </a:p>
        </p:txBody>
      </p:sp>
      <p:sp>
        <p:nvSpPr>
          <p:cNvPr id="10" name="Text 7"/>
          <p:cNvSpPr/>
          <p:nvPr/>
        </p:nvSpPr>
        <p:spPr>
          <a:xfrm>
            <a:off x="4782312" y="5330952"/>
            <a:ext cx="3813048" cy="256032"/>
          </a:xfrm>
          <a:prstGeom prst="rect">
            <a:avLst/>
          </a:prstGeom>
          <a:noFill/>
          <a:ln/>
        </p:spPr>
        <p:txBody>
          <a:bodyPr wrap="square" lIns="0" tIns="0" rIns="0" bIns="0" rtlCol="0" anchor="ctr">
            <a:noAutofit/>
          </a:bodyPr>
          <a:lstStyle/>
          <a:p>
            <a:pPr marL="0" indent="0">
              <a:buNone/>
            </a:pPr>
            <a:r>
              <a:rPr lang="en-US" sz="1100" dirty="0">
                <a:solidFill>
                  <a:srgbClr val="111827"/>
                </a:solidFill>
              </a:rPr>
              <a:t>Random has no boundary mechanism; the other rules use μ and/or σ to choose more informative candidates.</a:t>
            </a:r>
            <a:endParaRPr lang="en-US" sz="1100" dirty="0"/>
          </a:p>
        </p:txBody>
      </p:sp>
      <p:sp>
        <p:nvSpPr>
          <p:cNvPr id="11" name="Text 8"/>
          <p:cNvSpPr/>
          <p:nvPr/>
        </p:nvSpPr>
        <p:spPr>
          <a:xfrm>
            <a:off x="8549640" y="5344668"/>
            <a:ext cx="109728" cy="146304"/>
          </a:xfrm>
          <a:prstGeom prst="rect">
            <a:avLst/>
          </a:prstGeom>
          <a:noFill/>
          <a:ln/>
        </p:spPr>
        <p:txBody>
          <a:bodyPr wrap="square" lIns="0" tIns="0" rIns="0" bIns="0" rtlCol="0" anchor="ctr"/>
          <a:lstStyle/>
          <a:p>
            <a:pPr marL="0" indent="0">
              <a:buNone/>
            </a:pPr>
            <a:r>
              <a:rPr lang="en-US" sz="900" dirty="0">
                <a:solidFill>
                  <a:srgbClr val="1F2A44"/>
                </a:solidFill>
              </a:rPr>
              <a:t>•</a:t>
            </a:r>
            <a:endParaRPr lang="en-US" sz="900" dirty="0"/>
          </a:p>
        </p:txBody>
      </p:sp>
      <p:sp>
        <p:nvSpPr>
          <p:cNvPr id="12" name="Text 9"/>
          <p:cNvSpPr/>
          <p:nvPr/>
        </p:nvSpPr>
        <p:spPr>
          <a:xfrm>
            <a:off x="8714232" y="5330952"/>
            <a:ext cx="2578608" cy="256032"/>
          </a:xfrm>
          <a:prstGeom prst="rect">
            <a:avLst/>
          </a:prstGeom>
          <a:noFill/>
          <a:ln/>
        </p:spPr>
        <p:txBody>
          <a:bodyPr wrap="square" lIns="0" tIns="0" rIns="0" bIns="0" rtlCol="0" anchor="ctr">
            <a:noAutofit/>
          </a:bodyPr>
          <a:lstStyle/>
          <a:p>
            <a:pPr marL="0" indent="0">
              <a:buNone/>
            </a:pPr>
            <a:r>
              <a:rPr lang="en-US" sz="1100" dirty="0">
                <a:solidFill>
                  <a:srgbClr val="111827"/>
                </a:solidFill>
              </a:rPr>
              <a:t>This is qualitative evidence only; the quantitative comparison is still the test-error curve.</a:t>
            </a:r>
            <a:endParaRPr lang="en-US" sz="1100" dirty="0"/>
          </a:p>
        </p:txBody>
      </p:sp>
      <p:sp>
        <p:nvSpPr>
          <p:cNvPr id="13" name="Shape 10"/>
          <p:cNvSpPr/>
          <p:nvPr/>
        </p:nvSpPr>
        <p:spPr>
          <a:xfrm>
            <a:off x="502920" y="6446520"/>
            <a:ext cx="11201400" cy="0"/>
          </a:xfrm>
          <a:prstGeom prst="line">
            <a:avLst/>
          </a:prstGeom>
          <a:noFill/>
          <a:ln w="8890">
            <a:solidFill>
              <a:srgbClr val="D9DEE8"/>
            </a:solidFill>
            <a:prstDash val="solid"/>
          </a:ln>
        </p:spPr>
        <p:txBody>
          <a:bodyPr/>
          <a:lstStyle/>
          <a:p>
            <a:endParaRPr lang="en-US"/>
          </a:p>
        </p:txBody>
      </p:sp>
      <p:sp>
        <p:nvSpPr>
          <p:cNvPr id="14" name="Text 11"/>
          <p:cNvSpPr/>
          <p:nvPr/>
        </p:nvSpPr>
        <p:spPr>
          <a:xfrm>
            <a:off x="502920" y="6519672"/>
            <a:ext cx="8961120" cy="164592"/>
          </a:xfrm>
          <a:prstGeom prst="rect">
            <a:avLst/>
          </a:prstGeom>
          <a:noFill/>
          <a:ln/>
        </p:spPr>
        <p:txBody>
          <a:bodyPr wrap="square" lIns="0" tIns="0" rIns="0" bIns="0" rtlCol="0" anchor="ctr"/>
          <a:lstStyle/>
          <a:p>
            <a:pPr marL="0" indent="0">
              <a:buNone/>
            </a:pPr>
            <a:r>
              <a:rPr lang="en-US" sz="780" dirty="0">
                <a:solidFill>
                  <a:srgbClr val="6B7280"/>
                </a:solidFill>
                <a:latin typeface="Aptos" pitchFamily="34" charset="0"/>
                <a:ea typeface="Aptos" pitchFamily="34" charset="-122"/>
                <a:cs typeface="Aptos" pitchFamily="34" charset="-120"/>
              </a:rPr>
              <a:t>Week 2 progress • Sample-Efficient Active Level-Set Estimation • 7</a:t>
            </a:r>
            <a:endParaRPr lang="en-US" sz="780" dirty="0"/>
          </a:p>
        </p:txBody>
      </p:sp>
      <p:sp>
        <p:nvSpPr>
          <p:cNvPr id="15" name="Text 12"/>
          <p:cNvSpPr/>
          <p:nvPr/>
        </p:nvSpPr>
        <p:spPr>
          <a:xfrm>
            <a:off x="11521440" y="6492240"/>
            <a:ext cx="228600" cy="164592"/>
          </a:xfrm>
          <a:prstGeom prst="rect">
            <a:avLst/>
          </a:prstGeom>
          <a:noFill/>
          <a:ln/>
        </p:spPr>
        <p:txBody>
          <a:bodyPr wrap="square" lIns="0" tIns="0" rIns="0" bIns="0" rtlCol="0" anchor="ctr"/>
          <a:lstStyle/>
          <a:p>
            <a:pPr marL="0" indent="0" algn="r">
              <a:buNone/>
            </a:pPr>
            <a:r>
              <a:rPr lang="en-US" sz="780" dirty="0">
                <a:solidFill>
                  <a:srgbClr val="6B7280"/>
                </a:solidFill>
              </a:rPr>
              <a:t>7</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789920" cy="320040"/>
          </a:xfrm>
          <a:prstGeom prst="rect">
            <a:avLst/>
          </a:prstGeom>
          <a:noFill/>
          <a:ln/>
        </p:spPr>
        <p:txBody>
          <a:bodyPr wrap="square" lIns="0" tIns="0" rIns="0" bIns="0" rtlCol="0" anchor="ctr"/>
          <a:lstStyle/>
          <a:p>
            <a:pPr marL="0" indent="0">
              <a:buNone/>
            </a:pPr>
            <a:r>
              <a:rPr lang="en-US" sz="2200" b="1" dirty="0">
                <a:solidFill>
                  <a:srgbClr val="1F2A44"/>
                </a:solidFill>
                <a:latin typeface="Aptos Display" pitchFamily="34" charset="0"/>
                <a:ea typeface="Aptos Display" pitchFamily="34" charset="-122"/>
                <a:cs typeface="Aptos Display" pitchFamily="34" charset="-120"/>
              </a:rPr>
              <a:t>Best-method snapshots: randomized straddle</a:t>
            </a:r>
            <a:endParaRPr lang="en-US" sz="2200" dirty="0"/>
          </a:p>
        </p:txBody>
      </p:sp>
      <p:sp>
        <p:nvSpPr>
          <p:cNvPr id="3" name="Text 1"/>
          <p:cNvSpPr/>
          <p:nvPr/>
        </p:nvSpPr>
        <p:spPr>
          <a:xfrm>
            <a:off x="521208" y="713232"/>
            <a:ext cx="10515600" cy="237744"/>
          </a:xfrm>
          <a:prstGeom prst="rect">
            <a:avLst/>
          </a:prstGeom>
          <a:noFill/>
          <a:ln/>
        </p:spPr>
        <p:txBody>
          <a:bodyPr wrap="square" lIns="0" tIns="0" rIns="0" bIns="0" rtlCol="0" anchor="ctr"/>
          <a:lstStyle/>
          <a:p>
            <a:pPr marL="0" indent="0">
              <a:buNone/>
            </a:pPr>
            <a:r>
              <a:rPr lang="en-US" sz="1100" dirty="0">
                <a:solidFill>
                  <a:srgbClr val="4B5563"/>
                </a:solidFill>
              </a:rPr>
              <a:t>For seed 0, the GP boundary becomes more informative as labels are acquired.</a:t>
            </a:r>
            <a:endParaRPr lang="en-US" sz="1100" dirty="0"/>
          </a:p>
        </p:txBody>
      </p:sp>
      <p:sp>
        <p:nvSpPr>
          <p:cNvPr id="4" name="Shape 2"/>
          <p:cNvSpPr/>
          <p:nvPr/>
        </p:nvSpPr>
        <p:spPr>
          <a:xfrm>
            <a:off x="411480" y="1024128"/>
            <a:ext cx="11384280" cy="4251960"/>
          </a:xfrm>
          <a:prstGeom prst="roundRect">
            <a:avLst>
              <a:gd name="adj" fmla="val 1935"/>
            </a:avLst>
          </a:prstGeom>
          <a:solidFill>
            <a:srgbClr val="FFFFFF"/>
          </a:solidFill>
          <a:ln w="10160">
            <a:solidFill>
              <a:srgbClr val="D9DEE8"/>
            </a:solidFill>
            <a:prstDash val="solid"/>
          </a:ln>
        </p:spPr>
        <p:txBody>
          <a:bodyPr/>
          <a:lstStyle/>
          <a:p>
            <a:endParaRPr lang="en-US"/>
          </a:p>
        </p:txBody>
      </p:sp>
      <p:pic>
        <p:nvPicPr>
          <p:cNvPr id="5" name="Image 0" descr="/mnt/data/snapshots_best_randomized_straddle_seed0(1).png"/>
          <p:cNvPicPr>
            <a:picLocks noChangeAspect="1"/>
          </p:cNvPicPr>
          <p:nvPr/>
        </p:nvPicPr>
        <p:blipFill>
          <a:blip r:embed="rId3"/>
          <a:stretch>
            <a:fillRect/>
          </a:stretch>
        </p:blipFill>
        <p:spPr>
          <a:xfrm>
            <a:off x="411480" y="1082260"/>
            <a:ext cx="11384280" cy="4135695"/>
          </a:xfrm>
          <a:prstGeom prst="rect">
            <a:avLst/>
          </a:prstGeom>
        </p:spPr>
      </p:pic>
      <p:sp>
        <p:nvSpPr>
          <p:cNvPr id="6" name="Shape 3"/>
          <p:cNvSpPr/>
          <p:nvPr/>
        </p:nvSpPr>
        <p:spPr>
          <a:xfrm>
            <a:off x="548640" y="5513832"/>
            <a:ext cx="11064240" cy="566928"/>
          </a:xfrm>
          <a:prstGeom prst="roundRect">
            <a:avLst>
              <a:gd name="adj" fmla="val 14516"/>
            </a:avLst>
          </a:prstGeom>
          <a:solidFill>
            <a:srgbClr val="FFF7ED"/>
          </a:solidFill>
          <a:ln w="10160">
            <a:solidFill>
              <a:srgbClr val="FED7AA"/>
            </a:solidFill>
            <a:prstDash val="solid"/>
          </a:ln>
        </p:spPr>
        <p:txBody>
          <a:bodyPr/>
          <a:lstStyle/>
          <a:p>
            <a:endParaRPr lang="en-US"/>
          </a:p>
        </p:txBody>
      </p:sp>
      <p:sp>
        <p:nvSpPr>
          <p:cNvPr id="7" name="Text 4"/>
          <p:cNvSpPr/>
          <p:nvPr/>
        </p:nvSpPr>
        <p:spPr>
          <a:xfrm>
            <a:off x="804672" y="5696712"/>
            <a:ext cx="10469880" cy="146304"/>
          </a:xfrm>
          <a:prstGeom prst="rect">
            <a:avLst/>
          </a:prstGeom>
          <a:noFill/>
          <a:ln/>
        </p:spPr>
        <p:txBody>
          <a:bodyPr wrap="square" lIns="0" tIns="0" rIns="0" bIns="0" rtlCol="0" anchor="ctr">
            <a:noAutofit/>
          </a:bodyPr>
          <a:lstStyle/>
          <a:p>
            <a:pPr marL="0" indent="0">
              <a:buNone/>
            </a:pPr>
            <a:r>
              <a:rPr lang="en-US" sz="1100" b="1" dirty="0">
                <a:solidFill>
                  <a:srgbClr val="1F2A44"/>
                </a:solidFill>
              </a:rPr>
              <a:t>Seed 0: test error drops from 25.1% at n=6 to 9.9% at n=20 and 6.</a:t>
            </a:r>
            <a:r>
              <a:rPr lang="tr-TR" sz="1100" b="1" dirty="0">
                <a:solidFill>
                  <a:srgbClr val="1F2A44"/>
                </a:solidFill>
              </a:rPr>
              <a:t>0</a:t>
            </a:r>
            <a:r>
              <a:rPr lang="en-US" sz="1100" b="1" dirty="0">
                <a:solidFill>
                  <a:srgbClr val="1F2A44"/>
                </a:solidFill>
              </a:rPr>
              <a:t>2% at n=50. Black = GP boundary μ=0; yellow dashed = exact boundary.</a:t>
            </a:r>
            <a:endParaRPr lang="en-US" sz="1100" dirty="0"/>
          </a:p>
        </p:txBody>
      </p:sp>
      <p:sp>
        <p:nvSpPr>
          <p:cNvPr id="8" name="Shape 5"/>
          <p:cNvSpPr/>
          <p:nvPr/>
        </p:nvSpPr>
        <p:spPr>
          <a:xfrm>
            <a:off x="502920" y="6446520"/>
            <a:ext cx="11201400" cy="0"/>
          </a:xfrm>
          <a:prstGeom prst="line">
            <a:avLst/>
          </a:prstGeom>
          <a:noFill/>
          <a:ln w="8890">
            <a:solidFill>
              <a:srgbClr val="D9DEE8"/>
            </a:solidFill>
            <a:prstDash val="solid"/>
          </a:ln>
        </p:spPr>
        <p:txBody>
          <a:bodyPr/>
          <a:lstStyle/>
          <a:p>
            <a:endParaRPr lang="en-US"/>
          </a:p>
        </p:txBody>
      </p:sp>
      <p:sp>
        <p:nvSpPr>
          <p:cNvPr id="9" name="Text 6"/>
          <p:cNvSpPr/>
          <p:nvPr/>
        </p:nvSpPr>
        <p:spPr>
          <a:xfrm>
            <a:off x="502920" y="6519672"/>
            <a:ext cx="8961120" cy="164592"/>
          </a:xfrm>
          <a:prstGeom prst="rect">
            <a:avLst/>
          </a:prstGeom>
          <a:noFill/>
          <a:ln/>
        </p:spPr>
        <p:txBody>
          <a:bodyPr wrap="square" lIns="0" tIns="0" rIns="0" bIns="0" rtlCol="0" anchor="ctr"/>
          <a:lstStyle/>
          <a:p>
            <a:pPr marL="0" indent="0">
              <a:buNone/>
            </a:pPr>
            <a:r>
              <a:rPr lang="en-US" sz="780" dirty="0">
                <a:solidFill>
                  <a:srgbClr val="6B7280"/>
                </a:solidFill>
                <a:latin typeface="Aptos" pitchFamily="34" charset="0"/>
                <a:ea typeface="Aptos" pitchFamily="34" charset="-122"/>
                <a:cs typeface="Aptos" pitchFamily="34" charset="-120"/>
              </a:rPr>
              <a:t>Week 2 progress • Sample-Efficient Active Level-Set Estimation • 8</a:t>
            </a:r>
            <a:endParaRPr lang="en-US" sz="780" dirty="0"/>
          </a:p>
        </p:txBody>
      </p:sp>
      <p:sp>
        <p:nvSpPr>
          <p:cNvPr id="10" name="Text 7"/>
          <p:cNvSpPr/>
          <p:nvPr/>
        </p:nvSpPr>
        <p:spPr>
          <a:xfrm>
            <a:off x="11521440" y="6492240"/>
            <a:ext cx="228600" cy="164592"/>
          </a:xfrm>
          <a:prstGeom prst="rect">
            <a:avLst/>
          </a:prstGeom>
          <a:noFill/>
          <a:ln/>
        </p:spPr>
        <p:txBody>
          <a:bodyPr wrap="square" lIns="0" tIns="0" rIns="0" bIns="0" rtlCol="0" anchor="ctr"/>
          <a:lstStyle/>
          <a:p>
            <a:pPr marL="0" indent="0" algn="r">
              <a:buNone/>
            </a:pPr>
            <a:r>
              <a:rPr lang="en-US" sz="780" dirty="0">
                <a:solidFill>
                  <a:srgbClr val="6B7280"/>
                </a:solidFill>
              </a:rPr>
              <a:t>8</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789920" cy="320040"/>
          </a:xfrm>
          <a:prstGeom prst="rect">
            <a:avLst/>
          </a:prstGeom>
          <a:noFill/>
          <a:ln/>
        </p:spPr>
        <p:txBody>
          <a:bodyPr wrap="square" lIns="0" tIns="0" rIns="0" bIns="0" rtlCol="0" anchor="ctr"/>
          <a:lstStyle/>
          <a:p>
            <a:pPr marL="0" indent="0">
              <a:buNone/>
            </a:pPr>
            <a:r>
              <a:rPr lang="en-US" sz="2200" b="1" dirty="0">
                <a:solidFill>
                  <a:srgbClr val="1F2A44"/>
                </a:solidFill>
                <a:latin typeface="Aptos Display" pitchFamily="34" charset="0"/>
                <a:ea typeface="Aptos Display" pitchFamily="34" charset="-122"/>
                <a:cs typeface="Aptos Display" pitchFamily="34" charset="-120"/>
              </a:rPr>
              <a:t>Close competitor: straddle</a:t>
            </a:r>
            <a:endParaRPr lang="en-US" sz="2200" dirty="0"/>
          </a:p>
        </p:txBody>
      </p:sp>
      <p:sp>
        <p:nvSpPr>
          <p:cNvPr id="3" name="Text 1"/>
          <p:cNvSpPr/>
          <p:nvPr/>
        </p:nvSpPr>
        <p:spPr>
          <a:xfrm>
            <a:off x="521208" y="713232"/>
            <a:ext cx="10515600" cy="237744"/>
          </a:xfrm>
          <a:prstGeom prst="rect">
            <a:avLst/>
          </a:prstGeom>
          <a:noFill/>
          <a:ln/>
        </p:spPr>
        <p:txBody>
          <a:bodyPr wrap="square" lIns="0" tIns="0" rIns="0" bIns="0" rtlCol="0" anchor="ctr"/>
          <a:lstStyle/>
          <a:p>
            <a:pPr marL="0" indent="0">
              <a:buNone/>
            </a:pPr>
            <a:r>
              <a:rPr lang="en-US" sz="1100" dirty="0">
                <a:solidFill>
                  <a:srgbClr val="4B5563"/>
                </a:solidFill>
              </a:rPr>
              <a:t>Straddle is almost tied with randomized straddle, so the ranking should be treated cautiously.</a:t>
            </a:r>
            <a:endParaRPr lang="en-US" sz="1100" dirty="0"/>
          </a:p>
        </p:txBody>
      </p:sp>
      <p:sp>
        <p:nvSpPr>
          <p:cNvPr id="4" name="Shape 2"/>
          <p:cNvSpPr/>
          <p:nvPr/>
        </p:nvSpPr>
        <p:spPr>
          <a:xfrm>
            <a:off x="411480" y="1024128"/>
            <a:ext cx="11384280" cy="4251960"/>
          </a:xfrm>
          <a:prstGeom prst="roundRect">
            <a:avLst>
              <a:gd name="adj" fmla="val 1935"/>
            </a:avLst>
          </a:prstGeom>
          <a:solidFill>
            <a:srgbClr val="FFFFFF"/>
          </a:solidFill>
          <a:ln w="10160">
            <a:solidFill>
              <a:srgbClr val="D9DEE8"/>
            </a:solidFill>
            <a:prstDash val="solid"/>
          </a:ln>
        </p:spPr>
        <p:txBody>
          <a:bodyPr/>
          <a:lstStyle/>
          <a:p>
            <a:endParaRPr lang="en-US"/>
          </a:p>
        </p:txBody>
      </p:sp>
      <p:pic>
        <p:nvPicPr>
          <p:cNvPr id="5" name="Image 0" descr="/mnt/data/snapshots_straddle_seed0(1).png"/>
          <p:cNvPicPr>
            <a:picLocks noChangeAspect="1"/>
          </p:cNvPicPr>
          <p:nvPr/>
        </p:nvPicPr>
        <p:blipFill>
          <a:blip r:embed="rId3"/>
          <a:stretch>
            <a:fillRect/>
          </a:stretch>
        </p:blipFill>
        <p:spPr>
          <a:xfrm>
            <a:off x="411480" y="1082260"/>
            <a:ext cx="11384280" cy="4135695"/>
          </a:xfrm>
          <a:prstGeom prst="rect">
            <a:avLst/>
          </a:prstGeom>
        </p:spPr>
      </p:pic>
      <p:sp>
        <p:nvSpPr>
          <p:cNvPr id="6" name="Shape 3"/>
          <p:cNvSpPr/>
          <p:nvPr/>
        </p:nvSpPr>
        <p:spPr>
          <a:xfrm>
            <a:off x="548640" y="5513832"/>
            <a:ext cx="11064240" cy="566928"/>
          </a:xfrm>
          <a:prstGeom prst="roundRect">
            <a:avLst>
              <a:gd name="adj" fmla="val 14516"/>
            </a:avLst>
          </a:prstGeom>
          <a:solidFill>
            <a:srgbClr val="ECFDF5"/>
          </a:solidFill>
          <a:ln w="10160">
            <a:solidFill>
              <a:srgbClr val="BBF7D0"/>
            </a:solidFill>
            <a:prstDash val="solid"/>
          </a:ln>
        </p:spPr>
        <p:txBody>
          <a:bodyPr/>
          <a:lstStyle/>
          <a:p>
            <a:endParaRPr lang="en-US"/>
          </a:p>
        </p:txBody>
      </p:sp>
      <p:sp>
        <p:nvSpPr>
          <p:cNvPr id="7" name="Text 4"/>
          <p:cNvSpPr/>
          <p:nvPr/>
        </p:nvSpPr>
        <p:spPr>
          <a:xfrm>
            <a:off x="804672" y="5696712"/>
            <a:ext cx="10469880" cy="146304"/>
          </a:xfrm>
          <a:prstGeom prst="rect">
            <a:avLst/>
          </a:prstGeom>
          <a:noFill/>
          <a:ln/>
        </p:spPr>
        <p:txBody>
          <a:bodyPr wrap="square" lIns="0" tIns="0" rIns="0" bIns="0" rtlCol="0" anchor="ctr">
            <a:noAutofit/>
          </a:bodyPr>
          <a:lstStyle/>
          <a:p>
            <a:pPr marL="0" indent="0">
              <a:buNone/>
            </a:pPr>
            <a:r>
              <a:rPr lang="en-US" sz="1100" b="1" dirty="0">
                <a:solidFill>
                  <a:srgbClr val="1F2A44"/>
                </a:solidFill>
              </a:rPr>
              <a:t>Straddle reaches 6.20% mean final error versus 6.02% for randomized straddle. The safe conclusion is not a final ranking, but that boundary- and uncertainty-aware rules outperform random.</a:t>
            </a:r>
            <a:endParaRPr lang="en-US" sz="1100" dirty="0"/>
          </a:p>
        </p:txBody>
      </p:sp>
      <p:sp>
        <p:nvSpPr>
          <p:cNvPr id="8" name="Shape 5"/>
          <p:cNvSpPr/>
          <p:nvPr/>
        </p:nvSpPr>
        <p:spPr>
          <a:xfrm>
            <a:off x="502920" y="6446520"/>
            <a:ext cx="11201400" cy="0"/>
          </a:xfrm>
          <a:prstGeom prst="line">
            <a:avLst/>
          </a:prstGeom>
          <a:noFill/>
          <a:ln w="8890">
            <a:solidFill>
              <a:srgbClr val="D9DEE8"/>
            </a:solidFill>
            <a:prstDash val="solid"/>
          </a:ln>
        </p:spPr>
        <p:txBody>
          <a:bodyPr/>
          <a:lstStyle/>
          <a:p>
            <a:endParaRPr lang="en-US"/>
          </a:p>
        </p:txBody>
      </p:sp>
      <p:sp>
        <p:nvSpPr>
          <p:cNvPr id="9" name="Text 6"/>
          <p:cNvSpPr/>
          <p:nvPr/>
        </p:nvSpPr>
        <p:spPr>
          <a:xfrm>
            <a:off x="502920" y="6519672"/>
            <a:ext cx="8961120" cy="164592"/>
          </a:xfrm>
          <a:prstGeom prst="rect">
            <a:avLst/>
          </a:prstGeom>
          <a:noFill/>
          <a:ln/>
        </p:spPr>
        <p:txBody>
          <a:bodyPr wrap="square" lIns="0" tIns="0" rIns="0" bIns="0" rtlCol="0" anchor="ctr"/>
          <a:lstStyle/>
          <a:p>
            <a:pPr marL="0" indent="0">
              <a:buNone/>
            </a:pPr>
            <a:r>
              <a:rPr lang="en-US" sz="780" dirty="0">
                <a:solidFill>
                  <a:srgbClr val="6B7280"/>
                </a:solidFill>
                <a:latin typeface="Aptos" pitchFamily="34" charset="0"/>
                <a:ea typeface="Aptos" pitchFamily="34" charset="-122"/>
                <a:cs typeface="Aptos" pitchFamily="34" charset="-120"/>
              </a:rPr>
              <a:t>Week 2 progress • Sample-Efficient Active Level-Set Estimation • 9</a:t>
            </a:r>
            <a:endParaRPr lang="en-US" sz="780" dirty="0"/>
          </a:p>
        </p:txBody>
      </p:sp>
      <p:sp>
        <p:nvSpPr>
          <p:cNvPr id="10" name="Text 7"/>
          <p:cNvSpPr/>
          <p:nvPr/>
        </p:nvSpPr>
        <p:spPr>
          <a:xfrm>
            <a:off x="11521440" y="6492240"/>
            <a:ext cx="228600" cy="164592"/>
          </a:xfrm>
          <a:prstGeom prst="rect">
            <a:avLst/>
          </a:prstGeom>
          <a:noFill/>
          <a:ln/>
        </p:spPr>
        <p:txBody>
          <a:bodyPr wrap="square" lIns="0" tIns="0" rIns="0" bIns="0" rtlCol="0" anchor="ctr"/>
          <a:lstStyle/>
          <a:p>
            <a:pPr marL="0" indent="0" algn="r">
              <a:buNone/>
            </a:pPr>
            <a:r>
              <a:rPr lang="en-US" sz="780" dirty="0">
                <a:solidFill>
                  <a:srgbClr val="6B7280"/>
                </a:solidFill>
              </a:rPr>
              <a:t>9</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789920" cy="320040"/>
          </a:xfrm>
          <a:prstGeom prst="rect">
            <a:avLst/>
          </a:prstGeom>
          <a:noFill/>
          <a:ln/>
        </p:spPr>
        <p:txBody>
          <a:bodyPr wrap="square" lIns="0" tIns="0" rIns="0" bIns="0" rtlCol="0" anchor="ctr"/>
          <a:lstStyle/>
          <a:p>
            <a:pPr marL="0" indent="0">
              <a:buNone/>
            </a:pPr>
            <a:r>
              <a:rPr lang="en-US" sz="2200" b="1" dirty="0">
                <a:solidFill>
                  <a:srgbClr val="1F2A44"/>
                </a:solidFill>
                <a:latin typeface="Aptos Display" pitchFamily="34" charset="0"/>
                <a:ea typeface="Aptos Display" pitchFamily="34" charset="-122"/>
                <a:cs typeface="Aptos Display" pitchFamily="34" charset="-120"/>
              </a:rPr>
              <a:t>Week 2 status and discussion points</a:t>
            </a:r>
            <a:endParaRPr lang="en-US" sz="2200" dirty="0"/>
          </a:p>
        </p:txBody>
      </p:sp>
      <p:sp>
        <p:nvSpPr>
          <p:cNvPr id="3" name="Text 1"/>
          <p:cNvSpPr/>
          <p:nvPr/>
        </p:nvSpPr>
        <p:spPr>
          <a:xfrm>
            <a:off x="521208" y="713232"/>
            <a:ext cx="10515600" cy="237744"/>
          </a:xfrm>
          <a:prstGeom prst="rect">
            <a:avLst/>
          </a:prstGeom>
          <a:noFill/>
          <a:ln/>
        </p:spPr>
        <p:txBody>
          <a:bodyPr wrap="square" lIns="0" tIns="0" rIns="0" bIns="0" rtlCol="0" anchor="ctr"/>
          <a:lstStyle/>
          <a:p>
            <a:pPr marL="0" indent="0">
              <a:buNone/>
            </a:pPr>
            <a:r>
              <a:rPr lang="en-US" sz="1100" dirty="0">
                <a:solidFill>
                  <a:srgbClr val="4B5563"/>
                </a:solidFill>
              </a:rPr>
              <a:t>The acquisition comparison is complete as a first Branin benchmark; next we should decide how to strengthen it.</a:t>
            </a:r>
            <a:endParaRPr lang="en-US" sz="1100" dirty="0"/>
          </a:p>
        </p:txBody>
      </p:sp>
      <p:sp>
        <p:nvSpPr>
          <p:cNvPr id="4" name="Shape 2"/>
          <p:cNvSpPr/>
          <p:nvPr/>
        </p:nvSpPr>
        <p:spPr>
          <a:xfrm>
            <a:off x="914400" y="1417320"/>
            <a:ext cx="5394960" cy="4297680"/>
          </a:xfrm>
          <a:prstGeom prst="roundRect">
            <a:avLst>
              <a:gd name="adj" fmla="val 1915"/>
            </a:avLst>
          </a:prstGeom>
          <a:solidFill>
            <a:srgbClr val="FFFFFF"/>
          </a:solidFill>
          <a:ln w="10160">
            <a:solidFill>
              <a:srgbClr val="D9DEE8"/>
            </a:solidFill>
            <a:prstDash val="solid"/>
          </a:ln>
          <a:effectLst>
            <a:outerShdw blurRad="15240" dist="50800" dir="2700000" algn="bl" rotWithShape="0">
              <a:srgbClr val="000000">
                <a:alpha val="8000"/>
              </a:srgbClr>
            </a:outerShdw>
          </a:effectLst>
        </p:spPr>
        <p:txBody>
          <a:bodyPr/>
          <a:lstStyle/>
          <a:p>
            <a:endParaRPr lang="en-US"/>
          </a:p>
        </p:txBody>
      </p:sp>
      <p:sp>
        <p:nvSpPr>
          <p:cNvPr id="5" name="Text 3"/>
          <p:cNvSpPr/>
          <p:nvPr/>
        </p:nvSpPr>
        <p:spPr>
          <a:xfrm>
            <a:off x="1188720" y="1691640"/>
            <a:ext cx="1371600" cy="164592"/>
          </a:xfrm>
          <a:prstGeom prst="rect">
            <a:avLst/>
          </a:prstGeom>
          <a:noFill/>
          <a:ln/>
        </p:spPr>
        <p:txBody>
          <a:bodyPr wrap="square" lIns="0" tIns="0" rIns="0" bIns="0" rtlCol="0" anchor="ctr"/>
          <a:lstStyle/>
          <a:p>
            <a:pPr marL="0" indent="0">
              <a:buNone/>
            </a:pPr>
            <a:r>
              <a:rPr lang="en-US" sz="1400" b="1" dirty="0">
                <a:solidFill>
                  <a:srgbClr val="1F2A44"/>
                </a:solidFill>
              </a:rPr>
              <a:t>Completed</a:t>
            </a:r>
            <a:endParaRPr lang="en-US" sz="1400" dirty="0"/>
          </a:p>
        </p:txBody>
      </p:sp>
      <p:sp>
        <p:nvSpPr>
          <p:cNvPr id="6" name="Text 4"/>
          <p:cNvSpPr/>
          <p:nvPr/>
        </p:nvSpPr>
        <p:spPr>
          <a:xfrm>
            <a:off x="1188720" y="2148840"/>
            <a:ext cx="164592" cy="146304"/>
          </a:xfrm>
          <a:prstGeom prst="rect">
            <a:avLst/>
          </a:prstGeom>
          <a:noFill/>
          <a:ln/>
        </p:spPr>
        <p:txBody>
          <a:bodyPr wrap="square" lIns="0" tIns="0" rIns="0" bIns="0" rtlCol="0" anchor="ctr"/>
          <a:lstStyle/>
          <a:p>
            <a:pPr marL="0" indent="0">
              <a:buNone/>
            </a:pPr>
            <a:r>
              <a:rPr lang="en-US" sz="1000" b="1" dirty="0">
                <a:solidFill>
                  <a:srgbClr val="16A34A"/>
                </a:solidFill>
              </a:rPr>
              <a:t>✓</a:t>
            </a:r>
            <a:endParaRPr lang="en-US" sz="1000" dirty="0"/>
          </a:p>
        </p:txBody>
      </p:sp>
      <p:sp>
        <p:nvSpPr>
          <p:cNvPr id="7" name="Text 5"/>
          <p:cNvSpPr/>
          <p:nvPr/>
        </p:nvSpPr>
        <p:spPr>
          <a:xfrm>
            <a:off x="1417320" y="2153412"/>
            <a:ext cx="4480560" cy="164592"/>
          </a:xfrm>
          <a:prstGeom prst="rect">
            <a:avLst/>
          </a:prstGeom>
          <a:noFill/>
          <a:ln/>
        </p:spPr>
        <p:txBody>
          <a:bodyPr wrap="square" lIns="0" tIns="0" rIns="0" bIns="0" rtlCol="0" anchor="ctr">
            <a:noAutofit/>
          </a:bodyPr>
          <a:lstStyle/>
          <a:p>
            <a:pPr marL="0" indent="0">
              <a:buNone/>
            </a:pPr>
            <a:r>
              <a:rPr lang="en-US" sz="1200" dirty="0">
                <a:solidFill>
                  <a:srgbClr val="111827"/>
                </a:solidFill>
              </a:rPr>
              <a:t>Fixed-loop Branin comparison implemented</a:t>
            </a:r>
            <a:endParaRPr lang="en-US" sz="1200" dirty="0"/>
          </a:p>
        </p:txBody>
      </p:sp>
      <p:sp>
        <p:nvSpPr>
          <p:cNvPr id="8" name="Text 6"/>
          <p:cNvSpPr/>
          <p:nvPr/>
        </p:nvSpPr>
        <p:spPr>
          <a:xfrm>
            <a:off x="1188720" y="2514600"/>
            <a:ext cx="164592" cy="146304"/>
          </a:xfrm>
          <a:prstGeom prst="rect">
            <a:avLst/>
          </a:prstGeom>
          <a:noFill/>
          <a:ln/>
        </p:spPr>
        <p:txBody>
          <a:bodyPr wrap="square" lIns="0" tIns="0" rIns="0" bIns="0" rtlCol="0" anchor="ctr"/>
          <a:lstStyle/>
          <a:p>
            <a:pPr marL="0" indent="0">
              <a:buNone/>
            </a:pPr>
            <a:r>
              <a:rPr lang="en-US" sz="1000" b="1" dirty="0">
                <a:solidFill>
                  <a:srgbClr val="16A34A"/>
                </a:solidFill>
              </a:rPr>
              <a:t>✓</a:t>
            </a:r>
            <a:endParaRPr lang="en-US" sz="1000" dirty="0"/>
          </a:p>
        </p:txBody>
      </p:sp>
      <p:sp>
        <p:nvSpPr>
          <p:cNvPr id="9" name="Text 7"/>
          <p:cNvSpPr/>
          <p:nvPr/>
        </p:nvSpPr>
        <p:spPr>
          <a:xfrm>
            <a:off x="1417320" y="2519172"/>
            <a:ext cx="4480560" cy="164592"/>
          </a:xfrm>
          <a:prstGeom prst="rect">
            <a:avLst/>
          </a:prstGeom>
          <a:noFill/>
          <a:ln/>
        </p:spPr>
        <p:txBody>
          <a:bodyPr wrap="square" lIns="0" tIns="0" rIns="0" bIns="0" rtlCol="0" anchor="ctr">
            <a:noAutofit/>
          </a:bodyPr>
          <a:lstStyle/>
          <a:p>
            <a:pPr marL="0" indent="0">
              <a:buNone/>
            </a:pPr>
            <a:r>
              <a:rPr lang="en-US" sz="1200" dirty="0">
                <a:solidFill>
                  <a:srgbClr val="111827"/>
                </a:solidFill>
              </a:rPr>
              <a:t>Five acquisition rules evaluated</a:t>
            </a:r>
            <a:endParaRPr lang="en-US" sz="1200" dirty="0"/>
          </a:p>
        </p:txBody>
      </p:sp>
      <p:sp>
        <p:nvSpPr>
          <p:cNvPr id="10" name="Text 8"/>
          <p:cNvSpPr/>
          <p:nvPr/>
        </p:nvSpPr>
        <p:spPr>
          <a:xfrm>
            <a:off x="1188720" y="2880360"/>
            <a:ext cx="164592" cy="146304"/>
          </a:xfrm>
          <a:prstGeom prst="rect">
            <a:avLst/>
          </a:prstGeom>
          <a:noFill/>
          <a:ln/>
        </p:spPr>
        <p:txBody>
          <a:bodyPr wrap="square" lIns="0" tIns="0" rIns="0" bIns="0" rtlCol="0" anchor="ctr"/>
          <a:lstStyle/>
          <a:p>
            <a:pPr marL="0" indent="0">
              <a:buNone/>
            </a:pPr>
            <a:r>
              <a:rPr lang="en-US" sz="1000" b="1" dirty="0">
                <a:solidFill>
                  <a:srgbClr val="16A34A"/>
                </a:solidFill>
              </a:rPr>
              <a:t>✓</a:t>
            </a:r>
            <a:endParaRPr lang="en-US" sz="1000" dirty="0"/>
          </a:p>
        </p:txBody>
      </p:sp>
      <p:sp>
        <p:nvSpPr>
          <p:cNvPr id="11" name="Text 9"/>
          <p:cNvSpPr/>
          <p:nvPr/>
        </p:nvSpPr>
        <p:spPr>
          <a:xfrm>
            <a:off x="1417320" y="2884932"/>
            <a:ext cx="4480560" cy="164592"/>
          </a:xfrm>
          <a:prstGeom prst="rect">
            <a:avLst/>
          </a:prstGeom>
          <a:noFill/>
          <a:ln/>
        </p:spPr>
        <p:txBody>
          <a:bodyPr wrap="square" lIns="0" tIns="0" rIns="0" bIns="0" rtlCol="0" anchor="ctr">
            <a:noAutofit/>
          </a:bodyPr>
          <a:lstStyle/>
          <a:p>
            <a:pPr marL="0" indent="0">
              <a:buNone/>
            </a:pPr>
            <a:r>
              <a:rPr lang="en-US" sz="1200" dirty="0">
                <a:solidFill>
                  <a:srgbClr val="111827"/>
                </a:solidFill>
              </a:rPr>
              <a:t>Five-seed mean and spread generated</a:t>
            </a:r>
            <a:endParaRPr lang="en-US" sz="1200" dirty="0"/>
          </a:p>
        </p:txBody>
      </p:sp>
      <p:sp>
        <p:nvSpPr>
          <p:cNvPr id="12" name="Text 10"/>
          <p:cNvSpPr/>
          <p:nvPr/>
        </p:nvSpPr>
        <p:spPr>
          <a:xfrm>
            <a:off x="1188720" y="3246120"/>
            <a:ext cx="164592" cy="146304"/>
          </a:xfrm>
          <a:prstGeom prst="rect">
            <a:avLst/>
          </a:prstGeom>
          <a:noFill/>
          <a:ln/>
        </p:spPr>
        <p:txBody>
          <a:bodyPr wrap="square" lIns="0" tIns="0" rIns="0" bIns="0" rtlCol="0" anchor="ctr"/>
          <a:lstStyle/>
          <a:p>
            <a:pPr marL="0" indent="0">
              <a:buNone/>
            </a:pPr>
            <a:r>
              <a:rPr lang="en-US" sz="1000" b="1" dirty="0">
                <a:solidFill>
                  <a:srgbClr val="16A34A"/>
                </a:solidFill>
              </a:rPr>
              <a:t>✓</a:t>
            </a:r>
            <a:endParaRPr lang="en-US" sz="1000" dirty="0"/>
          </a:p>
        </p:txBody>
      </p:sp>
      <p:sp>
        <p:nvSpPr>
          <p:cNvPr id="13" name="Text 11"/>
          <p:cNvSpPr/>
          <p:nvPr/>
        </p:nvSpPr>
        <p:spPr>
          <a:xfrm>
            <a:off x="1417320" y="3250692"/>
            <a:ext cx="4480560" cy="164592"/>
          </a:xfrm>
          <a:prstGeom prst="rect">
            <a:avLst/>
          </a:prstGeom>
          <a:noFill/>
          <a:ln/>
        </p:spPr>
        <p:txBody>
          <a:bodyPr wrap="square" lIns="0" tIns="0" rIns="0" bIns="0" rtlCol="0" anchor="ctr">
            <a:noAutofit/>
          </a:bodyPr>
          <a:lstStyle/>
          <a:p>
            <a:pPr marL="0" indent="0">
              <a:buNone/>
            </a:pPr>
            <a:r>
              <a:rPr lang="en-US" sz="1200" dirty="0">
                <a:solidFill>
                  <a:srgbClr val="111827"/>
                </a:solidFill>
              </a:rPr>
              <a:t>Fairness checks true for all seeds</a:t>
            </a:r>
            <a:endParaRPr lang="en-US" sz="1200" dirty="0"/>
          </a:p>
        </p:txBody>
      </p:sp>
      <p:sp>
        <p:nvSpPr>
          <p:cNvPr id="14" name="Text 12"/>
          <p:cNvSpPr/>
          <p:nvPr/>
        </p:nvSpPr>
        <p:spPr>
          <a:xfrm>
            <a:off x="1188720" y="3611880"/>
            <a:ext cx="164592" cy="146304"/>
          </a:xfrm>
          <a:prstGeom prst="rect">
            <a:avLst/>
          </a:prstGeom>
          <a:noFill/>
          <a:ln/>
        </p:spPr>
        <p:txBody>
          <a:bodyPr wrap="square" lIns="0" tIns="0" rIns="0" bIns="0" rtlCol="0" anchor="ctr"/>
          <a:lstStyle/>
          <a:p>
            <a:pPr marL="0" indent="0">
              <a:buNone/>
            </a:pPr>
            <a:r>
              <a:rPr lang="en-US" sz="1000" b="1" dirty="0">
                <a:solidFill>
                  <a:srgbClr val="16A34A"/>
                </a:solidFill>
              </a:rPr>
              <a:t>✓</a:t>
            </a:r>
            <a:endParaRPr lang="en-US" sz="1000" dirty="0"/>
          </a:p>
        </p:txBody>
      </p:sp>
      <p:sp>
        <p:nvSpPr>
          <p:cNvPr id="15" name="Text 13"/>
          <p:cNvSpPr/>
          <p:nvPr/>
        </p:nvSpPr>
        <p:spPr>
          <a:xfrm>
            <a:off x="1417320" y="3616452"/>
            <a:ext cx="4480560" cy="164592"/>
          </a:xfrm>
          <a:prstGeom prst="rect">
            <a:avLst/>
          </a:prstGeom>
          <a:noFill/>
          <a:ln/>
        </p:spPr>
        <p:txBody>
          <a:bodyPr wrap="square" lIns="0" tIns="0" rIns="0" bIns="0" rtlCol="0" anchor="ctr">
            <a:noAutofit/>
          </a:bodyPr>
          <a:lstStyle/>
          <a:p>
            <a:pPr marL="0" indent="0">
              <a:buNone/>
            </a:pPr>
            <a:r>
              <a:rPr lang="en-US" sz="1200" dirty="0">
                <a:solidFill>
                  <a:srgbClr val="111827"/>
                </a:solidFill>
              </a:rPr>
              <a:t>Error curves, final ranking and query plots saved</a:t>
            </a:r>
            <a:endParaRPr lang="en-US" sz="1200" dirty="0"/>
          </a:p>
        </p:txBody>
      </p:sp>
      <p:sp>
        <p:nvSpPr>
          <p:cNvPr id="16" name="Text 14"/>
          <p:cNvSpPr/>
          <p:nvPr/>
        </p:nvSpPr>
        <p:spPr>
          <a:xfrm>
            <a:off x="1188720" y="3977640"/>
            <a:ext cx="164592" cy="146304"/>
          </a:xfrm>
          <a:prstGeom prst="rect">
            <a:avLst/>
          </a:prstGeom>
          <a:noFill/>
          <a:ln/>
        </p:spPr>
        <p:txBody>
          <a:bodyPr wrap="square" lIns="0" tIns="0" rIns="0" bIns="0" rtlCol="0" anchor="ctr"/>
          <a:lstStyle/>
          <a:p>
            <a:pPr marL="0" indent="0">
              <a:buNone/>
            </a:pPr>
            <a:r>
              <a:rPr lang="en-US" sz="1000" b="1" dirty="0">
                <a:solidFill>
                  <a:srgbClr val="16A34A"/>
                </a:solidFill>
              </a:rPr>
              <a:t>✓</a:t>
            </a:r>
            <a:endParaRPr lang="en-US" sz="1000" dirty="0"/>
          </a:p>
        </p:txBody>
      </p:sp>
      <p:sp>
        <p:nvSpPr>
          <p:cNvPr id="17" name="Text 15"/>
          <p:cNvSpPr/>
          <p:nvPr/>
        </p:nvSpPr>
        <p:spPr>
          <a:xfrm>
            <a:off x="1417320" y="3982212"/>
            <a:ext cx="4480560" cy="164592"/>
          </a:xfrm>
          <a:prstGeom prst="rect">
            <a:avLst/>
          </a:prstGeom>
          <a:noFill/>
          <a:ln/>
        </p:spPr>
        <p:txBody>
          <a:bodyPr wrap="square" lIns="0" tIns="0" rIns="0" bIns="0" rtlCol="0" anchor="ctr">
            <a:noAutofit/>
          </a:bodyPr>
          <a:lstStyle/>
          <a:p>
            <a:pPr marL="0" indent="0">
              <a:buNone/>
            </a:pPr>
            <a:r>
              <a:rPr lang="en-US" sz="1200" dirty="0">
                <a:solidFill>
                  <a:srgbClr val="111827"/>
                </a:solidFill>
              </a:rPr>
              <a:t>Slide notes and CSV summaries available</a:t>
            </a:r>
            <a:endParaRPr lang="en-US" sz="1200" dirty="0"/>
          </a:p>
        </p:txBody>
      </p:sp>
      <p:sp>
        <p:nvSpPr>
          <p:cNvPr id="32" name="Shape 30"/>
          <p:cNvSpPr/>
          <p:nvPr/>
        </p:nvSpPr>
        <p:spPr>
          <a:xfrm>
            <a:off x="502920" y="6446520"/>
            <a:ext cx="11201400" cy="0"/>
          </a:xfrm>
          <a:prstGeom prst="line">
            <a:avLst/>
          </a:prstGeom>
          <a:noFill/>
          <a:ln w="8890">
            <a:solidFill>
              <a:srgbClr val="D9DEE8"/>
            </a:solidFill>
            <a:prstDash val="solid"/>
          </a:ln>
        </p:spPr>
        <p:txBody>
          <a:bodyPr/>
          <a:lstStyle/>
          <a:p>
            <a:endParaRPr lang="en-US"/>
          </a:p>
        </p:txBody>
      </p:sp>
      <p:sp>
        <p:nvSpPr>
          <p:cNvPr id="33" name="Text 31"/>
          <p:cNvSpPr/>
          <p:nvPr/>
        </p:nvSpPr>
        <p:spPr>
          <a:xfrm>
            <a:off x="502920" y="6519672"/>
            <a:ext cx="8961120" cy="164592"/>
          </a:xfrm>
          <a:prstGeom prst="rect">
            <a:avLst/>
          </a:prstGeom>
          <a:noFill/>
          <a:ln/>
        </p:spPr>
        <p:txBody>
          <a:bodyPr wrap="square" lIns="0" tIns="0" rIns="0" bIns="0" rtlCol="0" anchor="ctr"/>
          <a:lstStyle/>
          <a:p>
            <a:pPr marL="0" indent="0">
              <a:buNone/>
            </a:pPr>
            <a:r>
              <a:rPr lang="en-US" sz="780" dirty="0">
                <a:solidFill>
                  <a:srgbClr val="6B7280"/>
                </a:solidFill>
                <a:latin typeface="Aptos" pitchFamily="34" charset="0"/>
                <a:ea typeface="Aptos" pitchFamily="34" charset="-122"/>
                <a:cs typeface="Aptos" pitchFamily="34" charset="-120"/>
              </a:rPr>
              <a:t>Week 2 progress • Sample-Efficient Active Level-Set Estimation • 10</a:t>
            </a:r>
            <a:endParaRPr lang="en-US" sz="780" dirty="0"/>
          </a:p>
        </p:txBody>
      </p:sp>
      <p:sp>
        <p:nvSpPr>
          <p:cNvPr id="34" name="Text 32"/>
          <p:cNvSpPr/>
          <p:nvPr/>
        </p:nvSpPr>
        <p:spPr>
          <a:xfrm>
            <a:off x="11521440" y="6492240"/>
            <a:ext cx="228600" cy="164592"/>
          </a:xfrm>
          <a:prstGeom prst="rect">
            <a:avLst/>
          </a:prstGeom>
          <a:noFill/>
          <a:ln/>
        </p:spPr>
        <p:txBody>
          <a:bodyPr wrap="square" lIns="0" tIns="0" rIns="0" bIns="0" rtlCol="0" anchor="ctr"/>
          <a:lstStyle/>
          <a:p>
            <a:pPr marL="0" indent="0" algn="r">
              <a:buNone/>
            </a:pPr>
            <a:r>
              <a:rPr lang="en-US" sz="780" dirty="0">
                <a:solidFill>
                  <a:srgbClr val="6B7280"/>
                </a:solidFill>
              </a:rPr>
              <a:t>10</a:t>
            </a:r>
            <a:endParaRPr lang="en-US" sz="7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1667</Words>
  <Application>Microsoft Office PowerPoint</Application>
  <PresentationFormat>Widescreen</PresentationFormat>
  <Paragraphs>173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 Active Level-Set Estimation</dc:title>
  <dc:subject>Week 2 acquisition rule comparison</dc:subject>
  <dc:creator>Burak Öztürk</dc:creator>
  <cp:lastModifiedBy>Burak Öztürk</cp:lastModifiedBy>
  <cp:revision>2</cp:revision>
  <dcterms:created xsi:type="dcterms:W3CDTF">2026-06-23T20:08:41Z</dcterms:created>
  <dcterms:modified xsi:type="dcterms:W3CDTF">2026-06-23T20:30:58Z</dcterms:modified>
</cp:coreProperties>
</file>