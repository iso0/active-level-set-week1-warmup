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570F8C-1B0C-0FAA-0194-D8441CF20F55}" name="Burak Öztürk" initials="BÖ" userId="S::burak.oeztuerk@tum.de::3c4f8809-2513-401f-989e-a541da0a08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4718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This is the progress overview Ioan asked for. The message is simple: the Week 1 plumbing loop is running, the plots are collected in one place, and the Branin benchmark gives a numerical error curve against an exact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loop slowly: start with six labels, fit the simple GP regressor, score the unlabelled pool, reveal exactly one new label, then refit. Emphasize that this is the Week 1 stand-in, not the final GP classifier or final acquisition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as the visual sanity check. make_moons is not the final metric; it tells us whether the sequential loop produces sensible boundary contraction that we can inspect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numerical benchmark. Because Branin is known, the analytic boundary can be computed directly. That is why we can evaluate exact misclassification error on a held-out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out that the GP boundary is still imperfect locally. The success signal is not visual perfection; it is that the error drops and the model starts finding the relevant boundary geometry with only 50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main numeric result. Each point on the curve is the fraction of 4,000 independent test points classified incorrectly. The mean error falls from about 33.7 percent to about 6.1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the transition to Week 2: keep the loop fixed and compare selection rules. The deck is now useful as an ongoing progress log, matching Ioan's request for an overview with graphics.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3" name="Text 1"/>
          <p:cNvSpPr/>
          <p:nvPr/>
        </p:nvSpPr>
        <p:spPr>
          <a:xfrm>
            <a:off x="2888882" y="690108"/>
            <a:ext cx="6217920" cy="640080"/>
          </a:xfrm>
          <a:prstGeom prst="rect">
            <a:avLst/>
          </a:prstGeom>
          <a:noFill/>
          <a:ln/>
        </p:spPr>
        <p:txBody>
          <a:bodyPr wrap="square" lIns="0" tIns="0" rIns="0" bIns="0" rtlCol="0" anchor="ctr">
            <a:normAutofit/>
          </a:bodyPr>
          <a:lstStyle/>
          <a:p>
            <a:pPr marL="0" indent="0" algn="ctr">
              <a:buNone/>
            </a:pPr>
            <a:r>
              <a:rPr lang="en-US" sz="3800" b="1" dirty="0">
                <a:solidFill>
                  <a:srgbClr val="12385C"/>
                </a:solidFill>
                <a:latin typeface="Aptos Display" pitchFamily="34" charset="0"/>
                <a:ea typeface="Aptos Display" pitchFamily="34" charset="-122"/>
                <a:cs typeface="Aptos Display" pitchFamily="34" charset="-120"/>
              </a:rPr>
              <a:t>Week 1 Progress</a:t>
            </a:r>
            <a:endParaRPr lang="en-US" sz="3800" dirty="0"/>
          </a:p>
        </p:txBody>
      </p:sp>
      <p:sp>
        <p:nvSpPr>
          <p:cNvPr id="4" name="Text 2"/>
          <p:cNvSpPr/>
          <p:nvPr/>
        </p:nvSpPr>
        <p:spPr>
          <a:xfrm>
            <a:off x="2888882" y="1655826"/>
            <a:ext cx="6035040" cy="320040"/>
          </a:xfrm>
          <a:prstGeom prst="rect">
            <a:avLst/>
          </a:prstGeom>
          <a:noFill/>
          <a:ln/>
        </p:spPr>
        <p:txBody>
          <a:bodyPr wrap="square" lIns="0" tIns="0" rIns="0" bIns="0" rtlCol="0" anchor="ctr"/>
          <a:lstStyle/>
          <a:p>
            <a:pPr marL="0" indent="0" algn="ctr">
              <a:buNone/>
            </a:pPr>
            <a:r>
              <a:rPr lang="en-US" sz="1600" dirty="0">
                <a:solidFill>
                  <a:srgbClr val="5A6572"/>
                </a:solidFill>
              </a:rPr>
              <a:t>Sample-Efficient Active Level-Set Estimation, with an Application to Melt-Pool Regime Boundaries</a:t>
            </a:r>
            <a:endParaRPr lang="en-US" sz="1600" dirty="0"/>
          </a:p>
        </p:txBody>
      </p:sp>
      <p:sp>
        <p:nvSpPr>
          <p:cNvPr id="5" name="Text 3"/>
          <p:cNvSpPr/>
          <p:nvPr/>
        </p:nvSpPr>
        <p:spPr>
          <a:xfrm>
            <a:off x="1537996" y="2350516"/>
            <a:ext cx="9116008" cy="2084324"/>
          </a:xfrm>
          <a:prstGeom prst="rect">
            <a:avLst/>
          </a:prstGeom>
          <a:noFill/>
          <a:ln/>
        </p:spPr>
        <p:txBody>
          <a:bodyPr wrap="square" lIns="254" tIns="254" rIns="254" bIns="254" rtlCol="0" anchor="ctr">
            <a:normAutofit/>
          </a:bodyPr>
          <a:lstStyle/>
          <a:p>
            <a:pPr marL="0" indent="0" algn="ctr">
              <a:buNone/>
            </a:pPr>
            <a:r>
              <a:rPr lang="en-US" sz="1800" dirty="0">
                <a:solidFill>
                  <a:srgbClr val="1C2733"/>
                </a:solidFill>
              </a:rPr>
              <a:t>Goal: show the first working active-learning loop, first visually on </a:t>
            </a:r>
            <a:r>
              <a:rPr lang="en-US" sz="1800" dirty="0" err="1">
                <a:solidFill>
                  <a:srgbClr val="1C2733"/>
                </a:solidFill>
              </a:rPr>
              <a:t>make_moons</a:t>
            </a:r>
            <a:r>
              <a:rPr lang="en-US" sz="1800" dirty="0">
                <a:solidFill>
                  <a:srgbClr val="1C2733"/>
                </a:solidFill>
              </a:rPr>
              <a:t> and then numerically on </a:t>
            </a:r>
            <a:r>
              <a:rPr lang="en-US" sz="1800" dirty="0" err="1">
                <a:solidFill>
                  <a:srgbClr val="1C2733"/>
                </a:solidFill>
              </a:rPr>
              <a:t>thresholded</a:t>
            </a:r>
            <a:r>
              <a:rPr lang="en-US" sz="1800" dirty="0">
                <a:solidFill>
                  <a:srgbClr val="1C2733"/>
                </a:solidFill>
              </a:rPr>
              <a:t> Branin.</a:t>
            </a:r>
            <a:endParaRPr lang="tr-TR" sz="1800" dirty="0">
              <a:solidFill>
                <a:srgbClr val="1C2733"/>
              </a:solidFill>
            </a:endParaRPr>
          </a:p>
          <a:p>
            <a:pPr marL="0" indent="0" algn="ctr">
              <a:buNone/>
            </a:pPr>
            <a:endParaRPr lang="tr-TR" sz="1800" dirty="0">
              <a:solidFill>
                <a:srgbClr val="1C2733"/>
              </a:solidFill>
            </a:endParaRPr>
          </a:p>
          <a:p>
            <a:pPr algn="ctr"/>
            <a:r>
              <a:rPr lang="en-US" dirty="0"/>
              <a:t>The goal was not to develop the final acquisition method yet, but to get the sequential active-learning loop running on synthetic benchmarks and to verify that we can visualize and measure boundary recovery.</a:t>
            </a:r>
            <a:endParaRPr lang="en-US" sz="1800" dirty="0"/>
          </a:p>
        </p:txBody>
      </p:sp>
      <p:sp>
        <p:nvSpPr>
          <p:cNvPr id="6" name="Text 4"/>
          <p:cNvSpPr/>
          <p:nvPr/>
        </p:nvSpPr>
        <p:spPr>
          <a:xfrm>
            <a:off x="809151" y="4507484"/>
            <a:ext cx="2427825" cy="1262888"/>
          </a:xfrm>
          <a:prstGeom prst="rect">
            <a:avLst/>
          </a:prstGeom>
          <a:noFill/>
          <a:ln/>
        </p:spPr>
        <p:txBody>
          <a:bodyPr wrap="square" lIns="0" tIns="0" rIns="0" bIns="0" rtlCol="0" anchor="ctr">
            <a:normAutofit/>
          </a:bodyPr>
          <a:lstStyle/>
          <a:p>
            <a:pPr marL="0" indent="0" algn="ctr">
              <a:buNone/>
            </a:pPr>
            <a:r>
              <a:rPr lang="en-US" sz="3000" b="1" dirty="0">
                <a:solidFill>
                  <a:srgbClr val="2C6FA3"/>
                </a:solidFill>
                <a:latin typeface="Aptos Display" pitchFamily="34" charset="0"/>
                <a:ea typeface="Aptos Display" pitchFamily="34" charset="-122"/>
                <a:cs typeface="Aptos Display" pitchFamily="34" charset="-120"/>
              </a:rPr>
              <a:t>2</a:t>
            </a:r>
            <a:endParaRPr lang="en-US" sz="3000" dirty="0"/>
          </a:p>
        </p:txBody>
      </p:sp>
      <p:sp>
        <p:nvSpPr>
          <p:cNvPr id="7" name="Text 5"/>
          <p:cNvSpPr/>
          <p:nvPr/>
        </p:nvSpPr>
        <p:spPr>
          <a:xfrm>
            <a:off x="809151" y="5019548"/>
            <a:ext cx="2427825" cy="1033272"/>
          </a:xfrm>
          <a:prstGeom prst="rect">
            <a:avLst/>
          </a:prstGeom>
          <a:noFill/>
          <a:ln/>
        </p:spPr>
        <p:txBody>
          <a:bodyPr wrap="square" lIns="254" tIns="254" rIns="254" bIns="254" rtlCol="0" anchor="ctr">
            <a:normAutofit/>
          </a:bodyPr>
          <a:lstStyle/>
          <a:p>
            <a:pPr marL="0" indent="0" algn="ctr">
              <a:buNone/>
            </a:pPr>
            <a:r>
              <a:rPr lang="en-US" sz="1050" dirty="0">
                <a:solidFill>
                  <a:srgbClr val="5A6572"/>
                </a:solidFill>
                <a:latin typeface="Aptos" pitchFamily="34" charset="0"/>
                <a:ea typeface="Aptos" pitchFamily="34" charset="-122"/>
                <a:cs typeface="Aptos" pitchFamily="34" charset="-120"/>
              </a:rPr>
              <a:t>synthetic benchmarks</a:t>
            </a:r>
            <a:endParaRPr lang="en-US" sz="1050" dirty="0"/>
          </a:p>
          <a:p>
            <a:pPr marL="0" indent="0" algn="ctr">
              <a:buNone/>
            </a:pPr>
            <a:r>
              <a:rPr lang="en-US" sz="1050" dirty="0">
                <a:solidFill>
                  <a:srgbClr val="5A6572"/>
                </a:solidFill>
                <a:latin typeface="Aptos" pitchFamily="34" charset="0"/>
                <a:ea typeface="Aptos" pitchFamily="34" charset="-122"/>
                <a:cs typeface="Aptos" pitchFamily="34" charset="-120"/>
              </a:rPr>
              <a:t>make_moons + Branin</a:t>
            </a:r>
            <a:endParaRPr lang="en-US" sz="1050" dirty="0"/>
          </a:p>
        </p:txBody>
      </p:sp>
      <p:sp>
        <p:nvSpPr>
          <p:cNvPr id="8" name="Text 6"/>
          <p:cNvSpPr/>
          <p:nvPr/>
        </p:nvSpPr>
        <p:spPr>
          <a:xfrm>
            <a:off x="3063366" y="4507484"/>
            <a:ext cx="2258442" cy="1262888"/>
          </a:xfrm>
          <a:prstGeom prst="rect">
            <a:avLst/>
          </a:prstGeom>
          <a:noFill/>
          <a:ln/>
        </p:spPr>
        <p:txBody>
          <a:bodyPr wrap="square" lIns="0" tIns="0" rIns="0" bIns="0" rtlCol="0" anchor="ctr">
            <a:normAutofit/>
          </a:bodyPr>
          <a:lstStyle/>
          <a:p>
            <a:pPr marL="0" indent="0" algn="ctr">
              <a:buNone/>
            </a:pPr>
            <a:r>
              <a:rPr lang="en-US" sz="3000" b="1" dirty="0">
                <a:solidFill>
                  <a:srgbClr val="0C7C59"/>
                </a:solidFill>
                <a:latin typeface="Aptos Display" pitchFamily="34" charset="0"/>
                <a:ea typeface="Aptos Display" pitchFamily="34" charset="-122"/>
                <a:cs typeface="Aptos Display" pitchFamily="34" charset="-120"/>
              </a:rPr>
              <a:t>3</a:t>
            </a:r>
            <a:endParaRPr lang="en-US" sz="3000" dirty="0"/>
          </a:p>
        </p:txBody>
      </p:sp>
      <p:sp>
        <p:nvSpPr>
          <p:cNvPr id="9" name="Text 7"/>
          <p:cNvSpPr/>
          <p:nvPr/>
        </p:nvSpPr>
        <p:spPr>
          <a:xfrm>
            <a:off x="3063366" y="5019548"/>
            <a:ext cx="2258442" cy="1033272"/>
          </a:xfrm>
          <a:prstGeom prst="rect">
            <a:avLst/>
          </a:prstGeom>
          <a:noFill/>
          <a:ln/>
        </p:spPr>
        <p:txBody>
          <a:bodyPr wrap="square" lIns="254" tIns="254" rIns="254" bIns="254" rtlCol="0" anchor="ctr">
            <a:normAutofit/>
          </a:bodyPr>
          <a:lstStyle/>
          <a:p>
            <a:pPr marL="0" indent="0" algn="ctr">
              <a:buNone/>
            </a:pPr>
            <a:r>
              <a:rPr lang="en-US" sz="1050" dirty="0">
                <a:solidFill>
                  <a:srgbClr val="5A6572"/>
                </a:solidFill>
                <a:latin typeface="Aptos" pitchFamily="34" charset="0"/>
                <a:ea typeface="Aptos" pitchFamily="34" charset="-122"/>
                <a:cs typeface="Aptos" pitchFamily="34" charset="-120"/>
              </a:rPr>
              <a:t>seeds checked</a:t>
            </a:r>
            <a:endParaRPr lang="en-US" sz="1050" dirty="0"/>
          </a:p>
          <a:p>
            <a:pPr marL="0" indent="0" algn="ctr">
              <a:buNone/>
            </a:pPr>
            <a:r>
              <a:rPr lang="en-US" sz="1050" dirty="0">
                <a:solidFill>
                  <a:srgbClr val="5A6572"/>
                </a:solidFill>
                <a:latin typeface="Aptos" pitchFamily="34" charset="0"/>
                <a:ea typeface="Aptos" pitchFamily="34" charset="-122"/>
                <a:cs typeface="Aptos" pitchFamily="34" charset="-120"/>
              </a:rPr>
              <a:t>for stability</a:t>
            </a:r>
            <a:endParaRPr lang="en-US" sz="1050" dirty="0"/>
          </a:p>
        </p:txBody>
      </p:sp>
      <p:sp>
        <p:nvSpPr>
          <p:cNvPr id="10" name="Text 8"/>
          <p:cNvSpPr/>
          <p:nvPr/>
        </p:nvSpPr>
        <p:spPr>
          <a:xfrm>
            <a:off x="5063867" y="4507484"/>
            <a:ext cx="2653669" cy="1262888"/>
          </a:xfrm>
          <a:prstGeom prst="rect">
            <a:avLst/>
          </a:prstGeom>
          <a:noFill/>
          <a:ln/>
        </p:spPr>
        <p:txBody>
          <a:bodyPr wrap="square" lIns="0" tIns="0" rIns="0" bIns="0" rtlCol="0" anchor="ctr">
            <a:normAutofit/>
          </a:bodyPr>
          <a:lstStyle/>
          <a:p>
            <a:pPr marL="0" indent="0" algn="ctr">
              <a:buNone/>
            </a:pPr>
            <a:r>
              <a:rPr lang="en-US" sz="3000" b="1" dirty="0">
                <a:solidFill>
                  <a:srgbClr val="12385C"/>
                </a:solidFill>
                <a:latin typeface="Aptos Display" pitchFamily="34" charset="0"/>
                <a:ea typeface="Aptos Display" pitchFamily="34" charset="-122"/>
                <a:cs typeface="Aptos Display" pitchFamily="34" charset="-120"/>
              </a:rPr>
              <a:t>6 → 50</a:t>
            </a:r>
            <a:endParaRPr lang="en-US" sz="3000" dirty="0"/>
          </a:p>
        </p:txBody>
      </p:sp>
      <p:sp>
        <p:nvSpPr>
          <p:cNvPr id="11" name="Text 9"/>
          <p:cNvSpPr/>
          <p:nvPr/>
        </p:nvSpPr>
        <p:spPr>
          <a:xfrm>
            <a:off x="5063867" y="5019548"/>
            <a:ext cx="2653669" cy="1033272"/>
          </a:xfrm>
          <a:prstGeom prst="rect">
            <a:avLst/>
          </a:prstGeom>
          <a:noFill/>
          <a:ln/>
        </p:spPr>
        <p:txBody>
          <a:bodyPr wrap="square" lIns="254" tIns="254" rIns="254" bIns="254" rtlCol="0" anchor="ctr">
            <a:normAutofit/>
          </a:bodyPr>
          <a:lstStyle/>
          <a:p>
            <a:pPr marL="0" indent="0" algn="ctr">
              <a:buNone/>
            </a:pPr>
            <a:r>
              <a:rPr lang="en-US" sz="1050" dirty="0">
                <a:solidFill>
                  <a:srgbClr val="5A6572"/>
                </a:solidFill>
                <a:latin typeface="Aptos" pitchFamily="34" charset="0"/>
                <a:ea typeface="Aptos" pitchFamily="34" charset="-122"/>
                <a:cs typeface="Aptos" pitchFamily="34" charset="-120"/>
              </a:rPr>
              <a:t>labelled evaluations</a:t>
            </a:r>
            <a:endParaRPr lang="en-US" sz="1050" dirty="0"/>
          </a:p>
          <a:p>
            <a:pPr marL="0" indent="0" algn="ctr">
              <a:buNone/>
            </a:pPr>
            <a:r>
              <a:rPr lang="en-US" sz="1050" dirty="0">
                <a:solidFill>
                  <a:srgbClr val="5A6572"/>
                </a:solidFill>
                <a:latin typeface="Aptos" pitchFamily="34" charset="0"/>
                <a:ea typeface="Aptos" pitchFamily="34" charset="-122"/>
                <a:cs typeface="Aptos" pitchFamily="34" charset="-120"/>
              </a:rPr>
              <a:t>per run</a:t>
            </a:r>
            <a:endParaRPr lang="en-US" sz="1050" dirty="0"/>
          </a:p>
        </p:txBody>
      </p:sp>
      <p:sp>
        <p:nvSpPr>
          <p:cNvPr id="12" name="Text 10"/>
          <p:cNvSpPr/>
          <p:nvPr/>
        </p:nvSpPr>
        <p:spPr>
          <a:xfrm>
            <a:off x="7409366" y="4507484"/>
            <a:ext cx="3782890" cy="1262888"/>
          </a:xfrm>
          <a:prstGeom prst="rect">
            <a:avLst/>
          </a:prstGeom>
          <a:noFill/>
          <a:ln/>
        </p:spPr>
        <p:txBody>
          <a:bodyPr wrap="square" lIns="0" tIns="0" rIns="0" bIns="0" rtlCol="0" anchor="ctr">
            <a:normAutofit/>
          </a:bodyPr>
          <a:lstStyle/>
          <a:p>
            <a:pPr marL="0" indent="0" algn="ctr">
              <a:buNone/>
            </a:pPr>
            <a:r>
              <a:rPr lang="en-US" sz="3000" b="1" dirty="0">
                <a:solidFill>
                  <a:srgbClr val="B33A3A"/>
                </a:solidFill>
                <a:latin typeface="Aptos Display" pitchFamily="34" charset="0"/>
                <a:ea typeface="Aptos Display" pitchFamily="34" charset="-122"/>
                <a:cs typeface="Aptos Display" pitchFamily="34" charset="-120"/>
              </a:rPr>
              <a:t>33.7% → 6.1%</a:t>
            </a:r>
            <a:endParaRPr lang="en-US" sz="3000" dirty="0"/>
          </a:p>
        </p:txBody>
      </p:sp>
      <p:sp>
        <p:nvSpPr>
          <p:cNvPr id="13" name="Text 11"/>
          <p:cNvSpPr/>
          <p:nvPr/>
        </p:nvSpPr>
        <p:spPr>
          <a:xfrm>
            <a:off x="7409366" y="5019548"/>
            <a:ext cx="3782890" cy="1033272"/>
          </a:xfrm>
          <a:prstGeom prst="rect">
            <a:avLst/>
          </a:prstGeom>
          <a:noFill/>
          <a:ln/>
        </p:spPr>
        <p:txBody>
          <a:bodyPr wrap="square" lIns="254" tIns="254" rIns="254" bIns="254" rtlCol="0" anchor="ctr">
            <a:normAutofit/>
          </a:bodyPr>
          <a:lstStyle/>
          <a:p>
            <a:pPr marL="0" indent="0" algn="ctr">
              <a:buNone/>
            </a:pPr>
            <a:r>
              <a:rPr lang="en-US" sz="1050" dirty="0">
                <a:solidFill>
                  <a:srgbClr val="5A6572"/>
                </a:solidFill>
                <a:latin typeface="Aptos" pitchFamily="34" charset="0"/>
                <a:ea typeface="Aptos" pitchFamily="34" charset="-122"/>
                <a:cs typeface="Aptos" pitchFamily="34" charset="-120"/>
              </a:rPr>
              <a:t>mean Branin test error</a:t>
            </a:r>
            <a:endParaRPr lang="en-US" sz="1050" dirty="0"/>
          </a:p>
        </p:txBody>
      </p:sp>
      <p:sp>
        <p:nvSpPr>
          <p:cNvPr id="16" name="Text 13"/>
          <p:cNvSpPr/>
          <p:nvPr/>
        </p:nvSpPr>
        <p:spPr>
          <a:xfrm>
            <a:off x="502920" y="6519672"/>
            <a:ext cx="7680960" cy="164592"/>
          </a:xfrm>
          <a:prstGeom prst="rect">
            <a:avLst/>
          </a:prstGeom>
          <a:noFill/>
          <a:ln/>
        </p:spPr>
        <p:txBody>
          <a:bodyPr wrap="square" lIns="0" tIns="0" rIns="0" bIns="0" rtlCol="0" anchor="ctr"/>
          <a:lstStyle/>
          <a:p>
            <a:pPr marL="0" indent="0">
              <a:buNone/>
            </a:pPr>
            <a:r>
              <a:rPr lang="en-US" sz="750" dirty="0">
                <a:solidFill>
                  <a:srgbClr val="7B8794"/>
                </a:solidFill>
              </a:rPr>
              <a:t>Week 1 progress • Sample-Efficient Active Level-Set Estimation • 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10789920" cy="411480"/>
          </a:xfrm>
          <a:prstGeom prst="rect">
            <a:avLst/>
          </a:prstGeom>
          <a:noFill/>
          <a:ln/>
        </p:spPr>
        <p:txBody>
          <a:bodyPr wrap="square" lIns="0" tIns="0" rIns="0" bIns="0" rtlCol="0" anchor="ctr">
            <a:normAutofit/>
          </a:bodyPr>
          <a:lstStyle/>
          <a:p>
            <a:pPr marL="0" indent="0">
              <a:buNone/>
            </a:pPr>
            <a:r>
              <a:rPr lang="en-US" sz="2400" b="1" dirty="0">
                <a:solidFill>
                  <a:srgbClr val="12385C"/>
                </a:solidFill>
                <a:latin typeface="Aptos Display" pitchFamily="34" charset="0"/>
                <a:ea typeface="Aptos Display" pitchFamily="34" charset="-122"/>
                <a:cs typeface="Aptos Display" pitchFamily="34" charset="-120"/>
              </a:rPr>
              <a:t>What Week 1 is testing</a:t>
            </a:r>
            <a:endParaRPr lang="en-US" sz="2400" dirty="0"/>
          </a:p>
        </p:txBody>
      </p:sp>
      <p:sp>
        <p:nvSpPr>
          <p:cNvPr id="3" name="Text 1"/>
          <p:cNvSpPr/>
          <p:nvPr/>
        </p:nvSpPr>
        <p:spPr>
          <a:xfrm>
            <a:off x="521208" y="786384"/>
            <a:ext cx="10881360" cy="274320"/>
          </a:xfrm>
          <a:prstGeom prst="rect">
            <a:avLst/>
          </a:prstGeom>
          <a:noFill/>
          <a:ln/>
        </p:spPr>
        <p:txBody>
          <a:bodyPr wrap="square" lIns="0" tIns="0" rIns="0" bIns="0" rtlCol="0" anchor="ctr">
            <a:normAutofit/>
          </a:bodyPr>
          <a:lstStyle/>
          <a:p>
            <a:pPr marL="0" indent="0">
              <a:buNone/>
            </a:pPr>
            <a:r>
              <a:rPr lang="en-US" sz="1200" dirty="0">
                <a:solidFill>
                  <a:srgbClr val="5A6572"/>
                </a:solidFill>
                <a:latin typeface="Aptos" pitchFamily="34" charset="0"/>
                <a:ea typeface="Aptos" pitchFamily="34" charset="-122"/>
                <a:cs typeface="Aptos" pitchFamily="34" charset="-120"/>
              </a:rPr>
              <a:t>A tiny version of the thesis: choose labels sequentially and see if the boundary estimate improves.</a:t>
            </a:r>
            <a:endParaRPr lang="en-US" sz="1200" dirty="0"/>
          </a:p>
        </p:txBody>
      </p:sp>
      <p:sp>
        <p:nvSpPr>
          <p:cNvPr id="4" name="Shape 2"/>
          <p:cNvSpPr/>
          <p:nvPr/>
        </p:nvSpPr>
        <p:spPr>
          <a:xfrm>
            <a:off x="502920" y="1124712"/>
            <a:ext cx="11201400" cy="0"/>
          </a:xfrm>
          <a:prstGeom prst="line">
            <a:avLst/>
          </a:prstGeom>
          <a:noFill/>
          <a:ln w="12700">
            <a:solidFill>
              <a:srgbClr val="D6E1EA"/>
            </a:solidFill>
            <a:prstDash val="solid"/>
          </a:ln>
        </p:spPr>
        <p:txBody>
          <a:bodyPr/>
          <a:lstStyle/>
          <a:p>
            <a:endParaRPr lang="en-US"/>
          </a:p>
        </p:txBody>
      </p:sp>
      <p:sp>
        <p:nvSpPr>
          <p:cNvPr id="5" name="Shape 3"/>
          <p:cNvSpPr/>
          <p:nvPr/>
        </p:nvSpPr>
        <p:spPr>
          <a:xfrm>
            <a:off x="2434421" y="3875565"/>
            <a:ext cx="467984" cy="0"/>
          </a:xfrm>
          <a:prstGeom prst="line">
            <a:avLst/>
          </a:prstGeom>
          <a:noFill/>
          <a:ln w="16510">
            <a:solidFill>
              <a:srgbClr val="D6E1EA"/>
            </a:solidFill>
            <a:prstDash val="solid"/>
            <a:headEnd type="none"/>
            <a:tailEnd type="triangle"/>
          </a:ln>
        </p:spPr>
        <p:txBody>
          <a:bodyPr/>
          <a:lstStyle/>
          <a:p>
            <a:endParaRPr lang="en-US" sz="1400"/>
          </a:p>
        </p:txBody>
      </p:sp>
      <p:sp>
        <p:nvSpPr>
          <p:cNvPr id="6" name="Shape 4"/>
          <p:cNvSpPr/>
          <p:nvPr/>
        </p:nvSpPr>
        <p:spPr>
          <a:xfrm>
            <a:off x="4583261" y="3875565"/>
            <a:ext cx="467984" cy="0"/>
          </a:xfrm>
          <a:prstGeom prst="line">
            <a:avLst/>
          </a:prstGeom>
          <a:noFill/>
          <a:ln w="16510">
            <a:solidFill>
              <a:srgbClr val="D6E1EA"/>
            </a:solidFill>
            <a:prstDash val="solid"/>
            <a:headEnd type="none"/>
            <a:tailEnd type="triangle"/>
          </a:ln>
        </p:spPr>
        <p:txBody>
          <a:bodyPr/>
          <a:lstStyle/>
          <a:p>
            <a:endParaRPr lang="en-US" sz="1400"/>
          </a:p>
        </p:txBody>
      </p:sp>
      <p:sp>
        <p:nvSpPr>
          <p:cNvPr id="7" name="Shape 5"/>
          <p:cNvSpPr/>
          <p:nvPr/>
        </p:nvSpPr>
        <p:spPr>
          <a:xfrm>
            <a:off x="6732101" y="3875565"/>
            <a:ext cx="467984" cy="0"/>
          </a:xfrm>
          <a:prstGeom prst="line">
            <a:avLst/>
          </a:prstGeom>
          <a:noFill/>
          <a:ln w="16510">
            <a:solidFill>
              <a:srgbClr val="D6E1EA"/>
            </a:solidFill>
            <a:prstDash val="solid"/>
            <a:headEnd type="none"/>
            <a:tailEnd type="triangle"/>
          </a:ln>
        </p:spPr>
        <p:txBody>
          <a:bodyPr/>
          <a:lstStyle/>
          <a:p>
            <a:endParaRPr lang="en-US" sz="1400"/>
          </a:p>
        </p:txBody>
      </p:sp>
      <p:sp>
        <p:nvSpPr>
          <p:cNvPr id="8" name="Shape 6"/>
          <p:cNvSpPr/>
          <p:nvPr/>
        </p:nvSpPr>
        <p:spPr>
          <a:xfrm>
            <a:off x="8880941" y="3875565"/>
            <a:ext cx="467984" cy="0"/>
          </a:xfrm>
          <a:prstGeom prst="line">
            <a:avLst/>
          </a:prstGeom>
          <a:noFill/>
          <a:ln w="16510">
            <a:solidFill>
              <a:srgbClr val="D6E1EA"/>
            </a:solidFill>
            <a:prstDash val="solid"/>
            <a:headEnd type="none"/>
            <a:tailEnd type="triangle"/>
          </a:ln>
        </p:spPr>
        <p:txBody>
          <a:bodyPr/>
          <a:lstStyle/>
          <a:p>
            <a:endParaRPr lang="en-US" sz="1400"/>
          </a:p>
        </p:txBody>
      </p:sp>
      <p:sp>
        <p:nvSpPr>
          <p:cNvPr id="10" name="Text 8"/>
          <p:cNvSpPr/>
          <p:nvPr/>
        </p:nvSpPr>
        <p:spPr>
          <a:xfrm>
            <a:off x="502920" y="3249923"/>
            <a:ext cx="1896565" cy="616498"/>
          </a:xfrm>
          <a:prstGeom prst="rect">
            <a:avLst/>
          </a:prstGeom>
          <a:noFill/>
          <a:ln/>
        </p:spPr>
        <p:txBody>
          <a:bodyPr wrap="square" lIns="127" tIns="127" rIns="127" bIns="127" rtlCol="0" anchor="ctr">
            <a:normAutofit/>
          </a:bodyPr>
          <a:lstStyle/>
          <a:p>
            <a:pPr marL="0" indent="0" algn="ctr">
              <a:buNone/>
            </a:pPr>
            <a:r>
              <a:rPr lang="en-US" sz="1400" b="1" dirty="0">
                <a:solidFill>
                  <a:srgbClr val="12385C"/>
                </a:solidFill>
              </a:rPr>
              <a:t>Start with</a:t>
            </a:r>
            <a:endParaRPr lang="en-US" sz="1400" dirty="0"/>
          </a:p>
          <a:p>
            <a:pPr marL="0" indent="0" algn="ctr">
              <a:buNone/>
            </a:pPr>
            <a:r>
              <a:rPr lang="en-US" sz="1400" b="1" dirty="0">
                <a:solidFill>
                  <a:srgbClr val="12385C"/>
                </a:solidFill>
              </a:rPr>
              <a:t>6 labels</a:t>
            </a:r>
            <a:endParaRPr lang="en-US" sz="1400" dirty="0"/>
          </a:p>
        </p:txBody>
      </p:sp>
      <p:sp>
        <p:nvSpPr>
          <p:cNvPr id="11" name="Text 9"/>
          <p:cNvSpPr/>
          <p:nvPr/>
        </p:nvSpPr>
        <p:spPr>
          <a:xfrm>
            <a:off x="502920" y="3727817"/>
            <a:ext cx="1896565" cy="440356"/>
          </a:xfrm>
          <a:prstGeom prst="rect">
            <a:avLst/>
          </a:prstGeom>
          <a:noFill/>
          <a:ln/>
        </p:spPr>
        <p:txBody>
          <a:bodyPr wrap="square" lIns="127" tIns="127" rIns="127" bIns="127" rtlCol="0" anchor="ctr">
            <a:normAutofit/>
          </a:bodyPr>
          <a:lstStyle/>
          <a:p>
            <a:pPr marL="0" indent="0" algn="ctr">
              <a:buNone/>
            </a:pPr>
            <a:r>
              <a:rPr lang="en-US" sz="1050" dirty="0">
                <a:solidFill>
                  <a:srgbClr val="5A6572"/>
                </a:solidFill>
              </a:rPr>
              <a:t>initial labelled set</a:t>
            </a:r>
            <a:endParaRPr lang="en-US" sz="1050" dirty="0"/>
          </a:p>
        </p:txBody>
      </p:sp>
      <p:sp>
        <p:nvSpPr>
          <p:cNvPr id="13" name="Text 11"/>
          <p:cNvSpPr/>
          <p:nvPr/>
        </p:nvSpPr>
        <p:spPr>
          <a:xfrm>
            <a:off x="2651760" y="3249923"/>
            <a:ext cx="1896565" cy="616498"/>
          </a:xfrm>
          <a:prstGeom prst="rect">
            <a:avLst/>
          </a:prstGeom>
          <a:noFill/>
          <a:ln/>
        </p:spPr>
        <p:txBody>
          <a:bodyPr wrap="square" lIns="127" tIns="127" rIns="127" bIns="127" rtlCol="0" anchor="ctr">
            <a:normAutofit/>
          </a:bodyPr>
          <a:lstStyle/>
          <a:p>
            <a:pPr marL="0" indent="0" algn="ctr">
              <a:buNone/>
            </a:pPr>
            <a:r>
              <a:rPr lang="en-US" sz="1400" b="1">
                <a:solidFill>
                  <a:srgbClr val="12385C"/>
                </a:solidFill>
              </a:rPr>
              <a:t>Fit GP regressor</a:t>
            </a:r>
          </a:p>
          <a:p>
            <a:pPr marL="0" indent="0" algn="ctr">
              <a:buNone/>
            </a:pPr>
            <a:r>
              <a:rPr lang="en-US" sz="1400" b="1">
                <a:solidFill>
                  <a:srgbClr val="12385C"/>
                </a:solidFill>
              </a:rPr>
              <a:t>stand-in</a:t>
            </a:r>
            <a:endParaRPr lang="en-US" sz="1400" dirty="0"/>
          </a:p>
        </p:txBody>
      </p:sp>
      <p:sp>
        <p:nvSpPr>
          <p:cNvPr id="14" name="Text 12"/>
          <p:cNvSpPr/>
          <p:nvPr/>
        </p:nvSpPr>
        <p:spPr>
          <a:xfrm>
            <a:off x="2668413" y="3727817"/>
            <a:ext cx="1896565" cy="440356"/>
          </a:xfrm>
          <a:prstGeom prst="rect">
            <a:avLst/>
          </a:prstGeom>
          <a:noFill/>
          <a:ln/>
        </p:spPr>
        <p:txBody>
          <a:bodyPr wrap="square" lIns="127" tIns="127" rIns="127" bIns="127" rtlCol="0" anchor="ctr">
            <a:normAutofit/>
          </a:bodyPr>
          <a:lstStyle/>
          <a:p>
            <a:pPr marL="0" indent="0" algn="ctr">
              <a:buNone/>
            </a:pPr>
            <a:r>
              <a:rPr lang="en-US" sz="1050" dirty="0">
                <a:solidFill>
                  <a:srgbClr val="5A6572"/>
                </a:solidFill>
              </a:rPr>
              <a:t>predict μ and σ</a:t>
            </a:r>
            <a:endParaRPr lang="en-US" sz="1050" dirty="0"/>
          </a:p>
        </p:txBody>
      </p:sp>
      <p:sp>
        <p:nvSpPr>
          <p:cNvPr id="16" name="Text 14"/>
          <p:cNvSpPr/>
          <p:nvPr/>
        </p:nvSpPr>
        <p:spPr>
          <a:xfrm>
            <a:off x="4800600" y="3249923"/>
            <a:ext cx="1896565" cy="616498"/>
          </a:xfrm>
          <a:prstGeom prst="rect">
            <a:avLst/>
          </a:prstGeom>
          <a:noFill/>
          <a:ln/>
        </p:spPr>
        <p:txBody>
          <a:bodyPr wrap="square" lIns="127" tIns="127" rIns="127" bIns="127" rtlCol="0" anchor="ctr">
            <a:normAutofit/>
          </a:bodyPr>
          <a:lstStyle/>
          <a:p>
            <a:pPr marL="0" indent="0" algn="ctr">
              <a:buNone/>
            </a:pPr>
            <a:r>
              <a:rPr lang="en-US" sz="1400" b="1" dirty="0">
                <a:solidFill>
                  <a:srgbClr val="12385C"/>
                </a:solidFill>
              </a:rPr>
              <a:t>Score pool</a:t>
            </a:r>
            <a:endParaRPr lang="en-US" sz="1400" dirty="0"/>
          </a:p>
        </p:txBody>
      </p:sp>
      <p:sp>
        <p:nvSpPr>
          <p:cNvPr id="17" name="Text 15"/>
          <p:cNvSpPr/>
          <p:nvPr/>
        </p:nvSpPr>
        <p:spPr>
          <a:xfrm>
            <a:off x="4800600" y="3727817"/>
            <a:ext cx="1896565" cy="440356"/>
          </a:xfrm>
          <a:prstGeom prst="rect">
            <a:avLst/>
          </a:prstGeom>
          <a:noFill/>
          <a:ln/>
        </p:spPr>
        <p:txBody>
          <a:bodyPr wrap="square" lIns="127" tIns="127" rIns="127" bIns="127" rtlCol="0" anchor="ctr">
            <a:normAutofit/>
          </a:bodyPr>
          <a:lstStyle/>
          <a:p>
            <a:pPr marL="0" indent="0" algn="ctr">
              <a:buNone/>
            </a:pPr>
            <a:r>
              <a:rPr lang="en-US" sz="1050">
                <a:solidFill>
                  <a:srgbClr val="5A6572"/>
                </a:solidFill>
              </a:rPr>
              <a:t>choose smallest |</a:t>
            </a:r>
            <a:r>
              <a:rPr lang="el-GR" sz="1050">
                <a:solidFill>
                  <a:srgbClr val="5A6572"/>
                </a:solidFill>
              </a:rPr>
              <a:t>μ(</a:t>
            </a:r>
            <a:r>
              <a:rPr lang="en-US" sz="1050">
                <a:solidFill>
                  <a:srgbClr val="5A6572"/>
                </a:solidFill>
              </a:rPr>
              <a:t>x)|</a:t>
            </a:r>
            <a:endParaRPr lang="en-US" sz="1050" dirty="0"/>
          </a:p>
        </p:txBody>
      </p:sp>
      <p:sp>
        <p:nvSpPr>
          <p:cNvPr id="19" name="Text 17"/>
          <p:cNvSpPr/>
          <p:nvPr/>
        </p:nvSpPr>
        <p:spPr>
          <a:xfrm>
            <a:off x="6949440" y="3249923"/>
            <a:ext cx="1896565" cy="616498"/>
          </a:xfrm>
          <a:prstGeom prst="rect">
            <a:avLst/>
          </a:prstGeom>
          <a:noFill/>
          <a:ln/>
        </p:spPr>
        <p:txBody>
          <a:bodyPr wrap="square" lIns="127" tIns="127" rIns="127" bIns="127" rtlCol="0" anchor="ctr">
            <a:normAutofit/>
          </a:bodyPr>
          <a:lstStyle/>
          <a:p>
            <a:pPr marL="0" indent="0" algn="ctr">
              <a:buNone/>
            </a:pPr>
            <a:r>
              <a:rPr lang="en-US" sz="1400" b="1" dirty="0">
                <a:solidFill>
                  <a:srgbClr val="12385C"/>
                </a:solidFill>
              </a:rPr>
              <a:t>Reveal label</a:t>
            </a:r>
            <a:endParaRPr lang="en-US" sz="1400" dirty="0"/>
          </a:p>
        </p:txBody>
      </p:sp>
      <p:sp>
        <p:nvSpPr>
          <p:cNvPr id="20" name="Text 18"/>
          <p:cNvSpPr/>
          <p:nvPr/>
        </p:nvSpPr>
        <p:spPr>
          <a:xfrm>
            <a:off x="6949440" y="3727817"/>
            <a:ext cx="1896565" cy="440356"/>
          </a:xfrm>
          <a:prstGeom prst="rect">
            <a:avLst/>
          </a:prstGeom>
          <a:noFill/>
          <a:ln/>
        </p:spPr>
        <p:txBody>
          <a:bodyPr wrap="square" lIns="127" tIns="127" rIns="127" bIns="127" rtlCol="0" anchor="ctr">
            <a:normAutofit/>
          </a:bodyPr>
          <a:lstStyle/>
          <a:p>
            <a:pPr marL="0" indent="0" algn="ctr">
              <a:buNone/>
            </a:pPr>
            <a:r>
              <a:rPr lang="en-US" sz="1050" dirty="0">
                <a:solidFill>
                  <a:srgbClr val="5A6572"/>
                </a:solidFill>
              </a:rPr>
              <a:t>mimic expensive oracle</a:t>
            </a:r>
            <a:endParaRPr lang="en-US" sz="1050" dirty="0"/>
          </a:p>
        </p:txBody>
      </p:sp>
      <p:sp>
        <p:nvSpPr>
          <p:cNvPr id="22" name="Text 20"/>
          <p:cNvSpPr/>
          <p:nvPr/>
        </p:nvSpPr>
        <p:spPr>
          <a:xfrm>
            <a:off x="9098280" y="3249923"/>
            <a:ext cx="1896565" cy="616498"/>
          </a:xfrm>
          <a:prstGeom prst="rect">
            <a:avLst/>
          </a:prstGeom>
          <a:noFill/>
          <a:ln/>
        </p:spPr>
        <p:txBody>
          <a:bodyPr wrap="square" lIns="127" tIns="127" rIns="127" bIns="127" rtlCol="0" anchor="ctr">
            <a:normAutofit/>
          </a:bodyPr>
          <a:lstStyle/>
          <a:p>
            <a:pPr marL="0" indent="0" algn="ctr">
              <a:buNone/>
            </a:pPr>
            <a:r>
              <a:rPr lang="en-US" sz="1400" b="1" dirty="0">
                <a:solidFill>
                  <a:srgbClr val="12385C"/>
                </a:solidFill>
              </a:rPr>
              <a:t>Refit + repeat</a:t>
            </a:r>
            <a:endParaRPr lang="en-US" sz="1400" dirty="0"/>
          </a:p>
        </p:txBody>
      </p:sp>
      <p:sp>
        <p:nvSpPr>
          <p:cNvPr id="23" name="Text 21"/>
          <p:cNvSpPr/>
          <p:nvPr/>
        </p:nvSpPr>
        <p:spPr>
          <a:xfrm>
            <a:off x="9098280" y="3727817"/>
            <a:ext cx="1896565" cy="440356"/>
          </a:xfrm>
          <a:prstGeom prst="rect">
            <a:avLst/>
          </a:prstGeom>
          <a:noFill/>
          <a:ln/>
        </p:spPr>
        <p:txBody>
          <a:bodyPr wrap="square" lIns="127" tIns="127" rIns="127" bIns="127" rtlCol="0" anchor="ctr">
            <a:normAutofit/>
          </a:bodyPr>
          <a:lstStyle/>
          <a:p>
            <a:pPr marL="0" indent="0" algn="ctr">
              <a:buNone/>
            </a:pPr>
            <a:r>
              <a:rPr lang="en-US" sz="1050" dirty="0">
                <a:solidFill>
                  <a:srgbClr val="5A6572"/>
                </a:solidFill>
              </a:rPr>
              <a:t>until budget 50</a:t>
            </a:r>
            <a:endParaRPr lang="en-US" sz="1050" dirty="0"/>
          </a:p>
        </p:txBody>
      </p:sp>
      <p:sp>
        <p:nvSpPr>
          <p:cNvPr id="24" name="Text 22"/>
          <p:cNvSpPr/>
          <p:nvPr/>
        </p:nvSpPr>
        <p:spPr>
          <a:xfrm>
            <a:off x="685800" y="1508760"/>
            <a:ext cx="2286000" cy="274320"/>
          </a:xfrm>
          <a:prstGeom prst="rect">
            <a:avLst/>
          </a:prstGeom>
          <a:noFill/>
          <a:ln/>
        </p:spPr>
        <p:txBody>
          <a:bodyPr wrap="square" lIns="0" tIns="0" rIns="0" bIns="0" rtlCol="0" anchor="ctr"/>
          <a:lstStyle/>
          <a:p>
            <a:pPr marL="0" indent="0">
              <a:buNone/>
            </a:pPr>
            <a:r>
              <a:rPr lang="en-US" sz="1600" b="1" dirty="0">
                <a:solidFill>
                  <a:srgbClr val="12385C"/>
                </a:solidFill>
              </a:rPr>
              <a:t>Key objects</a:t>
            </a:r>
            <a:endParaRPr lang="en-US" sz="1600" dirty="0"/>
          </a:p>
        </p:txBody>
      </p:sp>
      <p:sp>
        <p:nvSpPr>
          <p:cNvPr id="25" name="Text 23"/>
          <p:cNvSpPr/>
          <p:nvPr/>
        </p:nvSpPr>
        <p:spPr>
          <a:xfrm>
            <a:off x="685800" y="2090585"/>
            <a:ext cx="5212080" cy="256032"/>
          </a:xfrm>
          <a:prstGeom prst="rect">
            <a:avLst/>
          </a:prstGeom>
          <a:noFill/>
          <a:ln/>
        </p:spPr>
        <p:txBody>
          <a:bodyPr wrap="square" lIns="381" tIns="381" rIns="381" bIns="381" rtlCol="0" anchor="t">
            <a:normAutofit/>
          </a:bodyPr>
          <a:lstStyle/>
          <a:p>
            <a:r>
              <a:rPr lang="en-US" sz="1300" dirty="0">
                <a:solidFill>
                  <a:srgbClr val="1C2733"/>
                </a:solidFill>
                <a:latin typeface="Aptos" pitchFamily="34" charset="0"/>
                <a:ea typeface="Aptos" pitchFamily="34" charset="-122"/>
                <a:cs typeface="Aptos" pitchFamily="34" charset="-120"/>
              </a:rPr>
              <a:t>μ(x): GP latent mean; sign decides predicted label</a:t>
            </a:r>
            <a:endParaRPr lang="en-US" sz="1300" dirty="0"/>
          </a:p>
        </p:txBody>
      </p:sp>
      <p:sp>
        <p:nvSpPr>
          <p:cNvPr id="26" name="Text 24"/>
          <p:cNvSpPr/>
          <p:nvPr/>
        </p:nvSpPr>
        <p:spPr>
          <a:xfrm>
            <a:off x="685800" y="2428913"/>
            <a:ext cx="5212080" cy="256032"/>
          </a:xfrm>
          <a:prstGeom prst="rect">
            <a:avLst/>
          </a:prstGeom>
          <a:noFill/>
          <a:ln/>
        </p:spPr>
        <p:txBody>
          <a:bodyPr wrap="square" lIns="381" tIns="381" rIns="381" bIns="381" rtlCol="0" anchor="t">
            <a:normAutofit/>
          </a:bodyPr>
          <a:lstStyle/>
          <a:p>
            <a:r>
              <a:rPr lang="en-US" sz="1300" dirty="0">
                <a:solidFill>
                  <a:srgbClr val="1C2733"/>
                </a:solidFill>
                <a:latin typeface="Aptos" pitchFamily="34" charset="0"/>
                <a:ea typeface="Aptos" pitchFamily="34" charset="-122"/>
                <a:cs typeface="Aptos" pitchFamily="34" charset="-120"/>
              </a:rPr>
              <a:t>μ(x)=0: believed boundary between −1 and +1</a:t>
            </a:r>
            <a:endParaRPr lang="en-US" sz="1300" dirty="0"/>
          </a:p>
        </p:txBody>
      </p:sp>
      <p:sp>
        <p:nvSpPr>
          <p:cNvPr id="27" name="Text 25"/>
          <p:cNvSpPr/>
          <p:nvPr/>
        </p:nvSpPr>
        <p:spPr>
          <a:xfrm>
            <a:off x="685800" y="2767241"/>
            <a:ext cx="5212080" cy="256032"/>
          </a:xfrm>
          <a:prstGeom prst="rect">
            <a:avLst/>
          </a:prstGeom>
          <a:noFill/>
          <a:ln/>
        </p:spPr>
        <p:txBody>
          <a:bodyPr wrap="square" lIns="381" tIns="381" rIns="381" bIns="381" rtlCol="0" anchor="t">
            <a:normAutofit/>
          </a:bodyPr>
          <a:lstStyle/>
          <a:p>
            <a:r>
              <a:rPr lang="en-US" sz="1300" dirty="0">
                <a:solidFill>
                  <a:srgbClr val="1C2733"/>
                </a:solidFill>
                <a:latin typeface="Aptos" pitchFamily="34" charset="0"/>
                <a:ea typeface="Aptos" pitchFamily="34" charset="-122"/>
                <a:cs typeface="Aptos" pitchFamily="34" charset="-120"/>
              </a:rPr>
              <a:t>σ(x): model uncertainty from the GP</a:t>
            </a:r>
            <a:endParaRPr lang="en-US" sz="1300" dirty="0"/>
          </a:p>
        </p:txBody>
      </p:sp>
      <p:sp>
        <p:nvSpPr>
          <p:cNvPr id="28" name="Text 26"/>
          <p:cNvSpPr/>
          <p:nvPr/>
        </p:nvSpPr>
        <p:spPr>
          <a:xfrm>
            <a:off x="6537960" y="1508760"/>
            <a:ext cx="2743200" cy="274320"/>
          </a:xfrm>
          <a:prstGeom prst="rect">
            <a:avLst/>
          </a:prstGeom>
          <a:noFill/>
          <a:ln/>
        </p:spPr>
        <p:txBody>
          <a:bodyPr wrap="square" lIns="0" tIns="0" rIns="0" bIns="0" rtlCol="0" anchor="ctr"/>
          <a:lstStyle/>
          <a:p>
            <a:pPr marL="0" indent="0">
              <a:buNone/>
            </a:pPr>
            <a:r>
              <a:rPr lang="en-US" sz="1600" b="1" dirty="0">
                <a:solidFill>
                  <a:srgbClr val="12385C"/>
                </a:solidFill>
              </a:rPr>
              <a:t>Why synthetic first?</a:t>
            </a:r>
            <a:endParaRPr lang="en-US" sz="1600" dirty="0"/>
          </a:p>
        </p:txBody>
      </p:sp>
      <p:sp>
        <p:nvSpPr>
          <p:cNvPr id="29" name="Text 27"/>
          <p:cNvSpPr/>
          <p:nvPr/>
        </p:nvSpPr>
        <p:spPr>
          <a:xfrm>
            <a:off x="6537960" y="2090585"/>
            <a:ext cx="4754880" cy="256032"/>
          </a:xfrm>
          <a:prstGeom prst="rect">
            <a:avLst/>
          </a:prstGeom>
          <a:noFill/>
          <a:ln/>
        </p:spPr>
        <p:txBody>
          <a:bodyPr wrap="square" lIns="381" tIns="381" rIns="381" bIns="381" rtlCol="0" anchor="t">
            <a:normAutofit/>
          </a:bodyPr>
          <a:lstStyle/>
          <a:p>
            <a:r>
              <a:rPr lang="en-US" sz="1300" dirty="0">
                <a:solidFill>
                  <a:srgbClr val="1C2733"/>
                </a:solidFill>
                <a:latin typeface="Aptos" pitchFamily="34" charset="0"/>
                <a:ea typeface="Aptos" pitchFamily="34" charset="-122"/>
                <a:cs typeface="Aptos" pitchFamily="34" charset="-120"/>
              </a:rPr>
              <a:t>2D data can be plotted and debugged visually</a:t>
            </a:r>
            <a:endParaRPr lang="en-US" sz="1300" dirty="0"/>
          </a:p>
        </p:txBody>
      </p:sp>
      <p:sp>
        <p:nvSpPr>
          <p:cNvPr id="30" name="Text 28"/>
          <p:cNvSpPr/>
          <p:nvPr/>
        </p:nvSpPr>
        <p:spPr>
          <a:xfrm>
            <a:off x="6537960" y="2428913"/>
            <a:ext cx="4754880" cy="256032"/>
          </a:xfrm>
          <a:prstGeom prst="rect">
            <a:avLst/>
          </a:prstGeom>
          <a:noFill/>
          <a:ln/>
        </p:spPr>
        <p:txBody>
          <a:bodyPr wrap="square" lIns="381" tIns="381" rIns="381" bIns="381" rtlCol="0" anchor="t">
            <a:normAutofit/>
          </a:bodyPr>
          <a:lstStyle/>
          <a:p>
            <a:r>
              <a:rPr lang="en-US" sz="1300" dirty="0">
                <a:solidFill>
                  <a:srgbClr val="1C2733"/>
                </a:solidFill>
                <a:latin typeface="Aptos" pitchFamily="34" charset="0"/>
                <a:ea typeface="Aptos" pitchFamily="34" charset="-122"/>
                <a:cs typeface="Aptos" pitchFamily="34" charset="-120"/>
              </a:rPr>
              <a:t>Branin has an exact known threshold boundary</a:t>
            </a:r>
            <a:endParaRPr lang="en-US" sz="1300" dirty="0"/>
          </a:p>
        </p:txBody>
      </p:sp>
      <p:sp>
        <p:nvSpPr>
          <p:cNvPr id="31" name="Text 29"/>
          <p:cNvSpPr/>
          <p:nvPr/>
        </p:nvSpPr>
        <p:spPr>
          <a:xfrm>
            <a:off x="6537960" y="2767241"/>
            <a:ext cx="4754880" cy="256032"/>
          </a:xfrm>
          <a:prstGeom prst="rect">
            <a:avLst/>
          </a:prstGeom>
          <a:noFill/>
          <a:ln/>
        </p:spPr>
        <p:txBody>
          <a:bodyPr wrap="square" lIns="381" tIns="381" rIns="381" bIns="381" rtlCol="0" anchor="t">
            <a:normAutofit/>
          </a:bodyPr>
          <a:lstStyle/>
          <a:p>
            <a:r>
              <a:rPr lang="en-US" sz="1300" dirty="0">
                <a:solidFill>
                  <a:srgbClr val="1C2733"/>
                </a:solidFill>
                <a:latin typeface="Aptos" pitchFamily="34" charset="0"/>
                <a:ea typeface="Aptos" pitchFamily="34" charset="-122"/>
                <a:cs typeface="Aptos" pitchFamily="34" charset="-120"/>
              </a:rPr>
              <a:t>The same loop later transfers to laser data</a:t>
            </a:r>
            <a:endParaRPr lang="en-US" sz="1300" dirty="0"/>
          </a:p>
        </p:txBody>
      </p:sp>
      <p:sp>
        <p:nvSpPr>
          <p:cNvPr id="32" name="Shape 30"/>
          <p:cNvSpPr/>
          <p:nvPr/>
        </p:nvSpPr>
        <p:spPr>
          <a:xfrm>
            <a:off x="513395" y="5581047"/>
            <a:ext cx="10744200" cy="0"/>
          </a:xfrm>
          <a:prstGeom prst="line">
            <a:avLst/>
          </a:prstGeom>
          <a:noFill/>
          <a:ln w="12700">
            <a:solidFill>
              <a:srgbClr val="D6E1EA"/>
            </a:solidFill>
            <a:prstDash val="solid"/>
          </a:ln>
        </p:spPr>
        <p:txBody>
          <a:bodyPr/>
          <a:lstStyle/>
          <a:p>
            <a:endParaRPr lang="en-US"/>
          </a:p>
        </p:txBody>
      </p:sp>
      <p:sp>
        <p:nvSpPr>
          <p:cNvPr id="33" name="Text 31"/>
          <p:cNvSpPr/>
          <p:nvPr/>
        </p:nvSpPr>
        <p:spPr>
          <a:xfrm>
            <a:off x="741995" y="5726232"/>
            <a:ext cx="10149840" cy="594360"/>
          </a:xfrm>
          <a:prstGeom prst="rect">
            <a:avLst/>
          </a:prstGeom>
          <a:noFill/>
          <a:ln/>
        </p:spPr>
        <p:txBody>
          <a:bodyPr wrap="square" lIns="254" tIns="254" rIns="254" bIns="254" rtlCol="0" anchor="ctr">
            <a:normAutofit/>
          </a:bodyPr>
          <a:lstStyle/>
          <a:p>
            <a:pPr marL="0" indent="0" algn="ctr">
              <a:buNone/>
            </a:pPr>
            <a:r>
              <a:rPr lang="en-US" sz="1700" b="1">
                <a:solidFill>
                  <a:srgbClr val="1C2733"/>
                </a:solidFill>
              </a:rPr>
              <a:t>Week 1 success criterion: the loop completes, the boundary estimate becomes more localized, and Branin test error falls against the exact boundary.</a:t>
            </a:r>
            <a:endParaRPr lang="en-US" sz="1700" dirty="0"/>
          </a:p>
        </p:txBody>
      </p:sp>
      <p:sp>
        <p:nvSpPr>
          <p:cNvPr id="34" name="Text 32"/>
          <p:cNvSpPr/>
          <p:nvPr/>
        </p:nvSpPr>
        <p:spPr>
          <a:xfrm>
            <a:off x="502920" y="6519672"/>
            <a:ext cx="7680960" cy="164592"/>
          </a:xfrm>
          <a:prstGeom prst="rect">
            <a:avLst/>
          </a:prstGeom>
          <a:noFill/>
          <a:ln/>
        </p:spPr>
        <p:txBody>
          <a:bodyPr wrap="square" lIns="0" tIns="0" rIns="0" bIns="0" rtlCol="0" anchor="ctr"/>
          <a:lstStyle/>
          <a:p>
            <a:pPr marL="0" indent="0">
              <a:buNone/>
            </a:pPr>
            <a:r>
              <a:rPr lang="en-US" sz="750" dirty="0">
                <a:solidFill>
                  <a:srgbClr val="7B8794"/>
                </a:solidFill>
              </a:rPr>
              <a:t>Week 1 progress • Sample-Efficient Active Level-Set Estimation • 2</a:t>
            </a:r>
            <a:endParaRPr lang="en-US" sz="750" dirty="0"/>
          </a:p>
        </p:txBody>
      </p:sp>
      <p:sp>
        <p:nvSpPr>
          <p:cNvPr id="36" name="Text 27">
            <a:extLst>
              <a:ext uri="{FF2B5EF4-FFF2-40B4-BE49-F238E27FC236}">
                <a16:creationId xmlns:a16="http://schemas.microsoft.com/office/drawing/2014/main" id="{DE73DA09-CE17-784E-97D6-D0044DAF8491}"/>
              </a:ext>
            </a:extLst>
          </p:cNvPr>
          <p:cNvSpPr/>
          <p:nvPr/>
        </p:nvSpPr>
        <p:spPr>
          <a:xfrm>
            <a:off x="573832" y="4558607"/>
            <a:ext cx="10583713" cy="816165"/>
          </a:xfrm>
          <a:prstGeom prst="rect">
            <a:avLst/>
          </a:prstGeom>
          <a:noFill/>
          <a:ln/>
        </p:spPr>
        <p:txBody>
          <a:bodyPr wrap="square" lIns="381" tIns="381" rIns="381" bIns="381" rtlCol="0" anchor="t">
            <a:normAutofit/>
          </a:bodyPr>
          <a:lstStyle/>
          <a:p>
            <a:r>
              <a:rPr lang="en-US" sz="1300" dirty="0">
                <a:solidFill>
                  <a:srgbClr val="1C2733"/>
                </a:solidFill>
                <a:latin typeface="Aptos" pitchFamily="34" charset="0"/>
                <a:ea typeface="Aptos" pitchFamily="34" charset="-122"/>
                <a:cs typeface="Aptos" pitchFamily="34" charset="-120"/>
              </a:rPr>
              <a:t>The loop starts with six labelled points, fits a GP regressor as a simple stand-in, scores the </a:t>
            </a:r>
            <a:r>
              <a:rPr lang="en-US" sz="1300" dirty="0" err="1">
                <a:solidFill>
                  <a:srgbClr val="1C2733"/>
                </a:solidFill>
                <a:latin typeface="Aptos" pitchFamily="34" charset="0"/>
                <a:ea typeface="Aptos" pitchFamily="34" charset="-122"/>
                <a:cs typeface="Aptos" pitchFamily="34" charset="-120"/>
              </a:rPr>
              <a:t>unlabelled</a:t>
            </a:r>
            <a:r>
              <a:rPr lang="en-US" sz="1300" dirty="0">
                <a:solidFill>
                  <a:srgbClr val="1C2733"/>
                </a:solidFill>
                <a:latin typeface="Aptos" pitchFamily="34" charset="0"/>
                <a:ea typeface="Aptos" pitchFamily="34" charset="-122"/>
                <a:cs typeface="Aptos" pitchFamily="34" charset="-120"/>
              </a:rPr>
              <a:t> pool using the smallest absolute latent mean, reveals one label, and then refits. The believed boundary is the contour where the GP latent mean is zero.</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10789920" cy="411480"/>
          </a:xfrm>
          <a:prstGeom prst="rect">
            <a:avLst/>
          </a:prstGeom>
          <a:noFill/>
          <a:ln/>
        </p:spPr>
        <p:txBody>
          <a:bodyPr wrap="square" lIns="0" tIns="0" rIns="0" bIns="0" rtlCol="0" anchor="ctr">
            <a:normAutofit/>
          </a:bodyPr>
          <a:lstStyle/>
          <a:p>
            <a:pPr marL="0" indent="0">
              <a:buNone/>
            </a:pPr>
            <a:r>
              <a:rPr lang="en-US" sz="2400" b="1" dirty="0">
                <a:solidFill>
                  <a:srgbClr val="12385C"/>
                </a:solidFill>
                <a:latin typeface="Aptos Display" pitchFamily="34" charset="0"/>
                <a:ea typeface="Aptos Display" pitchFamily="34" charset="-122"/>
                <a:cs typeface="Aptos Display" pitchFamily="34" charset="-120"/>
              </a:rPr>
              <a:t>Visual sanity check: make_moons</a:t>
            </a:r>
            <a:endParaRPr lang="en-US" sz="2400" dirty="0"/>
          </a:p>
        </p:txBody>
      </p:sp>
      <p:sp>
        <p:nvSpPr>
          <p:cNvPr id="3" name="Text 1"/>
          <p:cNvSpPr/>
          <p:nvPr/>
        </p:nvSpPr>
        <p:spPr>
          <a:xfrm>
            <a:off x="521208" y="786384"/>
            <a:ext cx="10881360" cy="274320"/>
          </a:xfrm>
          <a:prstGeom prst="rect">
            <a:avLst/>
          </a:prstGeom>
          <a:noFill/>
          <a:ln/>
        </p:spPr>
        <p:txBody>
          <a:bodyPr wrap="square" lIns="0" tIns="0" rIns="0" bIns="0" rtlCol="0" anchor="ctr">
            <a:normAutofit/>
          </a:bodyPr>
          <a:lstStyle/>
          <a:p>
            <a:pPr marL="0" indent="0">
              <a:buNone/>
            </a:pPr>
            <a:r>
              <a:rPr lang="en-US" sz="1200" dirty="0">
                <a:solidFill>
                  <a:srgbClr val="5A6572"/>
                </a:solidFill>
                <a:latin typeface="Aptos" pitchFamily="34" charset="0"/>
                <a:ea typeface="Aptos" pitchFamily="34" charset="-122"/>
                <a:cs typeface="Aptos" pitchFamily="34" charset="-120"/>
              </a:rPr>
              <a:t>Does the active-learning loop visibly contract uncertainty around a believed boundary?</a:t>
            </a:r>
            <a:endParaRPr lang="en-US" sz="1200" dirty="0"/>
          </a:p>
        </p:txBody>
      </p:sp>
      <p:sp>
        <p:nvSpPr>
          <p:cNvPr id="4" name="Shape 2"/>
          <p:cNvSpPr/>
          <p:nvPr/>
        </p:nvSpPr>
        <p:spPr>
          <a:xfrm>
            <a:off x="502920" y="1124712"/>
            <a:ext cx="11201400" cy="0"/>
          </a:xfrm>
          <a:prstGeom prst="line">
            <a:avLst/>
          </a:prstGeom>
          <a:noFill/>
          <a:ln w="12700">
            <a:solidFill>
              <a:srgbClr val="D6E1EA"/>
            </a:solidFill>
            <a:prstDash val="solid"/>
          </a:ln>
        </p:spPr>
        <p:txBody>
          <a:bodyPr/>
          <a:lstStyle/>
          <a:p>
            <a:endParaRPr lang="en-US"/>
          </a:p>
        </p:txBody>
      </p:sp>
      <p:pic>
        <p:nvPicPr>
          <p:cNvPr id="5" name="Image 0" descr="/mnt/data/boundary_contraction(2).png"/>
          <p:cNvPicPr>
            <a:picLocks noChangeAspect="1"/>
          </p:cNvPicPr>
          <p:nvPr/>
        </p:nvPicPr>
        <p:blipFill>
          <a:blip r:embed="rId3"/>
          <a:stretch>
            <a:fillRect/>
          </a:stretch>
        </p:blipFill>
        <p:spPr>
          <a:xfrm>
            <a:off x="156069" y="1453896"/>
            <a:ext cx="8119251" cy="4317317"/>
          </a:xfrm>
          <a:prstGeom prst="rect">
            <a:avLst/>
          </a:prstGeom>
        </p:spPr>
      </p:pic>
      <p:sp>
        <p:nvSpPr>
          <p:cNvPr id="6" name="Text 3"/>
          <p:cNvSpPr/>
          <p:nvPr/>
        </p:nvSpPr>
        <p:spPr>
          <a:xfrm>
            <a:off x="8458200" y="1463040"/>
            <a:ext cx="3017520" cy="256032"/>
          </a:xfrm>
          <a:prstGeom prst="rect">
            <a:avLst/>
          </a:prstGeom>
          <a:noFill/>
          <a:ln/>
        </p:spPr>
        <p:txBody>
          <a:bodyPr wrap="square" lIns="0" tIns="0" rIns="0" bIns="0" rtlCol="0" anchor="ctr"/>
          <a:lstStyle/>
          <a:p>
            <a:pPr marL="0" indent="0">
              <a:buNone/>
            </a:pPr>
            <a:r>
              <a:rPr lang="en-US" sz="1550" b="1" dirty="0">
                <a:solidFill>
                  <a:srgbClr val="12385C"/>
                </a:solidFill>
              </a:rPr>
              <a:t>What to read from the plot</a:t>
            </a:r>
            <a:endParaRPr lang="en-US" sz="1550" dirty="0"/>
          </a:p>
        </p:txBody>
      </p:sp>
      <p:sp>
        <p:nvSpPr>
          <p:cNvPr id="7" name="Text 4"/>
          <p:cNvSpPr/>
          <p:nvPr/>
        </p:nvSpPr>
        <p:spPr>
          <a:xfrm>
            <a:off x="8549640" y="1874520"/>
            <a:ext cx="2971800" cy="502920"/>
          </a:xfrm>
          <a:prstGeom prst="rect">
            <a:avLst/>
          </a:prstGeom>
          <a:noFill/>
          <a:ln/>
        </p:spPr>
        <p:txBody>
          <a:bodyPr wrap="square" lIns="381" tIns="381" rIns="381" bIns="381" rtlCol="0" anchor="t">
            <a:normAutofit/>
          </a:bodyPr>
          <a:lstStyle/>
          <a:p>
            <a:r>
              <a:rPr lang="en-US" sz="1150">
                <a:solidFill>
                  <a:srgbClr val="1C2733"/>
                </a:solidFill>
                <a:latin typeface="Aptos" pitchFamily="34" charset="0"/>
                <a:ea typeface="Aptos" pitchFamily="34" charset="-122"/>
                <a:cs typeface="Aptos" pitchFamily="34" charset="-120"/>
              </a:rPr>
              <a:t>Top row: GP display score, not calibrated probability, and believed boundary μ=0</a:t>
            </a:r>
            <a:endParaRPr lang="en-US" sz="1150" dirty="0"/>
          </a:p>
        </p:txBody>
      </p:sp>
      <p:sp>
        <p:nvSpPr>
          <p:cNvPr id="8" name="Text 5"/>
          <p:cNvSpPr/>
          <p:nvPr/>
        </p:nvSpPr>
        <p:spPr>
          <a:xfrm>
            <a:off x="8549640" y="2487168"/>
            <a:ext cx="2971800" cy="365760"/>
          </a:xfrm>
          <a:prstGeom prst="rect">
            <a:avLst/>
          </a:prstGeom>
          <a:noFill/>
          <a:ln/>
        </p:spPr>
        <p:txBody>
          <a:bodyPr wrap="square" lIns="381" tIns="381" rIns="381" bIns="381" rtlCol="0" anchor="t">
            <a:normAutofit/>
          </a:bodyPr>
          <a:lstStyle/>
          <a:p>
            <a:r>
              <a:rPr lang="en-US" sz="1150" dirty="0">
                <a:solidFill>
                  <a:srgbClr val="1C2733"/>
                </a:solidFill>
                <a:latin typeface="Aptos" pitchFamily="34" charset="0"/>
                <a:ea typeface="Aptos" pitchFamily="34" charset="-122"/>
                <a:cs typeface="Aptos" pitchFamily="34" charset="-120"/>
              </a:rPr>
              <a:t>Bottom row: 95% latent uncertainty region</a:t>
            </a:r>
            <a:endParaRPr lang="en-US" sz="1150" dirty="0"/>
          </a:p>
        </p:txBody>
      </p:sp>
      <p:sp>
        <p:nvSpPr>
          <p:cNvPr id="10" name="Shape 7"/>
          <p:cNvSpPr/>
          <p:nvPr/>
        </p:nvSpPr>
        <p:spPr>
          <a:xfrm>
            <a:off x="8549640" y="3284003"/>
            <a:ext cx="2880360" cy="0"/>
          </a:xfrm>
          <a:prstGeom prst="line">
            <a:avLst/>
          </a:prstGeom>
          <a:noFill/>
          <a:ln w="12700">
            <a:solidFill>
              <a:srgbClr val="D6E1EA"/>
            </a:solidFill>
            <a:prstDash val="solid"/>
          </a:ln>
        </p:spPr>
        <p:txBody>
          <a:bodyPr/>
          <a:lstStyle/>
          <a:p>
            <a:endParaRPr lang="en-US"/>
          </a:p>
        </p:txBody>
      </p:sp>
      <p:sp>
        <p:nvSpPr>
          <p:cNvPr id="11" name="Text 8"/>
          <p:cNvSpPr/>
          <p:nvPr/>
        </p:nvSpPr>
        <p:spPr>
          <a:xfrm>
            <a:off x="8458200" y="3479292"/>
            <a:ext cx="2743200" cy="210312"/>
          </a:xfrm>
          <a:prstGeom prst="rect">
            <a:avLst/>
          </a:prstGeom>
          <a:noFill/>
          <a:ln/>
        </p:spPr>
        <p:txBody>
          <a:bodyPr wrap="square" lIns="0" tIns="0" rIns="0" bIns="0" rtlCol="0" anchor="ctr"/>
          <a:lstStyle/>
          <a:p>
            <a:pPr marL="0" indent="0">
              <a:buNone/>
            </a:pPr>
            <a:r>
              <a:rPr lang="en-US" sz="1200" b="1" dirty="0">
                <a:solidFill>
                  <a:srgbClr val="5A6572"/>
                </a:solidFill>
              </a:rPr>
              <a:t>Credible-region area</a:t>
            </a:r>
            <a:endParaRPr lang="en-US" sz="1200" dirty="0"/>
          </a:p>
        </p:txBody>
      </p:sp>
      <p:sp>
        <p:nvSpPr>
          <p:cNvPr id="12" name="Text 9"/>
          <p:cNvSpPr/>
          <p:nvPr/>
        </p:nvSpPr>
        <p:spPr>
          <a:xfrm>
            <a:off x="8458200" y="3718344"/>
            <a:ext cx="3017520" cy="384048"/>
          </a:xfrm>
          <a:prstGeom prst="rect">
            <a:avLst/>
          </a:prstGeom>
          <a:noFill/>
          <a:ln/>
        </p:spPr>
        <p:txBody>
          <a:bodyPr wrap="square" lIns="0" tIns="0" rIns="0" bIns="0" rtlCol="0" anchor="ctr">
            <a:normAutofit/>
          </a:bodyPr>
          <a:lstStyle/>
          <a:p>
            <a:pPr marL="0" indent="0">
              <a:buNone/>
            </a:pPr>
            <a:r>
              <a:rPr lang="en-US" sz="2200" b="1" dirty="0">
                <a:solidFill>
                  <a:srgbClr val="0C7C59"/>
                </a:solidFill>
              </a:rPr>
              <a:t>0.821 → 0.564 → 0.309</a:t>
            </a:r>
            <a:endParaRPr lang="en-US" sz="2200" dirty="0"/>
          </a:p>
        </p:txBody>
      </p:sp>
      <p:sp>
        <p:nvSpPr>
          <p:cNvPr id="13" name="Text 10"/>
          <p:cNvSpPr/>
          <p:nvPr/>
        </p:nvSpPr>
        <p:spPr>
          <a:xfrm>
            <a:off x="8549640" y="4102392"/>
            <a:ext cx="2971800" cy="2417280"/>
          </a:xfrm>
          <a:prstGeom prst="rect">
            <a:avLst/>
          </a:prstGeom>
          <a:noFill/>
          <a:ln/>
        </p:spPr>
        <p:txBody>
          <a:bodyPr wrap="square" lIns="254" tIns="254" rIns="254" bIns="254" rtlCol="0" anchor="ctr">
            <a:normAutofit/>
          </a:bodyPr>
          <a:lstStyle/>
          <a:p>
            <a:pPr marL="0" indent="0">
              <a:buNone/>
            </a:pPr>
            <a:r>
              <a:rPr lang="en-US" sz="1150" dirty="0">
                <a:solidFill>
                  <a:srgbClr val="1C2733"/>
                </a:solidFill>
              </a:rPr>
              <a:t>The credible-region area decreases from 0.821 to 0.309 for seed 0, so visually the uncertain region around the believed boundary contracts.</a:t>
            </a:r>
            <a:endParaRPr lang="tr-TR" sz="1150" dirty="0">
              <a:solidFill>
                <a:srgbClr val="1C2733"/>
              </a:solidFill>
            </a:endParaRPr>
          </a:p>
          <a:p>
            <a:pPr marL="0" indent="0">
              <a:buNone/>
            </a:pPr>
            <a:endParaRPr lang="tr-TR" sz="1150" dirty="0">
              <a:solidFill>
                <a:srgbClr val="1C2733"/>
              </a:solidFill>
            </a:endParaRPr>
          </a:p>
          <a:p>
            <a:r>
              <a:rPr lang="en-US" sz="1200" dirty="0"/>
              <a:t>This tells me the loop behaves sensibly before moving to a measurable benchmark.</a:t>
            </a:r>
          </a:p>
          <a:p>
            <a:pPr marL="0" indent="0">
              <a:buNone/>
            </a:pPr>
            <a:endParaRPr lang="tr-TR" sz="1150" dirty="0">
              <a:solidFill>
                <a:srgbClr val="1C2733"/>
              </a:solidFill>
            </a:endParaRPr>
          </a:p>
          <a:p>
            <a:pPr marL="0" indent="0">
              <a:buNone/>
            </a:pPr>
            <a:endParaRPr lang="tr-TR" sz="1150" dirty="0">
              <a:solidFill>
                <a:srgbClr val="1C2733"/>
              </a:solidFill>
            </a:endParaRPr>
          </a:p>
          <a:p>
            <a:pPr marL="0" indent="0">
              <a:buNone/>
            </a:pPr>
            <a:r>
              <a:rPr lang="en-US" sz="1150" dirty="0">
                <a:solidFill>
                  <a:srgbClr val="1C2733"/>
                </a:solidFill>
              </a:rPr>
              <a:t>Interpretation: this is a visual sanity check. The credible region shrinks, but correctness is measured on Branin.</a:t>
            </a:r>
            <a:endParaRPr lang="en-US" sz="1150" dirty="0"/>
          </a:p>
        </p:txBody>
      </p:sp>
      <p:sp>
        <p:nvSpPr>
          <p:cNvPr id="14" name="Text 11"/>
          <p:cNvSpPr/>
          <p:nvPr/>
        </p:nvSpPr>
        <p:spPr>
          <a:xfrm>
            <a:off x="502920" y="6519672"/>
            <a:ext cx="7680960" cy="164592"/>
          </a:xfrm>
          <a:prstGeom prst="rect">
            <a:avLst/>
          </a:prstGeom>
          <a:noFill/>
          <a:ln/>
        </p:spPr>
        <p:txBody>
          <a:bodyPr wrap="square" lIns="0" tIns="0" rIns="0" bIns="0" rtlCol="0" anchor="ctr"/>
          <a:lstStyle/>
          <a:p>
            <a:pPr marL="0" indent="0">
              <a:buNone/>
            </a:pPr>
            <a:r>
              <a:rPr lang="en-US" sz="750" dirty="0">
                <a:solidFill>
                  <a:srgbClr val="7B8794"/>
                </a:solidFill>
              </a:rPr>
              <a:t>Week 1 progress • Sample-Efficient Active Level-Set Estimation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10789920" cy="411480"/>
          </a:xfrm>
          <a:prstGeom prst="rect">
            <a:avLst/>
          </a:prstGeom>
          <a:noFill/>
          <a:ln/>
        </p:spPr>
        <p:txBody>
          <a:bodyPr wrap="square" lIns="0" tIns="0" rIns="0" bIns="0" rtlCol="0" anchor="ctr">
            <a:normAutofit/>
          </a:bodyPr>
          <a:lstStyle/>
          <a:p>
            <a:pPr marL="0" indent="0">
              <a:buNone/>
            </a:pPr>
            <a:r>
              <a:rPr lang="en-US" sz="2400" b="1" dirty="0">
                <a:solidFill>
                  <a:srgbClr val="12385C"/>
                </a:solidFill>
                <a:latin typeface="Aptos Display" pitchFamily="34" charset="0"/>
                <a:ea typeface="Aptos Display" pitchFamily="34" charset="-122"/>
                <a:cs typeface="Aptos Display" pitchFamily="34" charset="-120"/>
              </a:rPr>
              <a:t>Measured benchmark: thresholded Branin</a:t>
            </a:r>
            <a:endParaRPr lang="en-US" sz="2400" dirty="0"/>
          </a:p>
        </p:txBody>
      </p:sp>
      <p:sp>
        <p:nvSpPr>
          <p:cNvPr id="3" name="Text 1"/>
          <p:cNvSpPr/>
          <p:nvPr/>
        </p:nvSpPr>
        <p:spPr>
          <a:xfrm>
            <a:off x="521208" y="786384"/>
            <a:ext cx="10881360" cy="274320"/>
          </a:xfrm>
          <a:prstGeom prst="rect">
            <a:avLst/>
          </a:prstGeom>
          <a:noFill/>
          <a:ln/>
        </p:spPr>
        <p:txBody>
          <a:bodyPr wrap="square" lIns="0" tIns="0" rIns="0" bIns="0" rtlCol="0" anchor="ctr">
            <a:normAutofit/>
          </a:bodyPr>
          <a:lstStyle/>
          <a:p>
            <a:pPr marL="0" indent="0">
              <a:buNone/>
            </a:pPr>
            <a:r>
              <a:rPr lang="en-US" sz="1200" dirty="0">
                <a:solidFill>
                  <a:srgbClr val="5A6572"/>
                </a:solidFill>
                <a:latin typeface="Aptos" pitchFamily="34" charset="0"/>
                <a:ea typeface="Aptos" pitchFamily="34" charset="-122"/>
                <a:cs typeface="Aptos" pitchFamily="34" charset="-120"/>
              </a:rPr>
              <a:t>Unlike make_moons, Branin gives an exact analytic boundary, so we can compute a numerical error.</a:t>
            </a:r>
            <a:endParaRPr lang="en-US" sz="1200" dirty="0"/>
          </a:p>
        </p:txBody>
      </p:sp>
      <p:sp>
        <p:nvSpPr>
          <p:cNvPr id="4" name="Shape 2"/>
          <p:cNvSpPr/>
          <p:nvPr/>
        </p:nvSpPr>
        <p:spPr>
          <a:xfrm>
            <a:off x="502920" y="1124712"/>
            <a:ext cx="11201400" cy="0"/>
          </a:xfrm>
          <a:prstGeom prst="line">
            <a:avLst/>
          </a:prstGeom>
          <a:noFill/>
          <a:ln w="12700">
            <a:solidFill>
              <a:srgbClr val="D6E1EA"/>
            </a:solidFill>
            <a:prstDash val="solid"/>
          </a:ln>
        </p:spPr>
        <p:txBody>
          <a:bodyPr/>
          <a:lstStyle/>
          <a:p>
            <a:endParaRPr lang="en-US"/>
          </a:p>
        </p:txBody>
      </p:sp>
      <p:pic>
        <p:nvPicPr>
          <p:cNvPr id="5" name="Image 0" descr="/mnt/data/dataset_overview(1).png"/>
          <p:cNvPicPr>
            <a:picLocks noChangeAspect="1"/>
          </p:cNvPicPr>
          <p:nvPr/>
        </p:nvPicPr>
        <p:blipFill>
          <a:blip r:embed="rId3"/>
          <a:stretch>
            <a:fillRect/>
          </a:stretch>
        </p:blipFill>
        <p:spPr>
          <a:xfrm>
            <a:off x="345234" y="1183615"/>
            <a:ext cx="6542896" cy="5098313"/>
          </a:xfrm>
          <a:prstGeom prst="rect">
            <a:avLst/>
          </a:prstGeom>
        </p:spPr>
      </p:pic>
      <p:sp>
        <p:nvSpPr>
          <p:cNvPr id="6" name="Text 3"/>
          <p:cNvSpPr/>
          <p:nvPr/>
        </p:nvSpPr>
        <p:spPr>
          <a:xfrm>
            <a:off x="7360920" y="1463040"/>
            <a:ext cx="3749040" cy="274320"/>
          </a:xfrm>
          <a:prstGeom prst="rect">
            <a:avLst/>
          </a:prstGeom>
          <a:noFill/>
          <a:ln/>
        </p:spPr>
        <p:txBody>
          <a:bodyPr wrap="square" lIns="0" tIns="0" rIns="0" bIns="0" rtlCol="0" anchor="ctr"/>
          <a:lstStyle/>
          <a:p>
            <a:pPr marL="0" indent="0">
              <a:buNone/>
            </a:pPr>
            <a:r>
              <a:rPr lang="en-US" sz="1550" b="1" dirty="0">
                <a:solidFill>
                  <a:srgbClr val="12385C"/>
                </a:solidFill>
              </a:rPr>
              <a:t>How the benchmark is built</a:t>
            </a:r>
            <a:endParaRPr lang="en-US" sz="1550" dirty="0"/>
          </a:p>
        </p:txBody>
      </p:sp>
      <p:sp>
        <p:nvSpPr>
          <p:cNvPr id="7" name="Text 4"/>
          <p:cNvSpPr/>
          <p:nvPr/>
        </p:nvSpPr>
        <p:spPr>
          <a:xfrm>
            <a:off x="7452360" y="1847088"/>
            <a:ext cx="3886200" cy="329184"/>
          </a:xfrm>
          <a:prstGeom prst="rect">
            <a:avLst/>
          </a:prstGeom>
          <a:noFill/>
          <a:ln/>
        </p:spPr>
        <p:txBody>
          <a:bodyPr wrap="square" lIns="381" tIns="381" rIns="381" bIns="381" rtlCol="0" anchor="t">
            <a:normAutofit/>
          </a:bodyPr>
          <a:lstStyle/>
          <a:p>
            <a:r>
              <a:rPr lang="en-US" sz="1200" dirty="0">
                <a:solidFill>
                  <a:srgbClr val="1C2733"/>
                </a:solidFill>
                <a:latin typeface="Aptos" pitchFamily="34" charset="0"/>
                <a:ea typeface="Aptos" pitchFamily="34" charset="-122"/>
                <a:cs typeface="Aptos" pitchFamily="34" charset="-120"/>
              </a:rPr>
              <a:t>Evaluate Branin on x₁∈[−5,10], x₂∈[0,15]</a:t>
            </a:r>
            <a:endParaRPr lang="en-US" sz="1200" dirty="0"/>
          </a:p>
        </p:txBody>
      </p:sp>
      <p:sp>
        <p:nvSpPr>
          <p:cNvPr id="8" name="Text 5"/>
          <p:cNvSpPr/>
          <p:nvPr/>
        </p:nvSpPr>
        <p:spPr>
          <a:xfrm>
            <a:off x="7452360" y="2286000"/>
            <a:ext cx="3886200" cy="438912"/>
          </a:xfrm>
          <a:prstGeom prst="rect">
            <a:avLst/>
          </a:prstGeom>
          <a:noFill/>
          <a:ln/>
        </p:spPr>
        <p:txBody>
          <a:bodyPr wrap="square" lIns="381" tIns="381" rIns="381" bIns="381" rtlCol="0" anchor="t">
            <a:normAutofit/>
          </a:bodyPr>
          <a:lstStyle/>
          <a:p>
            <a:r>
              <a:rPr lang="en-US" sz="1200">
                <a:solidFill>
                  <a:srgbClr val="1C2733"/>
                </a:solidFill>
                <a:latin typeface="Aptos" pitchFamily="34" charset="0"/>
                <a:ea typeface="Aptos" pitchFamily="34" charset="-122"/>
                <a:cs typeface="Aptos" pitchFamily="34" charset="-120"/>
              </a:rPr>
              <a:t>Threshold τ = 45th percentile over 20,000 reproducible random points</a:t>
            </a:r>
            <a:endParaRPr lang="en-US" sz="1200" dirty="0"/>
          </a:p>
        </p:txBody>
      </p:sp>
      <p:sp>
        <p:nvSpPr>
          <p:cNvPr id="9" name="Text 6"/>
          <p:cNvSpPr/>
          <p:nvPr/>
        </p:nvSpPr>
        <p:spPr>
          <a:xfrm>
            <a:off x="7452360" y="2834640"/>
            <a:ext cx="3886200" cy="365760"/>
          </a:xfrm>
          <a:prstGeom prst="rect">
            <a:avLst/>
          </a:prstGeom>
          <a:noFill/>
          <a:ln/>
        </p:spPr>
        <p:txBody>
          <a:bodyPr wrap="square" lIns="381" tIns="381" rIns="381" bIns="381" rtlCol="0" anchor="t">
            <a:normAutofit/>
          </a:bodyPr>
          <a:lstStyle/>
          <a:p>
            <a:r>
              <a:rPr lang="en-US" sz="1200" dirty="0">
                <a:solidFill>
                  <a:srgbClr val="1C2733"/>
                </a:solidFill>
                <a:latin typeface="Aptos" pitchFamily="34" charset="0"/>
                <a:ea typeface="Aptos" pitchFamily="34" charset="-122"/>
                <a:cs typeface="Aptos" pitchFamily="34" charset="-120"/>
              </a:rPr>
              <a:t>Label +1 if Branin(x) ≥ τ, otherwise −1</a:t>
            </a:r>
            <a:endParaRPr lang="en-US" sz="1200" dirty="0"/>
          </a:p>
        </p:txBody>
      </p:sp>
      <p:sp>
        <p:nvSpPr>
          <p:cNvPr id="10" name="Text 7"/>
          <p:cNvSpPr/>
          <p:nvPr/>
        </p:nvSpPr>
        <p:spPr>
          <a:xfrm>
            <a:off x="7452360" y="3310125"/>
            <a:ext cx="3886200" cy="1896167"/>
          </a:xfrm>
          <a:prstGeom prst="rect">
            <a:avLst/>
          </a:prstGeom>
          <a:noFill/>
          <a:ln/>
        </p:spPr>
        <p:txBody>
          <a:bodyPr wrap="square" lIns="381" tIns="381" rIns="381" bIns="381" rtlCol="0" anchor="t">
            <a:normAutofit/>
          </a:bodyPr>
          <a:lstStyle/>
          <a:p>
            <a:r>
              <a:rPr lang="en-US" sz="1200" dirty="0">
                <a:solidFill>
                  <a:srgbClr val="1C2733"/>
                </a:solidFill>
                <a:latin typeface="Aptos" pitchFamily="34" charset="0"/>
                <a:ea typeface="Aptos" pitchFamily="34" charset="-122"/>
                <a:cs typeface="Aptos" pitchFamily="34" charset="-120"/>
              </a:rPr>
              <a:t>Pool: 1,500 candidate points; Test: 4,000 independent points</a:t>
            </a:r>
            <a:r>
              <a:rPr lang="tr-TR" sz="1200" dirty="0">
                <a:solidFill>
                  <a:srgbClr val="1C2733"/>
                </a:solidFill>
                <a:latin typeface="Aptos" pitchFamily="34" charset="0"/>
                <a:ea typeface="Aptos" pitchFamily="34" charset="-122"/>
                <a:cs typeface="Aptos" pitchFamily="34" charset="-120"/>
              </a:rPr>
              <a:t>. </a:t>
            </a:r>
            <a:r>
              <a:rPr lang="en-US" sz="1200" dirty="0">
                <a:solidFill>
                  <a:srgbClr val="1C2733"/>
                </a:solidFill>
                <a:latin typeface="Aptos" pitchFamily="34" charset="0"/>
                <a:ea typeface="Aptos" pitchFamily="34" charset="-122"/>
                <a:cs typeface="Aptos" pitchFamily="34" charset="-120"/>
              </a:rPr>
              <a:t>The pool is used for candidate selection, while the test set is only used for evaluation.</a:t>
            </a:r>
            <a:endParaRPr lang="tr-TR" sz="1200" dirty="0">
              <a:solidFill>
                <a:srgbClr val="1C2733"/>
              </a:solidFill>
              <a:latin typeface="Aptos" pitchFamily="34" charset="0"/>
              <a:ea typeface="Aptos" pitchFamily="34" charset="-122"/>
              <a:cs typeface="Aptos" pitchFamily="34" charset="-120"/>
            </a:endParaRPr>
          </a:p>
          <a:p>
            <a:endParaRPr lang="tr-TR" sz="1200" dirty="0">
              <a:solidFill>
                <a:srgbClr val="1C2733"/>
              </a:solidFill>
              <a:latin typeface="Aptos" pitchFamily="34" charset="0"/>
            </a:endParaRPr>
          </a:p>
          <a:p>
            <a:r>
              <a:rPr lang="en-US" sz="1200" dirty="0"/>
              <a:t>Branin is useful because the exact threshold boundary is known. I </a:t>
            </a:r>
            <a:r>
              <a:rPr lang="en-US" sz="1200" dirty="0" err="1"/>
              <a:t>thresholded</a:t>
            </a:r>
            <a:r>
              <a:rPr lang="en-US" sz="1200" dirty="0"/>
              <a:t> the Branin function at the 45th percentile, which gave τ = 29.121. The black curve is the exact analytic boundary used for evaluation.</a:t>
            </a:r>
          </a:p>
        </p:txBody>
      </p:sp>
      <p:sp>
        <p:nvSpPr>
          <p:cNvPr id="11" name="Shape 8"/>
          <p:cNvSpPr/>
          <p:nvPr/>
        </p:nvSpPr>
        <p:spPr>
          <a:xfrm>
            <a:off x="7452360" y="5215438"/>
            <a:ext cx="3749040" cy="0"/>
          </a:xfrm>
          <a:prstGeom prst="line">
            <a:avLst/>
          </a:prstGeom>
          <a:noFill/>
          <a:ln w="12700">
            <a:solidFill>
              <a:srgbClr val="D6E1EA"/>
            </a:solidFill>
            <a:prstDash val="solid"/>
          </a:ln>
        </p:spPr>
        <p:txBody>
          <a:bodyPr/>
          <a:lstStyle/>
          <a:p>
            <a:endParaRPr lang="en-US"/>
          </a:p>
        </p:txBody>
      </p:sp>
      <p:sp>
        <p:nvSpPr>
          <p:cNvPr id="12" name="Text 9"/>
          <p:cNvSpPr/>
          <p:nvPr/>
        </p:nvSpPr>
        <p:spPr>
          <a:xfrm>
            <a:off x="7543800" y="5330951"/>
            <a:ext cx="1691640" cy="502920"/>
          </a:xfrm>
          <a:prstGeom prst="rect">
            <a:avLst/>
          </a:prstGeom>
          <a:noFill/>
          <a:ln/>
        </p:spPr>
        <p:txBody>
          <a:bodyPr wrap="square" lIns="0" tIns="0" rIns="0" bIns="0" rtlCol="0" anchor="ctr">
            <a:normAutofit/>
          </a:bodyPr>
          <a:lstStyle/>
          <a:p>
            <a:pPr marL="0" indent="0" algn="ctr">
              <a:buNone/>
            </a:pPr>
            <a:r>
              <a:rPr lang="en-US" sz="3000" b="1" dirty="0">
                <a:solidFill>
                  <a:srgbClr val="12385C"/>
                </a:solidFill>
                <a:latin typeface="Aptos Display" pitchFamily="34" charset="0"/>
                <a:ea typeface="Aptos Display" pitchFamily="34" charset="-122"/>
                <a:cs typeface="Aptos Display" pitchFamily="34" charset="-120"/>
              </a:rPr>
              <a:t>τ = 29.121</a:t>
            </a:r>
            <a:endParaRPr lang="en-US" sz="3000" dirty="0"/>
          </a:p>
        </p:txBody>
      </p:sp>
      <p:sp>
        <p:nvSpPr>
          <p:cNvPr id="13" name="Text 10"/>
          <p:cNvSpPr/>
          <p:nvPr/>
        </p:nvSpPr>
        <p:spPr>
          <a:xfrm>
            <a:off x="7543800" y="5843015"/>
            <a:ext cx="1691640" cy="411480"/>
          </a:xfrm>
          <a:prstGeom prst="rect">
            <a:avLst/>
          </a:prstGeom>
          <a:noFill/>
          <a:ln/>
        </p:spPr>
        <p:txBody>
          <a:bodyPr wrap="square" lIns="254" tIns="254" rIns="254" bIns="254" rtlCol="0" anchor="ctr">
            <a:normAutofit/>
          </a:bodyPr>
          <a:lstStyle/>
          <a:p>
            <a:pPr marL="0" indent="0" algn="ctr">
              <a:buNone/>
            </a:pPr>
            <a:r>
              <a:rPr lang="en-US" sz="1050" dirty="0">
                <a:solidFill>
                  <a:srgbClr val="5A6572"/>
                </a:solidFill>
                <a:latin typeface="Aptos" pitchFamily="34" charset="0"/>
                <a:ea typeface="Aptos" pitchFamily="34" charset="-122"/>
                <a:cs typeface="Aptos" pitchFamily="34" charset="-120"/>
              </a:rPr>
              <a:t>recorded threshold</a:t>
            </a:r>
            <a:endParaRPr lang="en-US" sz="1050" dirty="0"/>
          </a:p>
        </p:txBody>
      </p:sp>
      <p:sp>
        <p:nvSpPr>
          <p:cNvPr id="14" name="Text 11"/>
          <p:cNvSpPr/>
          <p:nvPr/>
        </p:nvSpPr>
        <p:spPr>
          <a:xfrm>
            <a:off x="9464040" y="5330951"/>
            <a:ext cx="1691640" cy="502920"/>
          </a:xfrm>
          <a:prstGeom prst="rect">
            <a:avLst/>
          </a:prstGeom>
          <a:noFill/>
          <a:ln/>
        </p:spPr>
        <p:txBody>
          <a:bodyPr wrap="square" lIns="0" tIns="0" rIns="0" bIns="0" rtlCol="0" anchor="ctr">
            <a:normAutofit/>
          </a:bodyPr>
          <a:lstStyle/>
          <a:p>
            <a:pPr marL="0" indent="0" algn="ctr">
              <a:buNone/>
            </a:pPr>
            <a:r>
              <a:rPr lang="en-US" sz="3000" b="1">
                <a:solidFill>
                  <a:srgbClr val="2C6FA3"/>
                </a:solidFill>
                <a:latin typeface="Aptos Display" pitchFamily="34" charset="0"/>
                <a:ea typeface="Aptos Display" pitchFamily="34" charset="-122"/>
                <a:cs typeface="Aptos Display" pitchFamily="34" charset="-120"/>
              </a:rPr>
              <a:t>45th</a:t>
            </a:r>
            <a:endParaRPr lang="en-US" sz="3000" dirty="0"/>
          </a:p>
        </p:txBody>
      </p:sp>
      <p:sp>
        <p:nvSpPr>
          <p:cNvPr id="15" name="Text 12"/>
          <p:cNvSpPr/>
          <p:nvPr/>
        </p:nvSpPr>
        <p:spPr>
          <a:xfrm>
            <a:off x="9464040" y="5843015"/>
            <a:ext cx="1691640" cy="411480"/>
          </a:xfrm>
          <a:prstGeom prst="rect">
            <a:avLst/>
          </a:prstGeom>
          <a:noFill/>
          <a:ln/>
        </p:spPr>
        <p:txBody>
          <a:bodyPr wrap="square" lIns="254" tIns="254" rIns="254" bIns="254" rtlCol="0" anchor="ctr">
            <a:normAutofit/>
          </a:bodyPr>
          <a:lstStyle/>
          <a:p>
            <a:pPr marL="0" indent="0" algn="ctr">
              <a:buNone/>
            </a:pPr>
            <a:r>
              <a:rPr lang="en-US" sz="1050">
                <a:solidFill>
                  <a:srgbClr val="5A6572"/>
                </a:solidFill>
                <a:latin typeface="Aptos" pitchFamily="34" charset="0"/>
                <a:ea typeface="Aptos" pitchFamily="34" charset="-122"/>
                <a:cs typeface="Aptos" pitchFamily="34" charset="-120"/>
              </a:rPr>
              <a:t>percentile threshold</a:t>
            </a:r>
            <a:endParaRPr lang="en-US" sz="1050" dirty="0"/>
          </a:p>
        </p:txBody>
      </p:sp>
      <p:sp>
        <p:nvSpPr>
          <p:cNvPr id="16" name="Text 13"/>
          <p:cNvSpPr/>
          <p:nvPr/>
        </p:nvSpPr>
        <p:spPr>
          <a:xfrm>
            <a:off x="502920" y="6519672"/>
            <a:ext cx="7680960" cy="164592"/>
          </a:xfrm>
          <a:prstGeom prst="rect">
            <a:avLst/>
          </a:prstGeom>
          <a:noFill/>
          <a:ln/>
        </p:spPr>
        <p:txBody>
          <a:bodyPr wrap="square" lIns="0" tIns="0" rIns="0" bIns="0" rtlCol="0" anchor="ctr"/>
          <a:lstStyle/>
          <a:p>
            <a:pPr marL="0" indent="0">
              <a:buNone/>
            </a:pPr>
            <a:r>
              <a:rPr lang="en-US" sz="750" dirty="0">
                <a:solidFill>
                  <a:srgbClr val="7B8794"/>
                </a:solidFill>
              </a:rPr>
              <a:t>Week 1 progress • Sample-Efficient Active Level-Set Estimation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10789920" cy="411480"/>
          </a:xfrm>
          <a:prstGeom prst="rect">
            <a:avLst/>
          </a:prstGeom>
          <a:noFill/>
          <a:ln/>
        </p:spPr>
        <p:txBody>
          <a:bodyPr wrap="square" lIns="0" tIns="0" rIns="0" bIns="0" rtlCol="0" anchor="ctr">
            <a:normAutofit/>
          </a:bodyPr>
          <a:lstStyle/>
          <a:p>
            <a:pPr marL="0" indent="0">
              <a:buNone/>
            </a:pPr>
            <a:r>
              <a:rPr lang="en-US" sz="2400" b="1" dirty="0">
                <a:solidFill>
                  <a:srgbClr val="12385C"/>
                </a:solidFill>
                <a:latin typeface="Aptos Display" pitchFamily="34" charset="0"/>
                <a:ea typeface="Aptos Display" pitchFamily="34" charset="-122"/>
                <a:cs typeface="Aptos Display" pitchFamily="34" charset="-120"/>
              </a:rPr>
              <a:t>Branin active learning snapshots</a:t>
            </a:r>
            <a:endParaRPr lang="en-US" sz="2400" dirty="0"/>
          </a:p>
        </p:txBody>
      </p:sp>
      <p:sp>
        <p:nvSpPr>
          <p:cNvPr id="3" name="Text 1"/>
          <p:cNvSpPr/>
          <p:nvPr/>
        </p:nvSpPr>
        <p:spPr>
          <a:xfrm>
            <a:off x="521208" y="786384"/>
            <a:ext cx="10881360" cy="274320"/>
          </a:xfrm>
          <a:prstGeom prst="rect">
            <a:avLst/>
          </a:prstGeom>
          <a:noFill/>
          <a:ln/>
        </p:spPr>
        <p:txBody>
          <a:bodyPr wrap="square" lIns="0" tIns="0" rIns="0" bIns="0" rtlCol="0" anchor="ctr">
            <a:normAutofit/>
          </a:bodyPr>
          <a:lstStyle/>
          <a:p>
            <a:pPr marL="0" indent="0">
              <a:buNone/>
            </a:pPr>
            <a:r>
              <a:rPr lang="en-US" sz="1200">
                <a:solidFill>
                  <a:srgbClr val="5A6572"/>
                </a:solidFill>
                <a:latin typeface="Aptos" pitchFamily="34" charset="0"/>
                <a:ea typeface="Aptos" pitchFamily="34" charset="-122"/>
                <a:cs typeface="Aptos" pitchFamily="34" charset="-120"/>
              </a:rPr>
              <a:t>The GP boundary becomes more informative as labels are revealed; the exact boundary is shown for reference.</a:t>
            </a:r>
            <a:endParaRPr lang="en-US" sz="1200" dirty="0"/>
          </a:p>
        </p:txBody>
      </p:sp>
      <p:sp>
        <p:nvSpPr>
          <p:cNvPr id="4" name="Shape 2"/>
          <p:cNvSpPr/>
          <p:nvPr/>
        </p:nvSpPr>
        <p:spPr>
          <a:xfrm>
            <a:off x="502920" y="1124712"/>
            <a:ext cx="11201400" cy="0"/>
          </a:xfrm>
          <a:prstGeom prst="line">
            <a:avLst/>
          </a:prstGeom>
          <a:noFill/>
          <a:ln w="12700">
            <a:solidFill>
              <a:srgbClr val="D6E1EA"/>
            </a:solidFill>
            <a:prstDash val="solid"/>
          </a:ln>
        </p:spPr>
        <p:txBody>
          <a:bodyPr/>
          <a:lstStyle/>
          <a:p>
            <a:endParaRPr lang="en-US"/>
          </a:p>
        </p:txBody>
      </p:sp>
      <p:sp>
        <p:nvSpPr>
          <p:cNvPr id="6" name="Text 3"/>
          <p:cNvSpPr/>
          <p:nvPr/>
        </p:nvSpPr>
        <p:spPr>
          <a:xfrm>
            <a:off x="6872929" y="5879030"/>
            <a:ext cx="4937760" cy="256032"/>
          </a:xfrm>
          <a:prstGeom prst="rect">
            <a:avLst/>
          </a:prstGeom>
          <a:noFill/>
          <a:ln/>
        </p:spPr>
        <p:txBody>
          <a:bodyPr wrap="square" lIns="0" tIns="0" rIns="0" bIns="0" rtlCol="0" anchor="ctr"/>
          <a:lstStyle/>
          <a:p>
            <a:pPr marL="0" indent="0">
              <a:buNone/>
            </a:pPr>
            <a:r>
              <a:rPr lang="en-US" sz="1400" b="1" dirty="0">
                <a:solidFill>
                  <a:srgbClr val="0C7C59"/>
                </a:solidFill>
              </a:rPr>
              <a:t>Seed 0: test error drops 0.251 → 0.144 → 0.073</a:t>
            </a:r>
            <a:endParaRPr lang="en-US" sz="1400" dirty="0"/>
          </a:p>
        </p:txBody>
      </p:sp>
      <p:sp>
        <p:nvSpPr>
          <p:cNvPr id="7" name="Text 4"/>
          <p:cNvSpPr/>
          <p:nvPr/>
        </p:nvSpPr>
        <p:spPr>
          <a:xfrm>
            <a:off x="4833257" y="6172200"/>
            <a:ext cx="6596743" cy="256032"/>
          </a:xfrm>
          <a:prstGeom prst="rect">
            <a:avLst/>
          </a:prstGeom>
          <a:noFill/>
          <a:ln/>
        </p:spPr>
        <p:txBody>
          <a:bodyPr wrap="square" lIns="0" tIns="0" rIns="0" bIns="0" rtlCol="0" anchor="ctr">
            <a:noAutofit/>
          </a:bodyPr>
          <a:lstStyle/>
          <a:p>
            <a:pPr algn="r"/>
            <a:r>
              <a:rPr lang="en-US" sz="1100" dirty="0">
                <a:solidFill>
                  <a:srgbClr val="5A6572"/>
                </a:solidFill>
              </a:rPr>
              <a:t>• Black = GP believed boundary μ=0 • Yellow dashed = exact Branin boundary</a:t>
            </a:r>
            <a:endParaRPr lang="en-US" sz="1100" dirty="0"/>
          </a:p>
        </p:txBody>
      </p:sp>
      <p:sp>
        <p:nvSpPr>
          <p:cNvPr id="8" name="Text 5"/>
          <p:cNvSpPr/>
          <p:nvPr/>
        </p:nvSpPr>
        <p:spPr>
          <a:xfrm>
            <a:off x="502920" y="6519672"/>
            <a:ext cx="7680960" cy="164592"/>
          </a:xfrm>
          <a:prstGeom prst="rect">
            <a:avLst/>
          </a:prstGeom>
          <a:noFill/>
          <a:ln/>
        </p:spPr>
        <p:txBody>
          <a:bodyPr wrap="square" lIns="0" tIns="0" rIns="0" bIns="0" rtlCol="0" anchor="ctr"/>
          <a:lstStyle/>
          <a:p>
            <a:pPr marL="0" indent="0">
              <a:buNone/>
            </a:pPr>
            <a:r>
              <a:rPr lang="en-US" sz="750" dirty="0">
                <a:solidFill>
                  <a:srgbClr val="7B8794"/>
                </a:solidFill>
              </a:rPr>
              <a:t>Week 1 progress • Sample-Efficient Active Level-Set Estimation • 5</a:t>
            </a:r>
            <a:endParaRPr lang="en-US" sz="750" dirty="0"/>
          </a:p>
        </p:txBody>
      </p:sp>
      <p:pic>
        <p:nvPicPr>
          <p:cNvPr id="10" name="Picture 9">
            <a:extLst>
              <a:ext uri="{FF2B5EF4-FFF2-40B4-BE49-F238E27FC236}">
                <a16:creationId xmlns:a16="http://schemas.microsoft.com/office/drawing/2014/main" id="{02C08C1C-CC7C-EB6A-533F-5EEA53657160}"/>
              </a:ext>
            </a:extLst>
          </p:cNvPr>
          <p:cNvPicPr>
            <a:picLocks noChangeAspect="1"/>
          </p:cNvPicPr>
          <p:nvPr/>
        </p:nvPicPr>
        <p:blipFill>
          <a:blip r:embed="rId3"/>
          <a:stretch>
            <a:fillRect/>
          </a:stretch>
        </p:blipFill>
        <p:spPr>
          <a:xfrm>
            <a:off x="135958" y="1170431"/>
            <a:ext cx="12017166" cy="4745175"/>
          </a:xfrm>
          <a:prstGeom prst="rect">
            <a:avLst/>
          </a:prstGeom>
        </p:spPr>
      </p:pic>
      <p:sp>
        <p:nvSpPr>
          <p:cNvPr id="12" name="TextBox 11">
            <a:extLst>
              <a:ext uri="{FF2B5EF4-FFF2-40B4-BE49-F238E27FC236}">
                <a16:creationId xmlns:a16="http://schemas.microsoft.com/office/drawing/2014/main" id="{FBD3E938-8A09-E7E9-E107-CAD8188A1379}"/>
              </a:ext>
            </a:extLst>
          </p:cNvPr>
          <p:cNvSpPr txBox="1"/>
          <p:nvPr/>
        </p:nvSpPr>
        <p:spPr>
          <a:xfrm>
            <a:off x="135958" y="5371198"/>
            <a:ext cx="3969242" cy="1015663"/>
          </a:xfrm>
          <a:prstGeom prst="rect">
            <a:avLst/>
          </a:prstGeom>
          <a:noFill/>
        </p:spPr>
        <p:txBody>
          <a:bodyPr wrap="square">
            <a:spAutoFit/>
          </a:bodyPr>
          <a:lstStyle/>
          <a:p>
            <a:pPr>
              <a:buNone/>
            </a:pPr>
            <a:r>
              <a:rPr lang="en-US" sz="1200" dirty="0"/>
              <a:t>The black line is the GP believed boundary, and the yellow dashed line is the exact Branin boundary. As the labelled budget increases from 6 to 20 to 50, the model’s boundary estimate becomes more informative and the test error for seed 0 drops from 0.251 to 0.073.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10789920" cy="411480"/>
          </a:xfrm>
          <a:prstGeom prst="rect">
            <a:avLst/>
          </a:prstGeom>
          <a:noFill/>
          <a:ln/>
        </p:spPr>
        <p:txBody>
          <a:bodyPr wrap="square" lIns="0" tIns="0" rIns="0" bIns="0" rtlCol="0" anchor="ctr">
            <a:normAutofit/>
          </a:bodyPr>
          <a:lstStyle/>
          <a:p>
            <a:pPr marL="0" indent="0">
              <a:buNone/>
            </a:pPr>
            <a:r>
              <a:rPr lang="en-US" sz="2400" b="1" dirty="0">
                <a:solidFill>
                  <a:srgbClr val="12385C"/>
                </a:solidFill>
                <a:latin typeface="Aptos Display" pitchFamily="34" charset="0"/>
                <a:ea typeface="Aptos Display" pitchFamily="34" charset="-122"/>
                <a:cs typeface="Aptos Display" pitchFamily="34" charset="-120"/>
              </a:rPr>
              <a:t>Numeric result: Branin test error falls across seeds</a:t>
            </a:r>
            <a:endParaRPr lang="en-US" sz="2400" dirty="0"/>
          </a:p>
        </p:txBody>
      </p:sp>
      <p:sp>
        <p:nvSpPr>
          <p:cNvPr id="3" name="Text 1"/>
          <p:cNvSpPr/>
          <p:nvPr/>
        </p:nvSpPr>
        <p:spPr>
          <a:xfrm>
            <a:off x="521208" y="786384"/>
            <a:ext cx="10881360" cy="274320"/>
          </a:xfrm>
          <a:prstGeom prst="rect">
            <a:avLst/>
          </a:prstGeom>
          <a:noFill/>
          <a:ln/>
        </p:spPr>
        <p:txBody>
          <a:bodyPr wrap="square" lIns="0" tIns="0" rIns="0" bIns="0" rtlCol="0" anchor="ctr">
            <a:normAutofit/>
          </a:bodyPr>
          <a:lstStyle/>
          <a:p>
            <a:pPr marL="0" indent="0">
              <a:buNone/>
            </a:pPr>
            <a:r>
              <a:rPr lang="en-US" sz="1050" dirty="0">
                <a:solidFill>
                  <a:srgbClr val="5A6572"/>
                </a:solidFill>
                <a:latin typeface="Aptos" pitchFamily="34" charset="0"/>
                <a:ea typeface="Aptos" pitchFamily="34" charset="-122"/>
                <a:cs typeface="Aptos" pitchFamily="34" charset="-120"/>
              </a:rPr>
              <a:t>Error is the fraction of 4,000 independent test points mislabelled against the exact thresholded-Branin labels.</a:t>
            </a:r>
            <a:endParaRPr lang="en-US" sz="1050" dirty="0"/>
          </a:p>
        </p:txBody>
      </p:sp>
      <p:sp>
        <p:nvSpPr>
          <p:cNvPr id="4" name="Shape 2"/>
          <p:cNvSpPr/>
          <p:nvPr/>
        </p:nvSpPr>
        <p:spPr>
          <a:xfrm>
            <a:off x="502920" y="1124712"/>
            <a:ext cx="11201400" cy="0"/>
          </a:xfrm>
          <a:prstGeom prst="line">
            <a:avLst/>
          </a:prstGeom>
          <a:noFill/>
          <a:ln w="12700">
            <a:solidFill>
              <a:srgbClr val="D6E1EA"/>
            </a:solidFill>
            <a:prstDash val="solid"/>
          </a:ln>
        </p:spPr>
        <p:txBody>
          <a:bodyPr/>
          <a:lstStyle/>
          <a:p>
            <a:endParaRPr lang="en-US"/>
          </a:p>
        </p:txBody>
      </p:sp>
      <p:pic>
        <p:nvPicPr>
          <p:cNvPr id="5" name="Image 0" descr="/mnt/data/error_vs_evaluations(1).png"/>
          <p:cNvPicPr>
            <a:picLocks noChangeAspect="1"/>
          </p:cNvPicPr>
          <p:nvPr/>
        </p:nvPicPr>
        <p:blipFill>
          <a:blip r:embed="rId3"/>
          <a:stretch>
            <a:fillRect/>
          </a:stretch>
        </p:blipFill>
        <p:spPr>
          <a:xfrm>
            <a:off x="502920" y="1580474"/>
            <a:ext cx="6766560" cy="4474293"/>
          </a:xfrm>
          <a:prstGeom prst="rect">
            <a:avLst/>
          </a:prstGeom>
        </p:spPr>
      </p:pic>
      <p:sp>
        <p:nvSpPr>
          <p:cNvPr id="6" name="Text 3"/>
          <p:cNvSpPr/>
          <p:nvPr/>
        </p:nvSpPr>
        <p:spPr>
          <a:xfrm>
            <a:off x="7635240" y="1463040"/>
            <a:ext cx="3474720" cy="274320"/>
          </a:xfrm>
          <a:prstGeom prst="rect">
            <a:avLst/>
          </a:prstGeom>
          <a:noFill/>
          <a:ln/>
        </p:spPr>
        <p:txBody>
          <a:bodyPr wrap="square" lIns="0" tIns="0" rIns="0" bIns="0" rtlCol="0" anchor="ctr"/>
          <a:lstStyle/>
          <a:p>
            <a:pPr marL="0" indent="0">
              <a:buNone/>
            </a:pPr>
            <a:r>
              <a:rPr lang="en-US" sz="1550" b="1" dirty="0">
                <a:solidFill>
                  <a:srgbClr val="12385C"/>
                </a:solidFill>
              </a:rPr>
              <a:t>Per-seed improvement</a:t>
            </a:r>
            <a:endParaRPr lang="en-US" sz="1550" dirty="0"/>
          </a:p>
        </p:txBody>
      </p:sp>
      <p:sp>
        <p:nvSpPr>
          <p:cNvPr id="7" name="Text 4"/>
          <p:cNvSpPr/>
          <p:nvPr/>
        </p:nvSpPr>
        <p:spPr>
          <a:xfrm>
            <a:off x="7635240" y="1920240"/>
            <a:ext cx="731520" cy="201168"/>
          </a:xfrm>
          <a:prstGeom prst="rect">
            <a:avLst/>
          </a:prstGeom>
          <a:noFill/>
          <a:ln/>
        </p:spPr>
        <p:txBody>
          <a:bodyPr wrap="square" lIns="0" tIns="0" rIns="0" bIns="0" rtlCol="0" anchor="ctr"/>
          <a:lstStyle/>
          <a:p>
            <a:pPr marL="0" indent="0">
              <a:buNone/>
            </a:pPr>
            <a:r>
              <a:rPr lang="en-US" sz="1050" b="1" dirty="0">
                <a:solidFill>
                  <a:srgbClr val="5A6572"/>
                </a:solidFill>
              </a:rPr>
              <a:t>Seed</a:t>
            </a:r>
            <a:endParaRPr lang="en-US" sz="1050" dirty="0"/>
          </a:p>
        </p:txBody>
      </p:sp>
      <p:sp>
        <p:nvSpPr>
          <p:cNvPr id="8" name="Text 5"/>
          <p:cNvSpPr/>
          <p:nvPr/>
        </p:nvSpPr>
        <p:spPr>
          <a:xfrm>
            <a:off x="8778240" y="1920240"/>
            <a:ext cx="822960" cy="201168"/>
          </a:xfrm>
          <a:prstGeom prst="rect">
            <a:avLst/>
          </a:prstGeom>
          <a:noFill/>
          <a:ln/>
        </p:spPr>
        <p:txBody>
          <a:bodyPr wrap="square" lIns="0" tIns="0" rIns="0" bIns="0" rtlCol="0" anchor="ctr"/>
          <a:lstStyle/>
          <a:p>
            <a:pPr marL="0" indent="0" algn="r">
              <a:buNone/>
            </a:pPr>
            <a:r>
              <a:rPr lang="en-US" sz="1050" b="1" dirty="0">
                <a:solidFill>
                  <a:srgbClr val="5A6572"/>
                </a:solidFill>
              </a:rPr>
              <a:t>Initial</a:t>
            </a:r>
            <a:endParaRPr lang="en-US" sz="1050" dirty="0"/>
          </a:p>
        </p:txBody>
      </p:sp>
      <p:sp>
        <p:nvSpPr>
          <p:cNvPr id="9" name="Text 6"/>
          <p:cNvSpPr/>
          <p:nvPr/>
        </p:nvSpPr>
        <p:spPr>
          <a:xfrm>
            <a:off x="9966960" y="1920240"/>
            <a:ext cx="731520" cy="201168"/>
          </a:xfrm>
          <a:prstGeom prst="rect">
            <a:avLst/>
          </a:prstGeom>
          <a:noFill/>
          <a:ln/>
        </p:spPr>
        <p:txBody>
          <a:bodyPr wrap="square" lIns="0" tIns="0" rIns="0" bIns="0" rtlCol="0" anchor="ctr"/>
          <a:lstStyle/>
          <a:p>
            <a:pPr marL="0" indent="0" algn="r">
              <a:buNone/>
            </a:pPr>
            <a:r>
              <a:rPr lang="en-US" sz="1050" b="1" dirty="0">
                <a:solidFill>
                  <a:srgbClr val="5A6572"/>
                </a:solidFill>
              </a:rPr>
              <a:t>Final</a:t>
            </a:r>
            <a:endParaRPr lang="en-US" sz="1050" dirty="0"/>
          </a:p>
        </p:txBody>
      </p:sp>
      <p:sp>
        <p:nvSpPr>
          <p:cNvPr id="10" name="Shape 7"/>
          <p:cNvSpPr/>
          <p:nvPr/>
        </p:nvSpPr>
        <p:spPr>
          <a:xfrm>
            <a:off x="7635240" y="2194560"/>
            <a:ext cx="3246120" cy="0"/>
          </a:xfrm>
          <a:prstGeom prst="line">
            <a:avLst/>
          </a:prstGeom>
          <a:noFill/>
          <a:ln w="6350">
            <a:solidFill>
              <a:srgbClr val="D6E1EA"/>
            </a:solidFill>
            <a:prstDash val="solid"/>
          </a:ln>
        </p:spPr>
        <p:txBody>
          <a:bodyPr/>
          <a:lstStyle/>
          <a:p>
            <a:endParaRPr lang="en-US"/>
          </a:p>
        </p:txBody>
      </p:sp>
      <p:sp>
        <p:nvSpPr>
          <p:cNvPr id="11" name="Text 8"/>
          <p:cNvSpPr/>
          <p:nvPr/>
        </p:nvSpPr>
        <p:spPr>
          <a:xfrm>
            <a:off x="7635240" y="2304288"/>
            <a:ext cx="731520" cy="201168"/>
          </a:xfrm>
          <a:prstGeom prst="rect">
            <a:avLst/>
          </a:prstGeom>
          <a:noFill/>
          <a:ln/>
        </p:spPr>
        <p:txBody>
          <a:bodyPr wrap="square" lIns="0" tIns="0" rIns="0" bIns="0" rtlCol="0" anchor="ctr"/>
          <a:lstStyle/>
          <a:p>
            <a:pPr marL="0" indent="0">
              <a:buNone/>
            </a:pPr>
            <a:r>
              <a:rPr lang="en-US" sz="1200" dirty="0">
                <a:solidFill>
                  <a:srgbClr val="1C2733"/>
                </a:solidFill>
              </a:rPr>
              <a:t>0</a:t>
            </a:r>
            <a:endParaRPr lang="en-US" sz="1200" dirty="0"/>
          </a:p>
        </p:txBody>
      </p:sp>
      <p:sp>
        <p:nvSpPr>
          <p:cNvPr id="12" name="Text 9"/>
          <p:cNvSpPr/>
          <p:nvPr/>
        </p:nvSpPr>
        <p:spPr>
          <a:xfrm>
            <a:off x="8778240" y="2304288"/>
            <a:ext cx="822960" cy="201168"/>
          </a:xfrm>
          <a:prstGeom prst="rect">
            <a:avLst/>
          </a:prstGeom>
          <a:noFill/>
          <a:ln/>
        </p:spPr>
        <p:txBody>
          <a:bodyPr wrap="square" lIns="0" tIns="0" rIns="0" bIns="0" rtlCol="0" anchor="ctr"/>
          <a:lstStyle/>
          <a:p>
            <a:pPr marL="0" indent="0" algn="r">
              <a:buNone/>
            </a:pPr>
            <a:r>
              <a:rPr lang="en-US" sz="1200" dirty="0">
                <a:solidFill>
                  <a:srgbClr val="1C2733"/>
                </a:solidFill>
              </a:rPr>
              <a:t>25.10%</a:t>
            </a:r>
            <a:endParaRPr lang="en-US" sz="1200" dirty="0"/>
          </a:p>
        </p:txBody>
      </p:sp>
      <p:sp>
        <p:nvSpPr>
          <p:cNvPr id="13" name="Text 10"/>
          <p:cNvSpPr/>
          <p:nvPr/>
        </p:nvSpPr>
        <p:spPr>
          <a:xfrm>
            <a:off x="9966960" y="2304288"/>
            <a:ext cx="731520" cy="201168"/>
          </a:xfrm>
          <a:prstGeom prst="rect">
            <a:avLst/>
          </a:prstGeom>
          <a:noFill/>
          <a:ln/>
        </p:spPr>
        <p:txBody>
          <a:bodyPr wrap="square" lIns="0" tIns="0" rIns="0" bIns="0" rtlCol="0" anchor="ctr"/>
          <a:lstStyle/>
          <a:p>
            <a:pPr marL="0" indent="0" algn="r">
              <a:buNone/>
            </a:pPr>
            <a:r>
              <a:rPr lang="en-US" sz="1200" b="1" dirty="0">
                <a:solidFill>
                  <a:srgbClr val="0C7C59"/>
                </a:solidFill>
              </a:rPr>
              <a:t>7.32%</a:t>
            </a:r>
            <a:endParaRPr lang="en-US" sz="1200" dirty="0"/>
          </a:p>
        </p:txBody>
      </p:sp>
      <p:sp>
        <p:nvSpPr>
          <p:cNvPr id="14" name="Shape 11"/>
          <p:cNvSpPr/>
          <p:nvPr/>
        </p:nvSpPr>
        <p:spPr>
          <a:xfrm>
            <a:off x="7635240" y="2578608"/>
            <a:ext cx="3246120" cy="0"/>
          </a:xfrm>
          <a:prstGeom prst="line">
            <a:avLst/>
          </a:prstGeom>
          <a:noFill/>
          <a:ln w="6350">
            <a:solidFill>
              <a:srgbClr val="D6E1EA"/>
            </a:solidFill>
            <a:prstDash val="solid"/>
          </a:ln>
        </p:spPr>
        <p:txBody>
          <a:bodyPr/>
          <a:lstStyle/>
          <a:p>
            <a:endParaRPr lang="en-US"/>
          </a:p>
        </p:txBody>
      </p:sp>
      <p:sp>
        <p:nvSpPr>
          <p:cNvPr id="15" name="Text 12"/>
          <p:cNvSpPr/>
          <p:nvPr/>
        </p:nvSpPr>
        <p:spPr>
          <a:xfrm>
            <a:off x="7635240" y="2688336"/>
            <a:ext cx="731520" cy="201168"/>
          </a:xfrm>
          <a:prstGeom prst="rect">
            <a:avLst/>
          </a:prstGeom>
          <a:noFill/>
          <a:ln/>
        </p:spPr>
        <p:txBody>
          <a:bodyPr wrap="square" lIns="0" tIns="0" rIns="0" bIns="0" rtlCol="0" anchor="ctr"/>
          <a:lstStyle/>
          <a:p>
            <a:pPr marL="0" indent="0">
              <a:buNone/>
            </a:pPr>
            <a:r>
              <a:rPr lang="en-US" sz="1200" dirty="0">
                <a:solidFill>
                  <a:srgbClr val="1C2733"/>
                </a:solidFill>
              </a:rPr>
              <a:t>1</a:t>
            </a:r>
            <a:endParaRPr lang="en-US" sz="1200" dirty="0"/>
          </a:p>
        </p:txBody>
      </p:sp>
      <p:sp>
        <p:nvSpPr>
          <p:cNvPr id="16" name="Text 13"/>
          <p:cNvSpPr/>
          <p:nvPr/>
        </p:nvSpPr>
        <p:spPr>
          <a:xfrm>
            <a:off x="8778240" y="2688336"/>
            <a:ext cx="822960" cy="201168"/>
          </a:xfrm>
          <a:prstGeom prst="rect">
            <a:avLst/>
          </a:prstGeom>
          <a:noFill/>
          <a:ln/>
        </p:spPr>
        <p:txBody>
          <a:bodyPr wrap="square" lIns="0" tIns="0" rIns="0" bIns="0" rtlCol="0" anchor="ctr"/>
          <a:lstStyle/>
          <a:p>
            <a:pPr marL="0" indent="0" algn="r">
              <a:buNone/>
            </a:pPr>
            <a:r>
              <a:rPr lang="en-US" sz="1200" dirty="0">
                <a:solidFill>
                  <a:srgbClr val="1C2733"/>
                </a:solidFill>
              </a:rPr>
              <a:t>36.35%</a:t>
            </a:r>
            <a:endParaRPr lang="en-US" sz="1200" dirty="0"/>
          </a:p>
        </p:txBody>
      </p:sp>
      <p:sp>
        <p:nvSpPr>
          <p:cNvPr id="17" name="Text 14"/>
          <p:cNvSpPr/>
          <p:nvPr/>
        </p:nvSpPr>
        <p:spPr>
          <a:xfrm>
            <a:off x="9966960" y="2688336"/>
            <a:ext cx="731520" cy="201168"/>
          </a:xfrm>
          <a:prstGeom prst="rect">
            <a:avLst/>
          </a:prstGeom>
          <a:noFill/>
          <a:ln/>
        </p:spPr>
        <p:txBody>
          <a:bodyPr wrap="square" lIns="0" tIns="0" rIns="0" bIns="0" rtlCol="0" anchor="ctr"/>
          <a:lstStyle/>
          <a:p>
            <a:pPr marL="0" indent="0" algn="r">
              <a:buNone/>
            </a:pPr>
            <a:r>
              <a:rPr lang="en-US" sz="1200" b="1" dirty="0">
                <a:solidFill>
                  <a:srgbClr val="0C7C59"/>
                </a:solidFill>
              </a:rPr>
              <a:t>5.73%</a:t>
            </a:r>
            <a:endParaRPr lang="en-US" sz="1200" dirty="0"/>
          </a:p>
        </p:txBody>
      </p:sp>
      <p:sp>
        <p:nvSpPr>
          <p:cNvPr id="18" name="Shape 15"/>
          <p:cNvSpPr/>
          <p:nvPr/>
        </p:nvSpPr>
        <p:spPr>
          <a:xfrm>
            <a:off x="7635240" y="2962656"/>
            <a:ext cx="3246120" cy="0"/>
          </a:xfrm>
          <a:prstGeom prst="line">
            <a:avLst/>
          </a:prstGeom>
          <a:noFill/>
          <a:ln w="6350">
            <a:solidFill>
              <a:srgbClr val="D6E1EA"/>
            </a:solidFill>
            <a:prstDash val="solid"/>
          </a:ln>
        </p:spPr>
        <p:txBody>
          <a:bodyPr/>
          <a:lstStyle/>
          <a:p>
            <a:endParaRPr lang="en-US"/>
          </a:p>
        </p:txBody>
      </p:sp>
      <p:sp>
        <p:nvSpPr>
          <p:cNvPr id="19" name="Text 16"/>
          <p:cNvSpPr/>
          <p:nvPr/>
        </p:nvSpPr>
        <p:spPr>
          <a:xfrm>
            <a:off x="7635240" y="3072384"/>
            <a:ext cx="731520" cy="201168"/>
          </a:xfrm>
          <a:prstGeom prst="rect">
            <a:avLst/>
          </a:prstGeom>
          <a:noFill/>
          <a:ln/>
        </p:spPr>
        <p:txBody>
          <a:bodyPr wrap="square" lIns="0" tIns="0" rIns="0" bIns="0" rtlCol="0" anchor="ctr"/>
          <a:lstStyle/>
          <a:p>
            <a:pPr marL="0" indent="0">
              <a:buNone/>
            </a:pPr>
            <a:r>
              <a:rPr lang="en-US" sz="1200" dirty="0">
                <a:solidFill>
                  <a:srgbClr val="1C2733"/>
                </a:solidFill>
              </a:rPr>
              <a:t>2</a:t>
            </a:r>
            <a:endParaRPr lang="en-US" sz="1200" dirty="0"/>
          </a:p>
        </p:txBody>
      </p:sp>
      <p:sp>
        <p:nvSpPr>
          <p:cNvPr id="20" name="Text 17"/>
          <p:cNvSpPr/>
          <p:nvPr/>
        </p:nvSpPr>
        <p:spPr>
          <a:xfrm>
            <a:off x="8778240" y="3072384"/>
            <a:ext cx="822960" cy="201168"/>
          </a:xfrm>
          <a:prstGeom prst="rect">
            <a:avLst/>
          </a:prstGeom>
          <a:noFill/>
          <a:ln/>
        </p:spPr>
        <p:txBody>
          <a:bodyPr wrap="square" lIns="0" tIns="0" rIns="0" bIns="0" rtlCol="0" anchor="ctr"/>
          <a:lstStyle/>
          <a:p>
            <a:pPr marL="0" indent="0" algn="r">
              <a:buNone/>
            </a:pPr>
            <a:r>
              <a:rPr lang="en-US" sz="1200" dirty="0">
                <a:solidFill>
                  <a:srgbClr val="1C2733"/>
                </a:solidFill>
              </a:rPr>
              <a:t>39.60%</a:t>
            </a:r>
            <a:endParaRPr lang="en-US" sz="1200" dirty="0"/>
          </a:p>
        </p:txBody>
      </p:sp>
      <p:sp>
        <p:nvSpPr>
          <p:cNvPr id="21" name="Text 18"/>
          <p:cNvSpPr/>
          <p:nvPr/>
        </p:nvSpPr>
        <p:spPr>
          <a:xfrm>
            <a:off x="9966960" y="3072384"/>
            <a:ext cx="731520" cy="201168"/>
          </a:xfrm>
          <a:prstGeom prst="rect">
            <a:avLst/>
          </a:prstGeom>
          <a:noFill/>
          <a:ln/>
        </p:spPr>
        <p:txBody>
          <a:bodyPr wrap="square" lIns="0" tIns="0" rIns="0" bIns="0" rtlCol="0" anchor="ctr"/>
          <a:lstStyle/>
          <a:p>
            <a:pPr marL="0" indent="0" algn="r">
              <a:buNone/>
            </a:pPr>
            <a:r>
              <a:rPr lang="en-US" sz="1200" b="1" dirty="0">
                <a:solidFill>
                  <a:srgbClr val="0C7C59"/>
                </a:solidFill>
              </a:rPr>
              <a:t>5.10%</a:t>
            </a:r>
            <a:endParaRPr lang="en-US" sz="1200" dirty="0"/>
          </a:p>
        </p:txBody>
      </p:sp>
      <p:sp>
        <p:nvSpPr>
          <p:cNvPr id="22" name="Shape 19"/>
          <p:cNvSpPr/>
          <p:nvPr/>
        </p:nvSpPr>
        <p:spPr>
          <a:xfrm>
            <a:off x="7635240" y="3520440"/>
            <a:ext cx="3246120" cy="0"/>
          </a:xfrm>
          <a:prstGeom prst="line">
            <a:avLst/>
          </a:prstGeom>
          <a:noFill/>
          <a:ln w="12700">
            <a:solidFill>
              <a:srgbClr val="D6E1EA"/>
            </a:solidFill>
            <a:prstDash val="solid"/>
          </a:ln>
        </p:spPr>
        <p:txBody>
          <a:bodyPr/>
          <a:lstStyle/>
          <a:p>
            <a:endParaRPr lang="en-US"/>
          </a:p>
        </p:txBody>
      </p:sp>
      <p:sp>
        <p:nvSpPr>
          <p:cNvPr id="23" name="Text 20"/>
          <p:cNvSpPr/>
          <p:nvPr/>
        </p:nvSpPr>
        <p:spPr>
          <a:xfrm>
            <a:off x="7452360" y="3794760"/>
            <a:ext cx="1508760" cy="502920"/>
          </a:xfrm>
          <a:prstGeom prst="rect">
            <a:avLst/>
          </a:prstGeom>
          <a:noFill/>
          <a:ln/>
        </p:spPr>
        <p:txBody>
          <a:bodyPr wrap="square" lIns="0" tIns="0" rIns="0" bIns="0" rtlCol="0" anchor="ctr">
            <a:normAutofit/>
          </a:bodyPr>
          <a:lstStyle/>
          <a:p>
            <a:pPr marL="0" indent="0" algn="ctr">
              <a:buNone/>
            </a:pPr>
            <a:r>
              <a:rPr lang="en-US" sz="3000" b="1" dirty="0">
                <a:solidFill>
                  <a:srgbClr val="B33A3A"/>
                </a:solidFill>
                <a:latin typeface="Aptos Display" pitchFamily="34" charset="0"/>
                <a:ea typeface="Aptos Display" pitchFamily="34" charset="-122"/>
                <a:cs typeface="Aptos Display" pitchFamily="34" charset="-120"/>
              </a:rPr>
              <a:t>33.68%</a:t>
            </a:r>
            <a:endParaRPr lang="en-US" sz="3000" dirty="0"/>
          </a:p>
        </p:txBody>
      </p:sp>
      <p:sp>
        <p:nvSpPr>
          <p:cNvPr id="24" name="Text 21"/>
          <p:cNvSpPr/>
          <p:nvPr/>
        </p:nvSpPr>
        <p:spPr>
          <a:xfrm>
            <a:off x="7452360" y="4306824"/>
            <a:ext cx="1508760" cy="411480"/>
          </a:xfrm>
          <a:prstGeom prst="rect">
            <a:avLst/>
          </a:prstGeom>
          <a:noFill/>
          <a:ln/>
        </p:spPr>
        <p:txBody>
          <a:bodyPr wrap="square" lIns="254" tIns="254" rIns="254" bIns="254" rtlCol="0" anchor="ctr">
            <a:normAutofit/>
          </a:bodyPr>
          <a:lstStyle/>
          <a:p>
            <a:pPr marL="0" indent="0" algn="ctr">
              <a:buNone/>
            </a:pPr>
            <a:r>
              <a:rPr lang="en-US" sz="1050" dirty="0">
                <a:solidFill>
                  <a:srgbClr val="5A6572"/>
                </a:solidFill>
                <a:latin typeface="Aptos" pitchFamily="34" charset="0"/>
                <a:ea typeface="Aptos" pitchFamily="34" charset="-122"/>
                <a:cs typeface="Aptos" pitchFamily="34" charset="-120"/>
              </a:rPr>
              <a:t>mean initial error at n=6</a:t>
            </a:r>
            <a:endParaRPr lang="en-US" sz="1050" dirty="0"/>
          </a:p>
        </p:txBody>
      </p:sp>
      <p:sp>
        <p:nvSpPr>
          <p:cNvPr id="25" name="Text 22"/>
          <p:cNvSpPr/>
          <p:nvPr/>
        </p:nvSpPr>
        <p:spPr>
          <a:xfrm>
            <a:off x="9189720" y="3794760"/>
            <a:ext cx="1508760" cy="502920"/>
          </a:xfrm>
          <a:prstGeom prst="rect">
            <a:avLst/>
          </a:prstGeom>
          <a:noFill/>
          <a:ln/>
        </p:spPr>
        <p:txBody>
          <a:bodyPr wrap="square" lIns="0" tIns="0" rIns="0" bIns="0" rtlCol="0" anchor="ctr">
            <a:normAutofit/>
          </a:bodyPr>
          <a:lstStyle/>
          <a:p>
            <a:pPr marL="0" indent="0" algn="ctr">
              <a:buNone/>
            </a:pPr>
            <a:r>
              <a:rPr lang="en-US" sz="3000" b="1" dirty="0">
                <a:solidFill>
                  <a:srgbClr val="0C7C59"/>
                </a:solidFill>
                <a:latin typeface="Aptos Display" pitchFamily="34" charset="0"/>
                <a:ea typeface="Aptos Display" pitchFamily="34" charset="-122"/>
                <a:cs typeface="Aptos Display" pitchFamily="34" charset="-120"/>
              </a:rPr>
              <a:t>6.05%</a:t>
            </a:r>
            <a:endParaRPr lang="en-US" sz="3000" dirty="0"/>
          </a:p>
        </p:txBody>
      </p:sp>
      <p:sp>
        <p:nvSpPr>
          <p:cNvPr id="26" name="Text 23"/>
          <p:cNvSpPr/>
          <p:nvPr/>
        </p:nvSpPr>
        <p:spPr>
          <a:xfrm>
            <a:off x="9189720" y="4306824"/>
            <a:ext cx="1508760" cy="411480"/>
          </a:xfrm>
          <a:prstGeom prst="rect">
            <a:avLst/>
          </a:prstGeom>
          <a:noFill/>
          <a:ln/>
        </p:spPr>
        <p:txBody>
          <a:bodyPr wrap="square" lIns="254" tIns="254" rIns="254" bIns="254" rtlCol="0" anchor="ctr">
            <a:normAutofit/>
          </a:bodyPr>
          <a:lstStyle/>
          <a:p>
            <a:pPr marL="0" indent="0" algn="ctr">
              <a:buNone/>
            </a:pPr>
            <a:r>
              <a:rPr lang="en-US" sz="1050" dirty="0">
                <a:solidFill>
                  <a:srgbClr val="5A6572"/>
                </a:solidFill>
                <a:latin typeface="Aptos" pitchFamily="34" charset="0"/>
                <a:ea typeface="Aptos" pitchFamily="34" charset="-122"/>
                <a:cs typeface="Aptos" pitchFamily="34" charset="-120"/>
              </a:rPr>
              <a:t>mean final error at n=50</a:t>
            </a:r>
            <a:endParaRPr lang="en-US" sz="1050" dirty="0"/>
          </a:p>
        </p:txBody>
      </p:sp>
      <p:sp>
        <p:nvSpPr>
          <p:cNvPr id="27" name="Text 24"/>
          <p:cNvSpPr/>
          <p:nvPr/>
        </p:nvSpPr>
        <p:spPr>
          <a:xfrm>
            <a:off x="7475219" y="4678741"/>
            <a:ext cx="3702853" cy="1936661"/>
          </a:xfrm>
          <a:prstGeom prst="rect">
            <a:avLst/>
          </a:prstGeom>
          <a:noFill/>
          <a:ln/>
        </p:spPr>
        <p:txBody>
          <a:bodyPr wrap="square" lIns="254" tIns="254" rIns="254" bIns="254" rtlCol="0" anchor="ctr">
            <a:normAutofit/>
          </a:bodyPr>
          <a:lstStyle/>
          <a:p>
            <a:pPr marL="0" indent="0">
              <a:buNone/>
            </a:pPr>
            <a:r>
              <a:rPr lang="en-US" sz="1050" dirty="0"/>
              <a:t>This is the main numeric result. For each budget, I predicted labels on 4,000 independent test points and measured the fraction that disagreed with the exact Branin-threshold labels. Across three seeds, the mean error decreases from 33.68% to 6.05%.</a:t>
            </a:r>
            <a:endParaRPr lang="tr-TR" sz="1050" dirty="0"/>
          </a:p>
          <a:p>
            <a:pPr marL="0" indent="0">
              <a:buNone/>
            </a:pPr>
            <a:endParaRPr lang="tr-TR" sz="1050" dirty="0"/>
          </a:p>
          <a:p>
            <a:pPr marL="0" indent="0">
              <a:buNone/>
            </a:pPr>
            <a:r>
              <a:rPr lang="en-US" sz="1050" dirty="0"/>
              <a:t>Caveat: the curve need not fall at every single query; GP refitting can move the boundary globally. The important signal is the strong downward trend across all seeds.</a:t>
            </a:r>
          </a:p>
        </p:txBody>
      </p:sp>
      <p:sp>
        <p:nvSpPr>
          <p:cNvPr id="28" name="Text 25"/>
          <p:cNvSpPr/>
          <p:nvPr/>
        </p:nvSpPr>
        <p:spPr>
          <a:xfrm>
            <a:off x="502920" y="6519672"/>
            <a:ext cx="7680960" cy="164592"/>
          </a:xfrm>
          <a:prstGeom prst="rect">
            <a:avLst/>
          </a:prstGeom>
          <a:noFill/>
          <a:ln/>
        </p:spPr>
        <p:txBody>
          <a:bodyPr wrap="square" lIns="0" tIns="0" rIns="0" bIns="0" rtlCol="0" anchor="ctr"/>
          <a:lstStyle/>
          <a:p>
            <a:pPr marL="0" indent="0">
              <a:buNone/>
            </a:pPr>
            <a:r>
              <a:rPr lang="en-US" sz="750" dirty="0">
                <a:solidFill>
                  <a:srgbClr val="7B8794"/>
                </a:solidFill>
              </a:rPr>
              <a:t>Week 1 progress • Sample-Efficient Active Level-Set Estimation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10789920" cy="411480"/>
          </a:xfrm>
          <a:prstGeom prst="rect">
            <a:avLst/>
          </a:prstGeom>
          <a:noFill/>
          <a:ln/>
        </p:spPr>
        <p:txBody>
          <a:bodyPr wrap="square" lIns="0" tIns="0" rIns="0" bIns="0" rtlCol="0" anchor="ctr">
            <a:normAutofit/>
          </a:bodyPr>
          <a:lstStyle/>
          <a:p>
            <a:pPr marL="0" indent="0">
              <a:buNone/>
            </a:pPr>
            <a:r>
              <a:rPr lang="en-US" sz="2400" b="1" dirty="0">
                <a:solidFill>
                  <a:srgbClr val="12385C"/>
                </a:solidFill>
                <a:latin typeface="Aptos Display" pitchFamily="34" charset="0"/>
                <a:ea typeface="Aptos Display" pitchFamily="34" charset="-122"/>
                <a:cs typeface="Aptos Display" pitchFamily="34" charset="-120"/>
              </a:rPr>
              <a:t>Week 1 status and next step</a:t>
            </a:r>
            <a:endParaRPr lang="en-US" sz="2400" dirty="0"/>
          </a:p>
        </p:txBody>
      </p:sp>
      <p:sp>
        <p:nvSpPr>
          <p:cNvPr id="3" name="Text 1"/>
          <p:cNvSpPr/>
          <p:nvPr/>
        </p:nvSpPr>
        <p:spPr>
          <a:xfrm>
            <a:off x="521208" y="786384"/>
            <a:ext cx="10881360" cy="274320"/>
          </a:xfrm>
          <a:prstGeom prst="rect">
            <a:avLst/>
          </a:prstGeom>
          <a:noFill/>
          <a:ln/>
        </p:spPr>
        <p:txBody>
          <a:bodyPr wrap="square" lIns="0" tIns="0" rIns="0" bIns="0" rtlCol="0" anchor="ctr">
            <a:normAutofit/>
          </a:bodyPr>
          <a:lstStyle/>
          <a:p>
            <a:pPr marL="0" indent="0">
              <a:buNone/>
            </a:pPr>
            <a:r>
              <a:rPr lang="en-US" sz="1050" dirty="0">
                <a:solidFill>
                  <a:srgbClr val="5A6572"/>
                </a:solidFill>
                <a:latin typeface="Aptos" pitchFamily="34" charset="0"/>
                <a:ea typeface="Aptos" pitchFamily="34" charset="-122"/>
                <a:cs typeface="Aptos" pitchFamily="34" charset="-120"/>
              </a:rPr>
              <a:t>The plumbing loop is now working; Week 2 can compare acquisition rules under a fixed loop.</a:t>
            </a:r>
            <a:endParaRPr lang="en-US" sz="1050" dirty="0"/>
          </a:p>
        </p:txBody>
      </p:sp>
      <p:sp>
        <p:nvSpPr>
          <p:cNvPr id="4" name="Shape 2"/>
          <p:cNvSpPr/>
          <p:nvPr/>
        </p:nvSpPr>
        <p:spPr>
          <a:xfrm>
            <a:off x="502920" y="1124712"/>
            <a:ext cx="11201400" cy="0"/>
          </a:xfrm>
          <a:prstGeom prst="line">
            <a:avLst/>
          </a:prstGeom>
          <a:noFill/>
          <a:ln w="12700">
            <a:solidFill>
              <a:srgbClr val="D6E1EA"/>
            </a:solidFill>
            <a:prstDash val="solid"/>
          </a:ln>
        </p:spPr>
        <p:txBody>
          <a:bodyPr/>
          <a:lstStyle/>
          <a:p>
            <a:endParaRPr lang="en-US"/>
          </a:p>
        </p:txBody>
      </p:sp>
      <p:sp>
        <p:nvSpPr>
          <p:cNvPr id="5" name="Text 3"/>
          <p:cNvSpPr/>
          <p:nvPr/>
        </p:nvSpPr>
        <p:spPr>
          <a:xfrm>
            <a:off x="822960" y="1508760"/>
            <a:ext cx="274320"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0C7C59"/>
                </a:solidFill>
              </a:rPr>
              <a:t>✓</a:t>
            </a:r>
            <a:endParaRPr lang="en-US" sz="1600" dirty="0"/>
          </a:p>
        </p:txBody>
      </p:sp>
      <p:sp>
        <p:nvSpPr>
          <p:cNvPr id="6" name="Text 4"/>
          <p:cNvSpPr/>
          <p:nvPr/>
        </p:nvSpPr>
        <p:spPr>
          <a:xfrm>
            <a:off x="1170432" y="1517904"/>
            <a:ext cx="5303520" cy="228600"/>
          </a:xfrm>
          <a:prstGeom prst="rect">
            <a:avLst/>
          </a:prstGeom>
          <a:noFill/>
          <a:ln/>
        </p:spPr>
        <p:txBody>
          <a:bodyPr wrap="square" lIns="0" tIns="0" rIns="0" bIns="0" rtlCol="0" anchor="ctr">
            <a:normAutofit/>
          </a:bodyPr>
          <a:lstStyle/>
          <a:p>
            <a:pPr marL="0" indent="0">
              <a:buNone/>
            </a:pPr>
            <a:r>
              <a:rPr lang="en-US" sz="1400" dirty="0">
                <a:solidFill>
                  <a:srgbClr val="1C2733"/>
                </a:solidFill>
              </a:rPr>
              <a:t>make_moons visual loop completed</a:t>
            </a:r>
            <a:endParaRPr lang="en-US" sz="1400" dirty="0"/>
          </a:p>
        </p:txBody>
      </p:sp>
      <p:sp>
        <p:nvSpPr>
          <p:cNvPr id="7" name="Text 5"/>
          <p:cNvSpPr/>
          <p:nvPr/>
        </p:nvSpPr>
        <p:spPr>
          <a:xfrm>
            <a:off x="822960" y="2011680"/>
            <a:ext cx="274320"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0C7C59"/>
                </a:solidFill>
              </a:rPr>
              <a:t>✓</a:t>
            </a:r>
            <a:endParaRPr lang="en-US" sz="1600" dirty="0"/>
          </a:p>
        </p:txBody>
      </p:sp>
      <p:sp>
        <p:nvSpPr>
          <p:cNvPr id="8" name="Text 6"/>
          <p:cNvSpPr/>
          <p:nvPr/>
        </p:nvSpPr>
        <p:spPr>
          <a:xfrm>
            <a:off x="1170432" y="2020824"/>
            <a:ext cx="5303520" cy="228600"/>
          </a:xfrm>
          <a:prstGeom prst="rect">
            <a:avLst/>
          </a:prstGeom>
          <a:noFill/>
          <a:ln/>
        </p:spPr>
        <p:txBody>
          <a:bodyPr wrap="square" lIns="0" tIns="0" rIns="0" bIns="0" rtlCol="0" anchor="ctr">
            <a:normAutofit/>
          </a:bodyPr>
          <a:lstStyle/>
          <a:p>
            <a:pPr marL="0" indent="0">
              <a:buNone/>
            </a:pPr>
            <a:r>
              <a:rPr lang="en-US" sz="1400" dirty="0">
                <a:solidFill>
                  <a:srgbClr val="1C2733"/>
                </a:solidFill>
              </a:rPr>
              <a:t>Branin thresholded benchmark generated</a:t>
            </a:r>
            <a:endParaRPr lang="en-US" sz="1400" dirty="0"/>
          </a:p>
        </p:txBody>
      </p:sp>
      <p:sp>
        <p:nvSpPr>
          <p:cNvPr id="9" name="Text 7"/>
          <p:cNvSpPr/>
          <p:nvPr/>
        </p:nvSpPr>
        <p:spPr>
          <a:xfrm>
            <a:off x="822960" y="2514600"/>
            <a:ext cx="274320"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0C7C59"/>
                </a:solidFill>
              </a:rPr>
              <a:t>✓</a:t>
            </a:r>
            <a:endParaRPr lang="en-US" sz="1600" dirty="0"/>
          </a:p>
        </p:txBody>
      </p:sp>
      <p:sp>
        <p:nvSpPr>
          <p:cNvPr id="10" name="Text 8"/>
          <p:cNvSpPr/>
          <p:nvPr/>
        </p:nvSpPr>
        <p:spPr>
          <a:xfrm>
            <a:off x="1170432" y="2523744"/>
            <a:ext cx="5303520" cy="228600"/>
          </a:xfrm>
          <a:prstGeom prst="rect">
            <a:avLst/>
          </a:prstGeom>
          <a:noFill/>
          <a:ln/>
        </p:spPr>
        <p:txBody>
          <a:bodyPr wrap="square" lIns="0" tIns="0" rIns="0" bIns="0" rtlCol="0" anchor="ctr">
            <a:normAutofit/>
          </a:bodyPr>
          <a:lstStyle/>
          <a:p>
            <a:pPr marL="0" indent="0">
              <a:buNone/>
            </a:pPr>
            <a:r>
              <a:rPr lang="en-US" sz="1400" dirty="0">
                <a:solidFill>
                  <a:srgbClr val="1C2733"/>
                </a:solidFill>
              </a:rPr>
              <a:t>GP regressor stand-in fitted on {-1,+1} labels</a:t>
            </a:r>
            <a:endParaRPr lang="en-US" sz="1400" dirty="0"/>
          </a:p>
        </p:txBody>
      </p:sp>
      <p:sp>
        <p:nvSpPr>
          <p:cNvPr id="11" name="Text 9"/>
          <p:cNvSpPr/>
          <p:nvPr/>
        </p:nvSpPr>
        <p:spPr>
          <a:xfrm>
            <a:off x="822960" y="3017520"/>
            <a:ext cx="274320"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0C7C59"/>
                </a:solidFill>
              </a:rPr>
              <a:t>✓</a:t>
            </a:r>
            <a:endParaRPr lang="en-US" sz="1600" dirty="0"/>
          </a:p>
        </p:txBody>
      </p:sp>
      <p:sp>
        <p:nvSpPr>
          <p:cNvPr id="12" name="Text 10"/>
          <p:cNvSpPr/>
          <p:nvPr/>
        </p:nvSpPr>
        <p:spPr>
          <a:xfrm>
            <a:off x="1170432" y="3026664"/>
            <a:ext cx="5303520" cy="228600"/>
          </a:xfrm>
          <a:prstGeom prst="rect">
            <a:avLst/>
          </a:prstGeom>
          <a:noFill/>
          <a:ln/>
        </p:spPr>
        <p:txBody>
          <a:bodyPr wrap="square" lIns="0" tIns="0" rIns="0" bIns="0" rtlCol="0" anchor="ctr">
            <a:normAutofit/>
          </a:bodyPr>
          <a:lstStyle/>
          <a:p>
            <a:pPr marL="0" indent="0">
              <a:buNone/>
            </a:pPr>
            <a:r>
              <a:rPr lang="en-US" sz="1400" dirty="0">
                <a:solidFill>
                  <a:srgbClr val="1C2733"/>
                </a:solidFill>
              </a:rPr>
              <a:t>Sequential reveal → fit → score → query → refit loop runs</a:t>
            </a:r>
            <a:endParaRPr lang="en-US" sz="1400" dirty="0"/>
          </a:p>
        </p:txBody>
      </p:sp>
      <p:sp>
        <p:nvSpPr>
          <p:cNvPr id="13" name="Text 11"/>
          <p:cNvSpPr/>
          <p:nvPr/>
        </p:nvSpPr>
        <p:spPr>
          <a:xfrm>
            <a:off x="822960" y="3520440"/>
            <a:ext cx="274320"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0C7C59"/>
                </a:solidFill>
              </a:rPr>
              <a:t>✓</a:t>
            </a:r>
            <a:endParaRPr lang="en-US" sz="1600" dirty="0"/>
          </a:p>
        </p:txBody>
      </p:sp>
      <p:sp>
        <p:nvSpPr>
          <p:cNvPr id="14" name="Text 12"/>
          <p:cNvSpPr/>
          <p:nvPr/>
        </p:nvSpPr>
        <p:spPr>
          <a:xfrm>
            <a:off x="1170432" y="3529584"/>
            <a:ext cx="5303520" cy="228600"/>
          </a:xfrm>
          <a:prstGeom prst="rect">
            <a:avLst/>
          </a:prstGeom>
          <a:noFill/>
          <a:ln/>
        </p:spPr>
        <p:txBody>
          <a:bodyPr wrap="square" lIns="0" tIns="0" rIns="0" bIns="0" rtlCol="0" anchor="ctr">
            <a:normAutofit/>
          </a:bodyPr>
          <a:lstStyle/>
          <a:p>
            <a:pPr marL="0" indent="0">
              <a:buNone/>
            </a:pPr>
            <a:r>
              <a:rPr lang="en-US" sz="1400" dirty="0">
                <a:solidFill>
                  <a:srgbClr val="1C2733"/>
                </a:solidFill>
              </a:rPr>
              <a:t>Branin error measured against exact boundary</a:t>
            </a:r>
            <a:endParaRPr lang="en-US" sz="1400" dirty="0"/>
          </a:p>
        </p:txBody>
      </p:sp>
      <p:sp>
        <p:nvSpPr>
          <p:cNvPr id="15" name="Text 13"/>
          <p:cNvSpPr/>
          <p:nvPr/>
        </p:nvSpPr>
        <p:spPr>
          <a:xfrm>
            <a:off x="822960" y="4023360"/>
            <a:ext cx="274320"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0C7C59"/>
                </a:solidFill>
              </a:rPr>
              <a:t>✓</a:t>
            </a:r>
            <a:endParaRPr lang="en-US" sz="1600" dirty="0"/>
          </a:p>
        </p:txBody>
      </p:sp>
      <p:sp>
        <p:nvSpPr>
          <p:cNvPr id="16" name="Text 14"/>
          <p:cNvSpPr/>
          <p:nvPr/>
        </p:nvSpPr>
        <p:spPr>
          <a:xfrm>
            <a:off x="1170432" y="4032504"/>
            <a:ext cx="5303520" cy="228600"/>
          </a:xfrm>
          <a:prstGeom prst="rect">
            <a:avLst/>
          </a:prstGeom>
          <a:noFill/>
          <a:ln/>
        </p:spPr>
        <p:txBody>
          <a:bodyPr wrap="square" lIns="0" tIns="0" rIns="0" bIns="0" rtlCol="0" anchor="ctr">
            <a:normAutofit/>
          </a:bodyPr>
          <a:lstStyle/>
          <a:p>
            <a:pPr marL="0" indent="0">
              <a:buNone/>
            </a:pPr>
            <a:r>
              <a:rPr lang="en-US" sz="1400" dirty="0">
                <a:solidFill>
                  <a:srgbClr val="1C2733"/>
                </a:solidFill>
              </a:rPr>
              <a:t>3-seed stability check completed</a:t>
            </a:r>
            <a:endParaRPr lang="en-US" sz="1400" dirty="0"/>
          </a:p>
        </p:txBody>
      </p:sp>
      <p:sp>
        <p:nvSpPr>
          <p:cNvPr id="17" name="Shape 15"/>
          <p:cNvSpPr/>
          <p:nvPr/>
        </p:nvSpPr>
        <p:spPr>
          <a:xfrm>
            <a:off x="6629400" y="1417320"/>
            <a:ext cx="0" cy="3749040"/>
          </a:xfrm>
          <a:prstGeom prst="line">
            <a:avLst/>
          </a:prstGeom>
          <a:noFill/>
          <a:ln w="12700">
            <a:solidFill>
              <a:srgbClr val="D6E1EA"/>
            </a:solidFill>
            <a:prstDash val="solid"/>
          </a:ln>
        </p:spPr>
        <p:txBody>
          <a:bodyPr/>
          <a:lstStyle/>
          <a:p>
            <a:endParaRPr lang="en-US"/>
          </a:p>
        </p:txBody>
      </p:sp>
      <p:sp>
        <p:nvSpPr>
          <p:cNvPr id="18" name="Text 16"/>
          <p:cNvSpPr/>
          <p:nvPr/>
        </p:nvSpPr>
        <p:spPr>
          <a:xfrm>
            <a:off x="7086600" y="1508760"/>
            <a:ext cx="2926080" cy="274320"/>
          </a:xfrm>
          <a:prstGeom prst="rect">
            <a:avLst/>
          </a:prstGeom>
          <a:noFill/>
          <a:ln/>
        </p:spPr>
        <p:txBody>
          <a:bodyPr wrap="square" lIns="0" tIns="0" rIns="0" bIns="0" rtlCol="0" anchor="ctr"/>
          <a:lstStyle/>
          <a:p>
            <a:pPr marL="0" indent="0">
              <a:buNone/>
            </a:pPr>
            <a:r>
              <a:rPr lang="en-US" sz="1800" b="1" dirty="0">
                <a:solidFill>
                  <a:srgbClr val="12385C"/>
                </a:solidFill>
              </a:rPr>
              <a:t>Week 2 plan</a:t>
            </a:r>
            <a:endParaRPr lang="en-US" sz="1800" dirty="0"/>
          </a:p>
        </p:txBody>
      </p:sp>
      <p:sp>
        <p:nvSpPr>
          <p:cNvPr id="19" name="Text 17"/>
          <p:cNvSpPr/>
          <p:nvPr/>
        </p:nvSpPr>
        <p:spPr>
          <a:xfrm>
            <a:off x="7205472" y="1965960"/>
            <a:ext cx="3931920" cy="411480"/>
          </a:xfrm>
          <a:prstGeom prst="rect">
            <a:avLst/>
          </a:prstGeom>
          <a:noFill/>
          <a:ln/>
        </p:spPr>
        <p:txBody>
          <a:bodyPr wrap="square" lIns="381" tIns="381" rIns="381" bIns="381" rtlCol="0" anchor="t">
            <a:normAutofit/>
          </a:bodyPr>
          <a:lstStyle/>
          <a:p>
            <a:r>
              <a:rPr lang="en-US" sz="1300" dirty="0">
                <a:solidFill>
                  <a:srgbClr val="1C2733"/>
                </a:solidFill>
                <a:latin typeface="Aptos" pitchFamily="34" charset="0"/>
                <a:ea typeface="Aptos" pitchFamily="34" charset="-122"/>
                <a:cs typeface="Aptos" pitchFamily="34" charset="-120"/>
              </a:rPr>
              <a:t>Keep data, GP model, pool, test set and budget fixed</a:t>
            </a:r>
            <a:endParaRPr lang="en-US" sz="1300" dirty="0"/>
          </a:p>
        </p:txBody>
      </p:sp>
      <p:sp>
        <p:nvSpPr>
          <p:cNvPr id="20" name="Text 18"/>
          <p:cNvSpPr/>
          <p:nvPr/>
        </p:nvSpPr>
        <p:spPr>
          <a:xfrm>
            <a:off x="7205472" y="2487168"/>
            <a:ext cx="3931920" cy="292608"/>
          </a:xfrm>
          <a:prstGeom prst="rect">
            <a:avLst/>
          </a:prstGeom>
          <a:noFill/>
          <a:ln/>
        </p:spPr>
        <p:txBody>
          <a:bodyPr wrap="square" lIns="381" tIns="381" rIns="381" bIns="381" rtlCol="0" anchor="t">
            <a:normAutofit/>
          </a:bodyPr>
          <a:lstStyle/>
          <a:p>
            <a:r>
              <a:rPr lang="en-US" sz="1300" dirty="0">
                <a:solidFill>
                  <a:srgbClr val="1C2733"/>
                </a:solidFill>
                <a:latin typeface="Aptos" pitchFamily="34" charset="0"/>
                <a:ea typeface="Aptos" pitchFamily="34" charset="-122"/>
                <a:cs typeface="Aptos" pitchFamily="34" charset="-120"/>
              </a:rPr>
              <a:t>Change only the selection rule</a:t>
            </a:r>
            <a:endParaRPr lang="en-US" sz="1300" dirty="0"/>
          </a:p>
        </p:txBody>
      </p:sp>
      <p:sp>
        <p:nvSpPr>
          <p:cNvPr id="21" name="Text 19"/>
          <p:cNvSpPr/>
          <p:nvPr/>
        </p:nvSpPr>
        <p:spPr>
          <a:xfrm>
            <a:off x="7205472" y="2907792"/>
            <a:ext cx="3931920" cy="502920"/>
          </a:xfrm>
          <a:prstGeom prst="rect">
            <a:avLst/>
          </a:prstGeom>
          <a:noFill/>
          <a:ln/>
        </p:spPr>
        <p:txBody>
          <a:bodyPr wrap="square" lIns="381" tIns="381" rIns="381" bIns="381" rtlCol="0" anchor="t">
            <a:normAutofit/>
          </a:bodyPr>
          <a:lstStyle/>
          <a:p>
            <a:r>
              <a:rPr lang="en-US" sz="1300">
                <a:solidFill>
                  <a:srgbClr val="1C2733"/>
                </a:solidFill>
                <a:latin typeface="Aptos" pitchFamily="34" charset="0"/>
                <a:ea typeface="Aptos" pitchFamily="34" charset="-122"/>
                <a:cs typeface="Aptos" pitchFamily="34" charset="-120"/>
              </a:rPr>
              <a:t>Compare: Random, smallest |μ|, Straddle (1.96σ - |μ|)</a:t>
            </a:r>
            <a:endParaRPr lang="en-US" sz="1300" dirty="0"/>
          </a:p>
        </p:txBody>
      </p:sp>
      <p:sp>
        <p:nvSpPr>
          <p:cNvPr id="22" name="Text 20"/>
          <p:cNvSpPr/>
          <p:nvPr/>
        </p:nvSpPr>
        <p:spPr>
          <a:xfrm>
            <a:off x="7205472" y="3529584"/>
            <a:ext cx="3931920" cy="411480"/>
          </a:xfrm>
          <a:prstGeom prst="rect">
            <a:avLst/>
          </a:prstGeom>
          <a:noFill/>
          <a:ln/>
        </p:spPr>
        <p:txBody>
          <a:bodyPr wrap="square" lIns="381" tIns="381" rIns="381" bIns="381" rtlCol="0" anchor="t">
            <a:normAutofit/>
          </a:bodyPr>
          <a:lstStyle/>
          <a:p>
            <a:r>
              <a:rPr lang="en-US" sz="1300" dirty="0">
                <a:solidFill>
                  <a:srgbClr val="1C2733"/>
                </a:solidFill>
                <a:latin typeface="Aptos" pitchFamily="34" charset="0"/>
                <a:ea typeface="Aptos" pitchFamily="34" charset="-122"/>
                <a:cs typeface="Aptos" pitchFamily="34" charset="-120"/>
              </a:rPr>
              <a:t>Plot error-vs-evaluations with mean and spread bands</a:t>
            </a:r>
            <a:endParaRPr lang="en-US" sz="1300" dirty="0"/>
          </a:p>
        </p:txBody>
      </p:sp>
      <p:sp>
        <p:nvSpPr>
          <p:cNvPr id="23" name="Text 21"/>
          <p:cNvSpPr/>
          <p:nvPr/>
        </p:nvSpPr>
        <p:spPr>
          <a:xfrm>
            <a:off x="7086600" y="4617720"/>
            <a:ext cx="3200400" cy="228600"/>
          </a:xfrm>
          <a:prstGeom prst="rect">
            <a:avLst/>
          </a:prstGeom>
          <a:noFill/>
          <a:ln/>
        </p:spPr>
        <p:txBody>
          <a:bodyPr wrap="square" lIns="0" tIns="0" rIns="0" bIns="0" rtlCol="0" anchor="ctr"/>
          <a:lstStyle/>
          <a:p>
            <a:pPr marL="0" indent="0">
              <a:buNone/>
            </a:pPr>
            <a:r>
              <a:rPr lang="en-US" sz="1300" b="1" dirty="0">
                <a:solidFill>
                  <a:srgbClr val="5A6572"/>
                </a:solidFill>
              </a:rPr>
              <a:t>Note</a:t>
            </a:r>
            <a:endParaRPr lang="tr-TR" sz="1300" b="1" dirty="0">
              <a:solidFill>
                <a:srgbClr val="5A6572"/>
              </a:solidFill>
            </a:endParaRPr>
          </a:p>
        </p:txBody>
      </p:sp>
      <p:sp>
        <p:nvSpPr>
          <p:cNvPr id="24" name="Text 22"/>
          <p:cNvSpPr/>
          <p:nvPr/>
        </p:nvSpPr>
        <p:spPr>
          <a:xfrm>
            <a:off x="7086600" y="4919472"/>
            <a:ext cx="4023360" cy="658368"/>
          </a:xfrm>
          <a:prstGeom prst="rect">
            <a:avLst/>
          </a:prstGeom>
          <a:noFill/>
          <a:ln/>
        </p:spPr>
        <p:txBody>
          <a:bodyPr wrap="square" lIns="254" tIns="254" rIns="254" bIns="254" rtlCol="0" anchor="ctr">
            <a:normAutofit/>
          </a:bodyPr>
          <a:lstStyle/>
          <a:p>
            <a:pPr marL="0" indent="0">
              <a:buNone/>
            </a:pPr>
            <a:r>
              <a:rPr lang="en-US" sz="1200" dirty="0">
                <a:solidFill>
                  <a:srgbClr val="1C2733"/>
                </a:solidFill>
              </a:rPr>
              <a:t>Current GP regressor is a Week 1 stand-in. It exposes μ and σ clearly, but it is not the final GP classifier planned for the thesis.</a:t>
            </a:r>
            <a:endParaRPr lang="en-US" sz="1200" dirty="0"/>
          </a:p>
        </p:txBody>
      </p:sp>
      <p:sp>
        <p:nvSpPr>
          <p:cNvPr id="25" name="Text 23"/>
          <p:cNvSpPr/>
          <p:nvPr/>
        </p:nvSpPr>
        <p:spPr>
          <a:xfrm>
            <a:off x="502920" y="6519672"/>
            <a:ext cx="7680960" cy="164592"/>
          </a:xfrm>
          <a:prstGeom prst="rect">
            <a:avLst/>
          </a:prstGeom>
          <a:noFill/>
          <a:ln/>
        </p:spPr>
        <p:txBody>
          <a:bodyPr wrap="square" lIns="0" tIns="0" rIns="0" bIns="0" rtlCol="0" anchor="ctr"/>
          <a:lstStyle/>
          <a:p>
            <a:pPr marL="0" indent="0">
              <a:buNone/>
            </a:pPr>
            <a:r>
              <a:rPr lang="en-US" sz="750" dirty="0">
                <a:solidFill>
                  <a:srgbClr val="7B8794"/>
                </a:solidFill>
              </a:rPr>
              <a:t>Week 1 progress • Sample-Efficient Active Level-Set Estimation • 7</a:t>
            </a:r>
            <a:endParaRPr lang="en-US" sz="750" dirty="0"/>
          </a:p>
        </p:txBody>
      </p:sp>
      <p:sp>
        <p:nvSpPr>
          <p:cNvPr id="27" name="TextBox 26">
            <a:extLst>
              <a:ext uri="{FF2B5EF4-FFF2-40B4-BE49-F238E27FC236}">
                <a16:creationId xmlns:a16="http://schemas.microsoft.com/office/drawing/2014/main" id="{FC7CA30F-18C8-3719-1E50-0BA8D39B01EC}"/>
              </a:ext>
            </a:extLst>
          </p:cNvPr>
          <p:cNvSpPr txBox="1"/>
          <p:nvPr/>
        </p:nvSpPr>
        <p:spPr>
          <a:xfrm>
            <a:off x="613488" y="5291250"/>
            <a:ext cx="6097554" cy="646331"/>
          </a:xfrm>
          <a:prstGeom prst="rect">
            <a:avLst/>
          </a:prstGeom>
          <a:noFill/>
        </p:spPr>
        <p:txBody>
          <a:bodyPr wrap="square">
            <a:spAutoFit/>
          </a:bodyPr>
          <a:lstStyle/>
          <a:p>
            <a:r>
              <a:rPr lang="en-US" sz="1200" dirty="0"/>
              <a:t>Week 1 confirms that the pipeline is working. The natural next step is to keep this loop fixed and compare different acquisition rules: random, smallest |μ|, and straddle 1.96σ−∣μ∣.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2888</TotalTime>
  <Words>1339</Words>
  <Application>Microsoft Office PowerPoint</Application>
  <PresentationFormat>Widescreen</PresentationFormat>
  <Paragraphs>136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 Active Level-Set Estimation</dc:title>
  <dc:subject>Week 1 progress: Active Level-Set Estimation</dc:subject>
  <dc:creator>Burak Öztürk</dc:creator>
  <cp:lastModifiedBy>Burak Öztürk</cp:lastModifiedBy>
  <cp:revision>4</cp:revision>
  <dcterms:created xsi:type="dcterms:W3CDTF">2026-06-14T16:10:51Z</dcterms:created>
  <dcterms:modified xsi:type="dcterms:W3CDTF">2026-06-16T19:29:46Z</dcterms:modified>
</cp:coreProperties>
</file>